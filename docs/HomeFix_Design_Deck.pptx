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repository as it stands on 12 October 2026, after the move to five deployables on Java 25 and Spring Boot 4. Architecture (unified, deployables and per area), the booking flow step by step, sequence diagrams, the booking state machine, the logical data model, local and production deployment with step-by-step runbooks, the security architecture, and a security review with a prioritised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ap-south-1 (Mumbai). Users: customers, service providers, agencies (tenants) and five staff roles. The 20 services keep their own code, port, configuration and database schema, but run as five JVMs (identity-app, jobs-app, money-app, engagement-app and the API gateway): about 4.4 GB of container memory locally instead of 8.8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four client surfaces; the edge (nginx sends /api/auth straight to auth-service in identity-app, everything else goes through the Spring Cloud Gateway); twenty services packed into four deployables plus the gateway, each service on its usual port; the shared data and event plane; external partners on the right. Service-to-service calls use /internal/** with X-Internal-Api-Key and are never routed by the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services are Java 25 / Spring Boot 4.1 (the gateway is on 4.0.x, which Spring Cloud 2025.1 requires) with one Postgres schema each and Flyway migrations at startup. A service's configuration is .yml and its migrations live in db/migration//, so several share one classpath safely. Memory figures are the docker-compose mem_limit. Shared libraries: homefix-shared-observability, -security, -resilience, -outbox, -config and homefix-service-host. Any service can move to its own deployable without code changes. An environment variable meant for one hosted service is prefixed with its name, e.g. BOOKING_SERVICE__LOGGING_LEVEL_ROOT.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 endpoints: POST /auth/register/otp and /auth/register/verify, POST /auth/login/password, POST /auth/login/social, POST /auth/token/refresh, POST /auth/logout. The gateway calls GET /auth/introspect with the bearer token and caches positive results briefly. Redis keys: auth:otp:session:{phone} (5-minute TTL), auth:otp:lock:{phone}, auth:refresh:{sha256}, auth:family:{id}, auth:pwd:fail and lock keys. Logout revokes the refresh family; access JWTs stay valid until they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booking-service validates the subcategory with catalog-service and prices it with pricing-engine (coupons via promotion-service), then writes BookingCreated to the outbox in the same transaction. dispatch-engine consumes it, fetches eligible APPROVED providers and the address coordinates, scores them, and offers the job to the best three at once (DISPATCH_OFFER_BATCH_SIZE, 1 to 10). The whole round is one Redis hash, dispatch:offer:booking:{id}, with a field per provider. The first accept is an atomic compare-and-set that withdraws every other offer; a late accept gets 409 OFFER_TAKEN. Declines and 60-second expiries bring in the next wave, widening the radius when the pool runs out. If nobody accepts within DISPATCH_AGENCY_FALLBACK_MINUTES (default 5), booking-service routes to an ACTIVE agency (AWAITING_ASSIGNMENT) or ends in SEARCHING_FAILED.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/payments takes only bookingId and method; amount, customer and provider come from booking-service. payment-service creates a Razorpay order in paise, the app opens Checkout, then POST /payments/{id}/razorpay/verify checks the HMAC of order_id|payment_id and re-fetches the payment (order, paise amount, INR). The webhook POST /payments/webhooks/razorpay is verified over the raw body; events older than 72 h are rejected and replays are idempotent. PaymentCompleted is consumed by booking, invoice, rating-review, chat and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are named after event types: BookingCreated, ProviderAssigned, ProviderAccepted, ProviderRejected, ProviderArriving, ProviderArrived, JobStarted, JobCompleted, PaymentCompleted, BookingCancelled, ReviewSubmitted, ComplaintCreated, ComplaintStatusChanged; fallback topic domain-events. The relay holds a 2-minute lease per batch and adds an eventId header. Consumers record (consumer_group, event_id) in outbox.processed_event to deduplicate, retry 3 times 5 s apart, then publish to topic.DLT.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shared/homefix-shared-config loads config.app_config into each of the 18 database-backed services when it starts (an EnvironmentPostProcessor), directly after the system environment: environment variables and command-line arguments still win, and a row beats the YAML. Rows marked exposed_to_clients are served on GET /config/client, which the gateway lets through without a token and catalog-service answers from the table on each request. Seeded keys: homefix.apps.customer-app-url, homefix.apps.provider-app-url, homefix.apps.admin-portal-url (staff invitation links). Every environment other than local must set the URLs once with SQL. Never mark a secret as 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call goes through nginx and the API gateway, except /api/auth, which nginx sends straight to auth-service. Step 5: the round is one Redis hash per booking; an accept is an atomic compare-and-set that withdraws the other offers, and a late accept gets 409 OFFER_TAKEN. Declines and expiries bring in the next wave, widening the radius (10 km, +5 km, 3 cycles by default). On accept, dispatch calls booking-service, which moves the booking to PROVIDER_ACCEPTED and writes ProviderAccepted.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7 to 9 are driven from the provider app; the customer app follows them through the booking status and the location stream. A parts quote moves the job to ADDITIONAL_QUOTE_REQUIRED until the customer approves it. Step 10: the client sends only bookingId and method; payment-service takes the amount from booking-service, and the verify call and the signed webhook each settle the payment once. Step 11: PaymentCompleted is consumed by booking (PAYMENT_COMPLETED), invoice, rating-review (opens the review prompt), chat and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OTP: the code is hashed in auth:otp:session:{phone} with a 5-minute TTL; 5 wrong tries lock the phone for 30 minutes. Verify returns a 15-minute access JWT and a 30-day opaque refresh token. Every API call carries the bearer token; the gateway introspects it with auth-service (positive results cached briefly) and checks account status, then the service runs its own JWT filter, RBAC rules and ownership checks. Refresh rotates the token; reusing an old one revokes the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app calls go through the API gateway, and Kafka sits between booking-service and dispatch-engine (both omitted for clarity). The booking is CREATED by the first call and moves to SEARCHING_PROVIDER on confirmation, which writes BookingCreated to the outbox. dispatch-engine offers the job to the best three eligible providers at once, as one Redis hash with a field per provider (PENDING, ACCEPTED, DECLINED, EXPIRED, WITHDRAWN). The first accept is an atomic compare-and-set that withdraws the rest; a provider who accepts after that gets 409 OFFER_TAKEN. Providers see offers by polling GET /dispatch/offers every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checks the HMAC of order_id|payment_id with the key secret, then re-fetches the payment from Razorpay and compares order id, paise amount and currency. Step 8 may arrive before or after step 7; whichever lands first settles the transaction and the other is an idempotent no-op. On success payment-service also credits the provider wallet (one JOB_CREDIT per booking) and invoice, rating-review, chat and notification consume PaymentCompleted.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BookingStatus has 19 values: CREATED, SEARCHING_PROVIDER, AWAITING_ASSIGNMENT, SEARCHING_FAILED, PROVIDER_ASSIGNED, PROVIDER_ACCEPTED, PROVIDER_ON_THE_WAY, PROVIDER_ARRIVED, JOB_STARTED, JOB_PAUSED, ADDITIONAL_QUOTE_REQUIRED, CUSTOMER_APPROVAL_PENDING, JOB_COMPLETED, CUSTOMER_CONFIRMED, PAYMENT_PENDING, PAYMENT_COMPLETED, DISPUTED, REFUNDED, CANCELLED. PROVIDER_ASSIGNED is passed through on accept. Terminal: SEARCHING_FAILED, CANCELLED, REFUNDED. Gap: no sweeper rescues a booking stuck in SEARCHING_PROVIDER.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Postgres database, one schema per service; cross-service references are plain uuid columns with no foreign key. Also in these schemas: auth.social_identity_link (GOOGLE/APPLE subject per user), auth.staff_invitation (token hash, role, expiry), customer.deletion_request, provider.availability_slot, provider_skill_tag, provider_category_selection and subcategory selection, provider.settlement (wallet withdrawals). The wallet is provider_profile.wallet_balance plus the provider_earning ledger, with one JOB_CREDIT per booking enforced by a unique partial index. Bank details live encrypted on provider_profile.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 booking: booking_audit (every state change with actor), job_interval (WORK and PAUSE spans), parts_line_item, saga_step, booking_tenant_candidate. chat_channel is 1:1 with a booking (its primary key is booking_id). A booking can have up to 10 payment attempts. payment.payment_settlement records provider payouts. rating.review_prompt opens a 7-day window after PaymentCompleted. promotion.coupon_usage counts per user (unique coupon_id, user_id), but nothing calls redeem today. Other schemas: location.location_history, dispatch.pending_acceptance, notification.delivery_log and notification_template, admin.audit_log and system_setting, invoice.invoice_sequence.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17 service schemas plus the shared outbox and config schemas (config.app_config holds platform settings), Flyway migrations per service under db/migration//, Hibernate ddl-auto validate. Redis (ElastiCache in production): OTP sessions and lockouts, refresh-token families, dispatch offer rounds (one hash per booking) and locks, latest provider position, payment idempotency, pricing and catalog caches, gateway rate limits. Kafka (MSK in production): 13 event topics plus domain-events and per-topic .DLT; only the outbox relay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on 12 October 2026 against a clean database: docker/smoke-flows.sh passes 78 of 78 and docker/verify-outbox-flow.sh 53 of 53 (with the payment simulator; with PAYMENT_DEFAULT_GATEWAY=razorpay the three payment checks wait for a real Checkout). Also missing: a sweeper for bookings stuck in SEARCHING_PROVIDER, provider onboarding screens for base location, radius and skills, and any native build (no Android SDK or Mac on the dev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docker-compose.core.yml starts five Java containers (the API gateway and four deployables, about 4.4 GB of mem_limit in all, against 8.8 GB for the old twenty) and three nginx web apps. They reach Postgres, Redis and Kafka on the Windows host through host.docker.internal. Each deployable's healthcheck probes every hosted service (180 s start period, 300 s for the gateway). Kafka needs a DOCKER listener advertised as host.docker.internal:9094, log.retention.hours=-1 and log.cleaner.enable=false so Windows never deletes segments. A full C: drive breaks both Kafka and Docker; prune the build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.env keys: DB_PASSWORD, JWT_SECRET (32 bytes or more), KMS_DATA_KEY, KMS_LOCAL_DATA_KEY, RAZORPAY_WEBHOOK_SECRET, STRIPE_WEBHOOK_SECRET, INTERNAL_API_KEY. Optional: RAZORPAY_KEY_ID and SECRET with PAYMENT_DEFAULT_GATEWAY=razorpay for real Checkout; GOOGLE_CLIENT_ID; DEV_SEED_ENABLED and DEV_SEED_PASSWORD. Step 3 reset: DROP SCHEMA on every service schema (the homefix role owns them), then init-db.sql; also FLUSHALL the local Redis. Flyway creates every table when the services start; on a brand-new database the first start finds no config.app_config yet and uses the YAML defaults, which match the seeded rows. Maven needs about 1.5 GB free: close other JVMs (IDE language servers) first. Docker Desktop needs the WSL VM raised to 11 GB in %UserProfile%\.wslconfig.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profiles and the agency seed both need the catalog first. seed-pricing.sh runs in a throwaway curlimages/curl container on the compose network. Both test providers do plumbing and electrical, so those bookings go to both at once; cleaning is Provider Two's alone. The demo agency is Ara Home Services, covering 20 km around Ara. OTPs land in docker/dev-sms and emails in docker/dev-mail/dev-mail.log. With PAYMENT_DEFAULT_GATEWAY=razorpay the three payment checks in step 8 wait for a real Checkout; run with the simulator to see 53/53. Compose publishes every port on 0.0.0.0 and local Redis has no password: bind to 127.0.0.1 on shared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modules: vpc, security_groups, kms, eks, iam, rds, msk, elasticache, s3, waf, api_gateway, secrets_manager, k8s_namespaces. Dashed orange items do not exist yet: no ALB/NLB or VPC Link, no ingress template, no CloudFront or SPA hosting, no ECR repositories, no GitHub OIDC roles, no ACM or Route53. RDS is Postgres 15.5 db.r6g.xlarge Multi-AZ; MSK is 3 kafka.m5.xlarge brokers; ElastiCache is Redis 7.1 cluster mode with 3 shards. EKS 1.29 is past standard support. Each of the five deployables is one Helm release of helm/homefix-service; a deployable that hosts several services exposes every port through containerPort plus extraPorts.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init: terraform init -backend-config bucket=homefix-terraform-state, key=homefix/production/terraform.tfstate, region=ap-south-1, dynamodb_table=homefix-terraform-locks, encrypt=true. Phase 1 targets module.kms, vpc, security_groups, eks, rds, msk, elasticache, s3, waf, api_gateway, secrets_manager. Steps 2, 5 and 6 are not automated today, and secret key names differ between Terraform and Helm. Secrets are read per deployable: identity-app-secrets, jobs-app-secrets, money-app-secrets, engagement-app-secrets.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8 and 9 exist as GitHub Actions (ci.yml calling build-services.yml, then deploy-services.yml). build-services.yml runs one mvn verify over the deployables and the modules they depend on, then builds, scans (Trivy, failing on fixable CRITICAL) and pushes one image per deployable: identity-app, jobs-app, money-app, engagement-app and api-gateway. Step 10 matters: until the three homefix.apps.*-url rows are set, staff invitation links point at localhost. Restart the deployables after changing a row; GET /config/client picks it up within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cd-production.yml checks that image_tag is a full commit SHA with a green CI run on main, waits for the production environment's reviewers, deploys up to 5 releases in parallel with helm upgrade --install --atomic (a failed health check rolls that release back) and tags a production-N release. Step 12 is manual today: frontend-ci.yml builds the web-app images but never deploys them. Rollback is a redeploy of the previous SHA; database migrations are forward-only, so a release that changes the schema must stay compatible with the version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 pr-checks.yml (maps changed services to the deployable that hosts them), lint-delivery.yml (ports agree across Helm, Dockerfile and compose per deployable), build-services.yml (one Java 25 reactor build, JaCoCo, Buildx, Trivy 0.28.0 failing on fixable CRITICAL, ECR push via OIDC), ci.yml, deploy-services.yml, cd-production.yml, frontend-ci.yml (Node 24; builds images, never pushes). Actions are pinned by tag, not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before launch: version drift (RDS 15.5 vs Postgres 18 locally, MSK 3.6 vs Kafka 4.1), the app URLs in config.app_config (seeded with localhost), EMAIL_PROVIDER logging in production values, the KEDA scaler using aws_msk_iam while MSK uses SCRAM, IRSA roles and Secrets Manager entries keyed by the old per-service names (modules/iam service_accounts, modules/secrets_manager) while Helm now runs identity-app, jobs-app, money-app, engagement-app and api-gateway, plaintext 9092 and 2181 in the MSK security group, .gitignore missing *.tfstate and .terraform/, and API Gateway CORS allowing every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itself expired on 2026-09-10 and is harmless. The secret is the problem: the same JWT_SECRET value appears in the leaked compose file, in .env.example line 25 and in the local .env. Fix: a new random secret of 64 bytes or more per environment from Secrets Manager, a startup check that refuses known dev values, and optionally git filter-repo plus a force-push to purge 1b5656d. Treat every default in that commit as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checks for GET /bookings/{id}: TLS terminates at the AWS edge (CloudFront for the web apps, the load balancer for the API), where WAF managed rules apply. nginx serves only static files and forwards /api. The gateway rejects a missing or revoked token after introspecting it with auth-service (positive answers cached briefly), applies per-user rate limits and a WAF regex, and lets through only its allow-listed public paths (sign-in, sign-up, password reset, invitations, the Razorpay webhook and GET /config/client). The service verifies the JWT again (HMAC), applies RBAC path rules, then checks ownership and answers 404 for someone else's record. Service-to-service calls use /internal/** with X-Internal-Api-Key and are never routed by the gateway. Data is encrypted at rest with KMS; personal fields and bank details are encrypted again 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hold a 15-minute access JWT in memory and a 30-day refresh token in localStorage. The edge (Spring Cloud Gateway) introspects every token and rate-limits per user, but nothing limits password or OTP attempts per IP, and the Terraform WAF cannot attach to an HTTP API stage. Services enforce RBAC and ownership and protect /internal/** with a constant-time key, but every service shares one HMAC signing key and one internal key. Data is encrypted with KMS and Redis and MSK require TLS, but RDS does not force TLS and every pod's IAM role can read every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verified: no SQL injection (Spring Data, parameterised JPQL, escaped LIKE); jjwt 0.12.6 rejects alg none; staff invitations are 32 random bytes stored as SHA-256, single use, 7-day expiry; dev SMS, email and seed adapters are off by default; no AWS keys, private keys or live Razorpay keys in the tree or history; frontend lockfiles are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.env.example:25; shared JwtValidationFilter.java:56-58 and 81-97 (signature and expiry only, no iss or aud); TokenService.java:50-51; PasswordLoginService.java:90-106 (lockout per username only); RegistrationService.java:78 (OTP limit per phone); RateLimitGatewayFilter.java:58 (authenticated callers only). The former High finding on Spring Boot 3.2.5 and Spring Cloud 2023.0 is closed: the services run Boot 4.1 and the gateway Boot 4.0 with Spring Cloud 2025.1.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nothing calls POST /coupons/redeem; /coupons/cancel lowers counters with no booking (CouponService.java:209). complaint-service LoggingRefundAdapter returns approved stub ids and SUPPORT_AGENT can trigger it. StripeGatewayAdapter is always registered and the client picks the gateway (BookingPaymentService.java:103-107). Payouts: PaymentService.java:1019-1059. Ownership: ComplaintService.java:153-165, BookingService.java:226-229, TenantTeamService.java:106-118.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eks/main.tf:84-85; iam/main.tf:87-123 (secrets read on name_prefix/*); compose ports on all interfaces with DEV_SEED_ENABLED=true and a known password; rds parameter group without rds.force_ssl; no launch template on node groups; empty S3 backend in versions.tf; prometheus-values.yaml:222 and 249. Security groups only expose 443 and 80 on the ALB, which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CSP needs script-src 'self' checkout.razorpay.com. Uploads: VerificationController.java:64-71 and MediaService.java:72; once S3 is real, serve files from a separate domain with Content-Disposition attachment. hs_err_pid20844.log leaks the Windows username and local paths. CSRF is disabled, which is fine while tokens travel in the Authorization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removes the only Critical and is about an hour of work. Steps 2 to 4 close the High identity and network findings and overlap with the production blockers. Step 6 is product logic and needs the booking, promotion, complaint and payment owners. Step 8 should cover the payment flow end to end with Razorpay test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README.md, docs/ARCHITECTURE.md, docs/DEPLOYMENT.md, docs/SECURITY.md, docs/API_CONTRACTS.md, docs/LOCAL_ACCESS.md, CODEBASE_REVIEW.md, Flyway migrations and entities, the Terraform, Helm and workflow files, a read-only code review on 11 October 2026, and a clean local run on 12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image" Target="../media/image-30-15.png"/><Relationship Id="rId16" Type="http://schemas.openxmlformats.org/officeDocument/2006/relationships/image" Target="../media/image-30-16.png"/><Relationship Id="rId17" Type="http://schemas.openxmlformats.org/officeDocument/2006/relationships/image" Target="../media/image-30-17.png"/><Relationship Id="rId18" Type="http://schemas.openxmlformats.org/officeDocument/2006/relationships/image" Target="../media/image-30-18.png"/><Relationship Id="rId19" Type="http://schemas.openxmlformats.org/officeDocument/2006/relationships/image" Target="../media/image-30-19.png"/><Relationship Id="rId20" Type="http://schemas.openxmlformats.org/officeDocument/2006/relationships/image" Target="../media/image-30-20.png"/><Relationship Id="rId21" Type="http://schemas.openxmlformats.org/officeDocument/2006/relationships/image" Target="../media/image-30-21.png"/><Relationship Id="rId22" Type="http://schemas.openxmlformats.org/officeDocument/2006/relationships/image" Target="../media/image-30-22.png"/><Relationship Id="rId23" Type="http://schemas.openxmlformats.org/officeDocument/2006/relationships/image" Target="../media/image-30-23.png"/><Relationship Id="rId24" Type="http://schemas.openxmlformats.org/officeDocument/2006/relationships/image" Target="../media/image-30-24.png"/><Relationship Id="rId25" Type="http://schemas.openxmlformats.org/officeDocument/2006/relationships/image" Target="../media/image-30-25.png"/><Relationship Id="rId26" Type="http://schemas.openxmlformats.org/officeDocument/2006/relationships/slideLayout" Target="../slideLayouts/slideLayout1.xml"/><Relationship Id="rId2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image" Target="../media/image-31-15.png"/><Relationship Id="rId16" Type="http://schemas.openxmlformats.org/officeDocument/2006/relationships/image" Target="../media/image-31-16.png"/><Relationship Id="rId17" Type="http://schemas.openxmlformats.org/officeDocument/2006/relationships/image" Target="../media/image-31-17.png"/><Relationship Id="rId18" Type="http://schemas.openxmlformats.org/officeDocument/2006/relationships/image" Target="../media/image-31-18.png"/><Relationship Id="rId19" Type="http://schemas.openxmlformats.org/officeDocument/2006/relationships/image" Target="../media/image-31-19.png"/><Relationship Id="rId20" Type="http://schemas.openxmlformats.org/officeDocument/2006/relationships/image" Target="../media/image-31-20.png"/><Relationship Id="rId21" Type="http://schemas.openxmlformats.org/officeDocument/2006/relationships/image" Target="../media/image-31-21.png"/><Relationship Id="rId22" Type="http://schemas.openxmlformats.org/officeDocument/2006/relationships/slideLayout" Target="../slideLayouts/slideLayout1.xml"/><Relationship Id="rId2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54794" y="952476"/>
            <a:ext cx="3301917" cy="3301917"/>
          </a:xfrm>
          <a:prstGeom prst="ellipse">
            <a:avLst/>
          </a:prstGeom>
          <a:solidFill>
            <a:srgbClr val="FFFFFF">
              <a:alpha val="8000"/>
            </a:srgbClr>
          </a:solidFill>
          <a:ln/>
        </p:spPr>
      </p:sp>
      <p:sp>
        <p:nvSpPr>
          <p:cNvPr id="3" name="Shape 1"/>
          <p:cNvSpPr/>
          <p:nvPr/>
        </p:nvSpPr>
        <p:spPr>
          <a:xfrm>
            <a:off x="9016775" y="3873403"/>
            <a:ext cx="1904952" cy="1904952"/>
          </a:xfrm>
          <a:prstGeom prst="ellipse">
            <a:avLst/>
          </a:prstGeom>
          <a:solidFill>
            <a:srgbClr val="FFFFFF">
              <a:alpha val="10000"/>
            </a:srgbClr>
          </a:solidFill>
          <a:ln/>
        </p:spPr>
      </p:sp>
      <p:sp>
        <p:nvSpPr>
          <p:cNvPr id="4" name="Shape 2"/>
          <p:cNvSpPr/>
          <p:nvPr/>
        </p:nvSpPr>
        <p:spPr>
          <a:xfrm>
            <a:off x="9143771" y="1841454"/>
            <a:ext cx="1523962" cy="1523962"/>
          </a:xfrm>
          <a:prstGeom prst="ellipse">
            <a:avLst/>
          </a:prstGeom>
          <a:solidFill>
            <a:srgbClr val="FFFFFF">
              <a:alpha val="16000"/>
            </a:srgbClr>
          </a:solidFill>
          <a:ln/>
        </p:spPr>
      </p:sp>
      <p:pic>
        <p:nvPicPr>
          <p:cNvPr id="5" name="Image 0" descr="preencoded.png">    </p:cNvPr>
          <p:cNvPicPr>
            <a:picLocks noChangeAspect="1"/>
          </p:cNvPicPr>
          <p:nvPr/>
        </p:nvPicPr>
        <p:blipFill>
          <a:blip r:embed="rId2"/>
          <a:stretch>
            <a:fillRect/>
          </a:stretch>
        </p:blipFill>
        <p:spPr>
          <a:xfrm>
            <a:off x="9493013" y="2190695"/>
            <a:ext cx="825479" cy="825479"/>
          </a:xfrm>
          <a:prstGeom prst="rect">
            <a:avLst/>
          </a:prstGeom>
        </p:spPr>
      </p:pic>
      <p:sp>
        <p:nvSpPr>
          <p:cNvPr id="6" name="Shape 3"/>
          <p:cNvSpPr/>
          <p:nvPr/>
        </p:nvSpPr>
        <p:spPr>
          <a:xfrm>
            <a:off x="9524762" y="4381390"/>
            <a:ext cx="888978" cy="888978"/>
          </a:xfrm>
          <a:prstGeom prst="ellipse">
            <a:avLst/>
          </a:prstGeom>
          <a:solidFill>
            <a:srgbClr val="FFFFFF">
              <a:alpha val="18000"/>
            </a:srgbClr>
          </a:solidFill>
          <a:ln/>
        </p:spPr>
      </p:sp>
      <p:pic>
        <p:nvPicPr>
          <p:cNvPr id="7" name="Image 1" descr="preencoded.png">    </p:cNvPr>
          <p:cNvPicPr>
            <a:picLocks noChangeAspect="1"/>
          </p:cNvPicPr>
          <p:nvPr/>
        </p:nvPicPr>
        <p:blipFill>
          <a:blip r:embed="rId3"/>
          <a:stretch>
            <a:fillRect/>
          </a:stretch>
        </p:blipFill>
        <p:spPr>
          <a:xfrm>
            <a:off x="9740656" y="4597285"/>
            <a:ext cx="457189" cy="457189"/>
          </a:xfrm>
          <a:prstGeom prst="rect">
            <a:avLst/>
          </a:prstGeom>
        </p:spPr>
      </p:pic>
      <p:sp>
        <p:nvSpPr>
          <p:cNvPr id="8" name="Shape 4"/>
          <p:cNvSpPr/>
          <p:nvPr/>
        </p:nvSpPr>
        <p:spPr>
          <a:xfrm>
            <a:off x="8191295" y="3555911"/>
            <a:ext cx="698483" cy="698483"/>
          </a:xfrm>
          <a:prstGeom prst="ellipse">
            <a:avLst/>
          </a:prstGeom>
          <a:solidFill>
            <a:srgbClr val="FFFFFF">
              <a:alpha val="18000"/>
            </a:srgbClr>
          </a:solidFill>
          <a:ln/>
        </p:spPr>
      </p:sp>
      <p:pic>
        <p:nvPicPr>
          <p:cNvPr id="9" name="Image 2" descr="preencoded.png">    </p:cNvPr>
          <p:cNvPicPr>
            <a:picLocks noChangeAspect="1"/>
          </p:cNvPicPr>
          <p:nvPr/>
        </p:nvPicPr>
        <p:blipFill>
          <a:blip r:embed="rId4"/>
          <a:stretch>
            <a:fillRect/>
          </a:stretch>
        </p:blipFill>
        <p:spPr>
          <a:xfrm>
            <a:off x="8362741" y="3727357"/>
            <a:ext cx="355591" cy="355591"/>
          </a:xfrm>
          <a:prstGeom prst="rect">
            <a:avLst/>
          </a:prstGeom>
        </p:spPr>
      </p:pic>
      <p:sp>
        <p:nvSpPr>
          <p:cNvPr id="10" name="Text 5"/>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50" kern="0" dirty="0">
                <a:solidFill>
                  <a:srgbClr val="F8FAFF"/>
                </a:solidFill>
                <a:latin typeface="Courier New" pitchFamily="34" charset="0"/>
                <a:ea typeface="Courier New" pitchFamily="34" charset="-122"/>
                <a:cs typeface="Courier New" pitchFamily="34" charset="-120"/>
              </a:rPr>
              <a:t>DESIGN REVIEW · OCTOBER 2026</a:t>
            </a:r>
            <a:endParaRPr lang="en-US" sz="1200" dirty="0"/>
          </a:p>
        </p:txBody>
      </p:sp>
      <p:sp>
        <p:nvSpPr>
          <p:cNvPr id="11" name="Text 6"/>
          <p:cNvSpPr txBox="1"/>
          <p:nvPr/>
        </p:nvSpPr>
        <p:spPr>
          <a:xfrm>
            <a:off x="812780" y="2416809"/>
            <a:ext cx="8178596" cy="952476"/>
          </a:xfrm>
          <a:prstGeom prst="rect">
            <a:avLst/>
          </a:prstGeom>
          <a:noFill/>
          <a:ln/>
        </p:spPr>
        <p:txBody>
          <a:bodyPr wrap="square" lIns="0" tIns="0" rIns="0" bIns="0" rtlCol="0" anchor="t"/>
          <a:lstStyle/>
          <a:p>
            <a:pPr algn="l" indent="0" marL="0">
              <a:lnSpc>
                <a:spcPct val="83333"/>
              </a:lnSpc>
              <a:buNone/>
            </a:pPr>
            <a:r>
              <a:rPr lang="en-US" sz="7500" b="1" dirty="0">
                <a:solidFill>
                  <a:srgbClr val="F8FAFF"/>
                </a:solidFill>
                <a:latin typeface="Calibri" pitchFamily="34" charset="0"/>
                <a:ea typeface="Calibri" pitchFamily="34" charset="-122"/>
                <a:cs typeface="Calibri" pitchFamily="34" charset="-120"/>
              </a:rPr>
              <a:t>HomeFix</a:t>
            </a:r>
            <a:endParaRPr lang="en-US" sz="7500" dirty="0"/>
          </a:p>
        </p:txBody>
      </p:sp>
      <p:sp>
        <p:nvSpPr>
          <p:cNvPr id="12" name="Text 7"/>
          <p:cNvSpPr txBox="1"/>
          <p:nvPr/>
        </p:nvSpPr>
        <p:spPr>
          <a:xfrm>
            <a:off x="812780" y="3547081"/>
            <a:ext cx="8178596" cy="876278"/>
          </a:xfrm>
          <a:prstGeom prst="rect">
            <a:avLst/>
          </a:prstGeom>
          <a:noFill/>
          <a:ln/>
        </p:spPr>
        <p:txBody>
          <a:bodyPr wrap="square" lIns="0" tIns="0" rIns="0" bIns="0" rtlCol="0" anchor="t"/>
          <a:lstStyle/>
          <a:p>
            <a:pPr algn="l" indent="0" marL="0">
              <a:lnSpc>
                <a:spcPct val="95833"/>
              </a:lnSpc>
              <a:buNone/>
            </a:pPr>
            <a:r>
              <a:rPr lang="en-US" sz="3000" dirty="0">
                <a:solidFill>
                  <a:srgbClr val="F8FAFF"/>
                </a:solidFill>
                <a:latin typeface="Calibri" pitchFamily="34" charset="0"/>
                <a:ea typeface="Calibri" pitchFamily="34" charset="-122"/>
                <a:cs typeface="Calibri" pitchFamily="34" charset="-120"/>
              </a:rPr>
              <a:t>Architecture and flows,</a:t>
            </a:r>
            <a:endParaRPr lang="en-US" sz="3000" dirty="0"/>
          </a:p>
          <a:p>
            <a:pPr algn="l" indent="0" marL="0">
              <a:lnSpc>
                <a:spcPct val="95833"/>
              </a:lnSpc>
              <a:buNone/>
            </a:pPr>
            <a:r>
              <a:rPr lang="en-US" sz="3000" dirty="0">
                <a:solidFill>
                  <a:srgbClr val="F8FAFF"/>
                </a:solidFill>
                <a:latin typeface="Calibri" pitchFamily="34" charset="0"/>
                <a:ea typeface="Calibri" pitchFamily="34" charset="-122"/>
                <a:cs typeface="Calibri" pitchFamily="34" charset="-120"/>
              </a:rPr>
              <a:t>deployment and security, step by step</a:t>
            </a:r>
            <a:endParaRPr lang="en-US" sz="3000" dirty="0"/>
          </a:p>
        </p:txBody>
      </p:sp>
      <p:sp>
        <p:nvSpPr>
          <p:cNvPr id="13" name="Text 8"/>
          <p:cNvSpPr txBox="1"/>
          <p:nvPr/>
        </p:nvSpPr>
        <p:spPr>
          <a:xfrm>
            <a:off x="812780" y="5813974"/>
            <a:ext cx="11834072" cy="231134"/>
          </a:xfrm>
          <a:prstGeom prst="rect">
            <a:avLst/>
          </a:prstGeom>
          <a:noFill/>
          <a:ln/>
        </p:spPr>
        <p:txBody>
          <a:bodyPr wrap="square" lIns="0" tIns="0" rIns="0" bIns="0" rtlCol="0" anchor="t"/>
          <a:lstStyle/>
          <a:p>
            <a:pPr algn="l" indent="0" marL="0">
              <a:lnSpc>
                <a:spcPct val="116667"/>
              </a:lnSpc>
              <a:buNone/>
            </a:pPr>
            <a:r>
              <a:rPr lang="en-US" sz="1300" dirty="0">
                <a:solidFill>
                  <a:srgbClr val="F8FAFF"/>
                </a:solidFill>
                <a:latin typeface="Calibri" pitchFamily="34" charset="0"/>
                <a:ea typeface="Calibri" pitchFamily="34" charset="-122"/>
                <a:cs typeface="Calibri" pitchFamily="34" charset="-120"/>
              </a:rPr>
              <a:t>On-demand home-services marketplace · Java 25 · Spring Boot 4 · React 19 · branch fix/job-flow-and-admin-backend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AT A GLANCE</a:t>
            </a:r>
            <a:endParaRPr lang="en-US" sz="1200" dirty="0"/>
          </a:p>
        </p:txBody>
      </p:sp>
      <p:sp>
        <p:nvSpPr>
          <p:cNvPr id="3" name="Text 1"/>
          <p:cNvSpPr txBox="1"/>
          <p:nvPr/>
        </p:nvSpPr>
        <p:spPr>
          <a:xfrm>
            <a:off x="812780" y="1102293"/>
            <a:ext cx="11834072" cy="838179"/>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An event-driven service platform, light enough for one laptop</a:t>
            </a:r>
            <a:endParaRPr lang="en-US" sz="3000" dirty="0"/>
          </a:p>
        </p:txBody>
      </p:sp>
      <p:sp>
        <p:nvSpPr>
          <p:cNvPr id="4" name="Shape 2"/>
          <p:cNvSpPr/>
          <p:nvPr/>
        </p:nvSpPr>
        <p:spPr>
          <a:xfrm>
            <a:off x="812780" y="2194465"/>
            <a:ext cx="2520490" cy="2303603"/>
          </a:xfrm>
          <a:prstGeom prst="roundRect">
            <a:avLst>
              <a:gd name="adj" fmla="val 5513"/>
            </a:avLst>
          </a:prstGeom>
          <a:solidFill>
            <a:srgbClr val="FCFDFF"/>
          </a:solidFill>
          <a:ln w="6350">
            <a:solidFill>
              <a:srgbClr val="D5DEEC"/>
            </a:solidFill>
            <a:prstDash val="solid"/>
          </a:ln>
        </p:spPr>
      </p:sp>
      <p:sp>
        <p:nvSpPr>
          <p:cNvPr id="5" name="Shape 3"/>
          <p:cNvSpPr/>
          <p:nvPr/>
        </p:nvSpPr>
        <p:spPr>
          <a:xfrm>
            <a:off x="1022324" y="2404010"/>
            <a:ext cx="457189" cy="457189"/>
          </a:xfrm>
          <a:prstGeom prst="ellipse">
            <a:avLst/>
          </a:prstGeom>
          <a:solidFill>
            <a:srgbClr val="E3EBFA"/>
          </a:solidFill>
          <a:ln/>
        </p:spPr>
      </p:sp>
      <p:pic>
        <p:nvPicPr>
          <p:cNvPr id="6" name="Image 0" descr="preencoded.png">    </p:cNvPr>
          <p:cNvPicPr>
            <a:picLocks noChangeAspect="1"/>
          </p:cNvPicPr>
          <p:nvPr/>
        </p:nvPicPr>
        <p:blipFill>
          <a:blip r:embed="rId1"/>
          <a:stretch>
            <a:fillRect/>
          </a:stretch>
        </p:blipFill>
        <p:spPr>
          <a:xfrm>
            <a:off x="1130272" y="2511958"/>
            <a:ext cx="241294" cy="241294"/>
          </a:xfrm>
          <a:prstGeom prst="rect">
            <a:avLst/>
          </a:prstGeom>
        </p:spPr>
      </p:pic>
      <p:sp>
        <p:nvSpPr>
          <p:cNvPr id="7" name="Text 4"/>
          <p:cNvSpPr txBox="1"/>
          <p:nvPr/>
        </p:nvSpPr>
        <p:spPr>
          <a:xfrm>
            <a:off x="1022324" y="2962796"/>
            <a:ext cx="2353569" cy="761981"/>
          </a:xfrm>
          <a:prstGeom prst="rect">
            <a:avLst/>
          </a:prstGeom>
          <a:noFill/>
          <a:ln/>
        </p:spPr>
        <p:txBody>
          <a:bodyPr wrap="square" lIns="0" tIns="0" rIns="0" bIns="0" rtlCol="0" anchor="t"/>
          <a:lstStyle/>
          <a:p>
            <a:pPr algn="l" indent="0" marL="0">
              <a:lnSpc>
                <a:spcPct val="83333"/>
              </a:lnSpc>
              <a:buNone/>
            </a:pPr>
            <a:r>
              <a:rPr lang="en-US" sz="6000" b="1" dirty="0">
                <a:solidFill>
                  <a:srgbClr val="2454C5"/>
                </a:solidFill>
                <a:latin typeface="Calibri" pitchFamily="34" charset="0"/>
                <a:ea typeface="Calibri" pitchFamily="34" charset="-122"/>
                <a:cs typeface="Calibri" pitchFamily="34" charset="-120"/>
              </a:rPr>
              <a:t>20→5</a:t>
            </a:r>
            <a:endParaRPr lang="en-US" sz="6000" dirty="0"/>
          </a:p>
        </p:txBody>
      </p:sp>
      <p:sp>
        <p:nvSpPr>
          <p:cNvPr id="8" name="Text 5"/>
          <p:cNvSpPr txBox="1"/>
          <p:nvPr/>
        </p:nvSpPr>
        <p:spPr>
          <a:xfrm>
            <a:off x="1022324" y="3826375"/>
            <a:ext cx="2353569"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Spring Boot 4 services, run as five Java 25 deployables</a:t>
            </a:r>
            <a:endParaRPr lang="en-US" sz="1300" dirty="0"/>
          </a:p>
        </p:txBody>
      </p:sp>
      <p:sp>
        <p:nvSpPr>
          <p:cNvPr id="9" name="Shape 6"/>
          <p:cNvSpPr/>
          <p:nvPr/>
        </p:nvSpPr>
        <p:spPr>
          <a:xfrm>
            <a:off x="3511065" y="2194465"/>
            <a:ext cx="2504020" cy="2303603"/>
          </a:xfrm>
          <a:prstGeom prst="roundRect">
            <a:avLst>
              <a:gd name="adj" fmla="val 5513"/>
            </a:avLst>
          </a:prstGeom>
          <a:solidFill>
            <a:srgbClr val="FCFDFF"/>
          </a:solidFill>
          <a:ln w="6350">
            <a:solidFill>
              <a:srgbClr val="D5DEEC"/>
            </a:solidFill>
            <a:prstDash val="solid"/>
          </a:ln>
        </p:spPr>
      </p:sp>
      <p:sp>
        <p:nvSpPr>
          <p:cNvPr id="10" name="Shape 7"/>
          <p:cNvSpPr/>
          <p:nvPr/>
        </p:nvSpPr>
        <p:spPr>
          <a:xfrm>
            <a:off x="3720610" y="2404010"/>
            <a:ext cx="457189" cy="457189"/>
          </a:xfrm>
          <a:prstGeom prst="ellipse">
            <a:avLst/>
          </a:prstGeom>
          <a:solidFill>
            <a:srgbClr val="DDF2EF"/>
          </a:solidFill>
          <a:ln/>
        </p:spPr>
      </p:sp>
      <p:pic>
        <p:nvPicPr>
          <p:cNvPr id="11" name="Image 1" descr="preencoded.png">    </p:cNvPr>
          <p:cNvPicPr>
            <a:picLocks noChangeAspect="1"/>
          </p:cNvPicPr>
          <p:nvPr/>
        </p:nvPicPr>
        <p:blipFill>
          <a:blip r:embed="rId2"/>
          <a:stretch>
            <a:fillRect/>
          </a:stretch>
        </p:blipFill>
        <p:spPr>
          <a:xfrm>
            <a:off x="3828557" y="2511958"/>
            <a:ext cx="241294" cy="241294"/>
          </a:xfrm>
          <a:prstGeom prst="rect">
            <a:avLst/>
          </a:prstGeom>
        </p:spPr>
      </p:pic>
      <p:sp>
        <p:nvSpPr>
          <p:cNvPr id="12" name="Text 8"/>
          <p:cNvSpPr txBox="1"/>
          <p:nvPr/>
        </p:nvSpPr>
        <p:spPr>
          <a:xfrm>
            <a:off x="3720610" y="2962796"/>
            <a:ext cx="2335122" cy="761981"/>
          </a:xfrm>
          <a:prstGeom prst="rect">
            <a:avLst/>
          </a:prstGeom>
          <a:noFill/>
          <a:ln/>
        </p:spPr>
        <p:txBody>
          <a:bodyPr wrap="square" lIns="0" tIns="0" rIns="0" bIns="0" rtlCol="0" anchor="t"/>
          <a:lstStyle/>
          <a:p>
            <a:pPr algn="l" indent="0" marL="0">
              <a:lnSpc>
                <a:spcPct val="83333"/>
              </a:lnSpc>
              <a:buNone/>
            </a:pPr>
            <a:r>
              <a:rPr lang="en-US" sz="6000" b="1" dirty="0">
                <a:solidFill>
                  <a:srgbClr val="0B7F74"/>
                </a:solidFill>
                <a:latin typeface="Calibri" pitchFamily="34" charset="0"/>
                <a:ea typeface="Calibri" pitchFamily="34" charset="-122"/>
                <a:cs typeface="Calibri" pitchFamily="34" charset="-120"/>
              </a:rPr>
              <a:t>3+2</a:t>
            </a:r>
            <a:endParaRPr lang="en-US" sz="6000" dirty="0"/>
          </a:p>
        </p:txBody>
      </p:sp>
      <p:sp>
        <p:nvSpPr>
          <p:cNvPr id="13" name="Text 9"/>
          <p:cNvSpPr txBox="1"/>
          <p:nvPr/>
        </p:nvSpPr>
        <p:spPr>
          <a:xfrm>
            <a:off x="3720610" y="3826375"/>
            <a:ext cx="2335122"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React 19 web apps plus iOS and Android shells</a:t>
            </a:r>
            <a:endParaRPr lang="en-US" sz="1300" dirty="0"/>
          </a:p>
        </p:txBody>
      </p:sp>
      <p:sp>
        <p:nvSpPr>
          <p:cNvPr id="14" name="Shape 10"/>
          <p:cNvSpPr/>
          <p:nvPr/>
        </p:nvSpPr>
        <p:spPr>
          <a:xfrm>
            <a:off x="6192881" y="2194465"/>
            <a:ext cx="2504119" cy="2303603"/>
          </a:xfrm>
          <a:prstGeom prst="roundRect">
            <a:avLst>
              <a:gd name="adj" fmla="val 5513"/>
            </a:avLst>
          </a:prstGeom>
          <a:solidFill>
            <a:srgbClr val="FCFDFF"/>
          </a:solidFill>
          <a:ln w="6350">
            <a:solidFill>
              <a:srgbClr val="D5DEEC"/>
            </a:solidFill>
            <a:prstDash val="solid"/>
          </a:ln>
        </p:spPr>
      </p:sp>
      <p:sp>
        <p:nvSpPr>
          <p:cNvPr id="15" name="Shape 11"/>
          <p:cNvSpPr/>
          <p:nvPr/>
        </p:nvSpPr>
        <p:spPr>
          <a:xfrm>
            <a:off x="6402426" y="2404010"/>
            <a:ext cx="457189" cy="457189"/>
          </a:xfrm>
          <a:prstGeom prst="ellipse">
            <a:avLst/>
          </a:prstGeom>
          <a:solidFill>
            <a:srgbClr val="E7E7F6"/>
          </a:solidFill>
          <a:ln/>
        </p:spPr>
      </p:sp>
      <p:pic>
        <p:nvPicPr>
          <p:cNvPr id="16" name="Image 2" descr="preencoded.png">    </p:cNvPr>
          <p:cNvPicPr>
            <a:picLocks noChangeAspect="1"/>
          </p:cNvPicPr>
          <p:nvPr/>
        </p:nvPicPr>
        <p:blipFill>
          <a:blip r:embed="rId3"/>
          <a:stretch>
            <a:fillRect/>
          </a:stretch>
        </p:blipFill>
        <p:spPr>
          <a:xfrm>
            <a:off x="6510373" y="2511958"/>
            <a:ext cx="241294" cy="241294"/>
          </a:xfrm>
          <a:prstGeom prst="rect">
            <a:avLst/>
          </a:prstGeom>
        </p:spPr>
      </p:pic>
      <p:sp>
        <p:nvSpPr>
          <p:cNvPr id="17" name="Text 12"/>
          <p:cNvSpPr txBox="1"/>
          <p:nvPr/>
        </p:nvSpPr>
        <p:spPr>
          <a:xfrm>
            <a:off x="6402426" y="2962796"/>
            <a:ext cx="2335233" cy="761981"/>
          </a:xfrm>
          <a:prstGeom prst="rect">
            <a:avLst/>
          </a:prstGeom>
          <a:noFill/>
          <a:ln/>
        </p:spPr>
        <p:txBody>
          <a:bodyPr wrap="square" lIns="0" tIns="0" rIns="0" bIns="0" rtlCol="0" anchor="t"/>
          <a:lstStyle/>
          <a:p>
            <a:pPr algn="l" indent="0" marL="0">
              <a:lnSpc>
                <a:spcPct val="83333"/>
              </a:lnSpc>
              <a:buNone/>
            </a:pPr>
            <a:r>
              <a:rPr lang="en-US" sz="6000" b="1" dirty="0">
                <a:solidFill>
                  <a:srgbClr val="4B4B9A"/>
                </a:solidFill>
                <a:latin typeface="Calibri" pitchFamily="34" charset="0"/>
                <a:ea typeface="Calibri" pitchFamily="34" charset="-122"/>
                <a:cs typeface="Calibri" pitchFamily="34" charset="-120"/>
              </a:rPr>
              <a:t>13</a:t>
            </a:r>
            <a:endParaRPr lang="en-US" sz="6000" dirty="0"/>
          </a:p>
        </p:txBody>
      </p:sp>
      <p:sp>
        <p:nvSpPr>
          <p:cNvPr id="18" name="Text 13"/>
          <p:cNvSpPr txBox="1"/>
          <p:nvPr/>
        </p:nvSpPr>
        <p:spPr>
          <a:xfrm>
            <a:off x="6402426" y="3826375"/>
            <a:ext cx="2335233"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Kafka topics fed by a transactional outbox</a:t>
            </a:r>
            <a:endParaRPr lang="en-US" sz="1300" dirty="0"/>
          </a:p>
        </p:txBody>
      </p:sp>
      <p:sp>
        <p:nvSpPr>
          <p:cNvPr id="19" name="Shape 14"/>
          <p:cNvSpPr/>
          <p:nvPr/>
        </p:nvSpPr>
        <p:spPr>
          <a:xfrm>
            <a:off x="8874796" y="2194465"/>
            <a:ext cx="2504020" cy="2303603"/>
          </a:xfrm>
          <a:prstGeom prst="roundRect">
            <a:avLst>
              <a:gd name="adj" fmla="val 5513"/>
            </a:avLst>
          </a:prstGeom>
          <a:solidFill>
            <a:srgbClr val="FCFDFF"/>
          </a:solidFill>
          <a:ln w="6350">
            <a:solidFill>
              <a:srgbClr val="D5DEEC"/>
            </a:solidFill>
            <a:prstDash val="solid"/>
          </a:ln>
        </p:spPr>
      </p:sp>
      <p:sp>
        <p:nvSpPr>
          <p:cNvPr id="20" name="Shape 15"/>
          <p:cNvSpPr/>
          <p:nvPr/>
        </p:nvSpPr>
        <p:spPr>
          <a:xfrm>
            <a:off x="9084341" y="2404010"/>
            <a:ext cx="457189" cy="457189"/>
          </a:xfrm>
          <a:prstGeom prst="ellipse">
            <a:avLst/>
          </a:prstGeom>
          <a:solidFill>
            <a:srgbClr val="E2EAF6"/>
          </a:solidFill>
          <a:ln/>
        </p:spPr>
      </p:sp>
      <p:pic>
        <p:nvPicPr>
          <p:cNvPr id="21" name="Image 3" descr="preencoded.png">    </p:cNvPr>
          <p:cNvPicPr>
            <a:picLocks noChangeAspect="1"/>
          </p:cNvPicPr>
          <p:nvPr/>
        </p:nvPicPr>
        <p:blipFill>
          <a:blip r:embed="rId4"/>
          <a:stretch>
            <a:fillRect/>
          </a:stretch>
        </p:blipFill>
        <p:spPr>
          <a:xfrm>
            <a:off x="9192288" y="2511958"/>
            <a:ext cx="241294" cy="241294"/>
          </a:xfrm>
          <a:prstGeom prst="rect">
            <a:avLst/>
          </a:prstGeom>
        </p:spPr>
      </p:pic>
      <p:sp>
        <p:nvSpPr>
          <p:cNvPr id="22" name="Text 16"/>
          <p:cNvSpPr txBox="1"/>
          <p:nvPr/>
        </p:nvSpPr>
        <p:spPr>
          <a:xfrm>
            <a:off x="9084341" y="2962796"/>
            <a:ext cx="2335122" cy="761981"/>
          </a:xfrm>
          <a:prstGeom prst="rect">
            <a:avLst/>
          </a:prstGeom>
          <a:noFill/>
          <a:ln/>
        </p:spPr>
        <p:txBody>
          <a:bodyPr wrap="square" lIns="0" tIns="0" rIns="0" bIns="0" rtlCol="0" anchor="t"/>
          <a:lstStyle/>
          <a:p>
            <a:pPr algn="l" indent="0" marL="0">
              <a:lnSpc>
                <a:spcPct val="83333"/>
              </a:lnSpc>
              <a:buNone/>
            </a:pPr>
            <a:r>
              <a:rPr lang="en-US" sz="6000" b="1" dirty="0">
                <a:solidFill>
                  <a:srgbClr val="2F5C9A"/>
                </a:solidFill>
                <a:latin typeface="Calibri" pitchFamily="34" charset="0"/>
                <a:ea typeface="Calibri" pitchFamily="34" charset="-122"/>
                <a:cs typeface="Calibri" pitchFamily="34" charset="-120"/>
              </a:rPr>
              <a:t>18+1</a:t>
            </a:r>
            <a:endParaRPr lang="en-US" sz="6000" dirty="0"/>
          </a:p>
        </p:txBody>
      </p:sp>
      <p:sp>
        <p:nvSpPr>
          <p:cNvPr id="23" name="Text 17"/>
          <p:cNvSpPr txBox="1"/>
          <p:nvPr/>
        </p:nvSpPr>
        <p:spPr>
          <a:xfrm>
            <a:off x="9084341" y="3826375"/>
            <a:ext cx="2335122" cy="462149"/>
          </a:xfrm>
          <a:prstGeom prst="rect">
            <a:avLst/>
          </a:prstGeom>
          <a:noFill/>
          <a:ln/>
        </p:spPr>
        <p:txBody>
          <a:bodyPr wrap="square" lIns="0" tIns="0" rIns="0" bIns="0" rtlCol="0" anchor="t"/>
          <a:lstStyle/>
          <a:p>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Postgres schemas, one per service, plus config</a:t>
            </a:r>
            <a:endParaRPr lang="en-US" sz="1300" dirty="0"/>
          </a:p>
        </p:txBody>
      </p:sp>
      <p:sp>
        <p:nvSpPr>
          <p:cNvPr id="24" name="Shape 18"/>
          <p:cNvSpPr/>
          <p:nvPr/>
        </p:nvSpPr>
        <p:spPr>
          <a:xfrm>
            <a:off x="812780" y="4752062"/>
            <a:ext cx="10566136" cy="766942"/>
          </a:xfrm>
          <a:prstGeom prst="roundRect">
            <a:avLst>
              <a:gd name="adj" fmla="val 13247"/>
            </a:avLst>
          </a:prstGeom>
          <a:solidFill>
            <a:srgbClr val="E3EBFA"/>
          </a:solidFill>
          <a:ln/>
        </p:spPr>
      </p:sp>
      <p:pic>
        <p:nvPicPr>
          <p:cNvPr id="25" name="Image 4" descr="preencoded.png">    </p:cNvPr>
          <p:cNvPicPr>
            <a:picLocks noChangeAspect="1"/>
          </p:cNvPicPr>
          <p:nvPr/>
        </p:nvPicPr>
        <p:blipFill>
          <a:blip r:embed="rId5"/>
          <a:stretch>
            <a:fillRect/>
          </a:stretch>
        </p:blipFill>
        <p:spPr>
          <a:xfrm>
            <a:off x="1015975" y="5008537"/>
            <a:ext cx="253994" cy="253994"/>
          </a:xfrm>
          <a:prstGeom prst="rect">
            <a:avLst/>
          </a:prstGeom>
        </p:spPr>
      </p:pic>
      <p:sp>
        <p:nvSpPr>
          <p:cNvPr id="26" name="Text 19"/>
          <p:cNvSpPr txBox="1"/>
          <p:nvPr/>
        </p:nvSpPr>
        <p:spPr>
          <a:xfrm>
            <a:off x="1396965" y="4904459"/>
            <a:ext cx="10952206" cy="462149"/>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Live:</a:t>
            </a:r>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 Razorpay Checkout (test mode), Google and Apple sign-in. </a:t>
            </a:r>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Stubs:</a:t>
            </a:r>
            <a:pPr algn="l" indent="0" marL="0">
              <a:lnSpc>
                <a:spcPct val="116667"/>
              </a:lnSpc>
              <a:buNone/>
            </a:pPr>
            <a:r>
              <a:rPr lang="en-US" sz="1300" dirty="0">
                <a:solidFill>
                  <a:srgbClr val="4A5878"/>
                </a:solidFill>
                <a:latin typeface="Calibri" pitchFamily="34" charset="0"/>
                <a:ea typeface="Calibri" pitchFamily="34" charset="-122"/>
                <a:cs typeface="Calibri" pitchFamily="34" charset="-120"/>
              </a:rPr>
              <a:t> SMS, email, push, S3 storage, background checks, geocoding.</a:t>
            </a:r>
            <a:endParaRPr lang="en-US" sz="1300" dirty="0"/>
          </a:p>
        </p:txBody>
      </p:sp>
      <p:sp>
        <p:nvSpPr>
          <p:cNvPr id="27" name="Text 2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Overview</a:t>
            </a:r>
            <a:endParaRPr lang="en-US" sz="1200" dirty="0"/>
          </a:p>
        </p:txBody>
      </p:sp>
      <p:sp>
        <p:nvSpPr>
          <p:cNvPr id="28" name="Text 2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UNIFIED VIEW</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One picture: apps, edge, five deployables, data, partners</a:t>
            </a:r>
            <a:endParaRPr lang="en-US" sz="3000" dirty="0"/>
          </a:p>
        </p:txBody>
      </p:sp>
      <p:sp>
        <p:nvSpPr>
          <p:cNvPr id="4" name="Shape 2"/>
          <p:cNvSpPr/>
          <p:nvPr/>
        </p:nvSpPr>
        <p:spPr>
          <a:xfrm>
            <a:off x="812780" y="1777956"/>
            <a:ext cx="2095448" cy="507987"/>
          </a:xfrm>
          <a:prstGeom prst="roundRect">
            <a:avLst>
              <a:gd name="adj" fmla="val 50000"/>
            </a:avLst>
          </a:prstGeom>
          <a:solidFill>
            <a:srgbClr val="E3EBFA"/>
          </a:solidFill>
          <a:ln/>
        </p:spPr>
      </p:sp>
      <p:pic>
        <p:nvPicPr>
          <p:cNvPr id="5" name="Image 0" descr="preencoded.png">    </p:cNvPr>
          <p:cNvPicPr>
            <a:picLocks noChangeAspect="1"/>
          </p:cNvPicPr>
          <p:nvPr/>
        </p:nvPicPr>
        <p:blipFill>
          <a:blip r:embed="rId1"/>
          <a:stretch>
            <a:fillRect/>
          </a:stretch>
        </p:blipFill>
        <p:spPr>
          <a:xfrm>
            <a:off x="952476" y="1936702"/>
            <a:ext cx="190495" cy="190495"/>
          </a:xfrm>
          <a:prstGeom prst="rect">
            <a:avLst/>
          </a:prstGeom>
        </p:spPr>
      </p:pic>
      <p:sp>
        <p:nvSpPr>
          <p:cNvPr id="6" name="Text 3"/>
          <p:cNvSpPr txBox="1"/>
          <p:nvPr/>
        </p:nvSpPr>
        <p:spPr>
          <a:xfrm>
            <a:off x="1219170" y="1925292"/>
            <a:ext cx="1631496"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 app :5173</a:t>
            </a:r>
            <a:endParaRPr lang="en-US" sz="1200" dirty="0"/>
          </a:p>
        </p:txBody>
      </p:sp>
      <p:sp>
        <p:nvSpPr>
          <p:cNvPr id="7" name="Shape 4"/>
          <p:cNvSpPr/>
          <p:nvPr/>
        </p:nvSpPr>
        <p:spPr>
          <a:xfrm>
            <a:off x="3060623" y="1777956"/>
            <a:ext cx="2095448" cy="507987"/>
          </a:xfrm>
          <a:prstGeom prst="roundRect">
            <a:avLst>
              <a:gd name="adj" fmla="val 50000"/>
            </a:avLst>
          </a:prstGeom>
          <a:solidFill>
            <a:srgbClr val="DDF2EF"/>
          </a:solidFill>
          <a:ln/>
        </p:spPr>
      </p:sp>
      <p:pic>
        <p:nvPicPr>
          <p:cNvPr id="8" name="Image 1" descr="preencoded.png">    </p:cNvPr>
          <p:cNvPicPr>
            <a:picLocks noChangeAspect="1"/>
          </p:cNvPicPr>
          <p:nvPr/>
        </p:nvPicPr>
        <p:blipFill>
          <a:blip r:embed="rId2"/>
          <a:stretch>
            <a:fillRect/>
          </a:stretch>
        </p:blipFill>
        <p:spPr>
          <a:xfrm>
            <a:off x="3200320" y="1936702"/>
            <a:ext cx="190495" cy="190495"/>
          </a:xfrm>
          <a:prstGeom prst="rect">
            <a:avLst/>
          </a:prstGeom>
        </p:spPr>
      </p:pic>
      <p:sp>
        <p:nvSpPr>
          <p:cNvPr id="9" name="Text 5"/>
          <p:cNvSpPr txBox="1"/>
          <p:nvPr/>
        </p:nvSpPr>
        <p:spPr>
          <a:xfrm>
            <a:off x="3467013" y="1925292"/>
            <a:ext cx="1527375"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 app :5174</a:t>
            </a:r>
            <a:endParaRPr lang="en-US" sz="1200" dirty="0"/>
          </a:p>
        </p:txBody>
      </p:sp>
      <p:sp>
        <p:nvSpPr>
          <p:cNvPr id="10" name="Shape 6"/>
          <p:cNvSpPr/>
          <p:nvPr/>
        </p:nvSpPr>
        <p:spPr>
          <a:xfrm>
            <a:off x="5308467" y="1777956"/>
            <a:ext cx="2095448" cy="507987"/>
          </a:xfrm>
          <a:prstGeom prst="roundRect">
            <a:avLst>
              <a:gd name="adj" fmla="val 50000"/>
            </a:avLst>
          </a:prstGeom>
          <a:solidFill>
            <a:srgbClr val="E6EBF3"/>
          </a:solidFill>
          <a:ln/>
        </p:spPr>
      </p:sp>
      <p:pic>
        <p:nvPicPr>
          <p:cNvPr id="11" name="Image 2" descr="preencoded.png">    </p:cNvPr>
          <p:cNvPicPr>
            <a:picLocks noChangeAspect="1"/>
          </p:cNvPicPr>
          <p:nvPr/>
        </p:nvPicPr>
        <p:blipFill>
          <a:blip r:embed="rId3"/>
          <a:stretch>
            <a:fillRect/>
          </a:stretch>
        </p:blipFill>
        <p:spPr>
          <a:xfrm>
            <a:off x="5448164" y="1936702"/>
            <a:ext cx="190495" cy="190495"/>
          </a:xfrm>
          <a:prstGeom prst="rect">
            <a:avLst/>
          </a:prstGeom>
        </p:spPr>
      </p:pic>
      <p:sp>
        <p:nvSpPr>
          <p:cNvPr id="12" name="Text 7"/>
          <p:cNvSpPr txBox="1"/>
          <p:nvPr/>
        </p:nvSpPr>
        <p:spPr>
          <a:xfrm>
            <a:off x="5714857" y="1925292"/>
            <a:ext cx="1536487"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Admin portal :5175</a:t>
            </a:r>
            <a:endParaRPr lang="en-US" sz="1200" dirty="0"/>
          </a:p>
        </p:txBody>
      </p:sp>
      <p:sp>
        <p:nvSpPr>
          <p:cNvPr id="13" name="Shape 8"/>
          <p:cNvSpPr/>
          <p:nvPr/>
        </p:nvSpPr>
        <p:spPr>
          <a:xfrm>
            <a:off x="7556311" y="1777956"/>
            <a:ext cx="2095448" cy="507987"/>
          </a:xfrm>
          <a:prstGeom prst="roundRect">
            <a:avLst>
              <a:gd name="adj" fmla="val 50000"/>
            </a:avLst>
          </a:prstGeom>
          <a:solidFill>
            <a:srgbClr val="FAE3ED"/>
          </a:solidFill>
          <a:ln/>
        </p:spPr>
      </p:sp>
      <p:pic>
        <p:nvPicPr>
          <p:cNvPr id="14" name="Image 3" descr="preencoded.png">    </p:cNvPr>
          <p:cNvPicPr>
            <a:picLocks noChangeAspect="1"/>
          </p:cNvPicPr>
          <p:nvPr/>
        </p:nvPicPr>
        <p:blipFill>
          <a:blip r:embed="rId4"/>
          <a:stretch>
            <a:fillRect/>
          </a:stretch>
        </p:blipFill>
        <p:spPr>
          <a:xfrm>
            <a:off x="7696008" y="1936702"/>
            <a:ext cx="190495" cy="190495"/>
          </a:xfrm>
          <a:prstGeom prst="rect">
            <a:avLst/>
          </a:prstGeom>
        </p:spPr>
      </p:pic>
      <p:sp>
        <p:nvSpPr>
          <p:cNvPr id="15" name="Text 9"/>
          <p:cNvSpPr txBox="1"/>
          <p:nvPr/>
        </p:nvSpPr>
        <p:spPr>
          <a:xfrm>
            <a:off x="7962701" y="1925292"/>
            <a:ext cx="134013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iOS and Android</a:t>
            </a:r>
            <a:endParaRPr lang="en-US" sz="1200" dirty="0"/>
          </a:p>
        </p:txBody>
      </p:sp>
      <p:sp>
        <p:nvSpPr>
          <p:cNvPr id="16" name="Shape 10"/>
          <p:cNvSpPr/>
          <p:nvPr/>
        </p:nvSpPr>
        <p:spPr>
          <a:xfrm>
            <a:off x="812780" y="2539937"/>
            <a:ext cx="2539937" cy="571486"/>
          </a:xfrm>
          <a:prstGeom prst="roundRect">
            <a:avLst>
              <a:gd name="adj" fmla="val 15556"/>
            </a:avLst>
          </a:prstGeom>
          <a:solidFill>
            <a:srgbClr val="FCFDFF"/>
          </a:solidFill>
          <a:ln w="12700">
            <a:solidFill>
              <a:srgbClr val="3F5F95"/>
            </a:solidFill>
            <a:prstDash val="solid"/>
          </a:ln>
        </p:spPr>
      </p:sp>
      <p:sp>
        <p:nvSpPr>
          <p:cNvPr id="17" name="Shape 11"/>
          <p:cNvSpPr/>
          <p:nvPr/>
        </p:nvSpPr>
        <p:spPr>
          <a:xfrm>
            <a:off x="812780" y="2539937"/>
            <a:ext cx="50799" cy="571486"/>
          </a:xfrm>
          <a:prstGeom prst="roundRect">
            <a:avLst>
              <a:gd name="adj" fmla="val 50000"/>
            </a:avLst>
          </a:prstGeom>
          <a:solidFill>
            <a:srgbClr val="3F5F95"/>
          </a:solidFill>
          <a:ln/>
        </p:spPr>
      </p:sp>
      <p:sp>
        <p:nvSpPr>
          <p:cNvPr id="18" name="Text 12"/>
          <p:cNvSpPr txBox="1"/>
          <p:nvPr/>
        </p:nvSpPr>
        <p:spPr>
          <a:xfrm>
            <a:off x="977876" y="2616135"/>
            <a:ext cx="2517585"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nginx / Vite proxy</a:t>
            </a:r>
            <a:endParaRPr lang="en-US" sz="1200" dirty="0"/>
          </a:p>
        </p:txBody>
      </p:sp>
      <p:sp>
        <p:nvSpPr>
          <p:cNvPr id="19" name="Text 13"/>
          <p:cNvSpPr txBox="1"/>
          <p:nvPr/>
        </p:nvSpPr>
        <p:spPr>
          <a:xfrm>
            <a:off x="977876" y="2798990"/>
            <a:ext cx="2517585"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/api/auth → identity-app</a:t>
            </a:r>
            <a:endParaRPr lang="en-US" sz="1200" dirty="0"/>
          </a:p>
        </p:txBody>
      </p:sp>
      <p:sp>
        <p:nvSpPr>
          <p:cNvPr id="20" name="Shape 14"/>
          <p:cNvSpPr/>
          <p:nvPr/>
        </p:nvSpPr>
        <p:spPr>
          <a:xfrm>
            <a:off x="3606710" y="2539937"/>
            <a:ext cx="6045049" cy="571486"/>
          </a:xfrm>
          <a:prstGeom prst="roundRect">
            <a:avLst>
              <a:gd name="adj" fmla="val 15556"/>
            </a:avLst>
          </a:prstGeom>
          <a:solidFill>
            <a:srgbClr val="FCFDFF"/>
          </a:solidFill>
          <a:ln w="12700">
            <a:solidFill>
              <a:srgbClr val="3F5F95"/>
            </a:solidFill>
            <a:prstDash val="solid"/>
          </a:ln>
        </p:spPr>
      </p:sp>
      <p:sp>
        <p:nvSpPr>
          <p:cNvPr id="21" name="Shape 15"/>
          <p:cNvSpPr/>
          <p:nvPr/>
        </p:nvSpPr>
        <p:spPr>
          <a:xfrm>
            <a:off x="3606710" y="2539937"/>
            <a:ext cx="50799" cy="571486"/>
          </a:xfrm>
          <a:prstGeom prst="roundRect">
            <a:avLst>
              <a:gd name="adj" fmla="val 50000"/>
            </a:avLst>
          </a:prstGeom>
          <a:solidFill>
            <a:srgbClr val="3F5F95"/>
          </a:solidFill>
          <a:ln/>
        </p:spPr>
      </p:sp>
      <p:sp>
        <p:nvSpPr>
          <p:cNvPr id="22" name="Text 16"/>
          <p:cNvSpPr txBox="1"/>
          <p:nvPr/>
        </p:nvSpPr>
        <p:spPr>
          <a:xfrm>
            <a:off x="3771806" y="2616135"/>
            <a:ext cx="6443311"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API gateway :8080</a:t>
            </a:r>
            <a:endParaRPr lang="en-US" sz="1200" dirty="0"/>
          </a:p>
        </p:txBody>
      </p:sp>
      <p:sp>
        <p:nvSpPr>
          <p:cNvPr id="23" name="Text 17"/>
          <p:cNvSpPr txBox="1"/>
          <p:nvPr/>
        </p:nvSpPr>
        <p:spPr>
          <a:xfrm>
            <a:off x="3771806" y="2798990"/>
            <a:ext cx="6443311"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introspection · per-user rate limit · WAF regex</a:t>
            </a:r>
            <a:endParaRPr lang="en-US" sz="1200" dirty="0"/>
          </a:p>
        </p:txBody>
      </p:sp>
      <p:sp>
        <p:nvSpPr>
          <p:cNvPr id="24" name="Shape 18"/>
          <p:cNvSpPr/>
          <p:nvPr/>
        </p:nvSpPr>
        <p:spPr>
          <a:xfrm>
            <a:off x="812780" y="3301917"/>
            <a:ext cx="2095448" cy="1904952"/>
          </a:xfrm>
          <a:prstGeom prst="roundRect">
            <a:avLst>
              <a:gd name="adj" fmla="val 4667"/>
            </a:avLst>
          </a:prstGeom>
          <a:solidFill>
            <a:srgbClr val="E3EBFA"/>
          </a:solidFill>
          <a:ln/>
        </p:spPr>
      </p:sp>
      <p:sp>
        <p:nvSpPr>
          <p:cNvPr id="25" name="Shape 19"/>
          <p:cNvSpPr/>
          <p:nvPr/>
        </p:nvSpPr>
        <p:spPr>
          <a:xfrm>
            <a:off x="812780" y="3301917"/>
            <a:ext cx="2095448" cy="50799"/>
          </a:xfrm>
          <a:prstGeom prst="roundRect">
            <a:avLst>
              <a:gd name="adj" fmla="val 50000"/>
            </a:avLst>
          </a:prstGeom>
          <a:solidFill>
            <a:srgbClr val="2454C5"/>
          </a:solidFill>
          <a:ln/>
        </p:spPr>
      </p:sp>
      <p:sp>
        <p:nvSpPr>
          <p:cNvPr id="26" name="Text 20"/>
          <p:cNvSpPr txBox="1"/>
          <p:nvPr/>
        </p:nvSpPr>
        <p:spPr>
          <a:xfrm>
            <a:off x="914377" y="3428914"/>
            <a:ext cx="2119323" cy="231134"/>
          </a:xfrm>
          <a:prstGeom prst="rect">
            <a:avLst/>
          </a:prstGeom>
          <a:noFill/>
          <a:ln/>
        </p:spPr>
        <p:txBody>
          <a:bodyPr wrap="square" lIns="0" tIns="0" rIns="0" bIns="0" rtlCol="0" anchor="t"/>
          <a:lstStyle/>
          <a:p>
            <a:pPr algn="l" indent="0" marL="0">
              <a:lnSpc>
                <a:spcPct val="116667"/>
              </a:lnSpc>
              <a:buNone/>
            </a:pPr>
            <a:r>
              <a:rPr lang="en-US" sz="1300" b="1" dirty="0">
                <a:solidFill>
                  <a:srgbClr val="2454C5"/>
                </a:solidFill>
                <a:latin typeface="Calibri" pitchFamily="34" charset="0"/>
                <a:ea typeface="Calibri" pitchFamily="34" charset="-122"/>
                <a:cs typeface="Calibri" pitchFamily="34" charset="-120"/>
              </a:rPr>
              <a:t>identity-app</a:t>
            </a:r>
            <a:endParaRPr lang="en-US" sz="1300" dirty="0"/>
          </a:p>
        </p:txBody>
      </p:sp>
      <p:sp>
        <p:nvSpPr>
          <p:cNvPr id="27" name="Text 21"/>
          <p:cNvSpPr txBox="1"/>
          <p:nvPr/>
        </p:nvSpPr>
        <p:spPr>
          <a:xfrm>
            <a:off x="914377" y="3672689"/>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auth :8081</a:t>
            </a:r>
            <a:endParaRPr lang="en-US" sz="1200" dirty="0"/>
          </a:p>
        </p:txBody>
      </p:sp>
      <p:sp>
        <p:nvSpPr>
          <p:cNvPr id="28" name="Text 22"/>
          <p:cNvSpPr txBox="1"/>
          <p:nvPr/>
        </p:nvSpPr>
        <p:spPr>
          <a:xfrm>
            <a:off x="914377" y="3875884"/>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customer :8082</a:t>
            </a:r>
            <a:endParaRPr lang="en-US" sz="1200" dirty="0"/>
          </a:p>
        </p:txBody>
      </p:sp>
      <p:sp>
        <p:nvSpPr>
          <p:cNvPr id="29" name="Text 23"/>
          <p:cNvSpPr txBox="1"/>
          <p:nvPr/>
        </p:nvSpPr>
        <p:spPr>
          <a:xfrm>
            <a:off x="914377" y="407907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provider :8083</a:t>
            </a:r>
            <a:endParaRPr lang="en-US" sz="1200" dirty="0"/>
          </a:p>
        </p:txBody>
      </p:sp>
      <p:sp>
        <p:nvSpPr>
          <p:cNvPr id="30" name="Text 24"/>
          <p:cNvSpPr txBox="1"/>
          <p:nvPr/>
        </p:nvSpPr>
        <p:spPr>
          <a:xfrm>
            <a:off x="914377" y="4282273"/>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verification :8094</a:t>
            </a:r>
            <a:endParaRPr lang="en-US" sz="1200" dirty="0"/>
          </a:p>
        </p:txBody>
      </p:sp>
      <p:sp>
        <p:nvSpPr>
          <p:cNvPr id="31" name="Shape 25"/>
          <p:cNvSpPr/>
          <p:nvPr/>
        </p:nvSpPr>
        <p:spPr>
          <a:xfrm>
            <a:off x="3035224" y="3301917"/>
            <a:ext cx="2095448" cy="1904952"/>
          </a:xfrm>
          <a:prstGeom prst="roundRect">
            <a:avLst>
              <a:gd name="adj" fmla="val 4667"/>
            </a:avLst>
          </a:prstGeom>
          <a:solidFill>
            <a:srgbClr val="DDF2EF"/>
          </a:solidFill>
          <a:ln/>
        </p:spPr>
      </p:sp>
      <p:sp>
        <p:nvSpPr>
          <p:cNvPr id="32" name="Shape 26"/>
          <p:cNvSpPr/>
          <p:nvPr/>
        </p:nvSpPr>
        <p:spPr>
          <a:xfrm>
            <a:off x="3035224" y="3301917"/>
            <a:ext cx="2095448" cy="50799"/>
          </a:xfrm>
          <a:prstGeom prst="roundRect">
            <a:avLst>
              <a:gd name="adj" fmla="val 50000"/>
            </a:avLst>
          </a:prstGeom>
          <a:solidFill>
            <a:srgbClr val="0B7F74"/>
          </a:solidFill>
          <a:ln/>
        </p:spPr>
      </p:sp>
      <p:sp>
        <p:nvSpPr>
          <p:cNvPr id="33" name="Text 27"/>
          <p:cNvSpPr txBox="1"/>
          <p:nvPr/>
        </p:nvSpPr>
        <p:spPr>
          <a:xfrm>
            <a:off x="3136822" y="3428914"/>
            <a:ext cx="2119323" cy="231134"/>
          </a:xfrm>
          <a:prstGeom prst="rect">
            <a:avLst/>
          </a:prstGeom>
          <a:noFill/>
          <a:ln/>
        </p:spPr>
        <p:txBody>
          <a:bodyPr wrap="square" lIns="0" tIns="0" rIns="0" bIns="0" rtlCol="0" anchor="t"/>
          <a:lstStyle/>
          <a:p>
            <a:pPr algn="l" indent="0" marL="0">
              <a:lnSpc>
                <a:spcPct val="116667"/>
              </a:lnSpc>
              <a:buNone/>
            </a:pPr>
            <a:r>
              <a:rPr lang="en-US" sz="1300" b="1" dirty="0">
                <a:solidFill>
                  <a:srgbClr val="0B7F74"/>
                </a:solidFill>
                <a:latin typeface="Calibri" pitchFamily="34" charset="0"/>
                <a:ea typeface="Calibri" pitchFamily="34" charset="-122"/>
                <a:cs typeface="Calibri" pitchFamily="34" charset="-120"/>
              </a:rPr>
              <a:t>jobs-app</a:t>
            </a:r>
            <a:endParaRPr lang="en-US" sz="1300" dirty="0"/>
          </a:p>
        </p:txBody>
      </p:sp>
      <p:sp>
        <p:nvSpPr>
          <p:cNvPr id="34" name="Text 28"/>
          <p:cNvSpPr txBox="1"/>
          <p:nvPr/>
        </p:nvSpPr>
        <p:spPr>
          <a:xfrm>
            <a:off x="3136822" y="3672689"/>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booking :8084</a:t>
            </a:r>
            <a:endParaRPr lang="en-US" sz="1200" dirty="0"/>
          </a:p>
        </p:txBody>
      </p:sp>
      <p:sp>
        <p:nvSpPr>
          <p:cNvPr id="35" name="Text 29"/>
          <p:cNvSpPr txBox="1"/>
          <p:nvPr/>
        </p:nvSpPr>
        <p:spPr>
          <a:xfrm>
            <a:off x="3136822" y="3875884"/>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catalog :8085</a:t>
            </a:r>
            <a:endParaRPr lang="en-US" sz="1200" dirty="0"/>
          </a:p>
        </p:txBody>
      </p:sp>
      <p:sp>
        <p:nvSpPr>
          <p:cNvPr id="36" name="Text 30"/>
          <p:cNvSpPr txBox="1"/>
          <p:nvPr/>
        </p:nvSpPr>
        <p:spPr>
          <a:xfrm>
            <a:off x="3136822" y="407907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pricing :8086</a:t>
            </a:r>
            <a:endParaRPr lang="en-US" sz="1200" dirty="0"/>
          </a:p>
        </p:txBody>
      </p:sp>
      <p:sp>
        <p:nvSpPr>
          <p:cNvPr id="37" name="Text 31"/>
          <p:cNvSpPr txBox="1"/>
          <p:nvPr/>
        </p:nvSpPr>
        <p:spPr>
          <a:xfrm>
            <a:off x="3136822" y="4282273"/>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dispatch :8087</a:t>
            </a:r>
            <a:endParaRPr lang="en-US" sz="1200" dirty="0"/>
          </a:p>
        </p:txBody>
      </p:sp>
      <p:sp>
        <p:nvSpPr>
          <p:cNvPr id="38" name="Text 32"/>
          <p:cNvSpPr txBox="1"/>
          <p:nvPr/>
        </p:nvSpPr>
        <p:spPr>
          <a:xfrm>
            <a:off x="3136822" y="448546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location :8092</a:t>
            </a:r>
            <a:endParaRPr lang="en-US" sz="1200" dirty="0"/>
          </a:p>
        </p:txBody>
      </p:sp>
      <p:sp>
        <p:nvSpPr>
          <p:cNvPr id="39" name="Text 33"/>
          <p:cNvSpPr txBox="1"/>
          <p:nvPr/>
        </p:nvSpPr>
        <p:spPr>
          <a:xfrm>
            <a:off x="3136822" y="4688663"/>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chat :8093</a:t>
            </a:r>
            <a:endParaRPr lang="en-US" sz="1200" dirty="0"/>
          </a:p>
        </p:txBody>
      </p:sp>
      <p:sp>
        <p:nvSpPr>
          <p:cNvPr id="40" name="Text 34"/>
          <p:cNvSpPr txBox="1"/>
          <p:nvPr/>
        </p:nvSpPr>
        <p:spPr>
          <a:xfrm>
            <a:off x="3136822" y="489185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promotion :8098</a:t>
            </a:r>
            <a:endParaRPr lang="en-US" sz="1200" dirty="0"/>
          </a:p>
        </p:txBody>
      </p:sp>
      <p:sp>
        <p:nvSpPr>
          <p:cNvPr id="41" name="Shape 35"/>
          <p:cNvSpPr/>
          <p:nvPr/>
        </p:nvSpPr>
        <p:spPr>
          <a:xfrm>
            <a:off x="5257669" y="3301917"/>
            <a:ext cx="2095448" cy="1904952"/>
          </a:xfrm>
          <a:prstGeom prst="roundRect">
            <a:avLst>
              <a:gd name="adj" fmla="val 4667"/>
            </a:avLst>
          </a:prstGeom>
          <a:solidFill>
            <a:srgbClr val="FCEBDD"/>
          </a:solidFill>
          <a:ln/>
        </p:spPr>
      </p:sp>
      <p:sp>
        <p:nvSpPr>
          <p:cNvPr id="42" name="Shape 36"/>
          <p:cNvSpPr/>
          <p:nvPr/>
        </p:nvSpPr>
        <p:spPr>
          <a:xfrm>
            <a:off x="5257669" y="3301917"/>
            <a:ext cx="2095448" cy="50799"/>
          </a:xfrm>
          <a:prstGeom prst="roundRect">
            <a:avLst>
              <a:gd name="adj" fmla="val 50000"/>
            </a:avLst>
          </a:prstGeom>
          <a:solidFill>
            <a:srgbClr val="B4530F"/>
          </a:solidFill>
          <a:ln/>
        </p:spPr>
      </p:sp>
      <p:sp>
        <p:nvSpPr>
          <p:cNvPr id="43" name="Text 37"/>
          <p:cNvSpPr txBox="1"/>
          <p:nvPr/>
        </p:nvSpPr>
        <p:spPr>
          <a:xfrm>
            <a:off x="5359266" y="3428914"/>
            <a:ext cx="2119323" cy="231134"/>
          </a:xfrm>
          <a:prstGeom prst="rect">
            <a:avLst/>
          </a:prstGeom>
          <a:noFill/>
          <a:ln/>
        </p:spPr>
        <p:txBody>
          <a:bodyPr wrap="square" lIns="0" tIns="0" rIns="0" bIns="0" rtlCol="0" anchor="t"/>
          <a:lstStyle/>
          <a:p>
            <a:pPr algn="l" indent="0" marL="0">
              <a:lnSpc>
                <a:spcPct val="116667"/>
              </a:lnSpc>
              <a:buNone/>
            </a:pPr>
            <a:r>
              <a:rPr lang="en-US" sz="1300" b="1" dirty="0">
                <a:solidFill>
                  <a:srgbClr val="B4530F"/>
                </a:solidFill>
                <a:latin typeface="Calibri" pitchFamily="34" charset="0"/>
                <a:ea typeface="Calibri" pitchFamily="34" charset="-122"/>
                <a:cs typeface="Calibri" pitchFamily="34" charset="-120"/>
              </a:rPr>
              <a:t>money-app</a:t>
            </a:r>
            <a:endParaRPr lang="en-US" sz="1300" dirty="0"/>
          </a:p>
        </p:txBody>
      </p:sp>
      <p:sp>
        <p:nvSpPr>
          <p:cNvPr id="44" name="Text 38"/>
          <p:cNvSpPr txBox="1"/>
          <p:nvPr/>
        </p:nvSpPr>
        <p:spPr>
          <a:xfrm>
            <a:off x="5359266" y="3672689"/>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payment :8088</a:t>
            </a:r>
            <a:endParaRPr lang="en-US" sz="1200" dirty="0"/>
          </a:p>
        </p:txBody>
      </p:sp>
      <p:sp>
        <p:nvSpPr>
          <p:cNvPr id="45" name="Text 39"/>
          <p:cNvSpPr txBox="1"/>
          <p:nvPr/>
        </p:nvSpPr>
        <p:spPr>
          <a:xfrm>
            <a:off x="5359266" y="3875884"/>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invoice :8089</a:t>
            </a:r>
            <a:endParaRPr lang="en-US" sz="1200" dirty="0"/>
          </a:p>
        </p:txBody>
      </p:sp>
      <p:sp>
        <p:nvSpPr>
          <p:cNvPr id="46" name="Shape 40"/>
          <p:cNvSpPr/>
          <p:nvPr/>
        </p:nvSpPr>
        <p:spPr>
          <a:xfrm>
            <a:off x="7480113" y="3301917"/>
            <a:ext cx="2095448" cy="1904952"/>
          </a:xfrm>
          <a:prstGeom prst="roundRect">
            <a:avLst>
              <a:gd name="adj" fmla="val 4667"/>
            </a:avLst>
          </a:prstGeom>
          <a:solidFill>
            <a:srgbClr val="FAE3ED"/>
          </a:solidFill>
          <a:ln/>
        </p:spPr>
      </p:sp>
      <p:sp>
        <p:nvSpPr>
          <p:cNvPr id="47" name="Shape 41"/>
          <p:cNvSpPr/>
          <p:nvPr/>
        </p:nvSpPr>
        <p:spPr>
          <a:xfrm>
            <a:off x="7480113" y="3301917"/>
            <a:ext cx="2095448" cy="50799"/>
          </a:xfrm>
          <a:prstGeom prst="roundRect">
            <a:avLst>
              <a:gd name="adj" fmla="val 50000"/>
            </a:avLst>
          </a:prstGeom>
          <a:solidFill>
            <a:srgbClr val="B8306E"/>
          </a:solidFill>
          <a:ln/>
        </p:spPr>
      </p:sp>
      <p:sp>
        <p:nvSpPr>
          <p:cNvPr id="48" name="Text 42"/>
          <p:cNvSpPr txBox="1"/>
          <p:nvPr/>
        </p:nvSpPr>
        <p:spPr>
          <a:xfrm>
            <a:off x="7581710" y="3428914"/>
            <a:ext cx="2119323" cy="231134"/>
          </a:xfrm>
          <a:prstGeom prst="rect">
            <a:avLst/>
          </a:prstGeom>
          <a:noFill/>
          <a:ln/>
        </p:spPr>
        <p:txBody>
          <a:bodyPr wrap="square" lIns="0" tIns="0" rIns="0" bIns="0" rtlCol="0" anchor="t"/>
          <a:lstStyle/>
          <a:p>
            <a:pPr algn="l" indent="0" marL="0">
              <a:lnSpc>
                <a:spcPct val="116667"/>
              </a:lnSpc>
              <a:buNone/>
            </a:pPr>
            <a:r>
              <a:rPr lang="en-US" sz="1300" b="1" dirty="0">
                <a:solidFill>
                  <a:srgbClr val="B8306E"/>
                </a:solidFill>
                <a:latin typeface="Calibri" pitchFamily="34" charset="0"/>
                <a:ea typeface="Calibri" pitchFamily="34" charset="-122"/>
                <a:cs typeface="Calibri" pitchFamily="34" charset="-120"/>
              </a:rPr>
              <a:t>engagement-app</a:t>
            </a:r>
            <a:endParaRPr lang="en-US" sz="1300" dirty="0"/>
          </a:p>
        </p:txBody>
      </p:sp>
      <p:sp>
        <p:nvSpPr>
          <p:cNvPr id="49" name="Text 43"/>
          <p:cNvSpPr txBox="1"/>
          <p:nvPr/>
        </p:nvSpPr>
        <p:spPr>
          <a:xfrm>
            <a:off x="7581710" y="3672689"/>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notification :8090</a:t>
            </a:r>
            <a:endParaRPr lang="en-US" sz="1200" dirty="0"/>
          </a:p>
        </p:txBody>
      </p:sp>
      <p:sp>
        <p:nvSpPr>
          <p:cNvPr id="50" name="Text 44"/>
          <p:cNvSpPr txBox="1"/>
          <p:nvPr/>
        </p:nvSpPr>
        <p:spPr>
          <a:xfrm>
            <a:off x="7581710" y="3875884"/>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complaint :8091</a:t>
            </a:r>
            <a:endParaRPr lang="en-US" sz="1200" dirty="0"/>
          </a:p>
        </p:txBody>
      </p:sp>
      <p:sp>
        <p:nvSpPr>
          <p:cNvPr id="51" name="Text 45"/>
          <p:cNvSpPr txBox="1"/>
          <p:nvPr/>
        </p:nvSpPr>
        <p:spPr>
          <a:xfrm>
            <a:off x="7581710" y="407907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admin :8095</a:t>
            </a:r>
            <a:endParaRPr lang="en-US" sz="1200" dirty="0"/>
          </a:p>
        </p:txBody>
      </p:sp>
      <p:sp>
        <p:nvSpPr>
          <p:cNvPr id="52" name="Text 46"/>
          <p:cNvSpPr txBox="1"/>
          <p:nvPr/>
        </p:nvSpPr>
        <p:spPr>
          <a:xfrm>
            <a:off x="7581710" y="4282273"/>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reporting :8096</a:t>
            </a:r>
            <a:endParaRPr lang="en-US" sz="1200" dirty="0"/>
          </a:p>
        </p:txBody>
      </p:sp>
      <p:sp>
        <p:nvSpPr>
          <p:cNvPr id="53" name="Text 47"/>
          <p:cNvSpPr txBox="1"/>
          <p:nvPr/>
        </p:nvSpPr>
        <p:spPr>
          <a:xfrm>
            <a:off x="7581710" y="4485468"/>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rating :8097</a:t>
            </a:r>
            <a:endParaRPr lang="en-US" sz="1200" dirty="0"/>
          </a:p>
        </p:txBody>
      </p:sp>
      <p:sp>
        <p:nvSpPr>
          <p:cNvPr id="54" name="Text 48"/>
          <p:cNvSpPr txBox="1"/>
          <p:nvPr/>
        </p:nvSpPr>
        <p:spPr>
          <a:xfrm>
            <a:off x="7581710" y="4688663"/>
            <a:ext cx="2119323" cy="190495"/>
          </a:xfrm>
          <a:prstGeom prst="rect">
            <a:avLst/>
          </a:prstGeom>
          <a:noFill/>
          <a:ln/>
        </p:spPr>
        <p:txBody>
          <a:bodyPr wrap="square" lIns="0" tIns="0" rIns="0" bIns="0" rtlCol="0" anchor="t"/>
          <a:lstStyle/>
          <a:p>
            <a:pPr algn="l" indent="0" marL="0">
              <a:lnSpc>
                <a:spcPct val="104167"/>
              </a:lnSpc>
              <a:buNone/>
            </a:pPr>
            <a:r>
              <a:rPr lang="en-US" sz="1200" dirty="0">
                <a:solidFill>
                  <a:srgbClr val="1F3A70"/>
                </a:solidFill>
                <a:latin typeface="Courier New" pitchFamily="34" charset="0"/>
                <a:ea typeface="Courier New" pitchFamily="34" charset="-122"/>
                <a:cs typeface="Courier New" pitchFamily="34" charset="-120"/>
              </a:rPr>
              <a:t>outbox :8099</a:t>
            </a:r>
            <a:endParaRPr lang="en-US" sz="1200" dirty="0"/>
          </a:p>
        </p:txBody>
      </p:sp>
      <p:sp>
        <p:nvSpPr>
          <p:cNvPr id="55" name="Shape 49"/>
          <p:cNvSpPr/>
          <p:nvPr/>
        </p:nvSpPr>
        <p:spPr>
          <a:xfrm>
            <a:off x="812780" y="5365616"/>
            <a:ext cx="2095448" cy="571486"/>
          </a:xfrm>
          <a:prstGeom prst="roundRect">
            <a:avLst>
              <a:gd name="adj" fmla="val 15556"/>
            </a:avLst>
          </a:prstGeom>
          <a:solidFill>
            <a:srgbClr val="FCFDFF"/>
          </a:solidFill>
          <a:ln w="12700">
            <a:solidFill>
              <a:srgbClr val="2F5C9A"/>
            </a:solidFill>
            <a:prstDash val="solid"/>
          </a:ln>
        </p:spPr>
      </p:sp>
      <p:sp>
        <p:nvSpPr>
          <p:cNvPr id="56" name="Shape 50"/>
          <p:cNvSpPr/>
          <p:nvPr/>
        </p:nvSpPr>
        <p:spPr>
          <a:xfrm>
            <a:off x="812780" y="5365616"/>
            <a:ext cx="50799" cy="571486"/>
          </a:xfrm>
          <a:prstGeom prst="roundRect">
            <a:avLst>
              <a:gd name="adj" fmla="val 50000"/>
            </a:avLst>
          </a:prstGeom>
          <a:solidFill>
            <a:srgbClr val="2F5C9A"/>
          </a:solidFill>
          <a:ln/>
        </p:spPr>
      </p:sp>
      <p:pic>
        <p:nvPicPr>
          <p:cNvPr id="57" name="Image 4" descr="preencoded.png">    </p:cNvPr>
          <p:cNvPicPr>
            <a:picLocks noChangeAspect="1"/>
          </p:cNvPicPr>
          <p:nvPr/>
        </p:nvPicPr>
        <p:blipFill>
          <a:blip r:embed="rId5"/>
          <a:stretch>
            <a:fillRect/>
          </a:stretch>
        </p:blipFill>
        <p:spPr>
          <a:xfrm>
            <a:off x="977876" y="5429114"/>
            <a:ext cx="190495" cy="190495"/>
          </a:xfrm>
          <a:prstGeom prst="rect">
            <a:avLst/>
          </a:prstGeom>
        </p:spPr>
      </p:pic>
      <p:sp>
        <p:nvSpPr>
          <p:cNvPr id="58" name="Text 51"/>
          <p:cNvSpPr txBox="1"/>
          <p:nvPr/>
        </p:nvSpPr>
        <p:spPr>
          <a:xfrm>
            <a:off x="1231869" y="5432884"/>
            <a:ext cx="889311"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PostgreSQL</a:t>
            </a:r>
            <a:endParaRPr lang="en-US" sz="1200" dirty="0"/>
          </a:p>
        </p:txBody>
      </p:sp>
      <p:sp>
        <p:nvSpPr>
          <p:cNvPr id="59" name="Text 52"/>
          <p:cNvSpPr txBox="1"/>
          <p:nvPr/>
        </p:nvSpPr>
        <p:spPr>
          <a:xfrm>
            <a:off x="977876" y="5619610"/>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18 schemas + config</a:t>
            </a:r>
            <a:endParaRPr lang="en-US" sz="1200" dirty="0"/>
          </a:p>
        </p:txBody>
      </p:sp>
      <p:sp>
        <p:nvSpPr>
          <p:cNvPr id="60" name="Shape 53"/>
          <p:cNvSpPr/>
          <p:nvPr/>
        </p:nvSpPr>
        <p:spPr>
          <a:xfrm>
            <a:off x="3060623" y="5365616"/>
            <a:ext cx="2095448" cy="571486"/>
          </a:xfrm>
          <a:prstGeom prst="roundRect">
            <a:avLst>
              <a:gd name="adj" fmla="val 15556"/>
            </a:avLst>
          </a:prstGeom>
          <a:solidFill>
            <a:srgbClr val="FCFDFF"/>
          </a:solidFill>
          <a:ln w="12700">
            <a:solidFill>
              <a:srgbClr val="C0352B"/>
            </a:solidFill>
            <a:prstDash val="solid"/>
          </a:ln>
        </p:spPr>
      </p:sp>
      <p:sp>
        <p:nvSpPr>
          <p:cNvPr id="61" name="Shape 54"/>
          <p:cNvSpPr/>
          <p:nvPr/>
        </p:nvSpPr>
        <p:spPr>
          <a:xfrm>
            <a:off x="3060623" y="5365616"/>
            <a:ext cx="50799" cy="571486"/>
          </a:xfrm>
          <a:prstGeom prst="roundRect">
            <a:avLst>
              <a:gd name="adj" fmla="val 50000"/>
            </a:avLst>
          </a:prstGeom>
          <a:solidFill>
            <a:srgbClr val="C0352B"/>
          </a:solidFill>
          <a:ln/>
        </p:spPr>
      </p:sp>
      <p:pic>
        <p:nvPicPr>
          <p:cNvPr id="62" name="Image 5" descr="preencoded.png">    </p:cNvPr>
          <p:cNvPicPr>
            <a:picLocks noChangeAspect="1"/>
          </p:cNvPicPr>
          <p:nvPr/>
        </p:nvPicPr>
        <p:blipFill>
          <a:blip r:embed="rId6"/>
          <a:stretch>
            <a:fillRect/>
          </a:stretch>
        </p:blipFill>
        <p:spPr>
          <a:xfrm>
            <a:off x="3225719" y="5429114"/>
            <a:ext cx="190495" cy="190495"/>
          </a:xfrm>
          <a:prstGeom prst="rect">
            <a:avLst/>
          </a:prstGeom>
        </p:spPr>
      </p:pic>
      <p:sp>
        <p:nvSpPr>
          <p:cNvPr id="63" name="Text 55"/>
          <p:cNvSpPr txBox="1"/>
          <p:nvPr/>
        </p:nvSpPr>
        <p:spPr>
          <a:xfrm>
            <a:off x="3479713" y="5432884"/>
            <a:ext cx="456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Redis</a:t>
            </a:r>
            <a:endParaRPr lang="en-US" sz="1200" dirty="0"/>
          </a:p>
        </p:txBody>
      </p:sp>
      <p:sp>
        <p:nvSpPr>
          <p:cNvPr id="64" name="Text 56"/>
          <p:cNvSpPr txBox="1"/>
          <p:nvPr/>
        </p:nvSpPr>
        <p:spPr>
          <a:xfrm>
            <a:off x="3225719" y="5619610"/>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tokens, offers</a:t>
            </a:r>
            <a:endParaRPr lang="en-US" sz="1200" dirty="0"/>
          </a:p>
        </p:txBody>
      </p:sp>
      <p:sp>
        <p:nvSpPr>
          <p:cNvPr id="65" name="Shape 57"/>
          <p:cNvSpPr/>
          <p:nvPr/>
        </p:nvSpPr>
        <p:spPr>
          <a:xfrm>
            <a:off x="5308467" y="5365616"/>
            <a:ext cx="2095448" cy="571486"/>
          </a:xfrm>
          <a:prstGeom prst="roundRect">
            <a:avLst>
              <a:gd name="adj" fmla="val 15556"/>
            </a:avLst>
          </a:prstGeom>
          <a:solidFill>
            <a:srgbClr val="FCFDFF"/>
          </a:solidFill>
          <a:ln w="12700">
            <a:solidFill>
              <a:srgbClr val="4B4B9A"/>
            </a:solidFill>
            <a:prstDash val="solid"/>
          </a:ln>
        </p:spPr>
      </p:sp>
      <p:sp>
        <p:nvSpPr>
          <p:cNvPr id="66" name="Shape 58"/>
          <p:cNvSpPr/>
          <p:nvPr/>
        </p:nvSpPr>
        <p:spPr>
          <a:xfrm>
            <a:off x="5308467" y="5365616"/>
            <a:ext cx="50799" cy="571486"/>
          </a:xfrm>
          <a:prstGeom prst="roundRect">
            <a:avLst>
              <a:gd name="adj" fmla="val 50000"/>
            </a:avLst>
          </a:prstGeom>
          <a:solidFill>
            <a:srgbClr val="4B4B9A"/>
          </a:solidFill>
          <a:ln/>
        </p:spPr>
      </p:sp>
      <p:pic>
        <p:nvPicPr>
          <p:cNvPr id="67" name="Image 6" descr="preencoded.png">    </p:cNvPr>
          <p:cNvPicPr>
            <a:picLocks noChangeAspect="1"/>
          </p:cNvPicPr>
          <p:nvPr/>
        </p:nvPicPr>
        <p:blipFill>
          <a:blip r:embed="rId7"/>
          <a:stretch>
            <a:fillRect/>
          </a:stretch>
        </p:blipFill>
        <p:spPr>
          <a:xfrm>
            <a:off x="5473563" y="5429114"/>
            <a:ext cx="190495" cy="190495"/>
          </a:xfrm>
          <a:prstGeom prst="rect">
            <a:avLst/>
          </a:prstGeom>
        </p:spPr>
      </p:pic>
      <p:sp>
        <p:nvSpPr>
          <p:cNvPr id="68" name="Text 59"/>
          <p:cNvSpPr txBox="1"/>
          <p:nvPr/>
        </p:nvSpPr>
        <p:spPr>
          <a:xfrm>
            <a:off x="5727557" y="5432884"/>
            <a:ext cx="467705"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Kafka</a:t>
            </a:r>
            <a:endParaRPr lang="en-US" sz="1200" dirty="0"/>
          </a:p>
        </p:txBody>
      </p:sp>
      <p:sp>
        <p:nvSpPr>
          <p:cNvPr id="69" name="Text 60"/>
          <p:cNvSpPr txBox="1"/>
          <p:nvPr/>
        </p:nvSpPr>
        <p:spPr>
          <a:xfrm>
            <a:off x="5473563" y="5619610"/>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13 topics + DLT</a:t>
            </a:r>
            <a:endParaRPr lang="en-US" sz="1200" dirty="0"/>
          </a:p>
        </p:txBody>
      </p:sp>
      <p:sp>
        <p:nvSpPr>
          <p:cNvPr id="70" name="Shape 61"/>
          <p:cNvSpPr/>
          <p:nvPr/>
        </p:nvSpPr>
        <p:spPr>
          <a:xfrm>
            <a:off x="7556311" y="5365616"/>
            <a:ext cx="2095448" cy="571486"/>
          </a:xfrm>
          <a:prstGeom prst="roundRect">
            <a:avLst>
              <a:gd name="adj" fmla="val 15556"/>
            </a:avLst>
          </a:prstGeom>
          <a:solidFill>
            <a:srgbClr val="FCFDFF"/>
          </a:solidFill>
          <a:ln w="12700">
            <a:solidFill>
              <a:srgbClr val="2E7D4F"/>
            </a:solidFill>
            <a:prstDash val="solid"/>
          </a:ln>
        </p:spPr>
      </p:sp>
      <p:sp>
        <p:nvSpPr>
          <p:cNvPr id="71" name="Shape 62"/>
          <p:cNvSpPr/>
          <p:nvPr/>
        </p:nvSpPr>
        <p:spPr>
          <a:xfrm>
            <a:off x="7556311" y="5365616"/>
            <a:ext cx="50799" cy="571486"/>
          </a:xfrm>
          <a:prstGeom prst="roundRect">
            <a:avLst>
              <a:gd name="adj" fmla="val 50000"/>
            </a:avLst>
          </a:prstGeom>
          <a:solidFill>
            <a:srgbClr val="2E7D4F"/>
          </a:solidFill>
          <a:ln/>
        </p:spPr>
      </p:sp>
      <p:pic>
        <p:nvPicPr>
          <p:cNvPr id="72" name="Image 7" descr="preencoded.png">    </p:cNvPr>
          <p:cNvPicPr>
            <a:picLocks noChangeAspect="1"/>
          </p:cNvPicPr>
          <p:nvPr/>
        </p:nvPicPr>
        <p:blipFill>
          <a:blip r:embed="rId8"/>
          <a:stretch>
            <a:fillRect/>
          </a:stretch>
        </p:blipFill>
        <p:spPr>
          <a:xfrm>
            <a:off x="7721407" y="5429114"/>
            <a:ext cx="190495" cy="190495"/>
          </a:xfrm>
          <a:prstGeom prst="rect">
            <a:avLst/>
          </a:prstGeom>
        </p:spPr>
      </p:pic>
      <p:sp>
        <p:nvSpPr>
          <p:cNvPr id="73" name="Text 63"/>
          <p:cNvSpPr txBox="1"/>
          <p:nvPr/>
        </p:nvSpPr>
        <p:spPr>
          <a:xfrm>
            <a:off x="7975401" y="5432884"/>
            <a:ext cx="1166450" cy="182875"/>
          </a:xfrm>
          <a:prstGeom prst="rect">
            <a:avLst/>
          </a:prstGeom>
          <a:noFill/>
          <a:ln/>
        </p:spPr>
        <p:txBody>
          <a:bodyPr wrap="square" lIns="0" tIns="0" rIns="0" bIns="0" rtlCol="0" anchor="t"/>
          <a:lstStyle/>
          <a:p>
            <a:pPr algn="l" indent="0" marL="0">
              <a:lnSpc>
                <a:spcPct val="100000"/>
              </a:lnSpc>
              <a:buNone/>
            </a:pPr>
            <a:r>
              <a:rPr lang="en-US" sz="1200" b="1" dirty="0">
                <a:solidFill>
                  <a:srgbClr val="1F3A70"/>
                </a:solidFill>
                <a:latin typeface="Calibri" pitchFamily="34" charset="0"/>
                <a:ea typeface="Calibri" pitchFamily="34" charset="-122"/>
                <a:cs typeface="Calibri" pitchFamily="34" charset="-120"/>
              </a:rPr>
              <a:t>Object storage</a:t>
            </a:r>
            <a:endParaRPr lang="en-US" sz="1200" dirty="0"/>
          </a:p>
        </p:txBody>
      </p:sp>
      <p:sp>
        <p:nvSpPr>
          <p:cNvPr id="74" name="Text 64"/>
          <p:cNvSpPr txBox="1"/>
          <p:nvPr/>
        </p:nvSpPr>
        <p:spPr>
          <a:xfrm>
            <a:off x="7721407" y="5619610"/>
            <a:ext cx="20197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S3, stubbed in code</a:t>
            </a:r>
            <a:endParaRPr lang="en-US" sz="1200" dirty="0"/>
          </a:p>
        </p:txBody>
      </p:sp>
      <p:sp>
        <p:nvSpPr>
          <p:cNvPr id="75" name="Shape 65"/>
          <p:cNvSpPr/>
          <p:nvPr/>
        </p:nvSpPr>
        <p:spPr>
          <a:xfrm>
            <a:off x="9905752" y="2539937"/>
            <a:ext cx="1473163" cy="3174921"/>
          </a:xfrm>
          <a:prstGeom prst="roundRect">
            <a:avLst>
              <a:gd name="adj" fmla="val 6034"/>
            </a:avLst>
          </a:prstGeom>
          <a:solidFill>
            <a:srgbClr val="EEF1F6"/>
          </a:solidFill>
          <a:ln w="12700">
            <a:solidFill>
              <a:srgbClr val="5C6B8A"/>
            </a:solidFill>
            <a:prstDash val="dash"/>
          </a:ln>
        </p:spPr>
      </p:sp>
      <p:sp>
        <p:nvSpPr>
          <p:cNvPr id="76" name="Text 66"/>
          <p:cNvSpPr txBox="1"/>
          <p:nvPr/>
        </p:nvSpPr>
        <p:spPr>
          <a:xfrm>
            <a:off x="10020049" y="2641534"/>
            <a:ext cx="139391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External</a:t>
            </a:r>
            <a:endParaRPr lang="en-US" sz="1300" dirty="0"/>
          </a:p>
        </p:txBody>
      </p:sp>
      <p:sp>
        <p:nvSpPr>
          <p:cNvPr id="77" name="Text 67"/>
          <p:cNvSpPr txBox="1"/>
          <p:nvPr/>
        </p:nvSpPr>
        <p:spPr>
          <a:xfrm>
            <a:off x="10020049" y="2936107"/>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Razorpay</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live, test mode</a:t>
            </a:r>
            <a:endParaRPr lang="en-US" sz="1200" dirty="0"/>
          </a:p>
        </p:txBody>
      </p:sp>
      <p:sp>
        <p:nvSpPr>
          <p:cNvPr id="78" name="Text 68"/>
          <p:cNvSpPr txBox="1"/>
          <p:nvPr/>
        </p:nvSpPr>
        <p:spPr>
          <a:xfrm>
            <a:off x="10020049" y="3410956"/>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Google, Apple</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live sign-in</a:t>
            </a:r>
            <a:endParaRPr lang="en-US" sz="1200" dirty="0"/>
          </a:p>
        </p:txBody>
      </p:sp>
      <p:sp>
        <p:nvSpPr>
          <p:cNvPr id="79" name="Text 69"/>
          <p:cNvSpPr txBox="1"/>
          <p:nvPr/>
        </p:nvSpPr>
        <p:spPr>
          <a:xfrm>
            <a:off x="10020049" y="3885805"/>
            <a:ext cx="1393917" cy="617026"/>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SMS, email, push</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stubs</a:t>
            </a:r>
            <a:endParaRPr lang="en-US" sz="1200" dirty="0"/>
          </a:p>
        </p:txBody>
      </p:sp>
      <p:sp>
        <p:nvSpPr>
          <p:cNvPr id="80" name="Text 70"/>
          <p:cNvSpPr txBox="1"/>
          <p:nvPr/>
        </p:nvSpPr>
        <p:spPr>
          <a:xfrm>
            <a:off x="10020049" y="4566330"/>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S3 storage</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stub</a:t>
            </a:r>
            <a:endParaRPr lang="en-US" sz="1200" dirty="0"/>
          </a:p>
        </p:txBody>
      </p:sp>
      <p:sp>
        <p:nvSpPr>
          <p:cNvPr id="81" name="Text 71"/>
          <p:cNvSpPr txBox="1"/>
          <p:nvPr/>
        </p:nvSpPr>
        <p:spPr>
          <a:xfrm>
            <a:off x="10020049" y="5041179"/>
            <a:ext cx="1393917" cy="411351"/>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KYC check</a:t>
            </a:r>
            <a:endParaRPr lang="en-US" sz="1200" dirty="0"/>
          </a:p>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manual</a:t>
            </a:r>
            <a:endParaRPr lang="en-US" sz="1200" dirty="0"/>
          </a:p>
        </p:txBody>
      </p:sp>
      <p:sp>
        <p:nvSpPr>
          <p:cNvPr id="82" name="Shape 72"/>
          <p:cNvSpPr/>
          <p:nvPr/>
        </p:nvSpPr>
        <p:spPr>
          <a:xfrm>
            <a:off x="2082748" y="2285943"/>
            <a:ext cx="63" cy="253994"/>
          </a:xfrm>
          <a:prstGeom prst="line">
            <a:avLst/>
          </a:prstGeom>
          <a:noFill/>
          <a:ln w="19050">
            <a:solidFill>
              <a:srgbClr val="5C6B8A"/>
            </a:solidFill>
            <a:prstDash val="solid"/>
            <a:tailEnd type="triangle"/>
          </a:ln>
        </p:spPr>
      </p:sp>
      <p:sp>
        <p:nvSpPr>
          <p:cNvPr id="83" name="Shape 73"/>
          <p:cNvSpPr/>
          <p:nvPr/>
        </p:nvSpPr>
        <p:spPr>
          <a:xfrm>
            <a:off x="3352716" y="2825679"/>
            <a:ext cx="253994" cy="63"/>
          </a:xfrm>
          <a:prstGeom prst="line">
            <a:avLst/>
          </a:prstGeom>
          <a:noFill/>
          <a:ln w="19050">
            <a:solidFill>
              <a:srgbClr val="5C6B8A"/>
            </a:solidFill>
            <a:prstDash val="solid"/>
            <a:tailEnd type="triangle"/>
          </a:ln>
        </p:spPr>
      </p:sp>
      <p:sp>
        <p:nvSpPr>
          <p:cNvPr id="84" name="Shape 74"/>
          <p:cNvSpPr/>
          <p:nvPr/>
        </p:nvSpPr>
        <p:spPr>
          <a:xfrm>
            <a:off x="2082748" y="3111422"/>
            <a:ext cx="63" cy="190495"/>
          </a:xfrm>
          <a:prstGeom prst="line">
            <a:avLst/>
          </a:prstGeom>
          <a:noFill/>
          <a:ln w="19050">
            <a:solidFill>
              <a:srgbClr val="5C6B8A"/>
            </a:solidFill>
            <a:prstDash val="solid"/>
            <a:tailEnd type="triangle"/>
          </a:ln>
        </p:spPr>
      </p:sp>
      <p:sp>
        <p:nvSpPr>
          <p:cNvPr id="85" name="Shape 75"/>
          <p:cNvSpPr/>
          <p:nvPr/>
        </p:nvSpPr>
        <p:spPr>
          <a:xfrm>
            <a:off x="4082948" y="3111422"/>
            <a:ext cx="63" cy="190495"/>
          </a:xfrm>
          <a:prstGeom prst="line">
            <a:avLst/>
          </a:prstGeom>
          <a:noFill/>
          <a:ln w="19050">
            <a:solidFill>
              <a:srgbClr val="5C6B8A"/>
            </a:solidFill>
            <a:prstDash val="solid"/>
            <a:tailEnd type="triangle"/>
          </a:ln>
        </p:spPr>
      </p:sp>
      <p:sp>
        <p:nvSpPr>
          <p:cNvPr id="86" name="Shape 76"/>
          <p:cNvSpPr/>
          <p:nvPr/>
        </p:nvSpPr>
        <p:spPr>
          <a:xfrm>
            <a:off x="6305392" y="3111422"/>
            <a:ext cx="63" cy="190495"/>
          </a:xfrm>
          <a:prstGeom prst="line">
            <a:avLst/>
          </a:prstGeom>
          <a:noFill/>
          <a:ln w="19050">
            <a:solidFill>
              <a:srgbClr val="5C6B8A"/>
            </a:solidFill>
            <a:prstDash val="solid"/>
            <a:tailEnd type="triangle"/>
          </a:ln>
        </p:spPr>
      </p:sp>
      <p:sp>
        <p:nvSpPr>
          <p:cNvPr id="87" name="Shape 77"/>
          <p:cNvSpPr/>
          <p:nvPr/>
        </p:nvSpPr>
        <p:spPr>
          <a:xfrm>
            <a:off x="8527837" y="3111422"/>
            <a:ext cx="63" cy="190495"/>
          </a:xfrm>
          <a:prstGeom prst="line">
            <a:avLst/>
          </a:prstGeom>
          <a:noFill/>
          <a:ln w="19050">
            <a:solidFill>
              <a:srgbClr val="5C6B8A"/>
            </a:solidFill>
            <a:prstDash val="solid"/>
            <a:tailEnd type="triangle"/>
          </a:ln>
        </p:spPr>
      </p:sp>
      <p:sp>
        <p:nvSpPr>
          <p:cNvPr id="88" name="Shape 78"/>
          <p:cNvSpPr/>
          <p:nvPr/>
        </p:nvSpPr>
        <p:spPr>
          <a:xfrm>
            <a:off x="4444889" y="5206870"/>
            <a:ext cx="63" cy="158746"/>
          </a:xfrm>
          <a:prstGeom prst="line">
            <a:avLst/>
          </a:prstGeom>
          <a:noFill/>
          <a:ln w="19050">
            <a:solidFill>
              <a:srgbClr val="5C6B8A"/>
            </a:solidFill>
            <a:prstDash val="solid"/>
            <a:headEnd type="triangle"/>
            <a:tailEnd type="triangle"/>
          </a:ln>
        </p:spPr>
      </p:sp>
      <p:sp>
        <p:nvSpPr>
          <p:cNvPr id="89" name="Shape 79"/>
          <p:cNvSpPr/>
          <p:nvPr/>
        </p:nvSpPr>
        <p:spPr>
          <a:xfrm>
            <a:off x="9575561" y="4095648"/>
            <a:ext cx="330192" cy="63"/>
          </a:xfrm>
          <a:prstGeom prst="line">
            <a:avLst/>
          </a:prstGeom>
          <a:noFill/>
          <a:ln w="19050">
            <a:solidFill>
              <a:srgbClr val="5C6B8A"/>
            </a:solidFill>
            <a:prstDash val="solid"/>
            <a:headEnd type="triangle"/>
            <a:tailEnd type="triangle"/>
          </a:ln>
        </p:spPr>
      </p:sp>
      <p:sp>
        <p:nvSpPr>
          <p:cNvPr id="90" name="Text 8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91" name="Text 8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DEPLOYABLES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Twenty services, five JVMs, every port unchanged</a:t>
            </a:r>
            <a:endParaRPr lang="en-US" sz="3000" dirty="0"/>
          </a:p>
        </p:txBody>
      </p:sp>
      <p:sp>
        <p:nvSpPr>
          <p:cNvPr id="4" name="Shape 2"/>
          <p:cNvSpPr/>
          <p:nvPr/>
        </p:nvSpPr>
        <p:spPr>
          <a:xfrm>
            <a:off x="812780" y="1775376"/>
            <a:ext cx="3437348" cy="1841256"/>
          </a:xfrm>
          <a:prstGeom prst="roundRect">
            <a:avLst>
              <a:gd name="adj" fmla="val 5518"/>
            </a:avLst>
          </a:prstGeom>
          <a:solidFill>
            <a:srgbClr val="FCFDFF"/>
          </a:solidFill>
          <a:ln w="6350">
            <a:solidFill>
              <a:srgbClr val="D5DEEC"/>
            </a:solidFill>
            <a:prstDash val="solid"/>
          </a:ln>
        </p:spPr>
      </p:sp>
      <p:sp>
        <p:nvSpPr>
          <p:cNvPr id="5" name="Shape 3"/>
          <p:cNvSpPr/>
          <p:nvPr/>
        </p:nvSpPr>
        <p:spPr>
          <a:xfrm>
            <a:off x="812780" y="1775376"/>
            <a:ext cx="50799" cy="1841256"/>
          </a:xfrm>
          <a:prstGeom prst="roundRect">
            <a:avLst>
              <a:gd name="adj" fmla="val 50000"/>
            </a:avLst>
          </a:prstGeom>
          <a:solidFill>
            <a:srgbClr val="2454C5"/>
          </a:solidFill>
          <a:ln/>
        </p:spPr>
      </p:sp>
      <p:sp>
        <p:nvSpPr>
          <p:cNvPr id="6" name="Shape 4"/>
          <p:cNvSpPr/>
          <p:nvPr/>
        </p:nvSpPr>
        <p:spPr>
          <a:xfrm>
            <a:off x="1015975" y="1934122"/>
            <a:ext cx="330192" cy="330192"/>
          </a:xfrm>
          <a:prstGeom prst="ellipse">
            <a:avLst/>
          </a:prstGeom>
          <a:solidFill>
            <a:srgbClr val="E3EBFA"/>
          </a:solidFill>
          <a:ln/>
        </p:spPr>
      </p:sp>
      <p:pic>
        <p:nvPicPr>
          <p:cNvPr id="7" name="Image 0" descr="preencoded.png">    </p:cNvPr>
          <p:cNvPicPr>
            <a:picLocks noChangeAspect="1"/>
          </p:cNvPicPr>
          <p:nvPr/>
        </p:nvPicPr>
        <p:blipFill>
          <a:blip r:embed="rId1"/>
          <a:stretch>
            <a:fillRect/>
          </a:stretch>
        </p:blipFill>
        <p:spPr>
          <a:xfrm>
            <a:off x="1092173" y="2010320"/>
            <a:ext cx="177796" cy="177796"/>
          </a:xfrm>
          <a:prstGeom prst="rect">
            <a:avLst/>
          </a:prstGeom>
        </p:spPr>
      </p:pic>
      <p:sp>
        <p:nvSpPr>
          <p:cNvPr id="8" name="Text 5"/>
          <p:cNvSpPr txBox="1"/>
          <p:nvPr/>
        </p:nvSpPr>
        <p:spPr>
          <a:xfrm>
            <a:off x="1435064" y="1984921"/>
            <a:ext cx="215554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identity-app · 896 MB</a:t>
            </a:r>
            <a:endParaRPr lang="en-US" sz="1500" dirty="0"/>
          </a:p>
        </p:txBody>
      </p:sp>
      <p:sp>
        <p:nvSpPr>
          <p:cNvPr id="9" name="Text 6"/>
          <p:cNvSpPr txBox="1"/>
          <p:nvPr/>
        </p:nvSpPr>
        <p:spPr>
          <a:xfrm>
            <a:off x="1015975" y="2327812"/>
            <a:ext cx="3444456" cy="426630"/>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auth 8081 · customer 8082</a:t>
            </a:r>
            <a:endParaRPr lang="en-US" sz="1200" dirty="0"/>
          </a:p>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provider 8083 · verification 8094</a:t>
            </a:r>
            <a:endParaRPr lang="en-US" sz="1200" dirty="0"/>
          </a:p>
        </p:txBody>
      </p:sp>
      <p:sp>
        <p:nvSpPr>
          <p:cNvPr id="10" name="Text 7"/>
          <p:cNvSpPr txBox="1"/>
          <p:nvPr/>
        </p:nvSpPr>
        <p:spPr>
          <a:xfrm>
            <a:off x="1015975" y="2817940"/>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Sign-in, profiles, agencies, KYC checks</a:t>
            </a:r>
            <a:endParaRPr lang="en-US" sz="1200" dirty="0"/>
          </a:p>
        </p:txBody>
      </p:sp>
      <p:sp>
        <p:nvSpPr>
          <p:cNvPr id="11" name="Shape 8"/>
          <p:cNvSpPr/>
          <p:nvPr/>
        </p:nvSpPr>
        <p:spPr>
          <a:xfrm>
            <a:off x="4377124" y="1775376"/>
            <a:ext cx="3437348" cy="1841256"/>
          </a:xfrm>
          <a:prstGeom prst="roundRect">
            <a:avLst>
              <a:gd name="adj" fmla="val 5518"/>
            </a:avLst>
          </a:prstGeom>
          <a:solidFill>
            <a:srgbClr val="FCFDFF"/>
          </a:solidFill>
          <a:ln w="6350">
            <a:solidFill>
              <a:srgbClr val="D5DEEC"/>
            </a:solidFill>
            <a:prstDash val="solid"/>
          </a:ln>
        </p:spPr>
      </p:sp>
      <p:sp>
        <p:nvSpPr>
          <p:cNvPr id="12" name="Shape 9"/>
          <p:cNvSpPr/>
          <p:nvPr/>
        </p:nvSpPr>
        <p:spPr>
          <a:xfrm>
            <a:off x="4377124" y="1775376"/>
            <a:ext cx="50799" cy="1841256"/>
          </a:xfrm>
          <a:prstGeom prst="roundRect">
            <a:avLst>
              <a:gd name="adj" fmla="val 50000"/>
            </a:avLst>
          </a:prstGeom>
          <a:solidFill>
            <a:srgbClr val="0B7F74"/>
          </a:solidFill>
          <a:ln/>
        </p:spPr>
      </p:sp>
      <p:sp>
        <p:nvSpPr>
          <p:cNvPr id="13" name="Shape 10"/>
          <p:cNvSpPr/>
          <p:nvPr/>
        </p:nvSpPr>
        <p:spPr>
          <a:xfrm>
            <a:off x="4580319" y="1934122"/>
            <a:ext cx="330192" cy="330192"/>
          </a:xfrm>
          <a:prstGeom prst="ellipse">
            <a:avLst/>
          </a:prstGeom>
          <a:solidFill>
            <a:srgbClr val="DDF2EF"/>
          </a:solidFill>
          <a:ln/>
        </p:spPr>
      </p:sp>
      <p:pic>
        <p:nvPicPr>
          <p:cNvPr id="14" name="Image 1" descr="preencoded.png">    </p:cNvPr>
          <p:cNvPicPr>
            <a:picLocks noChangeAspect="1"/>
          </p:cNvPicPr>
          <p:nvPr/>
        </p:nvPicPr>
        <p:blipFill>
          <a:blip r:embed="rId2"/>
          <a:stretch>
            <a:fillRect/>
          </a:stretch>
        </p:blipFill>
        <p:spPr>
          <a:xfrm>
            <a:off x="4656517" y="2010320"/>
            <a:ext cx="177796" cy="177796"/>
          </a:xfrm>
          <a:prstGeom prst="rect">
            <a:avLst/>
          </a:prstGeom>
        </p:spPr>
      </p:pic>
      <p:sp>
        <p:nvSpPr>
          <p:cNvPr id="15" name="Text 11"/>
          <p:cNvSpPr txBox="1"/>
          <p:nvPr/>
        </p:nvSpPr>
        <p:spPr>
          <a:xfrm>
            <a:off x="4999409" y="1984921"/>
            <a:ext cx="191274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jobs-app · 1280 MB</a:t>
            </a:r>
            <a:endParaRPr lang="en-US" sz="1500" dirty="0"/>
          </a:p>
        </p:txBody>
      </p:sp>
      <p:sp>
        <p:nvSpPr>
          <p:cNvPr id="16" name="Text 12"/>
          <p:cNvSpPr txBox="1"/>
          <p:nvPr/>
        </p:nvSpPr>
        <p:spPr>
          <a:xfrm>
            <a:off x="4580319" y="2327812"/>
            <a:ext cx="3444456" cy="853260"/>
          </a:xfrm>
          <a:prstGeom prst="rect">
            <a:avLst/>
          </a:prstGeom>
          <a:noFill/>
          <a:ln/>
        </p:spPr>
        <p:txBody>
          <a:bodyPr wrap="square" lIns="0" tIns="0" rIns="0" bIns="0" rtlCol="0" anchor="t"/>
          <a:lstStyle/>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booking 8084 · catalog 8085</a:t>
            </a:r>
            <a:endParaRPr lang="en-US" sz="1200" dirty="0"/>
          </a:p>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pricing 8086 · dispatch 8087</a:t>
            </a:r>
            <a:endParaRPr lang="en-US" sz="1200" dirty="0"/>
          </a:p>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location 8092 · chat 8093</a:t>
            </a:r>
            <a:endParaRPr lang="en-US" sz="1200" dirty="0"/>
          </a:p>
          <a:p>
            <a:pPr algn="l" indent="0" marL="0">
              <a:lnSpc>
                <a:spcPct val="116667"/>
              </a:lnSpc>
              <a:buNone/>
            </a:pPr>
            <a:r>
              <a:rPr lang="en-US" sz="1200" dirty="0">
                <a:solidFill>
                  <a:srgbClr val="0B7F74"/>
                </a:solidFill>
                <a:latin typeface="Courier New" pitchFamily="34" charset="0"/>
                <a:ea typeface="Courier New" pitchFamily="34" charset="-122"/>
                <a:cs typeface="Courier New" pitchFamily="34" charset="-120"/>
              </a:rPr>
              <a:t>promotion 8098</a:t>
            </a:r>
            <a:endParaRPr lang="en-US" sz="1200" dirty="0"/>
          </a:p>
        </p:txBody>
      </p:sp>
      <p:sp>
        <p:nvSpPr>
          <p:cNvPr id="17" name="Text 13"/>
          <p:cNvSpPr txBox="1"/>
          <p:nvPr/>
        </p:nvSpPr>
        <p:spPr>
          <a:xfrm>
            <a:off x="4580319" y="3244570"/>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Bookings, offers, prices, coupons, chat</a:t>
            </a:r>
            <a:endParaRPr lang="en-US" sz="1200" dirty="0"/>
          </a:p>
        </p:txBody>
      </p:sp>
      <p:sp>
        <p:nvSpPr>
          <p:cNvPr id="18" name="Shape 14"/>
          <p:cNvSpPr/>
          <p:nvPr/>
        </p:nvSpPr>
        <p:spPr>
          <a:xfrm>
            <a:off x="7941469" y="1775376"/>
            <a:ext cx="3437348" cy="1841256"/>
          </a:xfrm>
          <a:prstGeom prst="roundRect">
            <a:avLst>
              <a:gd name="adj" fmla="val 5518"/>
            </a:avLst>
          </a:prstGeom>
          <a:solidFill>
            <a:srgbClr val="FCFDFF"/>
          </a:solidFill>
          <a:ln w="6350">
            <a:solidFill>
              <a:srgbClr val="D5DEEC"/>
            </a:solidFill>
            <a:prstDash val="solid"/>
          </a:ln>
        </p:spPr>
      </p:sp>
      <p:sp>
        <p:nvSpPr>
          <p:cNvPr id="19" name="Shape 15"/>
          <p:cNvSpPr/>
          <p:nvPr/>
        </p:nvSpPr>
        <p:spPr>
          <a:xfrm>
            <a:off x="7941469" y="1775376"/>
            <a:ext cx="50799" cy="1841256"/>
          </a:xfrm>
          <a:prstGeom prst="roundRect">
            <a:avLst>
              <a:gd name="adj" fmla="val 50000"/>
            </a:avLst>
          </a:prstGeom>
          <a:solidFill>
            <a:srgbClr val="B4530F"/>
          </a:solidFill>
          <a:ln/>
        </p:spPr>
      </p:sp>
      <p:sp>
        <p:nvSpPr>
          <p:cNvPr id="20" name="Shape 16"/>
          <p:cNvSpPr/>
          <p:nvPr/>
        </p:nvSpPr>
        <p:spPr>
          <a:xfrm>
            <a:off x="8144664" y="1934122"/>
            <a:ext cx="330192" cy="330192"/>
          </a:xfrm>
          <a:prstGeom prst="ellipse">
            <a:avLst/>
          </a:prstGeom>
          <a:solidFill>
            <a:srgbClr val="FCEBDD"/>
          </a:solidFill>
          <a:ln/>
        </p:spPr>
      </p:sp>
      <p:pic>
        <p:nvPicPr>
          <p:cNvPr id="21" name="Image 2" descr="preencoded.png">    </p:cNvPr>
          <p:cNvPicPr>
            <a:picLocks noChangeAspect="1"/>
          </p:cNvPicPr>
          <p:nvPr/>
        </p:nvPicPr>
        <p:blipFill>
          <a:blip r:embed="rId3"/>
          <a:stretch>
            <a:fillRect/>
          </a:stretch>
        </p:blipFill>
        <p:spPr>
          <a:xfrm>
            <a:off x="8220862" y="2010320"/>
            <a:ext cx="177796" cy="177796"/>
          </a:xfrm>
          <a:prstGeom prst="rect">
            <a:avLst/>
          </a:prstGeom>
        </p:spPr>
      </p:pic>
      <p:sp>
        <p:nvSpPr>
          <p:cNvPr id="22" name="Text 17"/>
          <p:cNvSpPr txBox="1"/>
          <p:nvPr/>
        </p:nvSpPr>
        <p:spPr>
          <a:xfrm>
            <a:off x="8563753" y="1984921"/>
            <a:ext cx="2039315"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money-app · 640 MB</a:t>
            </a:r>
            <a:endParaRPr lang="en-US" sz="1500" dirty="0"/>
          </a:p>
        </p:txBody>
      </p:sp>
      <p:sp>
        <p:nvSpPr>
          <p:cNvPr id="23" name="Text 18"/>
          <p:cNvSpPr txBox="1"/>
          <p:nvPr/>
        </p:nvSpPr>
        <p:spPr>
          <a:xfrm>
            <a:off x="8144664" y="2327812"/>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payment 8088 · invoice 8089</a:t>
            </a:r>
            <a:endParaRPr lang="en-US" sz="1200" dirty="0"/>
          </a:p>
        </p:txBody>
      </p:sp>
      <p:sp>
        <p:nvSpPr>
          <p:cNvPr id="24" name="Text 19"/>
          <p:cNvSpPr txBox="1"/>
          <p:nvPr/>
        </p:nvSpPr>
        <p:spPr>
          <a:xfrm>
            <a:off x="8144664" y="2604626"/>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Razorpay charges, refunds, PDF invoices</a:t>
            </a:r>
            <a:endParaRPr lang="en-US" sz="1200" dirty="0"/>
          </a:p>
        </p:txBody>
      </p:sp>
      <p:sp>
        <p:nvSpPr>
          <p:cNvPr id="25" name="Shape 20"/>
          <p:cNvSpPr/>
          <p:nvPr/>
        </p:nvSpPr>
        <p:spPr>
          <a:xfrm>
            <a:off x="812780" y="3743628"/>
            <a:ext cx="3437348" cy="1841256"/>
          </a:xfrm>
          <a:prstGeom prst="roundRect">
            <a:avLst>
              <a:gd name="adj" fmla="val 5518"/>
            </a:avLst>
          </a:prstGeom>
          <a:solidFill>
            <a:srgbClr val="FCFDFF"/>
          </a:solidFill>
          <a:ln w="6350">
            <a:solidFill>
              <a:srgbClr val="D5DEEC"/>
            </a:solidFill>
            <a:prstDash val="solid"/>
          </a:ln>
        </p:spPr>
      </p:sp>
      <p:sp>
        <p:nvSpPr>
          <p:cNvPr id="26" name="Shape 21"/>
          <p:cNvSpPr/>
          <p:nvPr/>
        </p:nvSpPr>
        <p:spPr>
          <a:xfrm>
            <a:off x="812780" y="3743628"/>
            <a:ext cx="50799" cy="1841256"/>
          </a:xfrm>
          <a:prstGeom prst="roundRect">
            <a:avLst>
              <a:gd name="adj" fmla="val 50000"/>
            </a:avLst>
          </a:prstGeom>
          <a:solidFill>
            <a:srgbClr val="B8306E"/>
          </a:solidFill>
          <a:ln/>
        </p:spPr>
      </p:sp>
      <p:sp>
        <p:nvSpPr>
          <p:cNvPr id="27" name="Shape 22"/>
          <p:cNvSpPr/>
          <p:nvPr/>
        </p:nvSpPr>
        <p:spPr>
          <a:xfrm>
            <a:off x="1015975" y="3902374"/>
            <a:ext cx="330192" cy="330192"/>
          </a:xfrm>
          <a:prstGeom prst="ellipse">
            <a:avLst/>
          </a:prstGeom>
          <a:solidFill>
            <a:srgbClr val="FAE3ED"/>
          </a:solidFill>
          <a:ln/>
        </p:spPr>
      </p:sp>
      <p:pic>
        <p:nvPicPr>
          <p:cNvPr id="28" name="Image 3" descr="preencoded.png">    </p:cNvPr>
          <p:cNvPicPr>
            <a:picLocks noChangeAspect="1"/>
          </p:cNvPicPr>
          <p:nvPr/>
        </p:nvPicPr>
        <p:blipFill>
          <a:blip r:embed="rId4"/>
          <a:stretch>
            <a:fillRect/>
          </a:stretch>
        </p:blipFill>
        <p:spPr>
          <a:xfrm>
            <a:off x="1092173" y="3978572"/>
            <a:ext cx="177796" cy="177796"/>
          </a:xfrm>
          <a:prstGeom prst="rect">
            <a:avLst/>
          </a:prstGeom>
        </p:spPr>
      </p:pic>
      <p:sp>
        <p:nvSpPr>
          <p:cNvPr id="29" name="Text 23"/>
          <p:cNvSpPr txBox="1"/>
          <p:nvPr/>
        </p:nvSpPr>
        <p:spPr>
          <a:xfrm>
            <a:off x="1435064" y="3953173"/>
            <a:ext cx="2713382"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engagement-app · 1152 MB</a:t>
            </a:r>
            <a:endParaRPr lang="en-US" sz="1500" dirty="0"/>
          </a:p>
        </p:txBody>
      </p:sp>
      <p:sp>
        <p:nvSpPr>
          <p:cNvPr id="30" name="Text 24"/>
          <p:cNvSpPr txBox="1"/>
          <p:nvPr/>
        </p:nvSpPr>
        <p:spPr>
          <a:xfrm>
            <a:off x="1015975" y="4296064"/>
            <a:ext cx="3444456" cy="853260"/>
          </a:xfrm>
          <a:prstGeom prst="rect">
            <a:avLst/>
          </a:prstGeom>
          <a:noFill/>
          <a:ln/>
        </p:spPr>
        <p:txBody>
          <a:bodyPr wrap="square" lIns="0" tIns="0" rIns="0" bIns="0" rtlCol="0" anchor="t"/>
          <a:lstStyle/>
          <a:p>
            <a:pPr algn="l" indent="0" marL="0">
              <a:lnSpc>
                <a:spcPct val="116667"/>
              </a:lnSpc>
              <a:buNone/>
            </a:pPr>
            <a:r>
              <a:rPr lang="en-US" sz="1200" dirty="0">
                <a:solidFill>
                  <a:srgbClr val="B8306E"/>
                </a:solidFill>
                <a:latin typeface="Courier New" pitchFamily="34" charset="0"/>
                <a:ea typeface="Courier New" pitchFamily="34" charset="-122"/>
                <a:cs typeface="Courier New" pitchFamily="34" charset="-120"/>
              </a:rPr>
              <a:t>notification 8090 · complaint 8091</a:t>
            </a:r>
            <a:endParaRPr lang="en-US" sz="1200" dirty="0"/>
          </a:p>
          <a:p>
            <a:pPr algn="l" indent="0" marL="0">
              <a:lnSpc>
                <a:spcPct val="116667"/>
              </a:lnSpc>
              <a:buNone/>
            </a:pPr>
            <a:r>
              <a:rPr lang="en-US" sz="1200" dirty="0">
                <a:solidFill>
                  <a:srgbClr val="B8306E"/>
                </a:solidFill>
                <a:latin typeface="Courier New" pitchFamily="34" charset="0"/>
                <a:ea typeface="Courier New" pitchFamily="34" charset="-122"/>
                <a:cs typeface="Courier New" pitchFamily="34" charset="-120"/>
              </a:rPr>
              <a:t>admin 8095 · reporting 8096</a:t>
            </a:r>
            <a:endParaRPr lang="en-US" sz="1200" dirty="0"/>
          </a:p>
          <a:p>
            <a:pPr algn="l" indent="0" marL="0">
              <a:lnSpc>
                <a:spcPct val="116667"/>
              </a:lnSpc>
              <a:buNone/>
            </a:pPr>
            <a:r>
              <a:rPr lang="en-US" sz="1200" dirty="0">
                <a:solidFill>
                  <a:srgbClr val="B8306E"/>
                </a:solidFill>
                <a:latin typeface="Courier New" pitchFamily="34" charset="0"/>
                <a:ea typeface="Courier New" pitchFamily="34" charset="-122"/>
                <a:cs typeface="Courier New" pitchFamily="34" charset="-120"/>
              </a:rPr>
              <a:t>rating 8097 · outbox 8099</a:t>
            </a:r>
            <a:endParaRPr lang="en-US" sz="1200" dirty="0"/>
          </a:p>
        </p:txBody>
      </p:sp>
      <p:sp>
        <p:nvSpPr>
          <p:cNvPr id="31" name="Text 25"/>
          <p:cNvSpPr txBox="1"/>
          <p:nvPr/>
        </p:nvSpPr>
        <p:spPr>
          <a:xfrm>
            <a:off x="1015975" y="5212823"/>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Notices, complaints, reviews, outbox relay</a:t>
            </a:r>
            <a:endParaRPr lang="en-US" sz="1200" dirty="0"/>
          </a:p>
        </p:txBody>
      </p:sp>
      <p:sp>
        <p:nvSpPr>
          <p:cNvPr id="32" name="Shape 26"/>
          <p:cNvSpPr/>
          <p:nvPr/>
        </p:nvSpPr>
        <p:spPr>
          <a:xfrm>
            <a:off x="4377124" y="3743628"/>
            <a:ext cx="3437348" cy="1841256"/>
          </a:xfrm>
          <a:prstGeom prst="roundRect">
            <a:avLst>
              <a:gd name="adj" fmla="val 5518"/>
            </a:avLst>
          </a:prstGeom>
          <a:solidFill>
            <a:srgbClr val="FCFDFF"/>
          </a:solidFill>
          <a:ln w="6350">
            <a:solidFill>
              <a:srgbClr val="D5DEEC"/>
            </a:solidFill>
            <a:prstDash val="solid"/>
          </a:ln>
        </p:spPr>
      </p:sp>
      <p:sp>
        <p:nvSpPr>
          <p:cNvPr id="33" name="Shape 27"/>
          <p:cNvSpPr/>
          <p:nvPr/>
        </p:nvSpPr>
        <p:spPr>
          <a:xfrm>
            <a:off x="4377124" y="3743628"/>
            <a:ext cx="50799" cy="1841256"/>
          </a:xfrm>
          <a:prstGeom prst="roundRect">
            <a:avLst>
              <a:gd name="adj" fmla="val 50000"/>
            </a:avLst>
          </a:prstGeom>
          <a:solidFill>
            <a:srgbClr val="3F5F95"/>
          </a:solidFill>
          <a:ln/>
        </p:spPr>
      </p:sp>
      <p:sp>
        <p:nvSpPr>
          <p:cNvPr id="34" name="Shape 28"/>
          <p:cNvSpPr/>
          <p:nvPr/>
        </p:nvSpPr>
        <p:spPr>
          <a:xfrm>
            <a:off x="4580319" y="3902374"/>
            <a:ext cx="330192" cy="330192"/>
          </a:xfrm>
          <a:prstGeom prst="ellipse">
            <a:avLst/>
          </a:prstGeom>
          <a:solidFill>
            <a:srgbClr val="E6EBF3"/>
          </a:solidFill>
          <a:ln/>
        </p:spPr>
      </p:sp>
      <p:pic>
        <p:nvPicPr>
          <p:cNvPr id="35" name="Image 4" descr="preencoded.png">    </p:cNvPr>
          <p:cNvPicPr>
            <a:picLocks noChangeAspect="1"/>
          </p:cNvPicPr>
          <p:nvPr/>
        </p:nvPicPr>
        <p:blipFill>
          <a:blip r:embed="rId5"/>
          <a:stretch>
            <a:fillRect/>
          </a:stretch>
        </p:blipFill>
        <p:spPr>
          <a:xfrm>
            <a:off x="4656517" y="3978572"/>
            <a:ext cx="177796" cy="177796"/>
          </a:xfrm>
          <a:prstGeom prst="rect">
            <a:avLst/>
          </a:prstGeom>
        </p:spPr>
      </p:pic>
      <p:sp>
        <p:nvSpPr>
          <p:cNvPr id="36" name="Text 29"/>
          <p:cNvSpPr txBox="1"/>
          <p:nvPr/>
        </p:nvSpPr>
        <p:spPr>
          <a:xfrm>
            <a:off x="4999409" y="3953173"/>
            <a:ext cx="2134880"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api-gateway · 448 MB</a:t>
            </a:r>
            <a:endParaRPr lang="en-US" sz="1500" dirty="0"/>
          </a:p>
        </p:txBody>
      </p:sp>
      <p:sp>
        <p:nvSpPr>
          <p:cNvPr id="37" name="Text 30"/>
          <p:cNvSpPr txBox="1"/>
          <p:nvPr/>
        </p:nvSpPr>
        <p:spPr>
          <a:xfrm>
            <a:off x="4580319" y="4296064"/>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3F5F95"/>
                </a:solidFill>
                <a:latin typeface="Courier New" pitchFamily="34" charset="0"/>
                <a:ea typeface="Courier New" pitchFamily="34" charset="-122"/>
                <a:cs typeface="Courier New" pitchFamily="34" charset="-120"/>
              </a:rPr>
              <a:t>api-gateway 8080</a:t>
            </a:r>
            <a:endParaRPr lang="en-US" sz="1200" dirty="0"/>
          </a:p>
        </p:txBody>
      </p:sp>
      <p:sp>
        <p:nvSpPr>
          <p:cNvPr id="38" name="Text 31"/>
          <p:cNvSpPr txBox="1"/>
          <p:nvPr/>
        </p:nvSpPr>
        <p:spPr>
          <a:xfrm>
            <a:off x="4580319" y="4572878"/>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Routing, token checks, rate limits</a:t>
            </a:r>
            <a:endParaRPr lang="en-US" sz="1200" dirty="0"/>
          </a:p>
        </p:txBody>
      </p:sp>
      <p:sp>
        <p:nvSpPr>
          <p:cNvPr id="39" name="Shape 32"/>
          <p:cNvSpPr/>
          <p:nvPr/>
        </p:nvSpPr>
        <p:spPr>
          <a:xfrm>
            <a:off x="7941469" y="3743628"/>
            <a:ext cx="3437348" cy="1841256"/>
          </a:xfrm>
          <a:prstGeom prst="roundRect">
            <a:avLst>
              <a:gd name="adj" fmla="val 5518"/>
            </a:avLst>
          </a:prstGeom>
          <a:solidFill>
            <a:srgbClr val="FCFDFF"/>
          </a:solidFill>
          <a:ln w="6350">
            <a:solidFill>
              <a:srgbClr val="D5DEEC"/>
            </a:solidFill>
            <a:prstDash val="solid"/>
          </a:ln>
        </p:spPr>
      </p:sp>
      <p:sp>
        <p:nvSpPr>
          <p:cNvPr id="40" name="Shape 33"/>
          <p:cNvSpPr/>
          <p:nvPr/>
        </p:nvSpPr>
        <p:spPr>
          <a:xfrm>
            <a:off x="7941469" y="3743628"/>
            <a:ext cx="50799" cy="1841256"/>
          </a:xfrm>
          <a:prstGeom prst="roundRect">
            <a:avLst>
              <a:gd name="adj" fmla="val 50000"/>
            </a:avLst>
          </a:prstGeom>
          <a:solidFill>
            <a:srgbClr val="6A3FC0"/>
          </a:solidFill>
          <a:ln/>
        </p:spPr>
      </p:sp>
      <p:sp>
        <p:nvSpPr>
          <p:cNvPr id="41" name="Shape 34"/>
          <p:cNvSpPr/>
          <p:nvPr/>
        </p:nvSpPr>
        <p:spPr>
          <a:xfrm>
            <a:off x="8144664" y="3902374"/>
            <a:ext cx="330192" cy="330192"/>
          </a:xfrm>
          <a:prstGeom prst="ellipse">
            <a:avLst/>
          </a:prstGeom>
          <a:solidFill>
            <a:srgbClr val="ECE5FA"/>
          </a:solidFill>
          <a:ln/>
        </p:spPr>
      </p:sp>
      <p:pic>
        <p:nvPicPr>
          <p:cNvPr id="42" name="Image 5" descr="preencoded.png">    </p:cNvPr>
          <p:cNvPicPr>
            <a:picLocks noChangeAspect="1"/>
          </p:cNvPicPr>
          <p:nvPr/>
        </p:nvPicPr>
        <p:blipFill>
          <a:blip r:embed="rId6"/>
          <a:stretch>
            <a:fillRect/>
          </a:stretch>
        </p:blipFill>
        <p:spPr>
          <a:xfrm>
            <a:off x="8220862" y="3978572"/>
            <a:ext cx="177796" cy="177796"/>
          </a:xfrm>
          <a:prstGeom prst="rect">
            <a:avLst/>
          </a:prstGeom>
        </p:spPr>
      </p:pic>
      <p:sp>
        <p:nvSpPr>
          <p:cNvPr id="43" name="Text 35"/>
          <p:cNvSpPr txBox="1"/>
          <p:nvPr/>
        </p:nvSpPr>
        <p:spPr>
          <a:xfrm>
            <a:off x="8563753" y="3953173"/>
            <a:ext cx="246924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One JVM, many contexts</a:t>
            </a:r>
            <a:endParaRPr lang="en-US" sz="1500" dirty="0"/>
          </a:p>
        </p:txBody>
      </p:sp>
      <p:sp>
        <p:nvSpPr>
          <p:cNvPr id="44" name="Text 36"/>
          <p:cNvSpPr txBox="1"/>
          <p:nvPr/>
        </p:nvSpPr>
        <p:spPr>
          <a:xfrm>
            <a:off x="8144664" y="4296064"/>
            <a:ext cx="3444456" cy="213355"/>
          </a:xfrm>
          <a:prstGeom prst="rect">
            <a:avLst/>
          </a:prstGeom>
          <a:noFill/>
          <a:ln/>
        </p:spPr>
        <p:txBody>
          <a:bodyPr wrap="square" lIns="0" tIns="0" rIns="0" bIns="0" rtlCol="0" anchor="t"/>
          <a:lstStyle/>
          <a:p>
            <a:pPr algn="l" indent="0" marL="0">
              <a:lnSpc>
                <a:spcPct val="116667"/>
              </a:lnSpc>
              <a:buNone/>
            </a:pPr>
            <a:r>
              <a:rPr lang="en-US" sz="1200" dirty="0">
                <a:solidFill>
                  <a:srgbClr val="6A3FC0"/>
                </a:solidFill>
                <a:latin typeface="Courier New" pitchFamily="34" charset="0"/>
                <a:ea typeface="Courier New" pitchFamily="34" charset="-122"/>
                <a:cs typeface="Courier New" pitchFamily="34" charset="-120"/>
              </a:rPr>
              <a:t>shared/homefix-service-host</a:t>
            </a:r>
            <a:endParaRPr lang="en-US" sz="1200" dirty="0"/>
          </a:p>
        </p:txBody>
      </p:sp>
      <p:sp>
        <p:nvSpPr>
          <p:cNvPr id="45" name="Text 37"/>
          <p:cNvSpPr txBox="1"/>
          <p:nvPr/>
        </p:nvSpPr>
        <p:spPr>
          <a:xfrm>
            <a:off x="8144664" y="4572878"/>
            <a:ext cx="3444456"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Each service is its own Spring context: own port, config and schema</a:t>
            </a:r>
            <a:endParaRPr lang="en-US" sz="1200" dirty="0"/>
          </a:p>
        </p:txBody>
      </p:sp>
      <p:sp>
        <p:nvSpPr>
          <p:cNvPr id="46" name="Text 38"/>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47" name="Text 39"/>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IDENTITY AND ACCESS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Every API call is checked three times</a:t>
            </a:r>
            <a:endParaRPr lang="en-US" sz="3000" dirty="0"/>
          </a:p>
        </p:txBody>
      </p:sp>
      <p:sp>
        <p:nvSpPr>
          <p:cNvPr id="4" name="Shape 2"/>
          <p:cNvSpPr/>
          <p:nvPr/>
        </p:nvSpPr>
        <p:spPr>
          <a:xfrm>
            <a:off x="812780" y="2539937"/>
            <a:ext cx="1650959" cy="1269968"/>
          </a:xfrm>
          <a:prstGeom prst="roundRect">
            <a:avLst>
              <a:gd name="adj" fmla="val 7000"/>
            </a:avLst>
          </a:prstGeom>
          <a:solidFill>
            <a:srgbClr val="FCFDFF"/>
          </a:solidFill>
          <a:ln w="12700">
            <a:solidFill>
              <a:srgbClr val="2454C5"/>
            </a:solidFill>
            <a:prstDash val="solid"/>
          </a:ln>
        </p:spPr>
      </p:sp>
      <p:sp>
        <p:nvSpPr>
          <p:cNvPr id="5" name="Shape 3"/>
          <p:cNvSpPr/>
          <p:nvPr/>
        </p:nvSpPr>
        <p:spPr>
          <a:xfrm>
            <a:off x="812780" y="2539937"/>
            <a:ext cx="50799" cy="1269968"/>
          </a:xfrm>
          <a:prstGeom prst="roundRect">
            <a:avLst>
              <a:gd name="adj" fmla="val 50000"/>
            </a:avLst>
          </a:prstGeom>
          <a:solidFill>
            <a:srgbClr val="2454C5"/>
          </a:solidFill>
          <a:ln/>
        </p:spPr>
      </p:sp>
      <p:pic>
        <p:nvPicPr>
          <p:cNvPr id="6" name="Image 0" descr="preencoded.png">    </p:cNvPr>
          <p:cNvPicPr>
            <a:picLocks noChangeAspect="1"/>
          </p:cNvPicPr>
          <p:nvPr/>
        </p:nvPicPr>
        <p:blipFill>
          <a:blip r:embed="rId1"/>
          <a:stretch>
            <a:fillRect/>
          </a:stretch>
        </p:blipFill>
        <p:spPr>
          <a:xfrm>
            <a:off x="977876" y="2645304"/>
            <a:ext cx="190495" cy="190495"/>
          </a:xfrm>
          <a:prstGeom prst="rect">
            <a:avLst/>
          </a:prstGeom>
        </p:spPr>
      </p:pic>
      <p:sp>
        <p:nvSpPr>
          <p:cNvPr id="7" name="Text 4"/>
          <p:cNvSpPr txBox="1"/>
          <p:nvPr/>
        </p:nvSpPr>
        <p:spPr>
          <a:xfrm>
            <a:off x="1231869" y="2641534"/>
            <a:ext cx="44429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Apps</a:t>
            </a:r>
            <a:endParaRPr lang="en-US" sz="1300" dirty="0"/>
          </a:p>
        </p:txBody>
      </p:sp>
      <p:sp>
        <p:nvSpPr>
          <p:cNvPr id="8" name="Text 5"/>
          <p:cNvSpPr txBox="1"/>
          <p:nvPr/>
        </p:nvSpPr>
        <p:spPr>
          <a:xfrm>
            <a:off x="977876" y="2864969"/>
            <a:ext cx="1521930"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access JWT in memory</a:t>
            </a:r>
            <a:endParaRPr lang="en-US" sz="1200" dirty="0"/>
          </a:p>
        </p:txBody>
      </p:sp>
      <p:sp>
        <p:nvSpPr>
          <p:cNvPr id="9" name="Text 6"/>
          <p:cNvSpPr txBox="1"/>
          <p:nvPr/>
        </p:nvSpPr>
        <p:spPr>
          <a:xfrm>
            <a:off x="977876" y="3301719"/>
            <a:ext cx="1521930"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refresh in localStorage</a:t>
            </a:r>
            <a:endParaRPr lang="en-US" sz="1200" dirty="0"/>
          </a:p>
        </p:txBody>
      </p:sp>
      <p:sp>
        <p:nvSpPr>
          <p:cNvPr id="10" name="Shape 7"/>
          <p:cNvSpPr/>
          <p:nvPr/>
        </p:nvSpPr>
        <p:spPr>
          <a:xfrm>
            <a:off x="2971726" y="1841454"/>
            <a:ext cx="1904952" cy="761981"/>
          </a:xfrm>
          <a:prstGeom prst="roundRect">
            <a:avLst>
              <a:gd name="adj" fmla="val 11667"/>
            </a:avLst>
          </a:prstGeom>
          <a:solidFill>
            <a:srgbClr val="FCFDFF"/>
          </a:solidFill>
          <a:ln w="12700">
            <a:solidFill>
              <a:srgbClr val="3F5F95"/>
            </a:solidFill>
            <a:prstDash val="solid"/>
          </a:ln>
        </p:spPr>
      </p:sp>
      <p:sp>
        <p:nvSpPr>
          <p:cNvPr id="11" name="Shape 8"/>
          <p:cNvSpPr/>
          <p:nvPr/>
        </p:nvSpPr>
        <p:spPr>
          <a:xfrm>
            <a:off x="2971726" y="1841454"/>
            <a:ext cx="50799" cy="761981"/>
          </a:xfrm>
          <a:prstGeom prst="roundRect">
            <a:avLst>
              <a:gd name="adj" fmla="val 50000"/>
            </a:avLst>
          </a:prstGeom>
          <a:solidFill>
            <a:srgbClr val="3F5F95"/>
          </a:solidFill>
          <a:ln/>
        </p:spPr>
      </p:sp>
      <p:sp>
        <p:nvSpPr>
          <p:cNvPr id="12" name="Text 9"/>
          <p:cNvSpPr txBox="1"/>
          <p:nvPr/>
        </p:nvSpPr>
        <p:spPr>
          <a:xfrm>
            <a:off x="3136822" y="1943051"/>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nginx proxy</a:t>
            </a:r>
            <a:endParaRPr lang="en-US" sz="1300" dirty="0"/>
          </a:p>
        </p:txBody>
      </p:sp>
      <p:sp>
        <p:nvSpPr>
          <p:cNvPr id="13" name="Text 10"/>
          <p:cNvSpPr txBox="1"/>
          <p:nvPr/>
        </p:nvSpPr>
        <p:spPr>
          <a:xfrm>
            <a:off x="3136822" y="2166486"/>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/api/auth/*</a:t>
            </a:r>
            <a:endParaRPr lang="en-US" sz="1200" dirty="0"/>
          </a:p>
        </p:txBody>
      </p:sp>
      <p:sp>
        <p:nvSpPr>
          <p:cNvPr id="14" name="Shape 11"/>
          <p:cNvSpPr/>
          <p:nvPr/>
        </p:nvSpPr>
        <p:spPr>
          <a:xfrm>
            <a:off x="2971726" y="4063898"/>
            <a:ext cx="1904952" cy="888978"/>
          </a:xfrm>
          <a:prstGeom prst="roundRect">
            <a:avLst>
              <a:gd name="adj" fmla="val 10000"/>
            </a:avLst>
          </a:prstGeom>
          <a:solidFill>
            <a:srgbClr val="FCFDFF"/>
          </a:solidFill>
          <a:ln w="12700">
            <a:solidFill>
              <a:srgbClr val="3F5F95"/>
            </a:solidFill>
            <a:prstDash val="solid"/>
          </a:ln>
        </p:spPr>
      </p:sp>
      <p:sp>
        <p:nvSpPr>
          <p:cNvPr id="15" name="Shape 12"/>
          <p:cNvSpPr/>
          <p:nvPr/>
        </p:nvSpPr>
        <p:spPr>
          <a:xfrm>
            <a:off x="2971726" y="4063898"/>
            <a:ext cx="50799" cy="888978"/>
          </a:xfrm>
          <a:prstGeom prst="roundRect">
            <a:avLst>
              <a:gd name="adj" fmla="val 50000"/>
            </a:avLst>
          </a:prstGeom>
          <a:solidFill>
            <a:srgbClr val="3F5F95"/>
          </a:solidFill>
          <a:ln/>
        </p:spPr>
      </p:sp>
      <p:sp>
        <p:nvSpPr>
          <p:cNvPr id="16" name="Text 13"/>
          <p:cNvSpPr txBox="1"/>
          <p:nvPr/>
        </p:nvSpPr>
        <p:spPr>
          <a:xfrm>
            <a:off x="3136822" y="4165496"/>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Text 14"/>
          <p:cNvSpPr txBox="1"/>
          <p:nvPr/>
        </p:nvSpPr>
        <p:spPr>
          <a:xfrm>
            <a:off x="3136822" y="4388931"/>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introspect, rate limit</a:t>
            </a:r>
            <a:endParaRPr lang="en-US" sz="1200" dirty="0"/>
          </a:p>
        </p:txBody>
      </p:sp>
      <p:sp>
        <p:nvSpPr>
          <p:cNvPr id="18" name="Shape 15"/>
          <p:cNvSpPr/>
          <p:nvPr/>
        </p:nvSpPr>
        <p:spPr>
          <a:xfrm>
            <a:off x="5384665" y="1841454"/>
            <a:ext cx="2158946" cy="1650959"/>
          </a:xfrm>
          <a:prstGeom prst="roundRect">
            <a:avLst>
              <a:gd name="adj" fmla="val 5385"/>
            </a:avLst>
          </a:prstGeom>
          <a:solidFill>
            <a:srgbClr val="FCFDFF"/>
          </a:solidFill>
          <a:ln w="12700">
            <a:solidFill>
              <a:srgbClr val="2454C5"/>
            </a:solidFill>
            <a:prstDash val="solid"/>
          </a:ln>
        </p:spPr>
      </p:sp>
      <p:sp>
        <p:nvSpPr>
          <p:cNvPr id="19" name="Shape 16"/>
          <p:cNvSpPr/>
          <p:nvPr/>
        </p:nvSpPr>
        <p:spPr>
          <a:xfrm>
            <a:off x="5384665" y="1841454"/>
            <a:ext cx="50799" cy="1650959"/>
          </a:xfrm>
          <a:prstGeom prst="roundRect">
            <a:avLst>
              <a:gd name="adj" fmla="val 50000"/>
            </a:avLst>
          </a:prstGeom>
          <a:solidFill>
            <a:srgbClr val="2454C5"/>
          </a:solidFill>
          <a:ln/>
        </p:spPr>
      </p:sp>
      <p:pic>
        <p:nvPicPr>
          <p:cNvPr id="20" name="Image 1" descr="preencoded.png">    </p:cNvPr>
          <p:cNvPicPr>
            <a:picLocks noChangeAspect="1"/>
          </p:cNvPicPr>
          <p:nvPr/>
        </p:nvPicPr>
        <p:blipFill>
          <a:blip r:embed="rId2"/>
          <a:stretch>
            <a:fillRect/>
          </a:stretch>
        </p:blipFill>
        <p:spPr>
          <a:xfrm>
            <a:off x="5549761" y="1946822"/>
            <a:ext cx="190495" cy="190495"/>
          </a:xfrm>
          <a:prstGeom prst="rect">
            <a:avLst/>
          </a:prstGeom>
        </p:spPr>
      </p:pic>
      <p:sp>
        <p:nvSpPr>
          <p:cNvPr id="21" name="Text 17"/>
          <p:cNvSpPr txBox="1"/>
          <p:nvPr/>
        </p:nvSpPr>
        <p:spPr>
          <a:xfrm>
            <a:off x="5803755" y="1943051"/>
            <a:ext cx="163983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auth-service :8081</a:t>
            </a:r>
            <a:endParaRPr lang="en-US" sz="1300" dirty="0"/>
          </a:p>
        </p:txBody>
      </p:sp>
      <p:sp>
        <p:nvSpPr>
          <p:cNvPr id="22" name="Text 18"/>
          <p:cNvSpPr txBox="1"/>
          <p:nvPr/>
        </p:nvSpPr>
        <p:spPr>
          <a:xfrm>
            <a:off x="5549761" y="216648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(SMS stub)</a:t>
            </a:r>
            <a:endParaRPr lang="en-US" sz="1200" dirty="0"/>
          </a:p>
        </p:txBody>
      </p:sp>
      <p:sp>
        <p:nvSpPr>
          <p:cNvPr id="23" name="Text 19"/>
          <p:cNvSpPr txBox="1"/>
          <p:nvPr/>
        </p:nvSpPr>
        <p:spPr>
          <a:xfrm>
            <a:off x="5549761" y="239756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password, bcrypt 12</a:t>
            </a:r>
            <a:endParaRPr lang="en-US" sz="1200" dirty="0"/>
          </a:p>
        </p:txBody>
      </p:sp>
      <p:sp>
        <p:nvSpPr>
          <p:cNvPr id="24" name="Text 20"/>
          <p:cNvSpPr txBox="1"/>
          <p:nvPr/>
        </p:nvSpPr>
        <p:spPr>
          <a:xfrm>
            <a:off x="5549761" y="262863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Google / Apple OIDC</a:t>
            </a:r>
            <a:endParaRPr lang="en-US" sz="1200" dirty="0"/>
          </a:p>
        </p:txBody>
      </p:sp>
      <p:sp>
        <p:nvSpPr>
          <p:cNvPr id="25" name="Text 21"/>
          <p:cNvSpPr txBox="1"/>
          <p:nvPr/>
        </p:nvSpPr>
        <p:spPr>
          <a:xfrm>
            <a:off x="5549761" y="285971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tokens, invitations</a:t>
            </a:r>
            <a:endParaRPr lang="en-US" sz="1200" dirty="0"/>
          </a:p>
        </p:txBody>
      </p:sp>
      <p:sp>
        <p:nvSpPr>
          <p:cNvPr id="26" name="Shape 22"/>
          <p:cNvSpPr/>
          <p:nvPr/>
        </p:nvSpPr>
        <p:spPr>
          <a:xfrm>
            <a:off x="5384665" y="4063898"/>
            <a:ext cx="2158946" cy="1269968"/>
          </a:xfrm>
          <a:prstGeom prst="roundRect">
            <a:avLst>
              <a:gd name="adj" fmla="val 7000"/>
            </a:avLst>
          </a:prstGeom>
          <a:solidFill>
            <a:srgbClr val="FCFDFF"/>
          </a:solidFill>
          <a:ln w="12700">
            <a:solidFill>
              <a:srgbClr val="0B7F74"/>
            </a:solidFill>
            <a:prstDash val="solid"/>
          </a:ln>
        </p:spPr>
      </p:sp>
      <p:sp>
        <p:nvSpPr>
          <p:cNvPr id="27" name="Shape 23"/>
          <p:cNvSpPr/>
          <p:nvPr/>
        </p:nvSpPr>
        <p:spPr>
          <a:xfrm>
            <a:off x="5384665" y="4063898"/>
            <a:ext cx="50799" cy="1269968"/>
          </a:xfrm>
          <a:prstGeom prst="roundRect">
            <a:avLst>
              <a:gd name="adj" fmla="val 50000"/>
            </a:avLst>
          </a:prstGeom>
          <a:solidFill>
            <a:srgbClr val="0B7F74"/>
          </a:solidFill>
          <a:ln/>
        </p:spPr>
      </p:sp>
      <p:pic>
        <p:nvPicPr>
          <p:cNvPr id="28" name="Image 2" descr="preencoded.png">    </p:cNvPr>
          <p:cNvPicPr>
            <a:picLocks noChangeAspect="1"/>
          </p:cNvPicPr>
          <p:nvPr/>
        </p:nvPicPr>
        <p:blipFill>
          <a:blip r:embed="rId3"/>
          <a:stretch>
            <a:fillRect/>
          </a:stretch>
        </p:blipFill>
        <p:spPr>
          <a:xfrm>
            <a:off x="5549761" y="4169266"/>
            <a:ext cx="190495" cy="190495"/>
          </a:xfrm>
          <a:prstGeom prst="rect">
            <a:avLst/>
          </a:prstGeom>
        </p:spPr>
      </p:pic>
      <p:sp>
        <p:nvSpPr>
          <p:cNvPr id="29" name="Text 24"/>
          <p:cNvSpPr txBox="1"/>
          <p:nvPr/>
        </p:nvSpPr>
        <p:spPr>
          <a:xfrm>
            <a:off x="5803755" y="4165496"/>
            <a:ext cx="169439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Any domain service</a:t>
            </a:r>
            <a:endParaRPr lang="en-US" sz="1300" dirty="0"/>
          </a:p>
        </p:txBody>
      </p:sp>
      <p:sp>
        <p:nvSpPr>
          <p:cNvPr id="30" name="Text 25"/>
          <p:cNvSpPr txBox="1"/>
          <p:nvPr/>
        </p:nvSpPr>
        <p:spPr>
          <a:xfrm>
            <a:off x="5549761" y="4388931"/>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 · JWT filter (HMAC)</a:t>
            </a:r>
            <a:endParaRPr lang="en-US" sz="1200" dirty="0"/>
          </a:p>
        </p:txBody>
      </p:sp>
      <p:sp>
        <p:nvSpPr>
          <p:cNvPr id="31" name="Text 26"/>
          <p:cNvSpPr txBox="1"/>
          <p:nvPr/>
        </p:nvSpPr>
        <p:spPr>
          <a:xfrm>
            <a:off x="5549761" y="4620006"/>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2 · RBAC path rules</a:t>
            </a:r>
            <a:endParaRPr lang="en-US" sz="1200" dirty="0"/>
          </a:p>
        </p:txBody>
      </p:sp>
      <p:sp>
        <p:nvSpPr>
          <p:cNvPr id="32" name="Text 27"/>
          <p:cNvSpPr txBox="1"/>
          <p:nvPr/>
        </p:nvSpPr>
        <p:spPr>
          <a:xfrm>
            <a:off x="5549761" y="4851080"/>
            <a:ext cx="209087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3 · ownership check</a:t>
            </a:r>
            <a:endParaRPr lang="en-US" sz="1200" dirty="0"/>
          </a:p>
        </p:txBody>
      </p:sp>
      <p:sp>
        <p:nvSpPr>
          <p:cNvPr id="33" name="Shape 28"/>
          <p:cNvSpPr/>
          <p:nvPr/>
        </p:nvSpPr>
        <p:spPr>
          <a:xfrm>
            <a:off x="8051599" y="1841454"/>
            <a:ext cx="1523962" cy="825479"/>
          </a:xfrm>
          <a:prstGeom prst="roundRect">
            <a:avLst>
              <a:gd name="adj" fmla="val 10769"/>
            </a:avLst>
          </a:prstGeom>
          <a:solidFill>
            <a:srgbClr val="FCFDFF"/>
          </a:solidFill>
          <a:ln w="12700">
            <a:solidFill>
              <a:srgbClr val="C0352B"/>
            </a:solidFill>
            <a:prstDash val="solid"/>
          </a:ln>
        </p:spPr>
      </p:sp>
      <p:sp>
        <p:nvSpPr>
          <p:cNvPr id="34" name="Shape 29"/>
          <p:cNvSpPr/>
          <p:nvPr/>
        </p:nvSpPr>
        <p:spPr>
          <a:xfrm>
            <a:off x="8051599" y="1841454"/>
            <a:ext cx="50799" cy="825479"/>
          </a:xfrm>
          <a:prstGeom prst="roundRect">
            <a:avLst>
              <a:gd name="adj" fmla="val 50000"/>
            </a:avLst>
          </a:prstGeom>
          <a:solidFill>
            <a:srgbClr val="C0352B"/>
          </a:solidFill>
          <a:ln/>
        </p:spPr>
      </p:sp>
      <p:sp>
        <p:nvSpPr>
          <p:cNvPr id="35" name="Text 30"/>
          <p:cNvSpPr txBox="1"/>
          <p:nvPr/>
        </p:nvSpPr>
        <p:spPr>
          <a:xfrm>
            <a:off x="8216695" y="1943051"/>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36" name="Text 31"/>
          <p:cNvSpPr txBox="1"/>
          <p:nvPr/>
        </p:nvSpPr>
        <p:spPr>
          <a:xfrm>
            <a:off x="8216695" y="2166486"/>
            <a:ext cx="1379694"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OTP, refresh, lockouts</a:t>
            </a:r>
            <a:endParaRPr lang="en-US" sz="1200" dirty="0"/>
          </a:p>
        </p:txBody>
      </p:sp>
      <p:sp>
        <p:nvSpPr>
          <p:cNvPr id="37" name="Shape 32"/>
          <p:cNvSpPr/>
          <p:nvPr/>
        </p:nvSpPr>
        <p:spPr>
          <a:xfrm>
            <a:off x="8051599" y="2857429"/>
            <a:ext cx="1523962" cy="825479"/>
          </a:xfrm>
          <a:prstGeom prst="roundRect">
            <a:avLst>
              <a:gd name="adj" fmla="val 10769"/>
            </a:avLst>
          </a:prstGeom>
          <a:solidFill>
            <a:srgbClr val="FCFDFF"/>
          </a:solidFill>
          <a:ln w="12700">
            <a:solidFill>
              <a:srgbClr val="2F5C9A"/>
            </a:solidFill>
            <a:prstDash val="solid"/>
          </a:ln>
        </p:spPr>
      </p:sp>
      <p:sp>
        <p:nvSpPr>
          <p:cNvPr id="38" name="Shape 33"/>
          <p:cNvSpPr/>
          <p:nvPr/>
        </p:nvSpPr>
        <p:spPr>
          <a:xfrm>
            <a:off x="8051599" y="2857429"/>
            <a:ext cx="50799" cy="825479"/>
          </a:xfrm>
          <a:prstGeom prst="roundRect">
            <a:avLst>
              <a:gd name="adj" fmla="val 50000"/>
            </a:avLst>
          </a:prstGeom>
          <a:solidFill>
            <a:srgbClr val="2F5C9A"/>
          </a:solidFill>
          <a:ln/>
        </p:spPr>
      </p:sp>
      <p:sp>
        <p:nvSpPr>
          <p:cNvPr id="39" name="Text 34"/>
          <p:cNvSpPr txBox="1"/>
          <p:nvPr/>
        </p:nvSpPr>
        <p:spPr>
          <a:xfrm>
            <a:off x="8216695" y="2959026"/>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Postgres · auth</a:t>
            </a:r>
            <a:endParaRPr lang="en-US" sz="1300" dirty="0"/>
          </a:p>
        </p:txBody>
      </p:sp>
      <p:sp>
        <p:nvSpPr>
          <p:cNvPr id="40" name="Text 35"/>
          <p:cNvSpPr txBox="1"/>
          <p:nvPr/>
        </p:nvSpPr>
        <p:spPr>
          <a:xfrm>
            <a:off x="8216695" y="3182461"/>
            <a:ext cx="1379694"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users, roles, invites</a:t>
            </a:r>
            <a:endParaRPr lang="en-US" sz="1200" dirty="0"/>
          </a:p>
        </p:txBody>
      </p:sp>
      <p:sp>
        <p:nvSpPr>
          <p:cNvPr id="41" name="Shape 36"/>
          <p:cNvSpPr/>
          <p:nvPr/>
        </p:nvSpPr>
        <p:spPr>
          <a:xfrm>
            <a:off x="8051599" y="4127397"/>
            <a:ext cx="1523962" cy="761981"/>
          </a:xfrm>
          <a:prstGeom prst="roundRect">
            <a:avLst>
              <a:gd name="adj" fmla="val 11667"/>
            </a:avLst>
          </a:prstGeom>
          <a:solidFill>
            <a:srgbClr val="FCFDFF"/>
          </a:solidFill>
          <a:ln w="12700">
            <a:solidFill>
              <a:srgbClr val="2F5C9A"/>
            </a:solidFill>
            <a:prstDash val="solid"/>
          </a:ln>
        </p:spPr>
      </p:sp>
      <p:sp>
        <p:nvSpPr>
          <p:cNvPr id="42" name="Shape 37"/>
          <p:cNvSpPr/>
          <p:nvPr/>
        </p:nvSpPr>
        <p:spPr>
          <a:xfrm>
            <a:off x="8051599" y="4127397"/>
            <a:ext cx="50799" cy="761981"/>
          </a:xfrm>
          <a:prstGeom prst="roundRect">
            <a:avLst>
              <a:gd name="adj" fmla="val 50000"/>
            </a:avLst>
          </a:prstGeom>
          <a:solidFill>
            <a:srgbClr val="2F5C9A"/>
          </a:solidFill>
          <a:ln/>
        </p:spPr>
      </p:sp>
      <p:sp>
        <p:nvSpPr>
          <p:cNvPr id="43" name="Text 38"/>
          <p:cNvSpPr txBox="1"/>
          <p:nvPr/>
        </p:nvSpPr>
        <p:spPr>
          <a:xfrm>
            <a:off x="8216695" y="4228994"/>
            <a:ext cx="137969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Own schema</a:t>
            </a:r>
            <a:endParaRPr lang="en-US" sz="1300" dirty="0"/>
          </a:p>
        </p:txBody>
      </p:sp>
      <p:sp>
        <p:nvSpPr>
          <p:cNvPr id="44" name="Text 39"/>
          <p:cNvSpPr txBox="1"/>
          <p:nvPr/>
        </p:nvSpPr>
        <p:spPr>
          <a:xfrm>
            <a:off x="8216695" y="4452429"/>
            <a:ext cx="1379694"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per service</a:t>
            </a:r>
            <a:endParaRPr lang="en-US" sz="1200" dirty="0"/>
          </a:p>
        </p:txBody>
      </p:sp>
      <p:sp>
        <p:nvSpPr>
          <p:cNvPr id="45" name="Shape 40"/>
          <p:cNvSpPr/>
          <p:nvPr/>
        </p:nvSpPr>
        <p:spPr>
          <a:xfrm>
            <a:off x="9854954" y="1841454"/>
            <a:ext cx="1523962" cy="3492413"/>
          </a:xfrm>
          <a:prstGeom prst="roundRect">
            <a:avLst>
              <a:gd name="adj" fmla="val 5833"/>
            </a:avLst>
          </a:prstGeom>
          <a:solidFill>
            <a:srgbClr val="E3EBFA"/>
          </a:solidFill>
          <a:ln/>
        </p:spPr>
      </p:sp>
      <p:sp>
        <p:nvSpPr>
          <p:cNvPr id="46" name="Shape 41"/>
          <p:cNvSpPr/>
          <p:nvPr/>
        </p:nvSpPr>
        <p:spPr>
          <a:xfrm>
            <a:off x="9969251" y="1955751"/>
            <a:ext cx="330192" cy="330192"/>
          </a:xfrm>
          <a:prstGeom prst="ellipse">
            <a:avLst/>
          </a:prstGeom>
          <a:solidFill>
            <a:srgbClr val="FCFDFF"/>
          </a:solidFill>
          <a:ln/>
        </p:spPr>
      </p:sp>
      <p:pic>
        <p:nvPicPr>
          <p:cNvPr id="47" name="Image 3" descr="preencoded.png">    </p:cNvPr>
          <p:cNvPicPr>
            <a:picLocks noChangeAspect="1"/>
          </p:cNvPicPr>
          <p:nvPr/>
        </p:nvPicPr>
        <p:blipFill>
          <a:blip r:embed="rId4"/>
          <a:stretch>
            <a:fillRect/>
          </a:stretch>
        </p:blipFill>
        <p:spPr>
          <a:xfrm>
            <a:off x="10045449" y="2031949"/>
            <a:ext cx="177796" cy="177796"/>
          </a:xfrm>
          <a:prstGeom prst="rect">
            <a:avLst/>
          </a:prstGeom>
        </p:spPr>
      </p:pic>
      <p:sp>
        <p:nvSpPr>
          <p:cNvPr id="48" name="Text 42"/>
          <p:cNvSpPr txBox="1"/>
          <p:nvPr/>
        </p:nvSpPr>
        <p:spPr>
          <a:xfrm>
            <a:off x="9969251" y="2374841"/>
            <a:ext cx="1450812"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Tokens</a:t>
            </a:r>
            <a:endParaRPr lang="en-US" sz="1300" dirty="0"/>
          </a:p>
        </p:txBody>
      </p:sp>
      <p:sp>
        <p:nvSpPr>
          <p:cNvPr id="49" name="Text 43"/>
          <p:cNvSpPr txBox="1"/>
          <p:nvPr/>
        </p:nvSpPr>
        <p:spPr>
          <a:xfrm>
            <a:off x="9969251" y="2694813"/>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Access JWT, 15 min, HMAC</a:t>
            </a:r>
            <a:endParaRPr lang="en-US" sz="1200" dirty="0"/>
          </a:p>
        </p:txBody>
      </p:sp>
      <p:sp>
        <p:nvSpPr>
          <p:cNvPr id="50" name="Text 44"/>
          <p:cNvSpPr txBox="1"/>
          <p:nvPr/>
        </p:nvSpPr>
        <p:spPr>
          <a:xfrm>
            <a:off x="9969251" y="3195062"/>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opaque, 30 days, rotated</a:t>
            </a:r>
            <a:endParaRPr lang="en-US" sz="1200" dirty="0"/>
          </a:p>
        </p:txBody>
      </p:sp>
      <p:sp>
        <p:nvSpPr>
          <p:cNvPr id="51" name="Text 45"/>
          <p:cNvSpPr txBox="1"/>
          <p:nvPr/>
        </p:nvSpPr>
        <p:spPr>
          <a:xfrm>
            <a:off x="9969251" y="3695310"/>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Replay revokes the whole family</a:t>
            </a:r>
            <a:endParaRPr lang="en-US" sz="1200" dirty="0"/>
          </a:p>
        </p:txBody>
      </p:sp>
      <p:sp>
        <p:nvSpPr>
          <p:cNvPr id="52" name="Text 46"/>
          <p:cNvSpPr txBox="1"/>
          <p:nvPr/>
        </p:nvSpPr>
        <p:spPr>
          <a:xfrm>
            <a:off x="9969251" y="4195558"/>
            <a:ext cx="1450812"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Staff roles by invitation only</a:t>
            </a:r>
            <a:endParaRPr lang="en-US" sz="1200" dirty="0"/>
          </a:p>
        </p:txBody>
      </p:sp>
      <p:sp>
        <p:nvSpPr>
          <p:cNvPr id="53" name="Shape 47"/>
          <p:cNvSpPr/>
          <p:nvPr/>
        </p:nvSpPr>
        <p:spPr>
          <a:xfrm flipV="1">
            <a:off x="1638259" y="2222444"/>
            <a:ext cx="63" cy="317492"/>
          </a:xfrm>
          <a:prstGeom prst="line">
            <a:avLst/>
          </a:prstGeom>
          <a:noFill/>
          <a:ln w="19050">
            <a:solidFill>
              <a:srgbClr val="5C6B8A"/>
            </a:solidFill>
            <a:prstDash val="solid"/>
          </a:ln>
        </p:spPr>
      </p:sp>
      <p:sp>
        <p:nvSpPr>
          <p:cNvPr id="54" name="Shape 48"/>
          <p:cNvSpPr/>
          <p:nvPr/>
        </p:nvSpPr>
        <p:spPr>
          <a:xfrm>
            <a:off x="1638259" y="2222444"/>
            <a:ext cx="1333467" cy="63"/>
          </a:xfrm>
          <a:prstGeom prst="line">
            <a:avLst/>
          </a:prstGeom>
          <a:noFill/>
          <a:ln w="19050">
            <a:solidFill>
              <a:srgbClr val="5C6B8A"/>
            </a:solidFill>
            <a:prstDash val="solid"/>
            <a:tailEnd type="triangle"/>
          </a:ln>
        </p:spPr>
      </p:sp>
      <p:sp>
        <p:nvSpPr>
          <p:cNvPr id="55" name="Shape 49"/>
          <p:cNvSpPr/>
          <p:nvPr/>
        </p:nvSpPr>
        <p:spPr>
          <a:xfrm>
            <a:off x="1638259" y="3809905"/>
            <a:ext cx="63" cy="698483"/>
          </a:xfrm>
          <a:prstGeom prst="line">
            <a:avLst/>
          </a:prstGeom>
          <a:noFill/>
          <a:ln w="19050">
            <a:solidFill>
              <a:srgbClr val="5C6B8A"/>
            </a:solidFill>
            <a:prstDash val="solid"/>
          </a:ln>
        </p:spPr>
      </p:sp>
      <p:sp>
        <p:nvSpPr>
          <p:cNvPr id="56" name="Shape 50"/>
          <p:cNvSpPr/>
          <p:nvPr/>
        </p:nvSpPr>
        <p:spPr>
          <a:xfrm>
            <a:off x="1638259" y="4508387"/>
            <a:ext cx="1333467" cy="63"/>
          </a:xfrm>
          <a:prstGeom prst="line">
            <a:avLst/>
          </a:prstGeom>
          <a:noFill/>
          <a:ln w="19050">
            <a:solidFill>
              <a:srgbClr val="5C6B8A"/>
            </a:solidFill>
            <a:prstDash val="solid"/>
            <a:tailEnd type="triangle"/>
          </a:ln>
        </p:spPr>
      </p:sp>
      <p:sp>
        <p:nvSpPr>
          <p:cNvPr id="57" name="Shape 51"/>
          <p:cNvSpPr/>
          <p:nvPr/>
        </p:nvSpPr>
        <p:spPr>
          <a:xfrm>
            <a:off x="4876678" y="2222444"/>
            <a:ext cx="507987" cy="63"/>
          </a:xfrm>
          <a:prstGeom prst="line">
            <a:avLst/>
          </a:prstGeom>
          <a:noFill/>
          <a:ln w="19050">
            <a:solidFill>
              <a:srgbClr val="5C6B8A"/>
            </a:solidFill>
            <a:prstDash val="solid"/>
            <a:tailEnd type="triangle"/>
          </a:ln>
        </p:spPr>
      </p:sp>
      <p:sp>
        <p:nvSpPr>
          <p:cNvPr id="58" name="Shape 52"/>
          <p:cNvSpPr/>
          <p:nvPr/>
        </p:nvSpPr>
        <p:spPr>
          <a:xfrm>
            <a:off x="4876678" y="4508387"/>
            <a:ext cx="507987" cy="63"/>
          </a:xfrm>
          <a:prstGeom prst="line">
            <a:avLst/>
          </a:prstGeom>
          <a:noFill/>
          <a:ln w="19050">
            <a:solidFill>
              <a:srgbClr val="5C6B8A"/>
            </a:solidFill>
            <a:prstDash val="solid"/>
            <a:tailEnd type="triangle"/>
          </a:ln>
        </p:spPr>
      </p:sp>
      <p:sp>
        <p:nvSpPr>
          <p:cNvPr id="59" name="Shape 53"/>
          <p:cNvSpPr/>
          <p:nvPr/>
        </p:nvSpPr>
        <p:spPr>
          <a:xfrm flipV="1">
            <a:off x="3924202" y="3746406"/>
            <a:ext cx="63" cy="317492"/>
          </a:xfrm>
          <a:prstGeom prst="line">
            <a:avLst/>
          </a:prstGeom>
          <a:noFill/>
          <a:ln w="19050">
            <a:solidFill>
              <a:srgbClr val="2454C5"/>
            </a:solidFill>
            <a:prstDash val="dash"/>
          </a:ln>
        </p:spPr>
      </p:sp>
      <p:sp>
        <p:nvSpPr>
          <p:cNvPr id="60" name="Shape 54"/>
          <p:cNvSpPr/>
          <p:nvPr/>
        </p:nvSpPr>
        <p:spPr>
          <a:xfrm>
            <a:off x="3924202" y="3746406"/>
            <a:ext cx="2539937" cy="63"/>
          </a:xfrm>
          <a:prstGeom prst="line">
            <a:avLst/>
          </a:prstGeom>
          <a:noFill/>
          <a:ln w="19050">
            <a:solidFill>
              <a:srgbClr val="2454C5"/>
            </a:solidFill>
            <a:prstDash val="dash"/>
          </a:ln>
        </p:spPr>
      </p:sp>
      <p:sp>
        <p:nvSpPr>
          <p:cNvPr id="61" name="Shape 55"/>
          <p:cNvSpPr/>
          <p:nvPr/>
        </p:nvSpPr>
        <p:spPr>
          <a:xfrm flipV="1">
            <a:off x="6464138" y="3492413"/>
            <a:ext cx="63" cy="253994"/>
          </a:xfrm>
          <a:prstGeom prst="line">
            <a:avLst/>
          </a:prstGeom>
          <a:noFill/>
          <a:ln w="19050">
            <a:solidFill>
              <a:srgbClr val="2454C5"/>
            </a:solidFill>
            <a:prstDash val="dash"/>
            <a:tailEnd type="triangle"/>
          </a:ln>
        </p:spPr>
      </p:sp>
      <p:sp>
        <p:nvSpPr>
          <p:cNvPr id="62" name="Text 56"/>
          <p:cNvSpPr txBox="1"/>
          <p:nvPr/>
        </p:nvSpPr>
        <p:spPr>
          <a:xfrm>
            <a:off x="4000400" y="3797205"/>
            <a:ext cx="2133547"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alibri" pitchFamily="34" charset="0"/>
                <a:ea typeface="Calibri" pitchFamily="34" charset="-122"/>
                <a:cs typeface="Calibri" pitchFamily="34" charset="-120"/>
              </a:rPr>
              <a:t>introspect, cached 30 s</a:t>
            </a:r>
            <a:endParaRPr lang="en-US" sz="1200" dirty="0"/>
          </a:p>
        </p:txBody>
      </p:sp>
      <p:sp>
        <p:nvSpPr>
          <p:cNvPr id="63" name="Shape 57"/>
          <p:cNvSpPr/>
          <p:nvPr/>
        </p:nvSpPr>
        <p:spPr>
          <a:xfrm>
            <a:off x="7543611" y="2222444"/>
            <a:ext cx="507987" cy="63"/>
          </a:xfrm>
          <a:prstGeom prst="line">
            <a:avLst/>
          </a:prstGeom>
          <a:noFill/>
          <a:ln w="19050">
            <a:solidFill>
              <a:srgbClr val="5C6B8A"/>
            </a:solidFill>
            <a:prstDash val="solid"/>
            <a:headEnd type="triangle"/>
            <a:tailEnd type="triangle"/>
          </a:ln>
        </p:spPr>
      </p:sp>
      <p:sp>
        <p:nvSpPr>
          <p:cNvPr id="64" name="Shape 58"/>
          <p:cNvSpPr/>
          <p:nvPr/>
        </p:nvSpPr>
        <p:spPr>
          <a:xfrm>
            <a:off x="7543611" y="3111422"/>
            <a:ext cx="507987" cy="63"/>
          </a:xfrm>
          <a:prstGeom prst="line">
            <a:avLst/>
          </a:prstGeom>
          <a:noFill/>
          <a:ln w="19050">
            <a:solidFill>
              <a:srgbClr val="5C6B8A"/>
            </a:solidFill>
            <a:prstDash val="solid"/>
            <a:headEnd type="triangle"/>
            <a:tailEnd type="triangle"/>
          </a:ln>
        </p:spPr>
      </p:sp>
      <p:sp>
        <p:nvSpPr>
          <p:cNvPr id="65" name="Shape 59"/>
          <p:cNvSpPr/>
          <p:nvPr/>
        </p:nvSpPr>
        <p:spPr>
          <a:xfrm>
            <a:off x="7543611" y="4508387"/>
            <a:ext cx="507987" cy="63"/>
          </a:xfrm>
          <a:prstGeom prst="line">
            <a:avLst/>
          </a:prstGeom>
          <a:noFill/>
          <a:ln w="19050">
            <a:solidFill>
              <a:srgbClr val="5C6B8A"/>
            </a:solidFill>
            <a:prstDash val="solid"/>
            <a:headEnd type="triangle"/>
            <a:tailEnd type="triangle"/>
          </a:ln>
        </p:spPr>
      </p:sp>
      <p:sp>
        <p:nvSpPr>
          <p:cNvPr id="66" name="Text 6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67" name="Text 6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BOOKING AND DISPATCH</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Several providers get each offer; the first accept wins</a:t>
            </a:r>
            <a:endParaRPr lang="en-US" sz="3000" dirty="0"/>
          </a:p>
        </p:txBody>
      </p:sp>
      <p:sp>
        <p:nvSpPr>
          <p:cNvPr id="4" name="Shape 2"/>
          <p:cNvSpPr/>
          <p:nvPr/>
        </p:nvSpPr>
        <p:spPr>
          <a:xfrm>
            <a:off x="812780" y="1904952"/>
            <a:ext cx="2184345" cy="888978"/>
          </a:xfrm>
          <a:prstGeom prst="roundRect">
            <a:avLst>
              <a:gd name="adj" fmla="val 10000"/>
            </a:avLst>
          </a:prstGeom>
          <a:solidFill>
            <a:srgbClr val="FCFDFF"/>
          </a:solidFill>
          <a:ln w="12700">
            <a:solidFill>
              <a:srgbClr val="2454C5"/>
            </a:solidFill>
            <a:prstDash val="solid"/>
          </a:ln>
        </p:spPr>
      </p:sp>
      <p:sp>
        <p:nvSpPr>
          <p:cNvPr id="5" name="Shape 3"/>
          <p:cNvSpPr/>
          <p:nvPr/>
        </p:nvSpPr>
        <p:spPr>
          <a:xfrm>
            <a:off x="812780" y="1904952"/>
            <a:ext cx="50799" cy="888978"/>
          </a:xfrm>
          <a:prstGeom prst="roundRect">
            <a:avLst>
              <a:gd name="adj" fmla="val 50000"/>
            </a:avLst>
          </a:prstGeom>
          <a:solidFill>
            <a:srgbClr val="2454C5"/>
          </a:solidFill>
          <a:ln/>
        </p:spPr>
      </p:sp>
      <p:pic>
        <p:nvPicPr>
          <p:cNvPr id="6" name="Image 0" descr="preencoded.png">    </p:cNvPr>
          <p:cNvPicPr>
            <a:picLocks noChangeAspect="1"/>
          </p:cNvPicPr>
          <p:nvPr/>
        </p:nvPicPr>
        <p:blipFill>
          <a:blip r:embed="rId1"/>
          <a:stretch>
            <a:fillRect/>
          </a:stretch>
        </p:blipFill>
        <p:spPr>
          <a:xfrm>
            <a:off x="977876" y="2010320"/>
            <a:ext cx="190495" cy="190495"/>
          </a:xfrm>
          <a:prstGeom prst="rect">
            <a:avLst/>
          </a:prstGeom>
        </p:spPr>
      </p:pic>
      <p:sp>
        <p:nvSpPr>
          <p:cNvPr id="7" name="Text 4"/>
          <p:cNvSpPr txBox="1"/>
          <p:nvPr/>
        </p:nvSpPr>
        <p:spPr>
          <a:xfrm>
            <a:off x="1231869" y="2006550"/>
            <a:ext cx="119378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8" name="Text 5"/>
          <p:cNvSpPr txBox="1"/>
          <p:nvPr/>
        </p:nvSpPr>
        <p:spPr>
          <a:xfrm>
            <a:off x="97787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 and confirm</a:t>
            </a:r>
            <a:endParaRPr lang="en-US" sz="1200" dirty="0"/>
          </a:p>
        </p:txBody>
      </p:sp>
      <p:sp>
        <p:nvSpPr>
          <p:cNvPr id="9" name="Shape 6"/>
          <p:cNvSpPr/>
          <p:nvPr/>
        </p:nvSpPr>
        <p:spPr>
          <a:xfrm>
            <a:off x="3606710" y="1904952"/>
            <a:ext cx="2184345" cy="2539937"/>
          </a:xfrm>
          <a:prstGeom prst="roundRect">
            <a:avLst>
              <a:gd name="adj" fmla="val 4070"/>
            </a:avLst>
          </a:prstGeom>
          <a:solidFill>
            <a:srgbClr val="FCFDFF"/>
          </a:solidFill>
          <a:ln w="12700">
            <a:solidFill>
              <a:srgbClr val="3F5F95"/>
            </a:solidFill>
            <a:prstDash val="solid"/>
          </a:ln>
        </p:spPr>
      </p:sp>
      <p:sp>
        <p:nvSpPr>
          <p:cNvPr id="10" name="Shape 7"/>
          <p:cNvSpPr/>
          <p:nvPr/>
        </p:nvSpPr>
        <p:spPr>
          <a:xfrm>
            <a:off x="3606710" y="1904952"/>
            <a:ext cx="50799" cy="2539937"/>
          </a:xfrm>
          <a:prstGeom prst="roundRect">
            <a:avLst>
              <a:gd name="adj" fmla="val 50000"/>
            </a:avLst>
          </a:prstGeom>
          <a:solidFill>
            <a:srgbClr val="3F5F95"/>
          </a:solidFill>
          <a:ln/>
        </p:spPr>
      </p:sp>
      <p:pic>
        <p:nvPicPr>
          <p:cNvPr id="11" name="Image 1" descr="preencoded.png">    </p:cNvPr>
          <p:cNvPicPr>
            <a:picLocks noChangeAspect="1"/>
          </p:cNvPicPr>
          <p:nvPr/>
        </p:nvPicPr>
        <p:blipFill>
          <a:blip r:embed="rId2"/>
          <a:stretch>
            <a:fillRect/>
          </a:stretch>
        </p:blipFill>
        <p:spPr>
          <a:xfrm>
            <a:off x="3771806" y="2010320"/>
            <a:ext cx="190495" cy="190495"/>
          </a:xfrm>
          <a:prstGeom prst="rect">
            <a:avLst/>
          </a:prstGeom>
        </p:spPr>
      </p:pic>
      <p:sp>
        <p:nvSpPr>
          <p:cNvPr id="12" name="Text 8"/>
          <p:cNvSpPr txBox="1"/>
          <p:nvPr/>
        </p:nvSpPr>
        <p:spPr>
          <a:xfrm>
            <a:off x="4025799" y="2006550"/>
            <a:ext cx="104588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3" name="Text 9"/>
          <p:cNvSpPr txBox="1"/>
          <p:nvPr/>
        </p:nvSpPr>
        <p:spPr>
          <a:xfrm>
            <a:off x="377180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check</a:t>
            </a:r>
            <a:endParaRPr lang="en-US" sz="1200" dirty="0"/>
          </a:p>
        </p:txBody>
      </p:sp>
      <p:sp>
        <p:nvSpPr>
          <p:cNvPr id="14" name="Text 10"/>
          <p:cNvSpPr txBox="1"/>
          <p:nvPr/>
        </p:nvSpPr>
        <p:spPr>
          <a:xfrm>
            <a:off x="3771806" y="246106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rate limits</a:t>
            </a:r>
            <a:endParaRPr lang="en-US" sz="1200" dirty="0"/>
          </a:p>
        </p:txBody>
      </p:sp>
      <p:sp>
        <p:nvSpPr>
          <p:cNvPr id="15" name="Text 11"/>
          <p:cNvSpPr txBox="1"/>
          <p:nvPr/>
        </p:nvSpPr>
        <p:spPr>
          <a:xfrm>
            <a:off x="3771806" y="269213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routes both apps</a:t>
            </a:r>
            <a:endParaRPr lang="en-US" sz="1200" dirty="0"/>
          </a:p>
        </p:txBody>
      </p:sp>
      <p:sp>
        <p:nvSpPr>
          <p:cNvPr id="16" name="Shape 12"/>
          <p:cNvSpPr/>
          <p:nvPr/>
        </p:nvSpPr>
        <p:spPr>
          <a:xfrm>
            <a:off x="6400640" y="1904952"/>
            <a:ext cx="2184345" cy="888978"/>
          </a:xfrm>
          <a:prstGeom prst="roundRect">
            <a:avLst>
              <a:gd name="adj" fmla="val 10000"/>
            </a:avLst>
          </a:prstGeom>
          <a:solidFill>
            <a:srgbClr val="FCFDFF"/>
          </a:solidFill>
          <a:ln w="12700">
            <a:solidFill>
              <a:srgbClr val="0B7F74"/>
            </a:solidFill>
            <a:prstDash val="solid"/>
          </a:ln>
        </p:spPr>
      </p:sp>
      <p:sp>
        <p:nvSpPr>
          <p:cNvPr id="17" name="Shape 13"/>
          <p:cNvSpPr/>
          <p:nvPr/>
        </p:nvSpPr>
        <p:spPr>
          <a:xfrm>
            <a:off x="6400640" y="1904952"/>
            <a:ext cx="50799" cy="888978"/>
          </a:xfrm>
          <a:prstGeom prst="roundRect">
            <a:avLst>
              <a:gd name="adj" fmla="val 50000"/>
            </a:avLst>
          </a:prstGeom>
          <a:solidFill>
            <a:srgbClr val="0B7F74"/>
          </a:solidFill>
          <a:ln/>
        </p:spPr>
      </p:sp>
      <p:pic>
        <p:nvPicPr>
          <p:cNvPr id="18" name="Image 2" descr="preencoded.png">    </p:cNvPr>
          <p:cNvPicPr>
            <a:picLocks noChangeAspect="1"/>
          </p:cNvPicPr>
          <p:nvPr/>
        </p:nvPicPr>
        <p:blipFill>
          <a:blip r:embed="rId3"/>
          <a:stretch>
            <a:fillRect/>
          </a:stretch>
        </p:blipFill>
        <p:spPr>
          <a:xfrm>
            <a:off x="6565736" y="2010320"/>
            <a:ext cx="190495" cy="190495"/>
          </a:xfrm>
          <a:prstGeom prst="rect">
            <a:avLst/>
          </a:prstGeom>
        </p:spPr>
      </p:pic>
      <p:sp>
        <p:nvSpPr>
          <p:cNvPr id="19" name="Text 14"/>
          <p:cNvSpPr txBox="1"/>
          <p:nvPr/>
        </p:nvSpPr>
        <p:spPr>
          <a:xfrm>
            <a:off x="6819730" y="2006550"/>
            <a:ext cx="136747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20" name="Text 15"/>
          <p:cNvSpPr txBox="1"/>
          <p:nvPr/>
        </p:nvSpPr>
        <p:spPr>
          <a:xfrm>
            <a:off x="656573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validates, prices, saves</a:t>
            </a:r>
            <a:endParaRPr lang="en-US" sz="1200" dirty="0"/>
          </a:p>
        </p:txBody>
      </p:sp>
      <p:sp>
        <p:nvSpPr>
          <p:cNvPr id="21" name="Shape 16"/>
          <p:cNvSpPr/>
          <p:nvPr/>
        </p:nvSpPr>
        <p:spPr>
          <a:xfrm>
            <a:off x="9194570" y="1904952"/>
            <a:ext cx="2184345" cy="888978"/>
          </a:xfrm>
          <a:prstGeom prst="roundRect">
            <a:avLst>
              <a:gd name="adj" fmla="val 10000"/>
            </a:avLst>
          </a:prstGeom>
          <a:solidFill>
            <a:srgbClr val="FCFDFF"/>
          </a:solidFill>
          <a:ln w="12700">
            <a:solidFill>
              <a:srgbClr val="4B4B9A"/>
            </a:solidFill>
            <a:prstDash val="solid"/>
          </a:ln>
        </p:spPr>
      </p:sp>
      <p:sp>
        <p:nvSpPr>
          <p:cNvPr id="22" name="Shape 17"/>
          <p:cNvSpPr/>
          <p:nvPr/>
        </p:nvSpPr>
        <p:spPr>
          <a:xfrm>
            <a:off x="9194570" y="1904952"/>
            <a:ext cx="50799" cy="888978"/>
          </a:xfrm>
          <a:prstGeom prst="roundRect">
            <a:avLst>
              <a:gd name="adj" fmla="val 50000"/>
            </a:avLst>
          </a:prstGeom>
          <a:solidFill>
            <a:srgbClr val="4B4B9A"/>
          </a:solidFill>
          <a:ln/>
        </p:spPr>
      </p:sp>
      <p:pic>
        <p:nvPicPr>
          <p:cNvPr id="23" name="Image 3" descr="preencoded.png">    </p:cNvPr>
          <p:cNvPicPr>
            <a:picLocks noChangeAspect="1"/>
          </p:cNvPicPr>
          <p:nvPr/>
        </p:nvPicPr>
        <p:blipFill>
          <a:blip r:embed="rId4"/>
          <a:stretch>
            <a:fillRect/>
          </a:stretch>
        </p:blipFill>
        <p:spPr>
          <a:xfrm>
            <a:off x="9359666" y="2010320"/>
            <a:ext cx="190495" cy="190495"/>
          </a:xfrm>
          <a:prstGeom prst="rect">
            <a:avLst/>
          </a:prstGeom>
        </p:spPr>
      </p:pic>
      <p:sp>
        <p:nvSpPr>
          <p:cNvPr id="24" name="Text 18"/>
          <p:cNvSpPr txBox="1"/>
          <p:nvPr/>
        </p:nvSpPr>
        <p:spPr>
          <a:xfrm>
            <a:off x="9613660" y="2006550"/>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25" name="Text 19"/>
          <p:cNvSpPr txBox="1"/>
          <p:nvPr/>
        </p:nvSpPr>
        <p:spPr>
          <a:xfrm>
            <a:off x="935966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BookingCreated via outbox</a:t>
            </a:r>
            <a:endParaRPr lang="en-US" sz="1200" dirty="0"/>
          </a:p>
        </p:txBody>
      </p:sp>
      <p:sp>
        <p:nvSpPr>
          <p:cNvPr id="26" name="Shape 20"/>
          <p:cNvSpPr/>
          <p:nvPr/>
        </p:nvSpPr>
        <p:spPr>
          <a:xfrm>
            <a:off x="812780" y="3555911"/>
            <a:ext cx="2184345" cy="888978"/>
          </a:xfrm>
          <a:prstGeom prst="roundRect">
            <a:avLst>
              <a:gd name="adj" fmla="val 10000"/>
            </a:avLst>
          </a:prstGeom>
          <a:solidFill>
            <a:srgbClr val="FCFDFF"/>
          </a:solidFill>
          <a:ln w="12700">
            <a:solidFill>
              <a:srgbClr val="0B7F74"/>
            </a:solidFill>
            <a:prstDash val="solid"/>
          </a:ln>
        </p:spPr>
      </p:sp>
      <p:sp>
        <p:nvSpPr>
          <p:cNvPr id="27" name="Shape 21"/>
          <p:cNvSpPr/>
          <p:nvPr/>
        </p:nvSpPr>
        <p:spPr>
          <a:xfrm>
            <a:off x="812780" y="3555911"/>
            <a:ext cx="50799" cy="888978"/>
          </a:xfrm>
          <a:prstGeom prst="roundRect">
            <a:avLst>
              <a:gd name="adj" fmla="val 50000"/>
            </a:avLst>
          </a:prstGeom>
          <a:solidFill>
            <a:srgbClr val="0B7F74"/>
          </a:solidFill>
          <a:ln/>
        </p:spPr>
      </p:sp>
      <p:pic>
        <p:nvPicPr>
          <p:cNvPr id="28" name="Image 4" descr="preencoded.png">    </p:cNvPr>
          <p:cNvPicPr>
            <a:picLocks noChangeAspect="1"/>
          </p:cNvPicPr>
          <p:nvPr/>
        </p:nvPicPr>
        <p:blipFill>
          <a:blip r:embed="rId5"/>
          <a:stretch>
            <a:fillRect/>
          </a:stretch>
        </p:blipFill>
        <p:spPr>
          <a:xfrm>
            <a:off x="977876" y="3661279"/>
            <a:ext cx="190495" cy="190495"/>
          </a:xfrm>
          <a:prstGeom prst="rect">
            <a:avLst/>
          </a:prstGeom>
        </p:spPr>
      </p:pic>
      <p:sp>
        <p:nvSpPr>
          <p:cNvPr id="29" name="Text 22"/>
          <p:cNvSpPr txBox="1"/>
          <p:nvPr/>
        </p:nvSpPr>
        <p:spPr>
          <a:xfrm>
            <a:off x="1231869" y="3657509"/>
            <a:ext cx="1112889"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Provider app</a:t>
            </a:r>
            <a:endParaRPr lang="en-US" sz="1300" dirty="0"/>
          </a:p>
        </p:txBody>
      </p:sp>
      <p:sp>
        <p:nvSpPr>
          <p:cNvPr id="30" name="Text 23"/>
          <p:cNvSpPr txBox="1"/>
          <p:nvPr/>
        </p:nvSpPr>
        <p:spPr>
          <a:xfrm>
            <a:off x="97787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polls every 5 s, accepts</a:t>
            </a:r>
            <a:endParaRPr lang="en-US" sz="1200" dirty="0"/>
          </a:p>
        </p:txBody>
      </p:sp>
      <p:sp>
        <p:nvSpPr>
          <p:cNvPr id="31" name="Shape 24"/>
          <p:cNvSpPr/>
          <p:nvPr/>
        </p:nvSpPr>
        <p:spPr>
          <a:xfrm>
            <a:off x="6400640" y="3555911"/>
            <a:ext cx="2184345" cy="888978"/>
          </a:xfrm>
          <a:prstGeom prst="roundRect">
            <a:avLst>
              <a:gd name="adj" fmla="val 10000"/>
            </a:avLst>
          </a:prstGeom>
          <a:solidFill>
            <a:srgbClr val="FCFDFF"/>
          </a:solidFill>
          <a:ln w="12700">
            <a:solidFill>
              <a:srgbClr val="0B7F74"/>
            </a:solidFill>
            <a:prstDash val="solid"/>
          </a:ln>
        </p:spPr>
      </p:sp>
      <p:sp>
        <p:nvSpPr>
          <p:cNvPr id="32" name="Shape 25"/>
          <p:cNvSpPr/>
          <p:nvPr/>
        </p:nvSpPr>
        <p:spPr>
          <a:xfrm>
            <a:off x="6400640" y="3555911"/>
            <a:ext cx="50799" cy="888978"/>
          </a:xfrm>
          <a:prstGeom prst="roundRect">
            <a:avLst>
              <a:gd name="adj" fmla="val 50000"/>
            </a:avLst>
          </a:prstGeom>
          <a:solidFill>
            <a:srgbClr val="0B7F74"/>
          </a:solidFill>
          <a:ln/>
        </p:spPr>
      </p:sp>
      <p:pic>
        <p:nvPicPr>
          <p:cNvPr id="33" name="Image 5" descr="preencoded.png">    </p:cNvPr>
          <p:cNvPicPr>
            <a:picLocks noChangeAspect="1"/>
          </p:cNvPicPr>
          <p:nvPr/>
        </p:nvPicPr>
        <p:blipFill>
          <a:blip r:embed="rId6"/>
          <a:stretch>
            <a:fillRect/>
          </a:stretch>
        </p:blipFill>
        <p:spPr>
          <a:xfrm>
            <a:off x="6565736" y="3661279"/>
            <a:ext cx="190495" cy="190495"/>
          </a:xfrm>
          <a:prstGeom prst="rect">
            <a:avLst/>
          </a:prstGeom>
        </p:spPr>
      </p:pic>
      <p:sp>
        <p:nvSpPr>
          <p:cNvPr id="34" name="Text 26"/>
          <p:cNvSpPr txBox="1"/>
          <p:nvPr/>
        </p:nvSpPr>
        <p:spPr>
          <a:xfrm>
            <a:off x="6819730" y="3657509"/>
            <a:ext cx="137269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dispatch-engine</a:t>
            </a:r>
            <a:endParaRPr lang="en-US" sz="1300" dirty="0"/>
          </a:p>
        </p:txBody>
      </p:sp>
      <p:sp>
        <p:nvSpPr>
          <p:cNvPr id="35" name="Text 27"/>
          <p:cNvSpPr txBox="1"/>
          <p:nvPr/>
        </p:nvSpPr>
        <p:spPr>
          <a:xfrm>
            <a:off x="656573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top 3 offered at once</a:t>
            </a:r>
            <a:endParaRPr lang="en-US" sz="1200" dirty="0"/>
          </a:p>
        </p:txBody>
      </p:sp>
      <p:sp>
        <p:nvSpPr>
          <p:cNvPr id="36" name="Shape 28"/>
          <p:cNvSpPr/>
          <p:nvPr/>
        </p:nvSpPr>
        <p:spPr>
          <a:xfrm>
            <a:off x="9194570" y="3555911"/>
            <a:ext cx="2184345" cy="888978"/>
          </a:xfrm>
          <a:prstGeom prst="roundRect">
            <a:avLst>
              <a:gd name="adj" fmla="val 10000"/>
            </a:avLst>
          </a:prstGeom>
          <a:solidFill>
            <a:srgbClr val="FCFDFF"/>
          </a:solidFill>
          <a:ln w="12700">
            <a:solidFill>
              <a:srgbClr val="C0352B"/>
            </a:solidFill>
            <a:prstDash val="solid"/>
          </a:ln>
        </p:spPr>
      </p:sp>
      <p:sp>
        <p:nvSpPr>
          <p:cNvPr id="37" name="Shape 29"/>
          <p:cNvSpPr/>
          <p:nvPr/>
        </p:nvSpPr>
        <p:spPr>
          <a:xfrm>
            <a:off x="9194570" y="3555911"/>
            <a:ext cx="50799" cy="888978"/>
          </a:xfrm>
          <a:prstGeom prst="roundRect">
            <a:avLst>
              <a:gd name="adj" fmla="val 50000"/>
            </a:avLst>
          </a:prstGeom>
          <a:solidFill>
            <a:srgbClr val="C0352B"/>
          </a:solidFill>
          <a:ln/>
        </p:spPr>
      </p:sp>
      <p:pic>
        <p:nvPicPr>
          <p:cNvPr id="38" name="Image 6" descr="preencoded.png">    </p:cNvPr>
          <p:cNvPicPr>
            <a:picLocks noChangeAspect="1"/>
          </p:cNvPicPr>
          <p:nvPr/>
        </p:nvPicPr>
        <p:blipFill>
          <a:blip r:embed="rId7"/>
          <a:stretch>
            <a:fillRect/>
          </a:stretch>
        </p:blipFill>
        <p:spPr>
          <a:xfrm>
            <a:off x="9359666" y="3661279"/>
            <a:ext cx="190495" cy="190495"/>
          </a:xfrm>
          <a:prstGeom prst="rect">
            <a:avLst/>
          </a:prstGeom>
        </p:spPr>
      </p:pic>
      <p:sp>
        <p:nvSpPr>
          <p:cNvPr id="39" name="Text 30"/>
          <p:cNvSpPr txBox="1"/>
          <p:nvPr/>
        </p:nvSpPr>
        <p:spPr>
          <a:xfrm>
            <a:off x="9613660" y="3657509"/>
            <a:ext cx="48814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40" name="Text 31"/>
          <p:cNvSpPr txBox="1"/>
          <p:nvPr/>
        </p:nvSpPr>
        <p:spPr>
          <a:xfrm>
            <a:off x="9359666" y="388094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one offer round per booking</a:t>
            </a:r>
            <a:endParaRPr lang="en-US" sz="1200" dirty="0"/>
          </a:p>
        </p:txBody>
      </p:sp>
      <p:sp>
        <p:nvSpPr>
          <p:cNvPr id="41" name="Shape 32"/>
          <p:cNvSpPr/>
          <p:nvPr/>
        </p:nvSpPr>
        <p:spPr>
          <a:xfrm>
            <a:off x="812780" y="4952876"/>
            <a:ext cx="4978276" cy="698483"/>
          </a:xfrm>
          <a:prstGeom prst="roundRect">
            <a:avLst>
              <a:gd name="adj" fmla="val 12727"/>
            </a:avLst>
          </a:prstGeom>
          <a:solidFill>
            <a:srgbClr val="DDF2EF"/>
          </a:solidFill>
          <a:ln/>
        </p:spPr>
      </p:sp>
      <p:pic>
        <p:nvPicPr>
          <p:cNvPr id="42" name="Image 7" descr="preencoded.png">    </p:cNvPr>
          <p:cNvPicPr>
            <a:picLocks noChangeAspect="1"/>
          </p:cNvPicPr>
          <p:nvPr/>
        </p:nvPicPr>
        <p:blipFill>
          <a:blip r:embed="rId8"/>
          <a:stretch>
            <a:fillRect/>
          </a:stretch>
        </p:blipFill>
        <p:spPr>
          <a:xfrm>
            <a:off x="952476" y="5187820"/>
            <a:ext cx="228594" cy="228594"/>
          </a:xfrm>
          <a:prstGeom prst="rect">
            <a:avLst/>
          </a:prstGeom>
        </p:spPr>
      </p:pic>
      <p:sp>
        <p:nvSpPr>
          <p:cNvPr id="43" name="Text 33"/>
          <p:cNvSpPr txBox="1"/>
          <p:nvPr/>
        </p:nvSpPr>
        <p:spPr>
          <a:xfrm>
            <a:off x="1282668" y="5096442"/>
            <a:ext cx="4892934"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Score = distance + rating + acceptance rate + idle time; the weights sum to 1</a:t>
            </a:r>
            <a:endParaRPr lang="en-US" sz="1200" dirty="0"/>
          </a:p>
        </p:txBody>
      </p:sp>
      <p:sp>
        <p:nvSpPr>
          <p:cNvPr id="44" name="Shape 34"/>
          <p:cNvSpPr/>
          <p:nvPr/>
        </p:nvSpPr>
        <p:spPr>
          <a:xfrm>
            <a:off x="6400640" y="4952876"/>
            <a:ext cx="2184345" cy="698483"/>
          </a:xfrm>
          <a:prstGeom prst="roundRect">
            <a:avLst>
              <a:gd name="adj" fmla="val 12727"/>
            </a:avLst>
          </a:prstGeom>
          <a:solidFill>
            <a:srgbClr val="FCFDFF"/>
          </a:solidFill>
          <a:ln w="12700">
            <a:solidFill>
              <a:srgbClr val="2454C5"/>
            </a:solidFill>
            <a:prstDash val="solid"/>
          </a:ln>
        </p:spPr>
      </p:sp>
      <p:sp>
        <p:nvSpPr>
          <p:cNvPr id="45" name="Shape 35"/>
          <p:cNvSpPr/>
          <p:nvPr/>
        </p:nvSpPr>
        <p:spPr>
          <a:xfrm>
            <a:off x="6400640" y="4952876"/>
            <a:ext cx="50799" cy="698483"/>
          </a:xfrm>
          <a:prstGeom prst="roundRect">
            <a:avLst>
              <a:gd name="adj" fmla="val 50000"/>
            </a:avLst>
          </a:prstGeom>
          <a:solidFill>
            <a:srgbClr val="2454C5"/>
          </a:solidFill>
          <a:ln/>
        </p:spPr>
      </p:sp>
      <p:sp>
        <p:nvSpPr>
          <p:cNvPr id="46" name="Text 36"/>
          <p:cNvSpPr txBox="1"/>
          <p:nvPr/>
        </p:nvSpPr>
        <p:spPr>
          <a:xfrm>
            <a:off x="6565736" y="5029074"/>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Supply data</a:t>
            </a:r>
            <a:endParaRPr lang="en-US" sz="1300" dirty="0"/>
          </a:p>
        </p:txBody>
      </p:sp>
      <p:sp>
        <p:nvSpPr>
          <p:cNvPr id="47" name="Text 37"/>
          <p:cNvSpPr txBox="1"/>
          <p:nvPr/>
        </p:nvSpPr>
        <p:spPr>
          <a:xfrm>
            <a:off x="6565736" y="52525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providers, addresses</a:t>
            </a:r>
            <a:endParaRPr lang="en-US" sz="1200" dirty="0"/>
          </a:p>
        </p:txBody>
      </p:sp>
      <p:sp>
        <p:nvSpPr>
          <p:cNvPr id="48" name="Shape 38"/>
          <p:cNvSpPr/>
          <p:nvPr/>
        </p:nvSpPr>
        <p:spPr>
          <a:xfrm>
            <a:off x="9194570" y="4952876"/>
            <a:ext cx="2184345" cy="698483"/>
          </a:xfrm>
          <a:prstGeom prst="roundRect">
            <a:avLst>
              <a:gd name="adj" fmla="val 12727"/>
            </a:avLst>
          </a:prstGeom>
          <a:solidFill>
            <a:srgbClr val="FCEBDD"/>
          </a:solidFill>
          <a:ln w="12700">
            <a:solidFill>
              <a:srgbClr val="B4530F"/>
            </a:solidFill>
            <a:prstDash val="dash"/>
          </a:ln>
        </p:spPr>
      </p:sp>
      <p:sp>
        <p:nvSpPr>
          <p:cNvPr id="49" name="Shape 39"/>
          <p:cNvSpPr/>
          <p:nvPr/>
        </p:nvSpPr>
        <p:spPr>
          <a:xfrm>
            <a:off x="9194570" y="4952876"/>
            <a:ext cx="50799" cy="698483"/>
          </a:xfrm>
          <a:prstGeom prst="roundRect">
            <a:avLst>
              <a:gd name="adj" fmla="val 50000"/>
            </a:avLst>
          </a:prstGeom>
          <a:solidFill>
            <a:srgbClr val="B4530F"/>
          </a:solidFill>
          <a:ln/>
        </p:spPr>
      </p:sp>
      <p:sp>
        <p:nvSpPr>
          <p:cNvPr id="50" name="Text 40"/>
          <p:cNvSpPr txBox="1"/>
          <p:nvPr/>
        </p:nvSpPr>
        <p:spPr>
          <a:xfrm>
            <a:off x="9359666" y="5029074"/>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No taker in 5 min?</a:t>
            </a:r>
            <a:endParaRPr lang="en-US" sz="1300" dirty="0"/>
          </a:p>
        </p:txBody>
      </p:sp>
      <p:sp>
        <p:nvSpPr>
          <p:cNvPr id="51" name="Text 41"/>
          <p:cNvSpPr txBox="1"/>
          <p:nvPr/>
        </p:nvSpPr>
        <p:spPr>
          <a:xfrm>
            <a:off x="9359666" y="52525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B4530F"/>
                </a:solidFill>
                <a:latin typeface="Calibri" pitchFamily="34" charset="0"/>
                <a:ea typeface="Calibri" pitchFamily="34" charset="-122"/>
                <a:cs typeface="Calibri" pitchFamily="34" charset="-120"/>
              </a:rPr>
              <a:t>agency, else FAILED</a:t>
            </a:r>
            <a:endParaRPr lang="en-US" sz="1200" dirty="0"/>
          </a:p>
        </p:txBody>
      </p:sp>
      <p:sp>
        <p:nvSpPr>
          <p:cNvPr id="52" name="Shape 42"/>
          <p:cNvSpPr/>
          <p:nvPr/>
        </p:nvSpPr>
        <p:spPr>
          <a:xfrm>
            <a:off x="2997125" y="2349441"/>
            <a:ext cx="609585" cy="63"/>
          </a:xfrm>
          <a:prstGeom prst="line">
            <a:avLst/>
          </a:prstGeom>
          <a:noFill/>
          <a:ln w="19050">
            <a:solidFill>
              <a:srgbClr val="5C6B8A"/>
            </a:solidFill>
            <a:prstDash val="solid"/>
            <a:tailEnd type="triangle"/>
          </a:ln>
        </p:spPr>
      </p:sp>
      <p:sp>
        <p:nvSpPr>
          <p:cNvPr id="53" name="Shape 43"/>
          <p:cNvSpPr/>
          <p:nvPr/>
        </p:nvSpPr>
        <p:spPr>
          <a:xfrm>
            <a:off x="5791055" y="2349441"/>
            <a:ext cx="609585" cy="63"/>
          </a:xfrm>
          <a:prstGeom prst="line">
            <a:avLst/>
          </a:prstGeom>
          <a:noFill/>
          <a:ln w="19050">
            <a:solidFill>
              <a:srgbClr val="5C6B8A"/>
            </a:solidFill>
            <a:prstDash val="solid"/>
            <a:tailEnd type="triangle"/>
          </a:ln>
        </p:spPr>
      </p:sp>
      <p:sp>
        <p:nvSpPr>
          <p:cNvPr id="54" name="Shape 44"/>
          <p:cNvSpPr/>
          <p:nvPr/>
        </p:nvSpPr>
        <p:spPr>
          <a:xfrm>
            <a:off x="8584985" y="2349441"/>
            <a:ext cx="609585" cy="63"/>
          </a:xfrm>
          <a:prstGeom prst="line">
            <a:avLst/>
          </a:prstGeom>
          <a:noFill/>
          <a:ln w="19050">
            <a:solidFill>
              <a:srgbClr val="5C6B8A"/>
            </a:solidFill>
            <a:prstDash val="solid"/>
            <a:tailEnd type="triangle"/>
          </a:ln>
        </p:spPr>
      </p:sp>
      <p:sp>
        <p:nvSpPr>
          <p:cNvPr id="55" name="Shape 45"/>
          <p:cNvSpPr/>
          <p:nvPr/>
        </p:nvSpPr>
        <p:spPr>
          <a:xfrm>
            <a:off x="10286743" y="2793930"/>
            <a:ext cx="63" cy="380990"/>
          </a:xfrm>
          <a:prstGeom prst="line">
            <a:avLst/>
          </a:prstGeom>
          <a:noFill/>
          <a:ln w="19050">
            <a:solidFill>
              <a:srgbClr val="4B4B9A"/>
            </a:solidFill>
            <a:prstDash val="solid"/>
          </a:ln>
        </p:spPr>
      </p:sp>
      <p:sp>
        <p:nvSpPr>
          <p:cNvPr id="56" name="Shape 46"/>
          <p:cNvSpPr/>
          <p:nvPr/>
        </p:nvSpPr>
        <p:spPr>
          <a:xfrm flipH="1">
            <a:off x="8000800" y="3174921"/>
            <a:ext cx="2285943" cy="63"/>
          </a:xfrm>
          <a:prstGeom prst="line">
            <a:avLst/>
          </a:prstGeom>
          <a:noFill/>
          <a:ln w="19050">
            <a:solidFill>
              <a:srgbClr val="4B4B9A"/>
            </a:solidFill>
            <a:prstDash val="solid"/>
          </a:ln>
        </p:spPr>
      </p:sp>
      <p:sp>
        <p:nvSpPr>
          <p:cNvPr id="57" name="Shape 47"/>
          <p:cNvSpPr/>
          <p:nvPr/>
        </p:nvSpPr>
        <p:spPr>
          <a:xfrm>
            <a:off x="8000800" y="3174921"/>
            <a:ext cx="63" cy="380990"/>
          </a:xfrm>
          <a:prstGeom prst="line">
            <a:avLst/>
          </a:prstGeom>
          <a:noFill/>
          <a:ln w="19050">
            <a:solidFill>
              <a:srgbClr val="4B4B9A"/>
            </a:solidFill>
            <a:prstDash val="solid"/>
            <a:tailEnd type="triangle"/>
          </a:ln>
        </p:spPr>
      </p:sp>
      <p:sp>
        <p:nvSpPr>
          <p:cNvPr id="58" name="Text 48"/>
          <p:cNvSpPr txBox="1"/>
          <p:nvPr/>
        </p:nvSpPr>
        <p:spPr>
          <a:xfrm>
            <a:off x="8191295" y="3225719"/>
            <a:ext cx="1849074" cy="213355"/>
          </a:xfrm>
          <a:prstGeom prst="rect">
            <a:avLst/>
          </a:prstGeom>
          <a:noFill/>
          <a:ln/>
        </p:spPr>
        <p:txBody>
          <a:bodyPr wrap="square" lIns="0" tIns="0" rIns="0" bIns="0" rtlCol="0" anchor="t"/>
          <a:lstStyle/>
          <a:p>
            <a:pPr algn="l" indent="0" marL="0">
              <a:lnSpc>
                <a:spcPct val="116667"/>
              </a:lnSpc>
              <a:buNone/>
            </a:pPr>
            <a:r>
              <a:rPr lang="en-US" sz="1200" dirty="0">
                <a:solidFill>
                  <a:srgbClr val="4B4B9A"/>
                </a:solidFill>
                <a:latin typeface="Calibri" pitchFamily="34" charset="0"/>
                <a:ea typeface="Calibri" pitchFamily="34" charset="-122"/>
                <a:cs typeface="Calibri" pitchFamily="34" charset="-120"/>
              </a:rPr>
              <a:t>BookingCreated</a:t>
            </a:r>
            <a:endParaRPr lang="en-US" sz="1200" dirty="0"/>
          </a:p>
        </p:txBody>
      </p:sp>
      <p:sp>
        <p:nvSpPr>
          <p:cNvPr id="59" name="Shape 49"/>
          <p:cNvSpPr/>
          <p:nvPr/>
        </p:nvSpPr>
        <p:spPr>
          <a:xfrm flipV="1">
            <a:off x="6730832" y="2793930"/>
            <a:ext cx="63" cy="761981"/>
          </a:xfrm>
          <a:prstGeom prst="line">
            <a:avLst/>
          </a:prstGeom>
          <a:noFill/>
          <a:ln w="19050">
            <a:solidFill>
              <a:srgbClr val="0B7F74"/>
            </a:solidFill>
            <a:prstDash val="solid"/>
            <a:tailEnd type="triangle"/>
          </a:ln>
        </p:spPr>
      </p:sp>
      <p:sp>
        <p:nvSpPr>
          <p:cNvPr id="60" name="Text 50"/>
          <p:cNvSpPr txBox="1"/>
          <p:nvPr/>
        </p:nvSpPr>
        <p:spPr>
          <a:xfrm>
            <a:off x="6807030" y="2870128"/>
            <a:ext cx="711182" cy="213355"/>
          </a:xfrm>
          <a:prstGeom prst="rect">
            <a:avLst/>
          </a:prstGeom>
          <a:noFill/>
          <a:ln/>
        </p:spPr>
        <p:txBody>
          <a:bodyPr wrap="square" lIns="0" tIns="0" rIns="0" bIns="0" rtlCol="0" anchor="t"/>
          <a:lstStyle/>
          <a:p>
            <a:pPr algn="l" indent="0" marL="0">
              <a:lnSpc>
                <a:spcPct val="116667"/>
              </a:lnSpc>
              <a:buNone/>
            </a:pPr>
            <a:r>
              <a:rPr lang="en-US" sz="1200" dirty="0">
                <a:solidFill>
                  <a:srgbClr val="0B7F74"/>
                </a:solidFill>
                <a:latin typeface="Calibri" pitchFamily="34" charset="0"/>
                <a:ea typeface="Calibri" pitchFamily="34" charset="-122"/>
                <a:cs typeface="Calibri" pitchFamily="34" charset="-120"/>
              </a:rPr>
              <a:t>accept</a:t>
            </a:r>
            <a:endParaRPr lang="en-US" sz="1200" dirty="0"/>
          </a:p>
        </p:txBody>
      </p:sp>
      <p:sp>
        <p:nvSpPr>
          <p:cNvPr id="61" name="Shape 51"/>
          <p:cNvSpPr/>
          <p:nvPr/>
        </p:nvSpPr>
        <p:spPr>
          <a:xfrm>
            <a:off x="2997125" y="4000400"/>
            <a:ext cx="609585" cy="63"/>
          </a:xfrm>
          <a:prstGeom prst="line">
            <a:avLst/>
          </a:prstGeom>
          <a:noFill/>
          <a:ln w="19050">
            <a:solidFill>
              <a:srgbClr val="5C6B8A"/>
            </a:solidFill>
            <a:prstDash val="solid"/>
            <a:headEnd type="triangle"/>
            <a:tailEnd type="triangle"/>
          </a:ln>
        </p:spPr>
      </p:sp>
      <p:sp>
        <p:nvSpPr>
          <p:cNvPr id="62" name="Shape 52"/>
          <p:cNvSpPr/>
          <p:nvPr/>
        </p:nvSpPr>
        <p:spPr>
          <a:xfrm>
            <a:off x="5791055" y="4000400"/>
            <a:ext cx="609585" cy="63"/>
          </a:xfrm>
          <a:prstGeom prst="line">
            <a:avLst/>
          </a:prstGeom>
          <a:noFill/>
          <a:ln w="19050">
            <a:solidFill>
              <a:srgbClr val="5C6B8A"/>
            </a:solidFill>
            <a:prstDash val="solid"/>
            <a:headEnd type="triangle"/>
            <a:tailEnd type="triangle"/>
          </a:ln>
        </p:spPr>
      </p:sp>
      <p:sp>
        <p:nvSpPr>
          <p:cNvPr id="63" name="Shape 53"/>
          <p:cNvSpPr/>
          <p:nvPr/>
        </p:nvSpPr>
        <p:spPr>
          <a:xfrm>
            <a:off x="8584985" y="4000400"/>
            <a:ext cx="609585" cy="63"/>
          </a:xfrm>
          <a:prstGeom prst="line">
            <a:avLst/>
          </a:prstGeom>
          <a:noFill/>
          <a:ln w="19050">
            <a:solidFill>
              <a:srgbClr val="5C6B8A"/>
            </a:solidFill>
            <a:prstDash val="solid"/>
            <a:headEnd type="triangle"/>
            <a:tailEnd type="triangle"/>
          </a:ln>
        </p:spPr>
      </p:sp>
      <p:sp>
        <p:nvSpPr>
          <p:cNvPr id="64" name="Shape 54"/>
          <p:cNvSpPr/>
          <p:nvPr/>
        </p:nvSpPr>
        <p:spPr>
          <a:xfrm flipV="1">
            <a:off x="7492813" y="4444889"/>
            <a:ext cx="63" cy="507987"/>
          </a:xfrm>
          <a:prstGeom prst="line">
            <a:avLst/>
          </a:prstGeom>
          <a:noFill/>
          <a:ln w="19050">
            <a:solidFill>
              <a:srgbClr val="5C6B8A"/>
            </a:solidFill>
            <a:prstDash val="solid"/>
            <a:tailEnd type="triangle"/>
          </a:ln>
        </p:spPr>
      </p:sp>
      <p:sp>
        <p:nvSpPr>
          <p:cNvPr id="65" name="Text 55"/>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66" name="Text 56"/>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PAYMENTS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Razorpay confirms the charge twice before money counts</a:t>
            </a:r>
            <a:endParaRPr lang="en-US" sz="3000" dirty="0"/>
          </a:p>
        </p:txBody>
      </p:sp>
      <p:sp>
        <p:nvSpPr>
          <p:cNvPr id="4" name="Shape 2"/>
          <p:cNvSpPr/>
          <p:nvPr/>
        </p:nvSpPr>
        <p:spPr>
          <a:xfrm>
            <a:off x="812780" y="1904952"/>
            <a:ext cx="2184345" cy="888978"/>
          </a:xfrm>
          <a:prstGeom prst="roundRect">
            <a:avLst>
              <a:gd name="adj" fmla="val 10000"/>
            </a:avLst>
          </a:prstGeom>
          <a:solidFill>
            <a:srgbClr val="FCFDFF"/>
          </a:solidFill>
          <a:ln w="12700">
            <a:solidFill>
              <a:srgbClr val="2454C5"/>
            </a:solidFill>
            <a:prstDash val="solid"/>
          </a:ln>
        </p:spPr>
      </p:sp>
      <p:sp>
        <p:nvSpPr>
          <p:cNvPr id="5" name="Shape 3"/>
          <p:cNvSpPr/>
          <p:nvPr/>
        </p:nvSpPr>
        <p:spPr>
          <a:xfrm>
            <a:off x="812780" y="1904952"/>
            <a:ext cx="50799" cy="888978"/>
          </a:xfrm>
          <a:prstGeom prst="roundRect">
            <a:avLst>
              <a:gd name="adj" fmla="val 50000"/>
            </a:avLst>
          </a:prstGeom>
          <a:solidFill>
            <a:srgbClr val="2454C5"/>
          </a:solidFill>
          <a:ln/>
        </p:spPr>
      </p:sp>
      <p:pic>
        <p:nvPicPr>
          <p:cNvPr id="6" name="Image 0" descr="preencoded.png">    </p:cNvPr>
          <p:cNvPicPr>
            <a:picLocks noChangeAspect="1"/>
          </p:cNvPicPr>
          <p:nvPr/>
        </p:nvPicPr>
        <p:blipFill>
          <a:blip r:embed="rId1"/>
          <a:stretch>
            <a:fillRect/>
          </a:stretch>
        </p:blipFill>
        <p:spPr>
          <a:xfrm>
            <a:off x="977876" y="2010320"/>
            <a:ext cx="190495" cy="190495"/>
          </a:xfrm>
          <a:prstGeom prst="rect">
            <a:avLst/>
          </a:prstGeom>
        </p:spPr>
      </p:pic>
      <p:sp>
        <p:nvSpPr>
          <p:cNvPr id="7" name="Text 4"/>
          <p:cNvSpPr txBox="1"/>
          <p:nvPr/>
        </p:nvSpPr>
        <p:spPr>
          <a:xfrm>
            <a:off x="1231869" y="2006550"/>
            <a:ext cx="119378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8" name="Text 5"/>
          <p:cNvSpPr txBox="1"/>
          <p:nvPr/>
        </p:nvSpPr>
        <p:spPr>
          <a:xfrm>
            <a:off x="97787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pays a completed job</a:t>
            </a:r>
            <a:endParaRPr lang="en-US" sz="1200" dirty="0"/>
          </a:p>
        </p:txBody>
      </p:sp>
      <p:sp>
        <p:nvSpPr>
          <p:cNvPr id="9" name="Shape 6"/>
          <p:cNvSpPr/>
          <p:nvPr/>
        </p:nvSpPr>
        <p:spPr>
          <a:xfrm>
            <a:off x="812780" y="3301917"/>
            <a:ext cx="2184345" cy="888978"/>
          </a:xfrm>
          <a:prstGeom prst="roundRect">
            <a:avLst>
              <a:gd name="adj" fmla="val 10000"/>
            </a:avLst>
          </a:prstGeom>
          <a:solidFill>
            <a:srgbClr val="FCFDFF"/>
          </a:solidFill>
          <a:ln w="12700">
            <a:solidFill>
              <a:srgbClr val="B4530F"/>
            </a:solidFill>
            <a:prstDash val="solid"/>
          </a:ln>
        </p:spPr>
      </p:sp>
      <p:sp>
        <p:nvSpPr>
          <p:cNvPr id="10" name="Shape 7"/>
          <p:cNvSpPr/>
          <p:nvPr/>
        </p:nvSpPr>
        <p:spPr>
          <a:xfrm>
            <a:off x="812780" y="3301917"/>
            <a:ext cx="50799" cy="888978"/>
          </a:xfrm>
          <a:prstGeom prst="roundRect">
            <a:avLst>
              <a:gd name="adj" fmla="val 50000"/>
            </a:avLst>
          </a:prstGeom>
          <a:solidFill>
            <a:srgbClr val="B4530F"/>
          </a:solidFill>
          <a:ln/>
        </p:spPr>
      </p:sp>
      <p:pic>
        <p:nvPicPr>
          <p:cNvPr id="11" name="Image 1" descr="preencoded.png">    </p:cNvPr>
          <p:cNvPicPr>
            <a:picLocks noChangeAspect="1"/>
          </p:cNvPicPr>
          <p:nvPr/>
        </p:nvPicPr>
        <p:blipFill>
          <a:blip r:embed="rId2"/>
          <a:stretch>
            <a:fillRect/>
          </a:stretch>
        </p:blipFill>
        <p:spPr>
          <a:xfrm>
            <a:off x="977876" y="3407285"/>
            <a:ext cx="190495" cy="190495"/>
          </a:xfrm>
          <a:prstGeom prst="rect">
            <a:avLst/>
          </a:prstGeom>
        </p:spPr>
      </p:pic>
      <p:sp>
        <p:nvSpPr>
          <p:cNvPr id="12" name="Text 8"/>
          <p:cNvSpPr txBox="1"/>
          <p:nvPr/>
        </p:nvSpPr>
        <p:spPr>
          <a:xfrm>
            <a:off x="1231869" y="3403515"/>
            <a:ext cx="166561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Checkout</a:t>
            </a:r>
            <a:endParaRPr lang="en-US" sz="1300" dirty="0"/>
          </a:p>
        </p:txBody>
      </p:sp>
      <p:sp>
        <p:nvSpPr>
          <p:cNvPr id="13" name="Text 9"/>
          <p:cNvSpPr txBox="1"/>
          <p:nvPr/>
        </p:nvSpPr>
        <p:spPr>
          <a:xfrm>
            <a:off x="977876" y="362695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returns a signature</a:t>
            </a:r>
            <a:endParaRPr lang="en-US" sz="1200" dirty="0"/>
          </a:p>
        </p:txBody>
      </p:sp>
      <p:sp>
        <p:nvSpPr>
          <p:cNvPr id="14" name="Shape 10"/>
          <p:cNvSpPr/>
          <p:nvPr/>
        </p:nvSpPr>
        <p:spPr>
          <a:xfrm>
            <a:off x="3606710" y="1904952"/>
            <a:ext cx="2184345" cy="888978"/>
          </a:xfrm>
          <a:prstGeom prst="roundRect">
            <a:avLst>
              <a:gd name="adj" fmla="val 10000"/>
            </a:avLst>
          </a:prstGeom>
          <a:solidFill>
            <a:srgbClr val="FCFDFF"/>
          </a:solidFill>
          <a:ln w="12700">
            <a:solidFill>
              <a:srgbClr val="3F5F95"/>
            </a:solidFill>
            <a:prstDash val="solid"/>
          </a:ln>
        </p:spPr>
      </p:sp>
      <p:sp>
        <p:nvSpPr>
          <p:cNvPr id="15" name="Shape 11"/>
          <p:cNvSpPr/>
          <p:nvPr/>
        </p:nvSpPr>
        <p:spPr>
          <a:xfrm>
            <a:off x="3606710" y="1904952"/>
            <a:ext cx="50799" cy="888978"/>
          </a:xfrm>
          <a:prstGeom prst="roundRect">
            <a:avLst>
              <a:gd name="adj" fmla="val 50000"/>
            </a:avLst>
          </a:prstGeom>
          <a:solidFill>
            <a:srgbClr val="3F5F95"/>
          </a:solidFill>
          <a:ln/>
        </p:spPr>
      </p:sp>
      <p:sp>
        <p:nvSpPr>
          <p:cNvPr id="16" name="Text 12"/>
          <p:cNvSpPr txBox="1"/>
          <p:nvPr/>
        </p:nvSpPr>
        <p:spPr>
          <a:xfrm>
            <a:off x="3771806" y="200655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Text 13"/>
          <p:cNvSpPr txBox="1"/>
          <p:nvPr/>
        </p:nvSpPr>
        <p:spPr>
          <a:xfrm>
            <a:off x="377180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JWT check</a:t>
            </a:r>
            <a:endParaRPr lang="en-US" sz="1200" dirty="0"/>
          </a:p>
        </p:txBody>
      </p:sp>
      <p:sp>
        <p:nvSpPr>
          <p:cNvPr id="18" name="Shape 14"/>
          <p:cNvSpPr/>
          <p:nvPr/>
        </p:nvSpPr>
        <p:spPr>
          <a:xfrm>
            <a:off x="6400640" y="1904952"/>
            <a:ext cx="2184345" cy="2285943"/>
          </a:xfrm>
          <a:prstGeom prst="roundRect">
            <a:avLst>
              <a:gd name="adj" fmla="val 4070"/>
            </a:avLst>
          </a:prstGeom>
          <a:solidFill>
            <a:srgbClr val="FCFDFF"/>
          </a:solidFill>
          <a:ln w="12700">
            <a:solidFill>
              <a:srgbClr val="B4530F"/>
            </a:solidFill>
            <a:prstDash val="solid"/>
          </a:ln>
        </p:spPr>
      </p:sp>
      <p:sp>
        <p:nvSpPr>
          <p:cNvPr id="19" name="Shape 15"/>
          <p:cNvSpPr/>
          <p:nvPr/>
        </p:nvSpPr>
        <p:spPr>
          <a:xfrm>
            <a:off x="6400640" y="1904952"/>
            <a:ext cx="50799" cy="2285943"/>
          </a:xfrm>
          <a:prstGeom prst="roundRect">
            <a:avLst>
              <a:gd name="adj" fmla="val 50000"/>
            </a:avLst>
          </a:prstGeom>
          <a:solidFill>
            <a:srgbClr val="B4530F"/>
          </a:solidFill>
          <a:ln/>
        </p:spPr>
      </p:sp>
      <p:pic>
        <p:nvPicPr>
          <p:cNvPr id="20" name="Image 2" descr="preencoded.png">    </p:cNvPr>
          <p:cNvPicPr>
            <a:picLocks noChangeAspect="1"/>
          </p:cNvPicPr>
          <p:nvPr/>
        </p:nvPicPr>
        <p:blipFill>
          <a:blip r:embed="rId3"/>
          <a:stretch>
            <a:fillRect/>
          </a:stretch>
        </p:blipFill>
        <p:spPr>
          <a:xfrm>
            <a:off x="6565736" y="2010320"/>
            <a:ext cx="190495" cy="190495"/>
          </a:xfrm>
          <a:prstGeom prst="rect">
            <a:avLst/>
          </a:prstGeom>
        </p:spPr>
      </p:pic>
      <p:sp>
        <p:nvSpPr>
          <p:cNvPr id="21" name="Text 16"/>
          <p:cNvSpPr txBox="1"/>
          <p:nvPr/>
        </p:nvSpPr>
        <p:spPr>
          <a:xfrm>
            <a:off x="6819730" y="2006550"/>
            <a:ext cx="144470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payment-service</a:t>
            </a:r>
            <a:endParaRPr lang="en-US" sz="1300" dirty="0"/>
          </a:p>
        </p:txBody>
      </p:sp>
      <p:sp>
        <p:nvSpPr>
          <p:cNvPr id="22" name="Text 17"/>
          <p:cNvSpPr txBox="1"/>
          <p:nvPr/>
        </p:nvSpPr>
        <p:spPr>
          <a:xfrm>
            <a:off x="656573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order per attempt</a:t>
            </a:r>
            <a:endParaRPr lang="en-US" sz="1200" dirty="0"/>
          </a:p>
        </p:txBody>
      </p:sp>
      <p:sp>
        <p:nvSpPr>
          <p:cNvPr id="23" name="Text 18"/>
          <p:cNvSpPr txBox="1"/>
          <p:nvPr/>
        </p:nvSpPr>
        <p:spPr>
          <a:xfrm>
            <a:off x="6565736" y="2461060"/>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HMAC + read-back</a:t>
            </a:r>
            <a:endParaRPr lang="en-US" sz="1200" dirty="0"/>
          </a:p>
        </p:txBody>
      </p:sp>
      <p:sp>
        <p:nvSpPr>
          <p:cNvPr id="24" name="Text 19"/>
          <p:cNvSpPr txBox="1"/>
          <p:nvPr/>
        </p:nvSpPr>
        <p:spPr>
          <a:xfrm>
            <a:off x="6565736" y="2692134"/>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Redis idempotency</a:t>
            </a:r>
            <a:endParaRPr lang="en-US" sz="1200" dirty="0"/>
          </a:p>
        </p:txBody>
      </p:sp>
      <p:sp>
        <p:nvSpPr>
          <p:cNvPr id="25" name="Text 20"/>
          <p:cNvSpPr txBox="1"/>
          <p:nvPr/>
        </p:nvSpPr>
        <p:spPr>
          <a:xfrm>
            <a:off x="6565736" y="2923209"/>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credits the wallet</a:t>
            </a:r>
            <a:endParaRPr lang="en-US" sz="1200" dirty="0"/>
          </a:p>
        </p:txBody>
      </p:sp>
      <p:sp>
        <p:nvSpPr>
          <p:cNvPr id="26" name="Shape 21"/>
          <p:cNvSpPr/>
          <p:nvPr/>
        </p:nvSpPr>
        <p:spPr>
          <a:xfrm>
            <a:off x="9194570" y="1904952"/>
            <a:ext cx="2184345" cy="888978"/>
          </a:xfrm>
          <a:prstGeom prst="roundRect">
            <a:avLst>
              <a:gd name="adj" fmla="val 10000"/>
            </a:avLst>
          </a:prstGeom>
          <a:solidFill>
            <a:srgbClr val="FCFDFF"/>
          </a:solidFill>
          <a:ln w="12700">
            <a:solidFill>
              <a:srgbClr val="5C6B8A"/>
            </a:solidFill>
            <a:prstDash val="solid"/>
          </a:ln>
        </p:spPr>
      </p:sp>
      <p:sp>
        <p:nvSpPr>
          <p:cNvPr id="27" name="Shape 22"/>
          <p:cNvSpPr/>
          <p:nvPr/>
        </p:nvSpPr>
        <p:spPr>
          <a:xfrm>
            <a:off x="9194570" y="1904952"/>
            <a:ext cx="50799" cy="888978"/>
          </a:xfrm>
          <a:prstGeom prst="roundRect">
            <a:avLst>
              <a:gd name="adj" fmla="val 50000"/>
            </a:avLst>
          </a:prstGeom>
          <a:solidFill>
            <a:srgbClr val="5C6B8A"/>
          </a:solidFill>
          <a:ln/>
        </p:spPr>
      </p:sp>
      <p:pic>
        <p:nvPicPr>
          <p:cNvPr id="28" name="Image 3" descr="preencoded.png">    </p:cNvPr>
          <p:cNvPicPr>
            <a:picLocks noChangeAspect="1"/>
          </p:cNvPicPr>
          <p:nvPr/>
        </p:nvPicPr>
        <p:blipFill>
          <a:blip r:embed="rId4"/>
          <a:stretch>
            <a:fillRect/>
          </a:stretch>
        </p:blipFill>
        <p:spPr>
          <a:xfrm>
            <a:off x="9359666" y="2010320"/>
            <a:ext cx="190495" cy="190495"/>
          </a:xfrm>
          <a:prstGeom prst="rect">
            <a:avLst/>
          </a:prstGeom>
        </p:spPr>
      </p:pic>
      <p:sp>
        <p:nvSpPr>
          <p:cNvPr id="29" name="Text 23"/>
          <p:cNvSpPr txBox="1"/>
          <p:nvPr/>
        </p:nvSpPr>
        <p:spPr>
          <a:xfrm>
            <a:off x="9613660" y="2006550"/>
            <a:ext cx="112033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API</a:t>
            </a:r>
            <a:endParaRPr lang="en-US" sz="1300" dirty="0"/>
          </a:p>
        </p:txBody>
      </p:sp>
      <p:sp>
        <p:nvSpPr>
          <p:cNvPr id="30" name="Text 24"/>
          <p:cNvSpPr txBox="1"/>
          <p:nvPr/>
        </p:nvSpPr>
        <p:spPr>
          <a:xfrm>
            <a:off x="9359666" y="222998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orders, payment read-back</a:t>
            </a:r>
            <a:endParaRPr lang="en-US" sz="1200" dirty="0"/>
          </a:p>
        </p:txBody>
      </p:sp>
      <p:sp>
        <p:nvSpPr>
          <p:cNvPr id="31" name="Shape 25"/>
          <p:cNvSpPr/>
          <p:nvPr/>
        </p:nvSpPr>
        <p:spPr>
          <a:xfrm>
            <a:off x="9194570" y="3047924"/>
            <a:ext cx="2184345" cy="761981"/>
          </a:xfrm>
          <a:prstGeom prst="roundRect">
            <a:avLst>
              <a:gd name="adj" fmla="val 11667"/>
            </a:avLst>
          </a:prstGeom>
          <a:solidFill>
            <a:srgbClr val="FCFDFF"/>
          </a:solidFill>
          <a:ln w="12700">
            <a:solidFill>
              <a:srgbClr val="5C6B8A"/>
            </a:solidFill>
            <a:prstDash val="solid"/>
          </a:ln>
        </p:spPr>
      </p:sp>
      <p:sp>
        <p:nvSpPr>
          <p:cNvPr id="32" name="Shape 26"/>
          <p:cNvSpPr/>
          <p:nvPr/>
        </p:nvSpPr>
        <p:spPr>
          <a:xfrm>
            <a:off x="9194570" y="3047924"/>
            <a:ext cx="50799" cy="761981"/>
          </a:xfrm>
          <a:prstGeom prst="roundRect">
            <a:avLst>
              <a:gd name="adj" fmla="val 50000"/>
            </a:avLst>
          </a:prstGeom>
          <a:solidFill>
            <a:srgbClr val="5C6B8A"/>
          </a:solidFill>
          <a:ln/>
        </p:spPr>
      </p:sp>
      <p:sp>
        <p:nvSpPr>
          <p:cNvPr id="33" name="Text 27"/>
          <p:cNvSpPr txBox="1"/>
          <p:nvPr/>
        </p:nvSpPr>
        <p:spPr>
          <a:xfrm>
            <a:off x="9359666" y="3124122"/>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Razorpay webhook</a:t>
            </a:r>
            <a:endParaRPr lang="en-US" sz="1300" dirty="0"/>
          </a:p>
        </p:txBody>
      </p:sp>
      <p:sp>
        <p:nvSpPr>
          <p:cNvPr id="34" name="Text 28"/>
          <p:cNvSpPr txBox="1"/>
          <p:nvPr/>
        </p:nvSpPr>
        <p:spPr>
          <a:xfrm>
            <a:off x="9359666" y="3347557"/>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signed raw body</a:t>
            </a:r>
            <a:endParaRPr lang="en-US" sz="1200" dirty="0"/>
          </a:p>
        </p:txBody>
      </p:sp>
      <p:sp>
        <p:nvSpPr>
          <p:cNvPr id="35" name="Shape 29"/>
          <p:cNvSpPr/>
          <p:nvPr/>
        </p:nvSpPr>
        <p:spPr>
          <a:xfrm>
            <a:off x="812780" y="4698883"/>
            <a:ext cx="2184345" cy="888978"/>
          </a:xfrm>
          <a:prstGeom prst="roundRect">
            <a:avLst>
              <a:gd name="adj" fmla="val 10000"/>
            </a:avLst>
          </a:prstGeom>
          <a:solidFill>
            <a:srgbClr val="FCEBDD"/>
          </a:solidFill>
          <a:ln/>
        </p:spPr>
      </p:sp>
      <p:pic>
        <p:nvPicPr>
          <p:cNvPr id="36" name="Image 4" descr="preencoded.png">    </p:cNvPr>
          <p:cNvPicPr>
            <a:picLocks noChangeAspect="1"/>
          </p:cNvPicPr>
          <p:nvPr/>
        </p:nvPicPr>
        <p:blipFill>
          <a:blip r:embed="rId5"/>
          <a:stretch>
            <a:fillRect/>
          </a:stretch>
        </p:blipFill>
        <p:spPr>
          <a:xfrm>
            <a:off x="939777" y="5016375"/>
            <a:ext cx="253994" cy="253994"/>
          </a:xfrm>
          <a:prstGeom prst="rect">
            <a:avLst/>
          </a:prstGeom>
        </p:spPr>
      </p:pic>
      <p:sp>
        <p:nvSpPr>
          <p:cNvPr id="37" name="Text 30"/>
          <p:cNvSpPr txBox="1"/>
          <p:nvPr/>
        </p:nvSpPr>
        <p:spPr>
          <a:xfrm>
            <a:off x="1282668" y="4937696"/>
            <a:ext cx="1777956" cy="411351"/>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The amount never comes from the client</a:t>
            </a:r>
            <a:endParaRPr lang="en-US" sz="1200" dirty="0"/>
          </a:p>
        </p:txBody>
      </p:sp>
      <p:sp>
        <p:nvSpPr>
          <p:cNvPr id="38" name="Shape 31"/>
          <p:cNvSpPr/>
          <p:nvPr/>
        </p:nvSpPr>
        <p:spPr>
          <a:xfrm>
            <a:off x="3606710" y="4698883"/>
            <a:ext cx="2184345" cy="888978"/>
          </a:xfrm>
          <a:prstGeom prst="roundRect">
            <a:avLst>
              <a:gd name="adj" fmla="val 10000"/>
            </a:avLst>
          </a:prstGeom>
          <a:solidFill>
            <a:srgbClr val="FCFDFF"/>
          </a:solidFill>
          <a:ln w="12700">
            <a:solidFill>
              <a:srgbClr val="0B7F74"/>
            </a:solidFill>
            <a:prstDash val="solid"/>
          </a:ln>
        </p:spPr>
      </p:sp>
      <p:sp>
        <p:nvSpPr>
          <p:cNvPr id="39" name="Shape 32"/>
          <p:cNvSpPr/>
          <p:nvPr/>
        </p:nvSpPr>
        <p:spPr>
          <a:xfrm>
            <a:off x="3606710" y="4698883"/>
            <a:ext cx="50799" cy="888978"/>
          </a:xfrm>
          <a:prstGeom prst="roundRect">
            <a:avLst>
              <a:gd name="adj" fmla="val 50000"/>
            </a:avLst>
          </a:prstGeom>
          <a:solidFill>
            <a:srgbClr val="0B7F74"/>
          </a:solidFill>
          <a:ln/>
        </p:spPr>
      </p:sp>
      <p:sp>
        <p:nvSpPr>
          <p:cNvPr id="40" name="Text 33"/>
          <p:cNvSpPr txBox="1"/>
          <p:nvPr/>
        </p:nvSpPr>
        <p:spPr>
          <a:xfrm>
            <a:off x="3771806" y="480048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41" name="Text 34"/>
          <p:cNvSpPr txBox="1"/>
          <p:nvPr/>
        </p:nvSpPr>
        <p:spPr>
          <a:xfrm>
            <a:off x="3771806" y="5023915"/>
            <a:ext cx="2119323"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facts in, PAYMENT_COMPLETED</a:t>
            </a:r>
            <a:endParaRPr lang="en-US" sz="1200" dirty="0"/>
          </a:p>
        </p:txBody>
      </p:sp>
      <p:sp>
        <p:nvSpPr>
          <p:cNvPr id="42" name="Shape 35"/>
          <p:cNvSpPr/>
          <p:nvPr/>
        </p:nvSpPr>
        <p:spPr>
          <a:xfrm>
            <a:off x="6400640" y="4698883"/>
            <a:ext cx="2184345" cy="888978"/>
          </a:xfrm>
          <a:prstGeom prst="roundRect">
            <a:avLst>
              <a:gd name="adj" fmla="val 10000"/>
            </a:avLst>
          </a:prstGeom>
          <a:solidFill>
            <a:srgbClr val="FCFDFF"/>
          </a:solidFill>
          <a:ln w="12700">
            <a:solidFill>
              <a:srgbClr val="2454C5"/>
            </a:solidFill>
            <a:prstDash val="solid"/>
          </a:ln>
        </p:spPr>
      </p:sp>
      <p:sp>
        <p:nvSpPr>
          <p:cNvPr id="43" name="Shape 36"/>
          <p:cNvSpPr/>
          <p:nvPr/>
        </p:nvSpPr>
        <p:spPr>
          <a:xfrm>
            <a:off x="6400640" y="4698883"/>
            <a:ext cx="50799" cy="888978"/>
          </a:xfrm>
          <a:prstGeom prst="roundRect">
            <a:avLst>
              <a:gd name="adj" fmla="val 50000"/>
            </a:avLst>
          </a:prstGeom>
          <a:solidFill>
            <a:srgbClr val="2454C5"/>
          </a:solidFill>
          <a:ln/>
        </p:spPr>
      </p:sp>
      <p:sp>
        <p:nvSpPr>
          <p:cNvPr id="44" name="Text 37"/>
          <p:cNvSpPr txBox="1"/>
          <p:nvPr/>
        </p:nvSpPr>
        <p:spPr>
          <a:xfrm>
            <a:off x="6565736" y="4800480"/>
            <a:ext cx="211932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provider-service</a:t>
            </a:r>
            <a:endParaRPr lang="en-US" sz="1300" dirty="0"/>
          </a:p>
        </p:txBody>
      </p:sp>
      <p:sp>
        <p:nvSpPr>
          <p:cNvPr id="45" name="Text 38"/>
          <p:cNvSpPr txBox="1"/>
          <p:nvPr/>
        </p:nvSpPr>
        <p:spPr>
          <a:xfrm>
            <a:off x="6565736" y="502391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wallet JOB_CREDIT</a:t>
            </a:r>
            <a:endParaRPr lang="en-US" sz="1200" dirty="0"/>
          </a:p>
        </p:txBody>
      </p:sp>
      <p:sp>
        <p:nvSpPr>
          <p:cNvPr id="46" name="Shape 39"/>
          <p:cNvSpPr/>
          <p:nvPr/>
        </p:nvSpPr>
        <p:spPr>
          <a:xfrm>
            <a:off x="9194570" y="4698883"/>
            <a:ext cx="2184345" cy="888978"/>
          </a:xfrm>
          <a:prstGeom prst="roundRect">
            <a:avLst>
              <a:gd name="adj" fmla="val 10000"/>
            </a:avLst>
          </a:prstGeom>
          <a:solidFill>
            <a:srgbClr val="FCFDFF"/>
          </a:solidFill>
          <a:ln w="12700">
            <a:solidFill>
              <a:srgbClr val="4B4B9A"/>
            </a:solidFill>
            <a:prstDash val="solid"/>
          </a:ln>
        </p:spPr>
      </p:sp>
      <p:sp>
        <p:nvSpPr>
          <p:cNvPr id="47" name="Shape 40"/>
          <p:cNvSpPr/>
          <p:nvPr/>
        </p:nvSpPr>
        <p:spPr>
          <a:xfrm>
            <a:off x="9194570" y="4698883"/>
            <a:ext cx="50799" cy="888978"/>
          </a:xfrm>
          <a:prstGeom prst="roundRect">
            <a:avLst>
              <a:gd name="adj" fmla="val 50000"/>
            </a:avLst>
          </a:prstGeom>
          <a:solidFill>
            <a:srgbClr val="4B4B9A"/>
          </a:solidFill>
          <a:ln/>
        </p:spPr>
      </p:sp>
      <p:pic>
        <p:nvPicPr>
          <p:cNvPr id="48" name="Image 5" descr="preencoded.png">    </p:cNvPr>
          <p:cNvPicPr>
            <a:picLocks noChangeAspect="1"/>
          </p:cNvPicPr>
          <p:nvPr/>
        </p:nvPicPr>
        <p:blipFill>
          <a:blip r:embed="rId6"/>
          <a:stretch>
            <a:fillRect/>
          </a:stretch>
        </p:blipFill>
        <p:spPr>
          <a:xfrm>
            <a:off x="9359666" y="4804250"/>
            <a:ext cx="190495" cy="190495"/>
          </a:xfrm>
          <a:prstGeom prst="rect">
            <a:avLst/>
          </a:prstGeom>
        </p:spPr>
      </p:pic>
      <p:sp>
        <p:nvSpPr>
          <p:cNvPr id="49" name="Text 41"/>
          <p:cNvSpPr txBox="1"/>
          <p:nvPr/>
        </p:nvSpPr>
        <p:spPr>
          <a:xfrm>
            <a:off x="9613660" y="4800480"/>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50" name="Text 42"/>
          <p:cNvSpPr txBox="1"/>
          <p:nvPr/>
        </p:nvSpPr>
        <p:spPr>
          <a:xfrm>
            <a:off x="9359666" y="5023915"/>
            <a:ext cx="211932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PaymentCompleted</a:t>
            </a:r>
            <a:endParaRPr lang="en-US" sz="1200" dirty="0"/>
          </a:p>
        </p:txBody>
      </p:sp>
      <p:sp>
        <p:nvSpPr>
          <p:cNvPr id="51" name="Shape 43"/>
          <p:cNvSpPr/>
          <p:nvPr/>
        </p:nvSpPr>
        <p:spPr>
          <a:xfrm>
            <a:off x="2997125" y="2349441"/>
            <a:ext cx="609585" cy="63"/>
          </a:xfrm>
          <a:prstGeom prst="line">
            <a:avLst/>
          </a:prstGeom>
          <a:noFill/>
          <a:ln w="19050">
            <a:solidFill>
              <a:srgbClr val="5C6B8A"/>
            </a:solidFill>
            <a:prstDash val="solid"/>
            <a:tailEnd type="triangle"/>
          </a:ln>
        </p:spPr>
      </p:sp>
      <p:sp>
        <p:nvSpPr>
          <p:cNvPr id="52" name="Shape 44"/>
          <p:cNvSpPr/>
          <p:nvPr/>
        </p:nvSpPr>
        <p:spPr>
          <a:xfrm>
            <a:off x="5791055" y="2349441"/>
            <a:ext cx="609585" cy="63"/>
          </a:xfrm>
          <a:prstGeom prst="line">
            <a:avLst/>
          </a:prstGeom>
          <a:noFill/>
          <a:ln w="19050">
            <a:solidFill>
              <a:srgbClr val="5C6B8A"/>
            </a:solidFill>
            <a:prstDash val="solid"/>
            <a:tailEnd type="triangle"/>
          </a:ln>
        </p:spPr>
      </p:sp>
      <p:sp>
        <p:nvSpPr>
          <p:cNvPr id="53" name="Shape 45"/>
          <p:cNvSpPr/>
          <p:nvPr/>
        </p:nvSpPr>
        <p:spPr>
          <a:xfrm>
            <a:off x="8584985" y="2349441"/>
            <a:ext cx="609585" cy="63"/>
          </a:xfrm>
          <a:prstGeom prst="line">
            <a:avLst/>
          </a:prstGeom>
          <a:noFill/>
          <a:ln w="19050">
            <a:solidFill>
              <a:srgbClr val="5C6B8A"/>
            </a:solidFill>
            <a:prstDash val="solid"/>
            <a:headEnd type="triangle"/>
            <a:tailEnd type="triangle"/>
          </a:ln>
        </p:spPr>
      </p:sp>
      <p:sp>
        <p:nvSpPr>
          <p:cNvPr id="54" name="Shape 46"/>
          <p:cNvSpPr/>
          <p:nvPr/>
        </p:nvSpPr>
        <p:spPr>
          <a:xfrm flipH="1">
            <a:off x="8584985" y="3428914"/>
            <a:ext cx="609585" cy="63"/>
          </a:xfrm>
          <a:prstGeom prst="line">
            <a:avLst/>
          </a:prstGeom>
          <a:noFill/>
          <a:ln w="19050">
            <a:solidFill>
              <a:srgbClr val="B4530F"/>
            </a:solidFill>
            <a:prstDash val="solid"/>
            <a:tailEnd type="triangle"/>
          </a:ln>
        </p:spPr>
      </p:sp>
      <p:sp>
        <p:nvSpPr>
          <p:cNvPr id="55" name="Shape 47"/>
          <p:cNvSpPr/>
          <p:nvPr/>
        </p:nvSpPr>
        <p:spPr>
          <a:xfrm>
            <a:off x="1904952" y="2793930"/>
            <a:ext cx="63" cy="507987"/>
          </a:xfrm>
          <a:prstGeom prst="line">
            <a:avLst/>
          </a:prstGeom>
          <a:noFill/>
          <a:ln w="19050">
            <a:solidFill>
              <a:srgbClr val="5C6B8A"/>
            </a:solidFill>
            <a:prstDash val="solid"/>
            <a:tailEnd type="triangle"/>
          </a:ln>
        </p:spPr>
      </p:sp>
      <p:sp>
        <p:nvSpPr>
          <p:cNvPr id="56" name="Shape 48"/>
          <p:cNvSpPr/>
          <p:nvPr/>
        </p:nvSpPr>
        <p:spPr>
          <a:xfrm>
            <a:off x="2997125" y="3746406"/>
            <a:ext cx="1066773" cy="63"/>
          </a:xfrm>
          <a:prstGeom prst="line">
            <a:avLst/>
          </a:prstGeom>
          <a:noFill/>
          <a:ln w="19050">
            <a:solidFill>
              <a:srgbClr val="B4530F"/>
            </a:solidFill>
            <a:prstDash val="solid"/>
          </a:ln>
        </p:spPr>
      </p:sp>
      <p:sp>
        <p:nvSpPr>
          <p:cNvPr id="57" name="Shape 49"/>
          <p:cNvSpPr/>
          <p:nvPr/>
        </p:nvSpPr>
        <p:spPr>
          <a:xfrm flipV="1">
            <a:off x="4063898" y="2793930"/>
            <a:ext cx="63" cy="952476"/>
          </a:xfrm>
          <a:prstGeom prst="line">
            <a:avLst/>
          </a:prstGeom>
          <a:noFill/>
          <a:ln w="19050">
            <a:solidFill>
              <a:srgbClr val="B4530F"/>
            </a:solidFill>
            <a:prstDash val="solid"/>
            <a:tailEnd type="triangle"/>
          </a:ln>
        </p:spPr>
      </p:sp>
      <p:sp>
        <p:nvSpPr>
          <p:cNvPr id="58" name="Text 50"/>
          <p:cNvSpPr txBox="1"/>
          <p:nvPr/>
        </p:nvSpPr>
        <p:spPr>
          <a:xfrm>
            <a:off x="3098723" y="3797205"/>
            <a:ext cx="711182"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alibri" pitchFamily="34" charset="0"/>
                <a:ea typeface="Calibri" pitchFamily="34" charset="-122"/>
                <a:cs typeface="Calibri" pitchFamily="34" charset="-120"/>
              </a:rPr>
              <a:t>verify</a:t>
            </a:r>
            <a:endParaRPr lang="en-US" sz="1200" dirty="0"/>
          </a:p>
        </p:txBody>
      </p:sp>
      <p:sp>
        <p:nvSpPr>
          <p:cNvPr id="59" name="Shape 51"/>
          <p:cNvSpPr/>
          <p:nvPr/>
        </p:nvSpPr>
        <p:spPr>
          <a:xfrm flipH="1">
            <a:off x="4698883" y="3809905"/>
            <a:ext cx="1701757" cy="63"/>
          </a:xfrm>
          <a:prstGeom prst="line">
            <a:avLst/>
          </a:prstGeom>
          <a:noFill/>
          <a:ln w="19050">
            <a:solidFill>
              <a:srgbClr val="5C6B8A"/>
            </a:solidFill>
            <a:prstDash val="solid"/>
            <a:headEnd type="triangle"/>
          </a:ln>
        </p:spPr>
      </p:sp>
      <p:sp>
        <p:nvSpPr>
          <p:cNvPr id="60" name="Shape 52"/>
          <p:cNvSpPr/>
          <p:nvPr/>
        </p:nvSpPr>
        <p:spPr>
          <a:xfrm>
            <a:off x="4698883" y="3809905"/>
            <a:ext cx="63" cy="888978"/>
          </a:xfrm>
          <a:prstGeom prst="line">
            <a:avLst/>
          </a:prstGeom>
          <a:noFill/>
          <a:ln w="19050">
            <a:solidFill>
              <a:srgbClr val="5C6B8A"/>
            </a:solidFill>
            <a:prstDash val="solid"/>
            <a:tailEnd type="triangle"/>
          </a:ln>
        </p:spPr>
      </p:sp>
      <p:sp>
        <p:nvSpPr>
          <p:cNvPr id="61" name="Text 53"/>
          <p:cNvSpPr txBox="1"/>
          <p:nvPr/>
        </p:nvSpPr>
        <p:spPr>
          <a:xfrm>
            <a:off x="4800480" y="4114697"/>
            <a:ext cx="1564601"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amount facts</a:t>
            </a:r>
            <a:endParaRPr lang="en-US" sz="1200" dirty="0"/>
          </a:p>
        </p:txBody>
      </p:sp>
      <p:sp>
        <p:nvSpPr>
          <p:cNvPr id="62" name="Shape 54"/>
          <p:cNvSpPr/>
          <p:nvPr/>
        </p:nvSpPr>
        <p:spPr>
          <a:xfrm>
            <a:off x="7492813" y="4190895"/>
            <a:ext cx="63" cy="507987"/>
          </a:xfrm>
          <a:prstGeom prst="line">
            <a:avLst/>
          </a:prstGeom>
          <a:noFill/>
          <a:ln w="19050">
            <a:solidFill>
              <a:srgbClr val="5C6B8A"/>
            </a:solidFill>
            <a:prstDash val="solid"/>
            <a:tailEnd type="triangle"/>
          </a:ln>
        </p:spPr>
      </p:sp>
      <p:sp>
        <p:nvSpPr>
          <p:cNvPr id="63" name="Shape 55"/>
          <p:cNvSpPr/>
          <p:nvPr/>
        </p:nvSpPr>
        <p:spPr>
          <a:xfrm>
            <a:off x="8584985" y="4063898"/>
            <a:ext cx="1701757" cy="63"/>
          </a:xfrm>
          <a:prstGeom prst="line">
            <a:avLst/>
          </a:prstGeom>
          <a:noFill/>
          <a:ln w="19050">
            <a:solidFill>
              <a:srgbClr val="4B4B9A"/>
            </a:solidFill>
            <a:prstDash val="solid"/>
          </a:ln>
        </p:spPr>
      </p:sp>
      <p:sp>
        <p:nvSpPr>
          <p:cNvPr id="64" name="Shape 56"/>
          <p:cNvSpPr/>
          <p:nvPr/>
        </p:nvSpPr>
        <p:spPr>
          <a:xfrm>
            <a:off x="10286743" y="4063898"/>
            <a:ext cx="63" cy="634984"/>
          </a:xfrm>
          <a:prstGeom prst="line">
            <a:avLst/>
          </a:prstGeom>
          <a:noFill/>
          <a:ln w="19050">
            <a:solidFill>
              <a:srgbClr val="4B4B9A"/>
            </a:solidFill>
            <a:prstDash val="solid"/>
            <a:tailEnd type="triangle"/>
          </a:ln>
        </p:spPr>
      </p:sp>
      <p:sp>
        <p:nvSpPr>
          <p:cNvPr id="65"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66"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EVENTS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Events are as durable as the writes behind them</a:t>
            </a:r>
            <a:endParaRPr lang="en-US" sz="3000" dirty="0"/>
          </a:p>
        </p:txBody>
      </p:sp>
      <p:sp>
        <p:nvSpPr>
          <p:cNvPr id="4" name="Shape 2"/>
          <p:cNvSpPr/>
          <p:nvPr/>
        </p:nvSpPr>
        <p:spPr>
          <a:xfrm>
            <a:off x="812780" y="1841454"/>
            <a:ext cx="1777956" cy="3555911"/>
          </a:xfrm>
          <a:prstGeom prst="roundRect">
            <a:avLst>
              <a:gd name="adj" fmla="val 5714"/>
            </a:avLst>
          </a:prstGeom>
          <a:solidFill>
            <a:srgbClr val="FCFDFF"/>
          </a:solidFill>
          <a:ln w="12700">
            <a:solidFill>
              <a:srgbClr val="0B7F74"/>
            </a:solidFill>
            <a:prstDash val="solid"/>
          </a:ln>
        </p:spPr>
      </p:sp>
      <p:sp>
        <p:nvSpPr>
          <p:cNvPr id="5" name="Text 3"/>
          <p:cNvSpPr txBox="1"/>
          <p:nvPr/>
        </p:nvSpPr>
        <p:spPr>
          <a:xfrm>
            <a:off x="939777" y="1968451"/>
            <a:ext cx="1706837" cy="231134"/>
          </a:xfrm>
          <a:prstGeom prst="rect">
            <a:avLst/>
          </a:prstGeom>
          <a:noFill/>
          <a:ln/>
        </p:spPr>
        <p:txBody>
          <a:bodyPr wrap="square" lIns="0" tIns="0" rIns="0" bIns="0" rtlCol="0" anchor="t"/>
          <a:lstStyle/>
          <a:p>
            <a:pPr algn="l" indent="0" marL="0">
              <a:lnSpc>
                <a:spcPct val="116667"/>
              </a:lnSpc>
              <a:buNone/>
            </a:pPr>
            <a:r>
              <a:rPr lang="en-US" sz="1300" b="1" dirty="0">
                <a:solidFill>
                  <a:srgbClr val="0B7F74"/>
                </a:solidFill>
                <a:latin typeface="Calibri" pitchFamily="34" charset="0"/>
                <a:ea typeface="Calibri" pitchFamily="34" charset="-122"/>
                <a:cs typeface="Calibri" pitchFamily="34" charset="-120"/>
              </a:rPr>
              <a:t>Producers</a:t>
            </a:r>
            <a:endParaRPr lang="en-US" sz="1300" dirty="0"/>
          </a:p>
        </p:txBody>
      </p:sp>
      <p:sp>
        <p:nvSpPr>
          <p:cNvPr id="6" name="Shape 4"/>
          <p:cNvSpPr/>
          <p:nvPr/>
        </p:nvSpPr>
        <p:spPr>
          <a:xfrm>
            <a:off x="939777" y="2263024"/>
            <a:ext cx="1523962" cy="299633"/>
          </a:xfrm>
          <a:prstGeom prst="roundRect">
            <a:avLst>
              <a:gd name="adj" fmla="val 21192"/>
            </a:avLst>
          </a:prstGeom>
          <a:solidFill>
            <a:srgbClr val="DDF2EF"/>
          </a:solidFill>
          <a:ln/>
        </p:spPr>
      </p:sp>
      <p:sp>
        <p:nvSpPr>
          <p:cNvPr id="7" name="Text 5"/>
          <p:cNvSpPr txBox="1"/>
          <p:nvPr/>
        </p:nvSpPr>
        <p:spPr>
          <a:xfrm>
            <a:off x="1028674" y="2313823"/>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a:t>
            </a:r>
            <a:endParaRPr lang="en-US" sz="1200" dirty="0"/>
          </a:p>
        </p:txBody>
      </p:sp>
      <p:sp>
        <p:nvSpPr>
          <p:cNvPr id="8" name="Shape 6"/>
          <p:cNvSpPr/>
          <p:nvPr/>
        </p:nvSpPr>
        <p:spPr>
          <a:xfrm>
            <a:off x="939777" y="2626155"/>
            <a:ext cx="1523962" cy="299633"/>
          </a:xfrm>
          <a:prstGeom prst="roundRect">
            <a:avLst>
              <a:gd name="adj" fmla="val 21192"/>
            </a:avLst>
          </a:prstGeom>
          <a:solidFill>
            <a:srgbClr val="DDF2EF"/>
          </a:solidFill>
          <a:ln/>
        </p:spPr>
      </p:sp>
      <p:sp>
        <p:nvSpPr>
          <p:cNvPr id="9" name="Text 7"/>
          <p:cNvSpPr txBox="1"/>
          <p:nvPr/>
        </p:nvSpPr>
        <p:spPr>
          <a:xfrm>
            <a:off x="1028674" y="2676954"/>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dispatch</a:t>
            </a:r>
            <a:endParaRPr lang="en-US" sz="1200" dirty="0"/>
          </a:p>
        </p:txBody>
      </p:sp>
      <p:sp>
        <p:nvSpPr>
          <p:cNvPr id="10" name="Shape 8"/>
          <p:cNvSpPr/>
          <p:nvPr/>
        </p:nvSpPr>
        <p:spPr>
          <a:xfrm>
            <a:off x="939777" y="2989287"/>
            <a:ext cx="1523962" cy="299633"/>
          </a:xfrm>
          <a:prstGeom prst="roundRect">
            <a:avLst>
              <a:gd name="adj" fmla="val 21192"/>
            </a:avLst>
          </a:prstGeom>
          <a:solidFill>
            <a:srgbClr val="DDF2EF"/>
          </a:solidFill>
          <a:ln/>
        </p:spPr>
      </p:sp>
      <p:sp>
        <p:nvSpPr>
          <p:cNvPr id="11" name="Text 9"/>
          <p:cNvSpPr txBox="1"/>
          <p:nvPr/>
        </p:nvSpPr>
        <p:spPr>
          <a:xfrm>
            <a:off x="1028674" y="3040086"/>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payment</a:t>
            </a:r>
            <a:endParaRPr lang="en-US" sz="1200" dirty="0"/>
          </a:p>
        </p:txBody>
      </p:sp>
      <p:sp>
        <p:nvSpPr>
          <p:cNvPr id="12" name="Shape 10"/>
          <p:cNvSpPr/>
          <p:nvPr/>
        </p:nvSpPr>
        <p:spPr>
          <a:xfrm>
            <a:off x="939777" y="3352419"/>
            <a:ext cx="1523962" cy="299633"/>
          </a:xfrm>
          <a:prstGeom prst="roundRect">
            <a:avLst>
              <a:gd name="adj" fmla="val 21192"/>
            </a:avLst>
          </a:prstGeom>
          <a:solidFill>
            <a:srgbClr val="DDF2EF"/>
          </a:solidFill>
          <a:ln/>
        </p:spPr>
      </p:sp>
      <p:sp>
        <p:nvSpPr>
          <p:cNvPr id="13" name="Text 11"/>
          <p:cNvSpPr txBox="1"/>
          <p:nvPr/>
        </p:nvSpPr>
        <p:spPr>
          <a:xfrm>
            <a:off x="1028674" y="3403217"/>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complaint</a:t>
            </a:r>
            <a:endParaRPr lang="en-US" sz="1200" dirty="0"/>
          </a:p>
        </p:txBody>
      </p:sp>
      <p:sp>
        <p:nvSpPr>
          <p:cNvPr id="14" name="Shape 12"/>
          <p:cNvSpPr/>
          <p:nvPr/>
        </p:nvSpPr>
        <p:spPr>
          <a:xfrm>
            <a:off x="939777" y="3715550"/>
            <a:ext cx="1523962" cy="299633"/>
          </a:xfrm>
          <a:prstGeom prst="roundRect">
            <a:avLst>
              <a:gd name="adj" fmla="val 21192"/>
            </a:avLst>
          </a:prstGeom>
          <a:solidFill>
            <a:srgbClr val="DDF2EF"/>
          </a:solidFill>
          <a:ln/>
        </p:spPr>
      </p:sp>
      <p:sp>
        <p:nvSpPr>
          <p:cNvPr id="15" name="Text 13"/>
          <p:cNvSpPr txBox="1"/>
          <p:nvPr/>
        </p:nvSpPr>
        <p:spPr>
          <a:xfrm>
            <a:off x="1028674" y="3766349"/>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16" name="Shape 14"/>
          <p:cNvSpPr/>
          <p:nvPr/>
        </p:nvSpPr>
        <p:spPr>
          <a:xfrm>
            <a:off x="3009825" y="3047924"/>
            <a:ext cx="1777956" cy="1142971"/>
          </a:xfrm>
          <a:prstGeom prst="roundRect">
            <a:avLst>
              <a:gd name="adj" fmla="val 7778"/>
            </a:avLst>
          </a:prstGeom>
          <a:solidFill>
            <a:srgbClr val="FCFDFF"/>
          </a:solidFill>
          <a:ln w="12700">
            <a:solidFill>
              <a:srgbClr val="2F5C9A"/>
            </a:solidFill>
            <a:prstDash val="solid"/>
          </a:ln>
        </p:spPr>
      </p:sp>
      <p:sp>
        <p:nvSpPr>
          <p:cNvPr id="17" name="Shape 15"/>
          <p:cNvSpPr/>
          <p:nvPr/>
        </p:nvSpPr>
        <p:spPr>
          <a:xfrm>
            <a:off x="3009825" y="3047924"/>
            <a:ext cx="50799" cy="1142971"/>
          </a:xfrm>
          <a:prstGeom prst="roundRect">
            <a:avLst>
              <a:gd name="adj" fmla="val 50000"/>
            </a:avLst>
          </a:prstGeom>
          <a:solidFill>
            <a:srgbClr val="2F5C9A"/>
          </a:solidFill>
          <a:ln/>
        </p:spPr>
      </p:sp>
      <p:pic>
        <p:nvPicPr>
          <p:cNvPr id="18" name="Image 0" descr="preencoded.png">    </p:cNvPr>
          <p:cNvPicPr>
            <a:picLocks noChangeAspect="1"/>
          </p:cNvPicPr>
          <p:nvPr/>
        </p:nvPicPr>
        <p:blipFill>
          <a:blip r:embed="rId1"/>
          <a:stretch>
            <a:fillRect/>
          </a:stretch>
        </p:blipFill>
        <p:spPr>
          <a:xfrm>
            <a:off x="3174921" y="3153291"/>
            <a:ext cx="190495" cy="190495"/>
          </a:xfrm>
          <a:prstGeom prst="rect">
            <a:avLst/>
          </a:prstGeom>
        </p:spPr>
      </p:pic>
      <p:sp>
        <p:nvSpPr>
          <p:cNvPr id="19" name="Text 16"/>
          <p:cNvSpPr txBox="1"/>
          <p:nvPr/>
        </p:nvSpPr>
        <p:spPr>
          <a:xfrm>
            <a:off x="3428914" y="3149521"/>
            <a:ext cx="120245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outbox_event</a:t>
            </a:r>
            <a:endParaRPr lang="en-US" sz="1300" dirty="0"/>
          </a:p>
        </p:txBody>
      </p:sp>
      <p:sp>
        <p:nvSpPr>
          <p:cNvPr id="20" name="Text 17"/>
          <p:cNvSpPr txBox="1"/>
          <p:nvPr/>
        </p:nvSpPr>
        <p:spPr>
          <a:xfrm>
            <a:off x="3174921" y="3372956"/>
            <a:ext cx="1664166"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same transaction as the state change</a:t>
            </a:r>
            <a:endParaRPr lang="en-US" sz="1200" dirty="0"/>
          </a:p>
        </p:txBody>
      </p:sp>
      <p:sp>
        <p:nvSpPr>
          <p:cNvPr id="21" name="Shape 18"/>
          <p:cNvSpPr/>
          <p:nvPr/>
        </p:nvSpPr>
        <p:spPr>
          <a:xfrm>
            <a:off x="5206870" y="3047924"/>
            <a:ext cx="1777956" cy="1142971"/>
          </a:xfrm>
          <a:prstGeom prst="roundRect">
            <a:avLst>
              <a:gd name="adj" fmla="val 7778"/>
            </a:avLst>
          </a:prstGeom>
          <a:solidFill>
            <a:srgbClr val="FCFDFF"/>
          </a:solidFill>
          <a:ln w="12700">
            <a:solidFill>
              <a:srgbClr val="3F5F95"/>
            </a:solidFill>
            <a:prstDash val="solid"/>
          </a:ln>
        </p:spPr>
      </p:sp>
      <p:sp>
        <p:nvSpPr>
          <p:cNvPr id="22" name="Shape 19"/>
          <p:cNvSpPr/>
          <p:nvPr/>
        </p:nvSpPr>
        <p:spPr>
          <a:xfrm>
            <a:off x="5206870" y="3047924"/>
            <a:ext cx="50799" cy="1142971"/>
          </a:xfrm>
          <a:prstGeom prst="roundRect">
            <a:avLst>
              <a:gd name="adj" fmla="val 50000"/>
            </a:avLst>
          </a:prstGeom>
          <a:solidFill>
            <a:srgbClr val="3F5F95"/>
          </a:solidFill>
          <a:ln/>
        </p:spPr>
      </p:sp>
      <p:pic>
        <p:nvPicPr>
          <p:cNvPr id="23" name="Image 1" descr="preencoded.png">    </p:cNvPr>
          <p:cNvPicPr>
            <a:picLocks noChangeAspect="1"/>
          </p:cNvPicPr>
          <p:nvPr/>
        </p:nvPicPr>
        <p:blipFill>
          <a:blip r:embed="rId2"/>
          <a:stretch>
            <a:fillRect/>
          </a:stretch>
        </p:blipFill>
        <p:spPr>
          <a:xfrm>
            <a:off x="5371966" y="3153291"/>
            <a:ext cx="190495" cy="190495"/>
          </a:xfrm>
          <a:prstGeom prst="rect">
            <a:avLst/>
          </a:prstGeom>
        </p:spPr>
      </p:pic>
      <p:sp>
        <p:nvSpPr>
          <p:cNvPr id="24" name="Text 20"/>
          <p:cNvSpPr txBox="1"/>
          <p:nvPr/>
        </p:nvSpPr>
        <p:spPr>
          <a:xfrm>
            <a:off x="5625959" y="3149521"/>
            <a:ext cx="109422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outbox relay</a:t>
            </a:r>
            <a:endParaRPr lang="en-US" sz="1300" dirty="0"/>
          </a:p>
        </p:txBody>
      </p:sp>
      <p:sp>
        <p:nvSpPr>
          <p:cNvPr id="25" name="Text 21"/>
          <p:cNvSpPr txBox="1"/>
          <p:nvPr/>
        </p:nvSpPr>
        <p:spPr>
          <a:xfrm>
            <a:off x="5371966" y="3372956"/>
            <a:ext cx="1664166"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 s poll, 100 rows, SKIP LOCKED</a:t>
            </a:r>
            <a:endParaRPr lang="en-US" sz="1200" dirty="0"/>
          </a:p>
        </p:txBody>
      </p:sp>
      <p:sp>
        <p:nvSpPr>
          <p:cNvPr id="26" name="Shape 22"/>
          <p:cNvSpPr/>
          <p:nvPr/>
        </p:nvSpPr>
        <p:spPr>
          <a:xfrm>
            <a:off x="7403915" y="2666933"/>
            <a:ext cx="1777956" cy="1904952"/>
          </a:xfrm>
          <a:prstGeom prst="roundRect">
            <a:avLst>
              <a:gd name="adj" fmla="val 5000"/>
            </a:avLst>
          </a:prstGeom>
          <a:solidFill>
            <a:srgbClr val="FCFDFF"/>
          </a:solidFill>
          <a:ln w="12700">
            <a:solidFill>
              <a:srgbClr val="4B4B9A"/>
            </a:solidFill>
            <a:prstDash val="solid"/>
          </a:ln>
        </p:spPr>
      </p:sp>
      <p:sp>
        <p:nvSpPr>
          <p:cNvPr id="27" name="Shape 23"/>
          <p:cNvSpPr/>
          <p:nvPr/>
        </p:nvSpPr>
        <p:spPr>
          <a:xfrm>
            <a:off x="7403915" y="2666933"/>
            <a:ext cx="50799" cy="1904952"/>
          </a:xfrm>
          <a:prstGeom prst="roundRect">
            <a:avLst>
              <a:gd name="adj" fmla="val 50000"/>
            </a:avLst>
          </a:prstGeom>
          <a:solidFill>
            <a:srgbClr val="4B4B9A"/>
          </a:solidFill>
          <a:ln/>
        </p:spPr>
      </p:sp>
      <p:pic>
        <p:nvPicPr>
          <p:cNvPr id="28" name="Image 2" descr="preencoded.png">    </p:cNvPr>
          <p:cNvPicPr>
            <a:picLocks noChangeAspect="1"/>
          </p:cNvPicPr>
          <p:nvPr/>
        </p:nvPicPr>
        <p:blipFill>
          <a:blip r:embed="rId3"/>
          <a:stretch>
            <a:fillRect/>
          </a:stretch>
        </p:blipFill>
        <p:spPr>
          <a:xfrm>
            <a:off x="7569011" y="2772301"/>
            <a:ext cx="190495" cy="190495"/>
          </a:xfrm>
          <a:prstGeom prst="rect">
            <a:avLst/>
          </a:prstGeom>
        </p:spPr>
      </p:pic>
      <p:sp>
        <p:nvSpPr>
          <p:cNvPr id="29" name="Text 24"/>
          <p:cNvSpPr txBox="1"/>
          <p:nvPr/>
        </p:nvSpPr>
        <p:spPr>
          <a:xfrm>
            <a:off x="7823004" y="2768531"/>
            <a:ext cx="5003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30" name="Text 25"/>
          <p:cNvSpPr txBox="1"/>
          <p:nvPr/>
        </p:nvSpPr>
        <p:spPr>
          <a:xfrm>
            <a:off x="7569011" y="2991966"/>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13 topics</a:t>
            </a:r>
            <a:endParaRPr lang="en-US" sz="1200" dirty="0"/>
          </a:p>
        </p:txBody>
      </p:sp>
      <p:sp>
        <p:nvSpPr>
          <p:cNvPr id="31" name="Text 26"/>
          <p:cNvSpPr txBox="1"/>
          <p:nvPr/>
        </p:nvSpPr>
        <p:spPr>
          <a:xfrm>
            <a:off x="7569011" y="3223041"/>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key = aggregate id</a:t>
            </a:r>
            <a:endParaRPr lang="en-US" sz="1200" dirty="0"/>
          </a:p>
        </p:txBody>
      </p:sp>
      <p:sp>
        <p:nvSpPr>
          <p:cNvPr id="32" name="Text 27"/>
          <p:cNvSpPr txBox="1"/>
          <p:nvPr/>
        </p:nvSpPr>
        <p:spPr>
          <a:xfrm>
            <a:off x="7569011" y="3454115"/>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acks=all, idempotent</a:t>
            </a:r>
            <a:endParaRPr lang="en-US" sz="1200" dirty="0"/>
          </a:p>
        </p:txBody>
      </p:sp>
      <p:sp>
        <p:nvSpPr>
          <p:cNvPr id="33" name="Shape 28"/>
          <p:cNvSpPr/>
          <p:nvPr/>
        </p:nvSpPr>
        <p:spPr>
          <a:xfrm>
            <a:off x="7403915" y="4825879"/>
            <a:ext cx="1777956" cy="634984"/>
          </a:xfrm>
          <a:prstGeom prst="roundRect">
            <a:avLst>
              <a:gd name="adj" fmla="val 14000"/>
            </a:avLst>
          </a:prstGeom>
          <a:solidFill>
            <a:srgbClr val="FBE4E2"/>
          </a:solidFill>
          <a:ln w="12700">
            <a:solidFill>
              <a:srgbClr val="C0352B"/>
            </a:solidFill>
            <a:prstDash val="dash"/>
          </a:ln>
        </p:spPr>
      </p:sp>
      <p:sp>
        <p:nvSpPr>
          <p:cNvPr id="34" name="Shape 29"/>
          <p:cNvSpPr/>
          <p:nvPr/>
        </p:nvSpPr>
        <p:spPr>
          <a:xfrm>
            <a:off x="7403915" y="4825879"/>
            <a:ext cx="50799" cy="634984"/>
          </a:xfrm>
          <a:prstGeom prst="roundRect">
            <a:avLst>
              <a:gd name="adj" fmla="val 50000"/>
            </a:avLst>
          </a:prstGeom>
          <a:solidFill>
            <a:srgbClr val="C0352B"/>
          </a:solidFill>
          <a:ln/>
        </p:spPr>
      </p:sp>
      <p:sp>
        <p:nvSpPr>
          <p:cNvPr id="35" name="Text 30"/>
          <p:cNvSpPr txBox="1"/>
          <p:nvPr/>
        </p:nvSpPr>
        <p:spPr>
          <a:xfrm>
            <a:off x="7569011" y="4889378"/>
            <a:ext cx="166416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topic.DLT</a:t>
            </a:r>
            <a:endParaRPr lang="en-US" sz="1300" dirty="0"/>
          </a:p>
        </p:txBody>
      </p:sp>
      <p:sp>
        <p:nvSpPr>
          <p:cNvPr id="36" name="Text 31"/>
          <p:cNvSpPr txBox="1"/>
          <p:nvPr/>
        </p:nvSpPr>
        <p:spPr>
          <a:xfrm>
            <a:off x="7569011" y="5112813"/>
            <a:ext cx="1664166" cy="205735"/>
          </a:xfrm>
          <a:prstGeom prst="rect">
            <a:avLst/>
          </a:prstGeom>
          <a:noFill/>
          <a:ln/>
        </p:spPr>
        <p:txBody>
          <a:bodyPr wrap="square" lIns="0" tIns="0" rIns="0" bIns="0" rtlCol="0" anchor="t"/>
          <a:lstStyle/>
          <a:p>
            <a:pPr algn="l" indent="0" marL="0">
              <a:lnSpc>
                <a:spcPct val="112500"/>
              </a:lnSpc>
              <a:buNone/>
            </a:pPr>
            <a:r>
              <a:rPr lang="en-US" sz="1200" dirty="0">
                <a:solidFill>
                  <a:srgbClr val="C0352B"/>
                </a:solidFill>
                <a:latin typeface="Calibri" pitchFamily="34" charset="0"/>
                <a:ea typeface="Calibri" pitchFamily="34" charset="-122"/>
                <a:cs typeface="Calibri" pitchFamily="34" charset="-120"/>
              </a:rPr>
              <a:t>after 3 retries</a:t>
            </a:r>
            <a:endParaRPr lang="en-US" sz="1200" dirty="0"/>
          </a:p>
        </p:txBody>
      </p:sp>
      <p:sp>
        <p:nvSpPr>
          <p:cNvPr id="37" name="Shape 32"/>
          <p:cNvSpPr/>
          <p:nvPr/>
        </p:nvSpPr>
        <p:spPr>
          <a:xfrm>
            <a:off x="9600960" y="1841454"/>
            <a:ext cx="1777956" cy="3809905"/>
          </a:xfrm>
          <a:prstGeom prst="roundRect">
            <a:avLst>
              <a:gd name="adj" fmla="val 5714"/>
            </a:avLst>
          </a:prstGeom>
          <a:solidFill>
            <a:srgbClr val="FCFDFF"/>
          </a:solidFill>
          <a:ln w="12700">
            <a:solidFill>
              <a:srgbClr val="B8306E"/>
            </a:solidFill>
            <a:prstDash val="solid"/>
          </a:ln>
        </p:spPr>
      </p:sp>
      <p:sp>
        <p:nvSpPr>
          <p:cNvPr id="38" name="Text 33"/>
          <p:cNvSpPr txBox="1"/>
          <p:nvPr/>
        </p:nvSpPr>
        <p:spPr>
          <a:xfrm>
            <a:off x="9727957" y="1968451"/>
            <a:ext cx="1706837" cy="231134"/>
          </a:xfrm>
          <a:prstGeom prst="rect">
            <a:avLst/>
          </a:prstGeom>
          <a:noFill/>
          <a:ln/>
        </p:spPr>
        <p:txBody>
          <a:bodyPr wrap="square" lIns="0" tIns="0" rIns="0" bIns="0" rtlCol="0" anchor="t"/>
          <a:lstStyle/>
          <a:p>
            <a:pPr algn="l" indent="0" marL="0">
              <a:lnSpc>
                <a:spcPct val="116667"/>
              </a:lnSpc>
              <a:buNone/>
            </a:pPr>
            <a:r>
              <a:rPr lang="en-US" sz="1300" b="1" dirty="0">
                <a:solidFill>
                  <a:srgbClr val="B8306E"/>
                </a:solidFill>
                <a:latin typeface="Calibri" pitchFamily="34" charset="0"/>
                <a:ea typeface="Calibri" pitchFamily="34" charset="-122"/>
                <a:cs typeface="Calibri" pitchFamily="34" charset="-120"/>
              </a:rPr>
              <a:t>Consumers</a:t>
            </a:r>
            <a:endParaRPr lang="en-US" sz="1300" dirty="0"/>
          </a:p>
        </p:txBody>
      </p:sp>
      <p:sp>
        <p:nvSpPr>
          <p:cNvPr id="39" name="Shape 34"/>
          <p:cNvSpPr/>
          <p:nvPr/>
        </p:nvSpPr>
        <p:spPr>
          <a:xfrm>
            <a:off x="9727957" y="2263024"/>
            <a:ext cx="1523962" cy="299633"/>
          </a:xfrm>
          <a:prstGeom prst="roundRect">
            <a:avLst>
              <a:gd name="adj" fmla="val 21192"/>
            </a:avLst>
          </a:prstGeom>
          <a:solidFill>
            <a:srgbClr val="FAE3ED"/>
          </a:solidFill>
          <a:ln/>
        </p:spPr>
      </p:sp>
      <p:sp>
        <p:nvSpPr>
          <p:cNvPr id="40" name="Text 35"/>
          <p:cNvSpPr txBox="1"/>
          <p:nvPr/>
        </p:nvSpPr>
        <p:spPr>
          <a:xfrm>
            <a:off x="9816855" y="2313823"/>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a:t>
            </a:r>
            <a:endParaRPr lang="en-US" sz="1200" dirty="0"/>
          </a:p>
        </p:txBody>
      </p:sp>
      <p:sp>
        <p:nvSpPr>
          <p:cNvPr id="41" name="Shape 36"/>
          <p:cNvSpPr/>
          <p:nvPr/>
        </p:nvSpPr>
        <p:spPr>
          <a:xfrm>
            <a:off x="9727957" y="2626155"/>
            <a:ext cx="1523962" cy="299633"/>
          </a:xfrm>
          <a:prstGeom prst="roundRect">
            <a:avLst>
              <a:gd name="adj" fmla="val 21192"/>
            </a:avLst>
          </a:prstGeom>
          <a:solidFill>
            <a:srgbClr val="FAE3ED"/>
          </a:solidFill>
          <a:ln/>
        </p:spPr>
      </p:sp>
      <p:sp>
        <p:nvSpPr>
          <p:cNvPr id="42" name="Text 37"/>
          <p:cNvSpPr txBox="1"/>
          <p:nvPr/>
        </p:nvSpPr>
        <p:spPr>
          <a:xfrm>
            <a:off x="9816855" y="2676954"/>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dispatch</a:t>
            </a:r>
            <a:endParaRPr lang="en-US" sz="1200" dirty="0"/>
          </a:p>
        </p:txBody>
      </p:sp>
      <p:sp>
        <p:nvSpPr>
          <p:cNvPr id="43" name="Shape 38"/>
          <p:cNvSpPr/>
          <p:nvPr/>
        </p:nvSpPr>
        <p:spPr>
          <a:xfrm>
            <a:off x="9727957" y="2989287"/>
            <a:ext cx="1523962" cy="299633"/>
          </a:xfrm>
          <a:prstGeom prst="roundRect">
            <a:avLst>
              <a:gd name="adj" fmla="val 21192"/>
            </a:avLst>
          </a:prstGeom>
          <a:solidFill>
            <a:srgbClr val="FAE3ED"/>
          </a:solidFill>
          <a:ln/>
        </p:spPr>
      </p:sp>
      <p:sp>
        <p:nvSpPr>
          <p:cNvPr id="44" name="Text 39"/>
          <p:cNvSpPr txBox="1"/>
          <p:nvPr/>
        </p:nvSpPr>
        <p:spPr>
          <a:xfrm>
            <a:off x="9816855" y="3040086"/>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invoice</a:t>
            </a:r>
            <a:endParaRPr lang="en-US" sz="1200" dirty="0"/>
          </a:p>
        </p:txBody>
      </p:sp>
      <p:sp>
        <p:nvSpPr>
          <p:cNvPr id="45" name="Shape 40"/>
          <p:cNvSpPr/>
          <p:nvPr/>
        </p:nvSpPr>
        <p:spPr>
          <a:xfrm>
            <a:off x="9727957" y="3352419"/>
            <a:ext cx="1523962" cy="299633"/>
          </a:xfrm>
          <a:prstGeom prst="roundRect">
            <a:avLst>
              <a:gd name="adj" fmla="val 21192"/>
            </a:avLst>
          </a:prstGeom>
          <a:solidFill>
            <a:srgbClr val="FAE3ED"/>
          </a:solidFill>
          <a:ln/>
        </p:spPr>
      </p:sp>
      <p:sp>
        <p:nvSpPr>
          <p:cNvPr id="46" name="Text 41"/>
          <p:cNvSpPr txBox="1"/>
          <p:nvPr/>
        </p:nvSpPr>
        <p:spPr>
          <a:xfrm>
            <a:off x="9816855" y="3403217"/>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47" name="Shape 42"/>
          <p:cNvSpPr/>
          <p:nvPr/>
        </p:nvSpPr>
        <p:spPr>
          <a:xfrm>
            <a:off x="9727957" y="3715550"/>
            <a:ext cx="1523962" cy="299633"/>
          </a:xfrm>
          <a:prstGeom prst="roundRect">
            <a:avLst>
              <a:gd name="adj" fmla="val 21192"/>
            </a:avLst>
          </a:prstGeom>
          <a:solidFill>
            <a:srgbClr val="FAE3ED"/>
          </a:solidFill>
          <a:ln/>
        </p:spPr>
      </p:sp>
      <p:sp>
        <p:nvSpPr>
          <p:cNvPr id="48" name="Text 43"/>
          <p:cNvSpPr txBox="1"/>
          <p:nvPr/>
        </p:nvSpPr>
        <p:spPr>
          <a:xfrm>
            <a:off x="9816855" y="3766349"/>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chat</a:t>
            </a:r>
            <a:endParaRPr lang="en-US" sz="1200" dirty="0"/>
          </a:p>
        </p:txBody>
      </p:sp>
      <p:sp>
        <p:nvSpPr>
          <p:cNvPr id="49" name="Shape 44"/>
          <p:cNvSpPr/>
          <p:nvPr/>
        </p:nvSpPr>
        <p:spPr>
          <a:xfrm>
            <a:off x="9727957" y="4078682"/>
            <a:ext cx="1523962" cy="299633"/>
          </a:xfrm>
          <a:prstGeom prst="roundRect">
            <a:avLst>
              <a:gd name="adj" fmla="val 21192"/>
            </a:avLst>
          </a:prstGeom>
          <a:solidFill>
            <a:srgbClr val="FAE3ED"/>
          </a:solidFill>
          <a:ln/>
        </p:spPr>
      </p:sp>
      <p:sp>
        <p:nvSpPr>
          <p:cNvPr id="50" name="Text 45"/>
          <p:cNvSpPr txBox="1"/>
          <p:nvPr/>
        </p:nvSpPr>
        <p:spPr>
          <a:xfrm>
            <a:off x="9816855" y="4129480"/>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location</a:t>
            </a:r>
            <a:endParaRPr lang="en-US" sz="1200" dirty="0"/>
          </a:p>
        </p:txBody>
      </p:sp>
      <p:sp>
        <p:nvSpPr>
          <p:cNvPr id="51" name="Shape 46"/>
          <p:cNvSpPr/>
          <p:nvPr/>
        </p:nvSpPr>
        <p:spPr>
          <a:xfrm>
            <a:off x="9727957" y="4441813"/>
            <a:ext cx="1523962" cy="299633"/>
          </a:xfrm>
          <a:prstGeom prst="roundRect">
            <a:avLst>
              <a:gd name="adj" fmla="val 21192"/>
            </a:avLst>
          </a:prstGeom>
          <a:solidFill>
            <a:srgbClr val="FAE3ED"/>
          </a:solidFill>
          <a:ln/>
        </p:spPr>
      </p:sp>
      <p:sp>
        <p:nvSpPr>
          <p:cNvPr id="52" name="Text 47"/>
          <p:cNvSpPr txBox="1"/>
          <p:nvPr/>
        </p:nvSpPr>
        <p:spPr>
          <a:xfrm>
            <a:off x="9816855" y="4492612"/>
            <a:ext cx="150770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notification</a:t>
            </a:r>
            <a:endParaRPr lang="en-US" sz="1200" dirty="0"/>
          </a:p>
        </p:txBody>
      </p:sp>
      <p:sp>
        <p:nvSpPr>
          <p:cNvPr id="53" name="Shape 48"/>
          <p:cNvSpPr/>
          <p:nvPr/>
        </p:nvSpPr>
        <p:spPr>
          <a:xfrm>
            <a:off x="2590735" y="3619410"/>
            <a:ext cx="419090" cy="63"/>
          </a:xfrm>
          <a:prstGeom prst="line">
            <a:avLst/>
          </a:prstGeom>
          <a:noFill/>
          <a:ln w="19050">
            <a:solidFill>
              <a:srgbClr val="5C6B8A"/>
            </a:solidFill>
            <a:prstDash val="solid"/>
            <a:tailEnd type="triangle"/>
          </a:ln>
        </p:spPr>
      </p:sp>
      <p:sp>
        <p:nvSpPr>
          <p:cNvPr id="54" name="Shape 49"/>
          <p:cNvSpPr/>
          <p:nvPr/>
        </p:nvSpPr>
        <p:spPr>
          <a:xfrm>
            <a:off x="4787780" y="3619410"/>
            <a:ext cx="419090" cy="63"/>
          </a:xfrm>
          <a:prstGeom prst="line">
            <a:avLst/>
          </a:prstGeom>
          <a:noFill/>
          <a:ln w="19050">
            <a:solidFill>
              <a:srgbClr val="5C6B8A"/>
            </a:solidFill>
            <a:prstDash val="solid"/>
            <a:tailEnd type="triangle"/>
          </a:ln>
        </p:spPr>
      </p:sp>
      <p:sp>
        <p:nvSpPr>
          <p:cNvPr id="55" name="Shape 50"/>
          <p:cNvSpPr/>
          <p:nvPr/>
        </p:nvSpPr>
        <p:spPr>
          <a:xfrm>
            <a:off x="6984825" y="3619410"/>
            <a:ext cx="419090" cy="63"/>
          </a:xfrm>
          <a:prstGeom prst="line">
            <a:avLst/>
          </a:prstGeom>
          <a:noFill/>
          <a:ln w="19050">
            <a:solidFill>
              <a:srgbClr val="4B4B9A"/>
            </a:solidFill>
            <a:prstDash val="solid"/>
            <a:tailEnd type="triangle"/>
          </a:ln>
        </p:spPr>
      </p:sp>
      <p:sp>
        <p:nvSpPr>
          <p:cNvPr id="56" name="Shape 51"/>
          <p:cNvSpPr/>
          <p:nvPr/>
        </p:nvSpPr>
        <p:spPr>
          <a:xfrm>
            <a:off x="9181870" y="3619410"/>
            <a:ext cx="419090" cy="63"/>
          </a:xfrm>
          <a:prstGeom prst="line">
            <a:avLst/>
          </a:prstGeom>
          <a:noFill/>
          <a:ln w="19050">
            <a:solidFill>
              <a:srgbClr val="4B4B9A"/>
            </a:solidFill>
            <a:prstDash val="solid"/>
            <a:tailEnd type="triangle"/>
          </a:ln>
        </p:spPr>
      </p:sp>
      <p:sp>
        <p:nvSpPr>
          <p:cNvPr id="57" name="Shape 52"/>
          <p:cNvSpPr/>
          <p:nvPr/>
        </p:nvSpPr>
        <p:spPr>
          <a:xfrm>
            <a:off x="8292893" y="4571886"/>
            <a:ext cx="63" cy="253994"/>
          </a:xfrm>
          <a:prstGeom prst="line">
            <a:avLst/>
          </a:prstGeom>
          <a:noFill/>
          <a:ln w="19050">
            <a:solidFill>
              <a:srgbClr val="C0352B"/>
            </a:solidFill>
            <a:prstDash val="dash"/>
            <a:tailEnd type="triangle"/>
          </a:ln>
        </p:spPr>
      </p:sp>
      <p:sp>
        <p:nvSpPr>
          <p:cNvPr id="58" name="Text 5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59" name="Text 5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ARCHITECTURE · SETTINGS IN THE DATABASE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Platform settings live in one table, not in env files</a:t>
            </a:r>
            <a:endParaRPr lang="en-US" sz="3000" dirty="0"/>
          </a:p>
        </p:txBody>
      </p:sp>
      <p:sp>
        <p:nvSpPr>
          <p:cNvPr id="4" name="Shape 2"/>
          <p:cNvSpPr/>
          <p:nvPr/>
        </p:nvSpPr>
        <p:spPr>
          <a:xfrm>
            <a:off x="812780" y="1904952"/>
            <a:ext cx="3555911" cy="2285943"/>
          </a:xfrm>
          <a:prstGeom prst="roundRect">
            <a:avLst>
              <a:gd name="adj" fmla="val 3889"/>
            </a:avLst>
          </a:prstGeom>
          <a:solidFill>
            <a:srgbClr val="FCFDFF"/>
          </a:solidFill>
          <a:ln w="12700">
            <a:solidFill>
              <a:srgbClr val="2F5C9A"/>
            </a:solidFill>
            <a:prstDash val="solid"/>
          </a:ln>
        </p:spPr>
      </p:sp>
      <p:sp>
        <p:nvSpPr>
          <p:cNvPr id="5" name="Shape 3"/>
          <p:cNvSpPr/>
          <p:nvPr/>
        </p:nvSpPr>
        <p:spPr>
          <a:xfrm>
            <a:off x="812780" y="1904952"/>
            <a:ext cx="50799" cy="2285943"/>
          </a:xfrm>
          <a:prstGeom prst="roundRect">
            <a:avLst>
              <a:gd name="adj" fmla="val 50000"/>
            </a:avLst>
          </a:prstGeom>
          <a:solidFill>
            <a:srgbClr val="2F5C9A"/>
          </a:solidFill>
          <a:ln/>
        </p:spPr>
      </p:sp>
      <p:pic>
        <p:nvPicPr>
          <p:cNvPr id="6" name="Image 0" descr="preencoded.png">    </p:cNvPr>
          <p:cNvPicPr>
            <a:picLocks noChangeAspect="1"/>
          </p:cNvPicPr>
          <p:nvPr/>
        </p:nvPicPr>
        <p:blipFill>
          <a:blip r:embed="rId1"/>
          <a:stretch>
            <a:fillRect/>
          </a:stretch>
        </p:blipFill>
        <p:spPr>
          <a:xfrm>
            <a:off x="977876" y="2010320"/>
            <a:ext cx="190495" cy="190495"/>
          </a:xfrm>
          <a:prstGeom prst="rect">
            <a:avLst/>
          </a:prstGeom>
        </p:spPr>
      </p:pic>
      <p:sp>
        <p:nvSpPr>
          <p:cNvPr id="7" name="Text 4"/>
          <p:cNvSpPr txBox="1"/>
          <p:nvPr/>
        </p:nvSpPr>
        <p:spPr>
          <a:xfrm>
            <a:off x="1231869" y="2006550"/>
            <a:ext cx="1539710"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config.app_config</a:t>
            </a:r>
            <a:endParaRPr lang="en-US" sz="1300" dirty="0"/>
          </a:p>
        </p:txBody>
      </p:sp>
      <p:sp>
        <p:nvSpPr>
          <p:cNvPr id="8" name="Text 5"/>
          <p:cNvSpPr txBox="1"/>
          <p:nvPr/>
        </p:nvSpPr>
        <p:spPr>
          <a:xfrm>
            <a:off x="977876" y="2229985"/>
            <a:ext cx="365547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config_key: a Spring property</a:t>
            </a:r>
            <a:endParaRPr lang="en-US" sz="1200" dirty="0"/>
          </a:p>
        </p:txBody>
      </p:sp>
      <p:sp>
        <p:nvSpPr>
          <p:cNvPr id="9" name="Text 6"/>
          <p:cNvSpPr txBox="1"/>
          <p:nvPr/>
        </p:nvSpPr>
        <p:spPr>
          <a:xfrm>
            <a:off x="977876" y="2461060"/>
            <a:ext cx="365547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config_value</a:t>
            </a:r>
            <a:endParaRPr lang="en-US" sz="1200" dirty="0"/>
          </a:p>
        </p:txBody>
      </p:sp>
      <p:sp>
        <p:nvSpPr>
          <p:cNvPr id="10" name="Text 7"/>
          <p:cNvSpPr txBox="1"/>
          <p:nvPr/>
        </p:nvSpPr>
        <p:spPr>
          <a:xfrm>
            <a:off x="977876" y="2692134"/>
            <a:ext cx="365547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exposed_to_clients: yes / no</a:t>
            </a:r>
            <a:endParaRPr lang="en-US" sz="1200" dirty="0"/>
          </a:p>
        </p:txBody>
      </p:sp>
      <p:sp>
        <p:nvSpPr>
          <p:cNvPr id="11" name="Text 8"/>
          <p:cNvSpPr txBox="1"/>
          <p:nvPr/>
        </p:nvSpPr>
        <p:spPr>
          <a:xfrm>
            <a:off x="977876" y="2923209"/>
            <a:ext cx="365547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seeded by a repeatable migration</a:t>
            </a:r>
            <a:endParaRPr lang="en-US" sz="1200" dirty="0"/>
          </a:p>
        </p:txBody>
      </p:sp>
      <p:sp>
        <p:nvSpPr>
          <p:cNvPr id="12" name="Text 9"/>
          <p:cNvSpPr txBox="1"/>
          <p:nvPr/>
        </p:nvSpPr>
        <p:spPr>
          <a:xfrm>
            <a:off x="977876" y="3154284"/>
            <a:ext cx="365547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changed with SQL, no admin screen</a:t>
            </a:r>
            <a:endParaRPr lang="en-US" sz="1200" dirty="0"/>
          </a:p>
        </p:txBody>
      </p:sp>
      <p:sp>
        <p:nvSpPr>
          <p:cNvPr id="13" name="Shape 10"/>
          <p:cNvSpPr/>
          <p:nvPr/>
        </p:nvSpPr>
        <p:spPr>
          <a:xfrm>
            <a:off x="812780" y="4444889"/>
            <a:ext cx="3555911" cy="1031055"/>
          </a:xfrm>
          <a:prstGeom prst="roundRect">
            <a:avLst>
              <a:gd name="adj" fmla="val 4927"/>
            </a:avLst>
          </a:prstGeom>
          <a:solidFill>
            <a:srgbClr val="E7EEFA"/>
          </a:solidFill>
          <a:ln/>
        </p:spPr>
      </p:sp>
      <p:sp>
        <p:nvSpPr>
          <p:cNvPr id="14" name="Shape 11"/>
          <p:cNvSpPr/>
          <p:nvPr/>
        </p:nvSpPr>
        <p:spPr>
          <a:xfrm>
            <a:off x="812780" y="4444889"/>
            <a:ext cx="38099" cy="1031055"/>
          </a:xfrm>
          <a:prstGeom prst="roundRect">
            <a:avLst>
              <a:gd name="adj" fmla="val 50000"/>
            </a:avLst>
          </a:prstGeom>
          <a:solidFill>
            <a:srgbClr val="2454C5"/>
          </a:solidFill>
          <a:ln/>
        </p:spPr>
      </p:sp>
      <p:sp>
        <p:nvSpPr>
          <p:cNvPr id="15" name="Text 12"/>
          <p:cNvSpPr txBox="1"/>
          <p:nvPr/>
        </p:nvSpPr>
        <p:spPr>
          <a:xfrm>
            <a:off x="965176" y="4533787"/>
            <a:ext cx="3683924" cy="85326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UPDATE config.app_config</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SET config_value = 'https://admin…'</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WHERE config_key =</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'homefix.apps.admin-portal-url';</a:t>
            </a:r>
            <a:endParaRPr lang="en-US" sz="1200" dirty="0"/>
          </a:p>
        </p:txBody>
      </p:sp>
      <p:sp>
        <p:nvSpPr>
          <p:cNvPr id="16" name="Shape 13"/>
          <p:cNvSpPr/>
          <p:nvPr/>
        </p:nvSpPr>
        <p:spPr>
          <a:xfrm>
            <a:off x="4952876" y="1904952"/>
            <a:ext cx="2793930" cy="1079473"/>
          </a:xfrm>
          <a:prstGeom prst="roundRect">
            <a:avLst>
              <a:gd name="adj" fmla="val 8235"/>
            </a:avLst>
          </a:prstGeom>
          <a:solidFill>
            <a:srgbClr val="FCFDFF"/>
          </a:solidFill>
          <a:ln w="12700">
            <a:solidFill>
              <a:srgbClr val="0B7F74"/>
            </a:solidFill>
            <a:prstDash val="solid"/>
          </a:ln>
        </p:spPr>
      </p:sp>
      <p:sp>
        <p:nvSpPr>
          <p:cNvPr id="17" name="Shape 14"/>
          <p:cNvSpPr/>
          <p:nvPr/>
        </p:nvSpPr>
        <p:spPr>
          <a:xfrm>
            <a:off x="4952876" y="1904952"/>
            <a:ext cx="50799" cy="1079473"/>
          </a:xfrm>
          <a:prstGeom prst="roundRect">
            <a:avLst>
              <a:gd name="adj" fmla="val 50000"/>
            </a:avLst>
          </a:prstGeom>
          <a:solidFill>
            <a:srgbClr val="0B7F74"/>
          </a:solidFill>
          <a:ln/>
        </p:spPr>
      </p:sp>
      <p:pic>
        <p:nvPicPr>
          <p:cNvPr id="18" name="Image 1" descr="preencoded.png">    </p:cNvPr>
          <p:cNvPicPr>
            <a:picLocks noChangeAspect="1"/>
          </p:cNvPicPr>
          <p:nvPr/>
        </p:nvPicPr>
        <p:blipFill>
          <a:blip r:embed="rId2"/>
          <a:stretch>
            <a:fillRect/>
          </a:stretch>
        </p:blipFill>
        <p:spPr>
          <a:xfrm>
            <a:off x="5117972" y="2010320"/>
            <a:ext cx="190495" cy="190495"/>
          </a:xfrm>
          <a:prstGeom prst="rect">
            <a:avLst/>
          </a:prstGeom>
        </p:spPr>
      </p:pic>
      <p:sp>
        <p:nvSpPr>
          <p:cNvPr id="19" name="Text 15"/>
          <p:cNvSpPr txBox="1"/>
          <p:nvPr/>
        </p:nvSpPr>
        <p:spPr>
          <a:xfrm>
            <a:off x="5371966" y="2006550"/>
            <a:ext cx="2138547"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Every service, at startup</a:t>
            </a:r>
            <a:endParaRPr lang="en-US" sz="1300" dirty="0"/>
          </a:p>
        </p:txBody>
      </p:sp>
      <p:sp>
        <p:nvSpPr>
          <p:cNvPr id="20" name="Text 16"/>
          <p:cNvSpPr txBox="1"/>
          <p:nvPr/>
        </p:nvSpPr>
        <p:spPr>
          <a:xfrm>
            <a:off x="5117972" y="2229985"/>
            <a:ext cx="2802058"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reads the table with its own datasource</a:t>
            </a:r>
            <a:endParaRPr lang="en-US" sz="1200" dirty="0"/>
          </a:p>
        </p:txBody>
      </p:sp>
      <p:sp>
        <p:nvSpPr>
          <p:cNvPr id="21" name="Text 17"/>
          <p:cNvSpPr txBox="1"/>
          <p:nvPr/>
        </p:nvSpPr>
        <p:spPr>
          <a:xfrm>
            <a:off x="5117972" y="2666735"/>
            <a:ext cx="28020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rows become Spring properties</a:t>
            </a:r>
            <a:endParaRPr lang="en-US" sz="1200" dirty="0"/>
          </a:p>
        </p:txBody>
      </p:sp>
      <p:sp>
        <p:nvSpPr>
          <p:cNvPr id="22" name="Shape 18"/>
          <p:cNvSpPr/>
          <p:nvPr/>
        </p:nvSpPr>
        <p:spPr>
          <a:xfrm>
            <a:off x="4952876" y="3301917"/>
            <a:ext cx="2793930" cy="1079473"/>
          </a:xfrm>
          <a:prstGeom prst="roundRect">
            <a:avLst>
              <a:gd name="adj" fmla="val 8235"/>
            </a:avLst>
          </a:prstGeom>
          <a:solidFill>
            <a:srgbClr val="FCFDFF"/>
          </a:solidFill>
          <a:ln w="12700">
            <a:solidFill>
              <a:srgbClr val="6A3FC0"/>
            </a:solidFill>
            <a:prstDash val="solid"/>
          </a:ln>
        </p:spPr>
      </p:sp>
      <p:sp>
        <p:nvSpPr>
          <p:cNvPr id="23" name="Shape 19"/>
          <p:cNvSpPr/>
          <p:nvPr/>
        </p:nvSpPr>
        <p:spPr>
          <a:xfrm>
            <a:off x="4952876" y="3301917"/>
            <a:ext cx="50799" cy="1079473"/>
          </a:xfrm>
          <a:prstGeom prst="roundRect">
            <a:avLst>
              <a:gd name="adj" fmla="val 50000"/>
            </a:avLst>
          </a:prstGeom>
          <a:solidFill>
            <a:srgbClr val="6A3FC0"/>
          </a:solidFill>
          <a:ln/>
        </p:spPr>
      </p:sp>
      <p:pic>
        <p:nvPicPr>
          <p:cNvPr id="24" name="Image 2" descr="preencoded.png">    </p:cNvPr>
          <p:cNvPicPr>
            <a:picLocks noChangeAspect="1"/>
          </p:cNvPicPr>
          <p:nvPr/>
        </p:nvPicPr>
        <p:blipFill>
          <a:blip r:embed="rId3"/>
          <a:stretch>
            <a:fillRect/>
          </a:stretch>
        </p:blipFill>
        <p:spPr>
          <a:xfrm>
            <a:off x="5117972" y="3407285"/>
            <a:ext cx="190495" cy="190495"/>
          </a:xfrm>
          <a:prstGeom prst="rect">
            <a:avLst/>
          </a:prstGeom>
        </p:spPr>
      </p:pic>
      <p:sp>
        <p:nvSpPr>
          <p:cNvPr id="25" name="Text 20"/>
          <p:cNvSpPr txBox="1"/>
          <p:nvPr/>
        </p:nvSpPr>
        <p:spPr>
          <a:xfrm>
            <a:off x="5371966" y="3403515"/>
            <a:ext cx="155693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GET /config/client</a:t>
            </a:r>
            <a:endParaRPr lang="en-US" sz="1300" dirty="0"/>
          </a:p>
        </p:txBody>
      </p:sp>
      <p:sp>
        <p:nvSpPr>
          <p:cNvPr id="26" name="Text 21"/>
          <p:cNvSpPr txBox="1"/>
          <p:nvPr/>
        </p:nvSpPr>
        <p:spPr>
          <a:xfrm>
            <a:off x="5117972" y="3626950"/>
            <a:ext cx="28020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exposed rows only, no sign-in</a:t>
            </a:r>
            <a:endParaRPr lang="en-US" sz="1200" dirty="0"/>
          </a:p>
        </p:txBody>
      </p:sp>
      <p:sp>
        <p:nvSpPr>
          <p:cNvPr id="27" name="Text 22"/>
          <p:cNvSpPr txBox="1"/>
          <p:nvPr/>
        </p:nvSpPr>
        <p:spPr>
          <a:xfrm>
            <a:off x="5117972" y="3858025"/>
            <a:ext cx="28020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catalog-service, 5-min cache</a:t>
            </a:r>
            <a:endParaRPr lang="en-US" sz="1200" dirty="0"/>
          </a:p>
        </p:txBody>
      </p:sp>
      <p:sp>
        <p:nvSpPr>
          <p:cNvPr id="28" name="Shape 23"/>
          <p:cNvSpPr/>
          <p:nvPr/>
        </p:nvSpPr>
        <p:spPr>
          <a:xfrm>
            <a:off x="4952876" y="4698883"/>
            <a:ext cx="2793930" cy="888978"/>
          </a:xfrm>
          <a:prstGeom prst="roundRect">
            <a:avLst>
              <a:gd name="adj" fmla="val 10000"/>
            </a:avLst>
          </a:prstGeom>
          <a:solidFill>
            <a:srgbClr val="FCFDFF"/>
          </a:solidFill>
          <a:ln w="12700">
            <a:solidFill>
              <a:srgbClr val="B8306E"/>
            </a:solidFill>
            <a:prstDash val="solid"/>
          </a:ln>
        </p:spPr>
      </p:sp>
      <p:sp>
        <p:nvSpPr>
          <p:cNvPr id="29" name="Shape 24"/>
          <p:cNvSpPr/>
          <p:nvPr/>
        </p:nvSpPr>
        <p:spPr>
          <a:xfrm>
            <a:off x="4952876" y="4698883"/>
            <a:ext cx="50799" cy="888978"/>
          </a:xfrm>
          <a:prstGeom prst="roundRect">
            <a:avLst>
              <a:gd name="adj" fmla="val 50000"/>
            </a:avLst>
          </a:prstGeom>
          <a:solidFill>
            <a:srgbClr val="B8306E"/>
          </a:solidFill>
          <a:ln/>
        </p:spPr>
      </p:sp>
      <p:pic>
        <p:nvPicPr>
          <p:cNvPr id="30" name="Image 3" descr="preencoded.png">    </p:cNvPr>
          <p:cNvPicPr>
            <a:picLocks noChangeAspect="1"/>
          </p:cNvPicPr>
          <p:nvPr/>
        </p:nvPicPr>
        <p:blipFill>
          <a:blip r:embed="rId4"/>
          <a:stretch>
            <a:fillRect/>
          </a:stretch>
        </p:blipFill>
        <p:spPr>
          <a:xfrm>
            <a:off x="5117972" y="4804250"/>
            <a:ext cx="190495" cy="190495"/>
          </a:xfrm>
          <a:prstGeom prst="rect">
            <a:avLst/>
          </a:prstGeom>
        </p:spPr>
      </p:pic>
      <p:sp>
        <p:nvSpPr>
          <p:cNvPr id="31" name="Text 25"/>
          <p:cNvSpPr txBox="1"/>
          <p:nvPr/>
        </p:nvSpPr>
        <p:spPr>
          <a:xfrm>
            <a:off x="5371966" y="4800480"/>
            <a:ext cx="82319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Web apps</a:t>
            </a:r>
            <a:endParaRPr lang="en-US" sz="1300" dirty="0"/>
          </a:p>
        </p:txBody>
      </p:sp>
      <p:sp>
        <p:nvSpPr>
          <p:cNvPr id="32" name="Text 26"/>
          <p:cNvSpPr txBox="1"/>
          <p:nvPr/>
        </p:nvSpPr>
        <p:spPr>
          <a:xfrm>
            <a:off x="5117972" y="5023915"/>
            <a:ext cx="280205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app URLs, provider link</a:t>
            </a:r>
            <a:endParaRPr lang="en-US" sz="1200" dirty="0"/>
          </a:p>
        </p:txBody>
      </p:sp>
      <p:sp>
        <p:nvSpPr>
          <p:cNvPr id="33" name="Shape 27"/>
          <p:cNvSpPr/>
          <p:nvPr/>
        </p:nvSpPr>
        <p:spPr>
          <a:xfrm>
            <a:off x="8254794" y="1904952"/>
            <a:ext cx="3124122" cy="3682908"/>
          </a:xfrm>
          <a:prstGeom prst="roundRect">
            <a:avLst>
              <a:gd name="adj" fmla="val 2846"/>
            </a:avLst>
          </a:prstGeom>
          <a:solidFill>
            <a:srgbClr val="DDF2EF"/>
          </a:solidFill>
          <a:ln/>
        </p:spPr>
      </p:sp>
      <p:sp>
        <p:nvSpPr>
          <p:cNvPr id="34" name="Text 28"/>
          <p:cNvSpPr txBox="1"/>
          <p:nvPr/>
        </p:nvSpPr>
        <p:spPr>
          <a:xfrm>
            <a:off x="8394490" y="2044649"/>
            <a:ext cx="3186096" cy="248914"/>
          </a:xfrm>
          <a:prstGeom prst="rect">
            <a:avLst/>
          </a:prstGeom>
          <a:noFill/>
          <a:ln/>
        </p:spPr>
        <p:txBody>
          <a:bodyPr wrap="square" lIns="0" tIns="0" rIns="0" bIns="0" rtlCol="0" anchor="t"/>
          <a:lstStyle/>
          <a:p>
            <a:pPr algn="l" indent="0" marL="0">
              <a:lnSpc>
                <a:spcPct val="116667"/>
              </a:lnSpc>
              <a:buNone/>
            </a:pPr>
            <a:r>
              <a:rPr lang="en-US" sz="1400" b="1" dirty="0">
                <a:solidFill>
                  <a:srgbClr val="1F3A70"/>
                </a:solidFill>
                <a:latin typeface="Calibri" pitchFamily="34" charset="0"/>
                <a:ea typeface="Calibri" pitchFamily="34" charset="-122"/>
                <a:cs typeface="Calibri" pitchFamily="34" charset="-120"/>
              </a:rPr>
              <a:t>Which value wins</a:t>
            </a:r>
            <a:endParaRPr lang="en-US" sz="1400" dirty="0"/>
          </a:p>
        </p:txBody>
      </p:sp>
      <p:sp>
        <p:nvSpPr>
          <p:cNvPr id="35" name="Text 29"/>
          <p:cNvSpPr txBox="1"/>
          <p:nvPr/>
        </p:nvSpPr>
        <p:spPr>
          <a:xfrm>
            <a:off x="8394490" y="2407780"/>
            <a:ext cx="330192" cy="266693"/>
          </a:xfrm>
          <a:prstGeom prst="rect">
            <a:avLst/>
          </a:prstGeom>
          <a:noFill/>
          <a:ln/>
        </p:spPr>
        <p:txBody>
          <a:bodyPr wrap="square" lIns="0" tIns="0" rIns="0" bIns="0" rtlCol="0" anchor="t"/>
          <a:lstStyle/>
          <a:p>
            <a:pPr algn="l" indent="0" marL="0">
              <a:lnSpc>
                <a:spcPct val="116667"/>
              </a:lnSpc>
              <a:buNone/>
            </a:pPr>
            <a:r>
              <a:rPr lang="en-US" sz="1500" b="1" dirty="0">
                <a:solidFill>
                  <a:srgbClr val="5C6B8A"/>
                </a:solidFill>
                <a:latin typeface="Calibri" pitchFamily="34" charset="0"/>
                <a:ea typeface="Calibri" pitchFamily="34" charset="-122"/>
                <a:cs typeface="Calibri" pitchFamily="34" charset="-120"/>
              </a:rPr>
              <a:t>1</a:t>
            </a:r>
            <a:endParaRPr lang="en-US" sz="1500" dirty="0"/>
          </a:p>
        </p:txBody>
      </p:sp>
      <p:sp>
        <p:nvSpPr>
          <p:cNvPr id="36" name="Text 30"/>
          <p:cNvSpPr txBox="1"/>
          <p:nvPr/>
        </p:nvSpPr>
        <p:spPr>
          <a:xfrm>
            <a:off x="8737382" y="2438240"/>
            <a:ext cx="1963752"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Command-line arguments</a:t>
            </a:r>
            <a:endParaRPr lang="en-US" sz="1200" dirty="0"/>
          </a:p>
        </p:txBody>
      </p:sp>
      <p:sp>
        <p:nvSpPr>
          <p:cNvPr id="37" name="Text 31"/>
          <p:cNvSpPr txBox="1"/>
          <p:nvPr/>
        </p:nvSpPr>
        <p:spPr>
          <a:xfrm>
            <a:off x="8394490" y="2788771"/>
            <a:ext cx="330192" cy="266693"/>
          </a:xfrm>
          <a:prstGeom prst="rect">
            <a:avLst/>
          </a:prstGeom>
          <a:noFill/>
          <a:ln/>
        </p:spPr>
        <p:txBody>
          <a:bodyPr wrap="square" lIns="0" tIns="0" rIns="0" bIns="0" rtlCol="0" anchor="t"/>
          <a:lstStyle/>
          <a:p>
            <a:pPr algn="l" indent="0" marL="0">
              <a:lnSpc>
                <a:spcPct val="116667"/>
              </a:lnSpc>
              <a:buNone/>
            </a:pPr>
            <a:r>
              <a:rPr lang="en-US" sz="1500" b="1" dirty="0">
                <a:solidFill>
                  <a:srgbClr val="5C6B8A"/>
                </a:solidFill>
                <a:latin typeface="Calibri" pitchFamily="34" charset="0"/>
                <a:ea typeface="Calibri" pitchFamily="34" charset="-122"/>
                <a:cs typeface="Calibri" pitchFamily="34" charset="-120"/>
              </a:rPr>
              <a:t>2</a:t>
            </a:r>
            <a:endParaRPr lang="en-US" sz="1500" dirty="0"/>
          </a:p>
        </p:txBody>
      </p:sp>
      <p:sp>
        <p:nvSpPr>
          <p:cNvPr id="38" name="Text 32"/>
          <p:cNvSpPr txBox="1"/>
          <p:nvPr/>
        </p:nvSpPr>
        <p:spPr>
          <a:xfrm>
            <a:off x="8737382" y="2819230"/>
            <a:ext cx="168872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Environment variables</a:t>
            </a:r>
            <a:endParaRPr lang="en-US" sz="1200" dirty="0"/>
          </a:p>
        </p:txBody>
      </p:sp>
      <p:sp>
        <p:nvSpPr>
          <p:cNvPr id="39" name="Text 33"/>
          <p:cNvSpPr txBox="1"/>
          <p:nvPr/>
        </p:nvSpPr>
        <p:spPr>
          <a:xfrm>
            <a:off x="8394490" y="3169761"/>
            <a:ext cx="330192" cy="266693"/>
          </a:xfrm>
          <a:prstGeom prst="rect">
            <a:avLst/>
          </a:prstGeom>
          <a:noFill/>
          <a:ln/>
        </p:spPr>
        <p:txBody>
          <a:bodyPr wrap="square" lIns="0" tIns="0" rIns="0" bIns="0" rtlCol="0" anchor="t"/>
          <a:lstStyle/>
          <a:p>
            <a:pPr algn="l" indent="0" marL="0">
              <a:lnSpc>
                <a:spcPct val="116667"/>
              </a:lnSpc>
              <a:buNone/>
            </a:pPr>
            <a:r>
              <a:rPr lang="en-US" sz="1500" b="1" dirty="0">
                <a:solidFill>
                  <a:srgbClr val="0B7F74"/>
                </a:solidFill>
                <a:latin typeface="Calibri" pitchFamily="34" charset="0"/>
                <a:ea typeface="Calibri" pitchFamily="34" charset="-122"/>
                <a:cs typeface="Calibri" pitchFamily="34" charset="-120"/>
              </a:rPr>
              <a:t>3</a:t>
            </a:r>
            <a:endParaRPr lang="en-US" sz="1500" dirty="0"/>
          </a:p>
        </p:txBody>
      </p:sp>
      <p:sp>
        <p:nvSpPr>
          <p:cNvPr id="40" name="Text 34"/>
          <p:cNvSpPr txBox="1"/>
          <p:nvPr/>
        </p:nvSpPr>
        <p:spPr>
          <a:xfrm>
            <a:off x="8737382" y="3200221"/>
            <a:ext cx="1820626" cy="205735"/>
          </a:xfrm>
          <a:prstGeom prst="rect">
            <a:avLst/>
          </a:prstGeom>
          <a:noFill/>
          <a:ln/>
        </p:spPr>
        <p:txBody>
          <a:bodyPr wrap="square" lIns="0" tIns="0" rIns="0" bIns="0" rtlCol="0" anchor="t"/>
          <a:lstStyle/>
          <a:p>
            <a:pPr algn="l" indent="0" marL="0">
              <a:lnSpc>
                <a:spcPct val="112500"/>
              </a:lnSpc>
              <a:buNone/>
            </a:pPr>
            <a:r>
              <a:rPr lang="en-US" sz="1200" b="1" dirty="0">
                <a:solidFill>
                  <a:srgbClr val="1F3A70"/>
                </a:solidFill>
                <a:latin typeface="Calibri" pitchFamily="34" charset="0"/>
                <a:ea typeface="Calibri" pitchFamily="34" charset="-122"/>
                <a:cs typeface="Calibri" pitchFamily="34" charset="-120"/>
              </a:rPr>
              <a:t>config.app_config row</a:t>
            </a:r>
            <a:endParaRPr lang="en-US" sz="1200" dirty="0"/>
          </a:p>
        </p:txBody>
      </p:sp>
      <p:sp>
        <p:nvSpPr>
          <p:cNvPr id="41" name="Text 35"/>
          <p:cNvSpPr txBox="1"/>
          <p:nvPr/>
        </p:nvSpPr>
        <p:spPr>
          <a:xfrm>
            <a:off x="8394490" y="3550752"/>
            <a:ext cx="330192" cy="266693"/>
          </a:xfrm>
          <a:prstGeom prst="rect">
            <a:avLst/>
          </a:prstGeom>
          <a:noFill/>
          <a:ln/>
        </p:spPr>
        <p:txBody>
          <a:bodyPr wrap="square" lIns="0" tIns="0" rIns="0" bIns="0" rtlCol="0" anchor="t"/>
          <a:lstStyle/>
          <a:p>
            <a:pPr algn="l" indent="0" marL="0">
              <a:lnSpc>
                <a:spcPct val="116667"/>
              </a:lnSpc>
              <a:buNone/>
            </a:pPr>
            <a:r>
              <a:rPr lang="en-US" sz="1500" b="1" dirty="0">
                <a:solidFill>
                  <a:srgbClr val="5C6B8A"/>
                </a:solidFill>
                <a:latin typeface="Calibri" pitchFamily="34" charset="0"/>
                <a:ea typeface="Calibri" pitchFamily="34" charset="-122"/>
                <a:cs typeface="Calibri" pitchFamily="34" charset="-120"/>
              </a:rPr>
              <a:t>4</a:t>
            </a:r>
            <a:endParaRPr lang="en-US" sz="1500" dirty="0"/>
          </a:p>
        </p:txBody>
      </p:sp>
      <p:sp>
        <p:nvSpPr>
          <p:cNvPr id="42" name="Text 36"/>
          <p:cNvSpPr txBox="1"/>
          <p:nvPr/>
        </p:nvSpPr>
        <p:spPr>
          <a:xfrm>
            <a:off x="8737382" y="3581211"/>
            <a:ext cx="161282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&lt;service&gt;.yml default</a:t>
            </a:r>
            <a:endParaRPr lang="en-US" sz="1200" dirty="0"/>
          </a:p>
        </p:txBody>
      </p:sp>
      <p:sp>
        <p:nvSpPr>
          <p:cNvPr id="43" name="Text 37"/>
          <p:cNvSpPr txBox="1"/>
          <p:nvPr/>
        </p:nvSpPr>
        <p:spPr>
          <a:xfrm>
            <a:off x="8394490" y="3931742"/>
            <a:ext cx="3186096"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Seeded: the customer, provider and admin app URLs. Restart to apply a change.</a:t>
            </a:r>
            <a:endParaRPr lang="en-US" sz="1200" dirty="0"/>
          </a:p>
        </p:txBody>
      </p:sp>
      <p:sp>
        <p:nvSpPr>
          <p:cNvPr id="44" name="Shape 38"/>
          <p:cNvSpPr/>
          <p:nvPr/>
        </p:nvSpPr>
        <p:spPr>
          <a:xfrm>
            <a:off x="4368691" y="2444689"/>
            <a:ext cx="584185" cy="63"/>
          </a:xfrm>
          <a:prstGeom prst="line">
            <a:avLst/>
          </a:prstGeom>
          <a:noFill/>
          <a:ln w="19050">
            <a:solidFill>
              <a:srgbClr val="5C6B8A"/>
            </a:solidFill>
            <a:prstDash val="solid"/>
            <a:tailEnd type="triangle"/>
          </a:ln>
        </p:spPr>
      </p:sp>
      <p:sp>
        <p:nvSpPr>
          <p:cNvPr id="45" name="Shape 39"/>
          <p:cNvSpPr/>
          <p:nvPr/>
        </p:nvSpPr>
        <p:spPr>
          <a:xfrm>
            <a:off x="4368691" y="3841654"/>
            <a:ext cx="584185" cy="63"/>
          </a:xfrm>
          <a:prstGeom prst="line">
            <a:avLst/>
          </a:prstGeom>
          <a:noFill/>
          <a:ln w="19050">
            <a:solidFill>
              <a:srgbClr val="5C6B8A"/>
            </a:solidFill>
            <a:prstDash val="solid"/>
            <a:tailEnd type="triangle"/>
          </a:ln>
        </p:spPr>
      </p:sp>
      <p:sp>
        <p:nvSpPr>
          <p:cNvPr id="46" name="Shape 40"/>
          <p:cNvSpPr/>
          <p:nvPr/>
        </p:nvSpPr>
        <p:spPr>
          <a:xfrm>
            <a:off x="6349841" y="4381390"/>
            <a:ext cx="63" cy="317492"/>
          </a:xfrm>
          <a:prstGeom prst="line">
            <a:avLst/>
          </a:prstGeom>
          <a:noFill/>
          <a:ln w="19050">
            <a:solidFill>
              <a:srgbClr val="5C6B8A"/>
            </a:solidFill>
            <a:prstDash val="solid"/>
            <a:tailEnd type="triangle"/>
          </a:ln>
        </p:spPr>
      </p:sp>
      <p:sp>
        <p:nvSpPr>
          <p:cNvPr id="47" name="Shape 41"/>
          <p:cNvSpPr/>
          <p:nvPr/>
        </p:nvSpPr>
        <p:spPr>
          <a:xfrm>
            <a:off x="7746806" y="2444689"/>
            <a:ext cx="507987" cy="63"/>
          </a:xfrm>
          <a:prstGeom prst="line">
            <a:avLst/>
          </a:prstGeom>
          <a:noFill/>
          <a:ln w="19050">
            <a:solidFill>
              <a:srgbClr val="5C6B8A"/>
            </a:solidFill>
            <a:prstDash val="solid"/>
            <a:tailEnd type="triangle"/>
          </a:ln>
        </p:spPr>
      </p:sp>
      <p:sp>
        <p:nvSpPr>
          <p:cNvPr id="48" name="Text 42"/>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Architecture</a:t>
            </a:r>
            <a:endParaRPr lang="en-US" sz="1200" dirty="0"/>
          </a:p>
        </p:txBody>
      </p:sp>
      <p:sp>
        <p:nvSpPr>
          <p:cNvPr id="49" name="Text 43"/>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BOOKING FLOW · STEPS 1–6</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From sign-in to an accepted job</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Sign in</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OTP or password; JWT plus refresh</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sp>
      <p:sp>
        <p:nvSpPr>
          <p:cNvPr id="9" name="Shape 7"/>
          <p:cNvSpPr/>
          <p:nvPr/>
        </p:nvSpPr>
        <p:spPr>
          <a:xfrm>
            <a:off x="5248144" y="1909913"/>
            <a:ext cx="38099" cy="365711"/>
          </a:xfrm>
          <a:prstGeom prst="roundRect">
            <a:avLst>
              <a:gd name="adj" fmla="val 50000"/>
            </a:avLst>
          </a:prstGeom>
          <a:solidFill>
            <a:srgbClr val="2454C5"/>
          </a:solidFill>
          <a:ln/>
        </p:spPr>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/auth/register/otp, then …/verify</a:t>
            </a:r>
            <a:endParaRPr lang="en-US" sz="1200" dirty="0"/>
          </a:p>
        </p:txBody>
      </p:sp>
      <p:sp>
        <p:nvSpPr>
          <p:cNvPr id="11" name="Shape 9"/>
          <p:cNvSpPr/>
          <p:nvPr/>
        </p:nvSpPr>
        <p:spPr>
          <a:xfrm>
            <a:off x="812780" y="2365812"/>
            <a:ext cx="10566136" cy="63"/>
          </a:xfrm>
          <a:prstGeom prst="line">
            <a:avLst/>
          </a:prstGeom>
          <a:noFill/>
          <a:ln w="6350">
            <a:solidFill>
              <a:srgbClr val="D5DEEC"/>
            </a:solidFill>
            <a:prstDash val="solid"/>
          </a:ln>
        </p:spPr>
      </p:sp>
      <p:sp>
        <p:nvSpPr>
          <p:cNvPr id="12" name="Text 10"/>
          <p:cNvSpPr txBox="1"/>
          <p:nvPr/>
        </p:nvSpPr>
        <p:spPr>
          <a:xfrm>
            <a:off x="812780" y="259559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1203295" y="250292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Choose and price</a:t>
            </a:r>
            <a:endParaRPr lang="en-US" sz="1300" dirty="0"/>
          </a:p>
        </p:txBody>
      </p:sp>
      <p:sp>
        <p:nvSpPr>
          <p:cNvPr id="14" name="Text 12"/>
          <p:cNvSpPr txBox="1"/>
          <p:nvPr/>
        </p:nvSpPr>
        <p:spPr>
          <a:xfrm>
            <a:off x="1203295" y="275940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Catalog, then an itemised estimate</a:t>
            </a:r>
            <a:endParaRPr lang="en-US" sz="1200" dirty="0"/>
          </a:p>
        </p:txBody>
      </p:sp>
      <p:sp>
        <p:nvSpPr>
          <p:cNvPr id="15" name="Shape 13"/>
          <p:cNvSpPr/>
          <p:nvPr/>
        </p:nvSpPr>
        <p:spPr>
          <a:xfrm>
            <a:off x="5248144" y="2448360"/>
            <a:ext cx="6130772" cy="579026"/>
          </a:xfrm>
          <a:prstGeom prst="roundRect">
            <a:avLst>
              <a:gd name="adj" fmla="val 8773"/>
            </a:avLst>
          </a:prstGeom>
          <a:solidFill>
            <a:srgbClr val="E7EEFA"/>
          </a:solidFill>
          <a:ln/>
        </p:spPr>
      </p:sp>
      <p:sp>
        <p:nvSpPr>
          <p:cNvPr id="16" name="Shape 14"/>
          <p:cNvSpPr/>
          <p:nvPr/>
        </p:nvSpPr>
        <p:spPr>
          <a:xfrm>
            <a:off x="5248144" y="2448360"/>
            <a:ext cx="38099" cy="579026"/>
          </a:xfrm>
          <a:prstGeom prst="roundRect">
            <a:avLst>
              <a:gd name="adj" fmla="val 50000"/>
            </a:avLst>
          </a:prstGeom>
          <a:solidFill>
            <a:srgbClr val="2454C5"/>
          </a:solidFill>
          <a:ln/>
        </p:spPr>
      </p:sp>
      <p:sp>
        <p:nvSpPr>
          <p:cNvPr id="17" name="Text 15"/>
          <p:cNvSpPr txBox="1"/>
          <p:nvPr/>
        </p:nvSpPr>
        <p:spPr>
          <a:xfrm>
            <a:off x="5413240" y="2524558"/>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GET /catalog/categories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/pricing/estimate</a:t>
            </a:r>
            <a:endParaRPr lang="en-US" sz="1200" dirty="0"/>
          </a:p>
        </p:txBody>
      </p:sp>
      <p:sp>
        <p:nvSpPr>
          <p:cNvPr id="18" name="Shape 16"/>
          <p:cNvSpPr/>
          <p:nvPr/>
        </p:nvSpPr>
        <p:spPr>
          <a:xfrm>
            <a:off x="812780" y="3065485"/>
            <a:ext cx="10566136" cy="63"/>
          </a:xfrm>
          <a:prstGeom prst="line">
            <a:avLst/>
          </a:prstGeom>
          <a:noFill/>
          <a:ln w="6350">
            <a:solidFill>
              <a:srgbClr val="D5DEEC"/>
            </a:solidFill>
            <a:prstDash val="solid"/>
          </a:ln>
        </p:spPr>
      </p:sp>
      <p:sp>
        <p:nvSpPr>
          <p:cNvPr id="19" name="Text 17"/>
          <p:cNvSpPr txBox="1"/>
          <p:nvPr/>
        </p:nvSpPr>
        <p:spPr>
          <a:xfrm>
            <a:off x="812780" y="329527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03</a:t>
            </a:r>
            <a:endParaRPr lang="en-US" sz="1600" dirty="0"/>
          </a:p>
        </p:txBody>
      </p:sp>
      <p:sp>
        <p:nvSpPr>
          <p:cNvPr id="20" name="Text 18"/>
          <p:cNvSpPr txBox="1"/>
          <p:nvPr/>
        </p:nvSpPr>
        <p:spPr>
          <a:xfrm>
            <a:off x="1203295" y="320260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Book and confirm</a:t>
            </a:r>
            <a:endParaRPr lang="en-US" sz="1300" dirty="0"/>
          </a:p>
        </p:txBody>
      </p:sp>
      <p:sp>
        <p:nvSpPr>
          <p:cNvPr id="21" name="Text 19"/>
          <p:cNvSpPr txBox="1"/>
          <p:nvPr/>
        </p:nvSpPr>
        <p:spPr>
          <a:xfrm>
            <a:off x="1203295" y="345907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SEARCHING_PROVIDER; BookingCreated</a:t>
            </a:r>
            <a:endParaRPr lang="en-US" sz="1200" dirty="0"/>
          </a:p>
        </p:txBody>
      </p:sp>
      <p:sp>
        <p:nvSpPr>
          <p:cNvPr id="22" name="Shape 20"/>
          <p:cNvSpPr/>
          <p:nvPr/>
        </p:nvSpPr>
        <p:spPr>
          <a:xfrm>
            <a:off x="5248144" y="3148033"/>
            <a:ext cx="6130772" cy="579026"/>
          </a:xfrm>
          <a:prstGeom prst="roundRect">
            <a:avLst>
              <a:gd name="adj" fmla="val 8773"/>
            </a:avLst>
          </a:prstGeom>
          <a:solidFill>
            <a:srgbClr val="E7EEFA"/>
          </a:solidFill>
          <a:ln/>
        </p:spPr>
      </p:sp>
      <p:sp>
        <p:nvSpPr>
          <p:cNvPr id="23" name="Shape 21"/>
          <p:cNvSpPr/>
          <p:nvPr/>
        </p:nvSpPr>
        <p:spPr>
          <a:xfrm>
            <a:off x="5248144" y="3148033"/>
            <a:ext cx="38099" cy="579026"/>
          </a:xfrm>
          <a:prstGeom prst="roundRect">
            <a:avLst>
              <a:gd name="adj" fmla="val 50000"/>
            </a:avLst>
          </a:prstGeom>
          <a:solidFill>
            <a:srgbClr val="2454C5"/>
          </a:solidFill>
          <a:ln/>
        </p:spPr>
      </p:sp>
      <p:sp>
        <p:nvSpPr>
          <p:cNvPr id="24" name="Text 22"/>
          <p:cNvSpPr txBox="1"/>
          <p:nvPr/>
        </p:nvSpPr>
        <p:spPr>
          <a:xfrm>
            <a:off x="5413240" y="322423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/bookings/{ref}/confirmation</a:t>
            </a:r>
            <a:endParaRPr lang="en-US" sz="1200" dirty="0"/>
          </a:p>
        </p:txBody>
      </p:sp>
      <p:sp>
        <p:nvSpPr>
          <p:cNvPr id="25" name="Shape 23"/>
          <p:cNvSpPr/>
          <p:nvPr/>
        </p:nvSpPr>
        <p:spPr>
          <a:xfrm>
            <a:off x="812780" y="3765158"/>
            <a:ext cx="10566136" cy="63"/>
          </a:xfrm>
          <a:prstGeom prst="line">
            <a:avLst/>
          </a:prstGeom>
          <a:noFill/>
          <a:ln w="6350">
            <a:solidFill>
              <a:srgbClr val="D5DEEC"/>
            </a:solidFill>
            <a:prstDash val="solid"/>
          </a:ln>
        </p:spPr>
      </p:sp>
      <p:sp>
        <p:nvSpPr>
          <p:cNvPr id="26" name="Text 24"/>
          <p:cNvSpPr txBox="1"/>
          <p:nvPr/>
        </p:nvSpPr>
        <p:spPr>
          <a:xfrm>
            <a:off x="812780" y="3940374"/>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04</a:t>
            </a:r>
            <a:endParaRPr lang="en-US" sz="1600" dirty="0"/>
          </a:p>
        </p:txBody>
      </p:sp>
      <p:sp>
        <p:nvSpPr>
          <p:cNvPr id="27" name="Text 25"/>
          <p:cNvSpPr txBox="1"/>
          <p:nvPr/>
        </p:nvSpPr>
        <p:spPr>
          <a:xfrm>
            <a:off x="1203295" y="3847706"/>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Match</a:t>
            </a:r>
            <a:endParaRPr lang="en-US" sz="1300" dirty="0"/>
          </a:p>
        </p:txBody>
      </p:sp>
      <p:sp>
        <p:nvSpPr>
          <p:cNvPr id="28" name="Text 26"/>
          <p:cNvSpPr txBox="1"/>
          <p:nvPr/>
        </p:nvSpPr>
        <p:spPr>
          <a:xfrm>
            <a:off x="1203295" y="410418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Skill, radius, APPROVED, available</a:t>
            </a:r>
            <a:endParaRPr lang="en-US" sz="1200" dirty="0"/>
          </a:p>
        </p:txBody>
      </p:sp>
      <p:sp>
        <p:nvSpPr>
          <p:cNvPr id="29" name="Shape 27"/>
          <p:cNvSpPr/>
          <p:nvPr/>
        </p:nvSpPr>
        <p:spPr>
          <a:xfrm>
            <a:off x="5248144" y="3899695"/>
            <a:ext cx="6130772" cy="365711"/>
          </a:xfrm>
          <a:prstGeom prst="roundRect">
            <a:avLst>
              <a:gd name="adj" fmla="val 13890"/>
            </a:avLst>
          </a:prstGeom>
          <a:solidFill>
            <a:srgbClr val="E7EEFA"/>
          </a:solidFill>
          <a:ln/>
        </p:spPr>
      </p:sp>
      <p:sp>
        <p:nvSpPr>
          <p:cNvPr id="30" name="Shape 28"/>
          <p:cNvSpPr/>
          <p:nvPr/>
        </p:nvSpPr>
        <p:spPr>
          <a:xfrm>
            <a:off x="5248144" y="3899695"/>
            <a:ext cx="38099" cy="365711"/>
          </a:xfrm>
          <a:prstGeom prst="roundRect">
            <a:avLst>
              <a:gd name="adj" fmla="val 50000"/>
            </a:avLst>
          </a:prstGeom>
          <a:solidFill>
            <a:srgbClr val="2454C5"/>
          </a:solidFill>
          <a:ln/>
        </p:spPr>
      </p:sp>
      <p:sp>
        <p:nvSpPr>
          <p:cNvPr id="31" name="Text 29"/>
          <p:cNvSpPr txBox="1"/>
          <p:nvPr/>
        </p:nvSpPr>
        <p:spPr>
          <a:xfrm>
            <a:off x="5413240" y="3975894"/>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dispatch-engine consumes BookingCreated</a:t>
            </a:r>
            <a:endParaRPr lang="en-US" sz="1200" dirty="0"/>
          </a:p>
        </p:txBody>
      </p:sp>
      <p:sp>
        <p:nvSpPr>
          <p:cNvPr id="32" name="Shape 30"/>
          <p:cNvSpPr/>
          <p:nvPr/>
        </p:nvSpPr>
        <p:spPr>
          <a:xfrm>
            <a:off x="812780" y="4355594"/>
            <a:ext cx="10566136" cy="63"/>
          </a:xfrm>
          <a:prstGeom prst="line">
            <a:avLst/>
          </a:prstGeom>
          <a:noFill/>
          <a:ln w="6350">
            <a:solidFill>
              <a:srgbClr val="D5DEEC"/>
            </a:solidFill>
            <a:prstDash val="solid"/>
          </a:ln>
        </p:spPr>
      </p:sp>
      <p:sp>
        <p:nvSpPr>
          <p:cNvPr id="33" name="Text 31"/>
          <p:cNvSpPr txBox="1"/>
          <p:nvPr/>
        </p:nvSpPr>
        <p:spPr>
          <a:xfrm>
            <a:off x="812780" y="4585379"/>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05</a:t>
            </a:r>
            <a:endParaRPr lang="en-US" sz="1600" dirty="0"/>
          </a:p>
        </p:txBody>
      </p:sp>
      <p:sp>
        <p:nvSpPr>
          <p:cNvPr id="34" name="Text 32"/>
          <p:cNvSpPr txBox="1"/>
          <p:nvPr/>
        </p:nvSpPr>
        <p:spPr>
          <a:xfrm>
            <a:off x="1203295" y="4492711"/>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Offer to several</a:t>
            </a:r>
            <a:endParaRPr lang="en-US" sz="1300" dirty="0"/>
          </a:p>
        </p:txBody>
      </p:sp>
      <p:sp>
        <p:nvSpPr>
          <p:cNvPr id="35" name="Text 33"/>
          <p:cNvSpPr txBox="1"/>
          <p:nvPr/>
        </p:nvSpPr>
        <p:spPr>
          <a:xfrm>
            <a:off x="1203295" y="4749185"/>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Top 3 at once; first accept wins</a:t>
            </a:r>
            <a:endParaRPr lang="en-US" sz="1200" dirty="0"/>
          </a:p>
        </p:txBody>
      </p:sp>
      <p:sp>
        <p:nvSpPr>
          <p:cNvPr id="36" name="Shape 34"/>
          <p:cNvSpPr/>
          <p:nvPr/>
        </p:nvSpPr>
        <p:spPr>
          <a:xfrm>
            <a:off x="5248144" y="4438142"/>
            <a:ext cx="6130772" cy="579026"/>
          </a:xfrm>
          <a:prstGeom prst="roundRect">
            <a:avLst>
              <a:gd name="adj" fmla="val 8773"/>
            </a:avLst>
          </a:prstGeom>
          <a:solidFill>
            <a:srgbClr val="E7EEFA"/>
          </a:solidFill>
          <a:ln/>
        </p:spPr>
      </p:sp>
      <p:sp>
        <p:nvSpPr>
          <p:cNvPr id="37" name="Shape 35"/>
          <p:cNvSpPr/>
          <p:nvPr/>
        </p:nvSpPr>
        <p:spPr>
          <a:xfrm>
            <a:off x="5248144" y="4438142"/>
            <a:ext cx="38099" cy="579026"/>
          </a:xfrm>
          <a:prstGeom prst="roundRect">
            <a:avLst>
              <a:gd name="adj" fmla="val 50000"/>
            </a:avLst>
          </a:prstGeom>
          <a:solidFill>
            <a:srgbClr val="2454C5"/>
          </a:solidFill>
          <a:ln/>
        </p:spPr>
      </p:sp>
      <p:sp>
        <p:nvSpPr>
          <p:cNvPr id="38" name="Text 36"/>
          <p:cNvSpPr txBox="1"/>
          <p:nvPr/>
        </p:nvSpPr>
        <p:spPr>
          <a:xfrm>
            <a:off x="5413240" y="4514340"/>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GET /dispatch/offers (every 5 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/dispatch/offers/{id}/accept</a:t>
            </a:r>
            <a:endParaRPr lang="en-US" sz="1200" dirty="0"/>
          </a:p>
        </p:txBody>
      </p:sp>
      <p:sp>
        <p:nvSpPr>
          <p:cNvPr id="39" name="Shape 37"/>
          <p:cNvSpPr/>
          <p:nvPr/>
        </p:nvSpPr>
        <p:spPr>
          <a:xfrm>
            <a:off x="812780" y="5055267"/>
            <a:ext cx="10566136" cy="63"/>
          </a:xfrm>
          <a:prstGeom prst="line">
            <a:avLst/>
          </a:prstGeom>
          <a:noFill/>
          <a:ln w="6350">
            <a:solidFill>
              <a:srgbClr val="D5DEEC"/>
            </a:solidFill>
            <a:prstDash val="solid"/>
          </a:ln>
        </p:spPr>
      </p:sp>
      <p:sp>
        <p:nvSpPr>
          <p:cNvPr id="40" name="Text 38"/>
          <p:cNvSpPr txBox="1"/>
          <p:nvPr/>
        </p:nvSpPr>
        <p:spPr>
          <a:xfrm>
            <a:off x="812780" y="523048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06</a:t>
            </a:r>
            <a:endParaRPr lang="en-US" sz="1600" dirty="0"/>
          </a:p>
        </p:txBody>
      </p:sp>
      <p:sp>
        <p:nvSpPr>
          <p:cNvPr id="41" name="Text 39"/>
          <p:cNvSpPr txBox="1"/>
          <p:nvPr/>
        </p:nvSpPr>
        <p:spPr>
          <a:xfrm>
            <a:off x="1203295" y="513781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Or fall back</a:t>
            </a:r>
            <a:endParaRPr lang="en-US" sz="1300" dirty="0"/>
          </a:p>
        </p:txBody>
      </p:sp>
      <p:sp>
        <p:nvSpPr>
          <p:cNvPr id="42" name="Text 40"/>
          <p:cNvSpPr txBox="1"/>
          <p:nvPr/>
        </p:nvSpPr>
        <p:spPr>
          <a:xfrm>
            <a:off x="1203295" y="539428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 accept in 5 min: agency, else FAILED</a:t>
            </a:r>
            <a:endParaRPr lang="en-US" sz="1200" dirty="0"/>
          </a:p>
        </p:txBody>
      </p:sp>
      <p:sp>
        <p:nvSpPr>
          <p:cNvPr id="43" name="Shape 41"/>
          <p:cNvSpPr/>
          <p:nvPr/>
        </p:nvSpPr>
        <p:spPr>
          <a:xfrm>
            <a:off x="5248144" y="5189805"/>
            <a:ext cx="6130772" cy="365711"/>
          </a:xfrm>
          <a:prstGeom prst="roundRect">
            <a:avLst>
              <a:gd name="adj" fmla="val 13890"/>
            </a:avLst>
          </a:prstGeom>
          <a:solidFill>
            <a:srgbClr val="E7EEFA"/>
          </a:solidFill>
          <a:ln/>
        </p:spPr>
      </p:sp>
      <p:sp>
        <p:nvSpPr>
          <p:cNvPr id="44" name="Shape 42"/>
          <p:cNvSpPr/>
          <p:nvPr/>
        </p:nvSpPr>
        <p:spPr>
          <a:xfrm>
            <a:off x="5248144" y="5189805"/>
            <a:ext cx="38099" cy="365711"/>
          </a:xfrm>
          <a:prstGeom prst="roundRect">
            <a:avLst>
              <a:gd name="adj" fmla="val 50000"/>
            </a:avLst>
          </a:prstGeom>
          <a:solidFill>
            <a:srgbClr val="2454C5"/>
          </a:solidFill>
          <a:ln/>
        </p:spPr>
      </p:sp>
      <p:sp>
        <p:nvSpPr>
          <p:cNvPr id="45" name="Text 43"/>
          <p:cNvSpPr txBox="1"/>
          <p:nvPr/>
        </p:nvSpPr>
        <p:spPr>
          <a:xfrm>
            <a:off x="5413240" y="5266003"/>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AWAITING_ASSIGNMENT → Tenant Portal</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Flows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BOOKING FLOW · STEPS 7–12</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From the doorstep to payment, payout and review</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2005161"/>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07</a:t>
            </a:r>
            <a:endParaRPr lang="en-US" sz="1600" dirty="0"/>
          </a:p>
        </p:txBody>
      </p:sp>
      <p:sp>
        <p:nvSpPr>
          <p:cNvPr id="6" name="Text 4"/>
          <p:cNvSpPr txBox="1"/>
          <p:nvPr/>
        </p:nvSpPr>
        <p:spPr>
          <a:xfrm>
            <a:off x="1203295" y="1912493"/>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Travel</a:t>
            </a:r>
            <a:endParaRPr lang="en-US" sz="1300" dirty="0"/>
          </a:p>
        </p:txBody>
      </p:sp>
      <p:sp>
        <p:nvSpPr>
          <p:cNvPr id="7" name="Text 5"/>
          <p:cNvSpPr txBox="1"/>
          <p:nvPr/>
        </p:nvSpPr>
        <p:spPr>
          <a:xfrm>
            <a:off x="1203295" y="2168967"/>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Live position to the customer</a:t>
            </a:r>
            <a:endParaRPr lang="en-US" sz="1200" dirty="0"/>
          </a:p>
        </p:txBody>
      </p:sp>
      <p:sp>
        <p:nvSpPr>
          <p:cNvPr id="8" name="Shape 6"/>
          <p:cNvSpPr/>
          <p:nvPr/>
        </p:nvSpPr>
        <p:spPr>
          <a:xfrm>
            <a:off x="5248144" y="1857924"/>
            <a:ext cx="6130772" cy="579026"/>
          </a:xfrm>
          <a:prstGeom prst="roundRect">
            <a:avLst>
              <a:gd name="adj" fmla="val 8773"/>
            </a:avLst>
          </a:prstGeom>
          <a:solidFill>
            <a:srgbClr val="E7EEFA"/>
          </a:solidFill>
          <a:ln/>
        </p:spPr>
      </p:sp>
      <p:sp>
        <p:nvSpPr>
          <p:cNvPr id="9" name="Shape 7"/>
          <p:cNvSpPr/>
          <p:nvPr/>
        </p:nvSpPr>
        <p:spPr>
          <a:xfrm>
            <a:off x="5248144" y="1857924"/>
            <a:ext cx="38099" cy="579026"/>
          </a:xfrm>
          <a:prstGeom prst="roundRect">
            <a:avLst>
              <a:gd name="adj" fmla="val 50000"/>
            </a:avLst>
          </a:prstGeom>
          <a:solidFill>
            <a:srgbClr val="2454C5"/>
          </a:solidFill>
          <a:ln/>
        </p:spPr>
      </p:sp>
      <p:sp>
        <p:nvSpPr>
          <p:cNvPr id="10" name="Text 8"/>
          <p:cNvSpPr txBox="1"/>
          <p:nvPr/>
        </p:nvSpPr>
        <p:spPr>
          <a:xfrm>
            <a:off x="5413240" y="1934122"/>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/bookings/{id}/on-the-way</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/locations/{id}</a:t>
            </a:r>
            <a:endParaRPr lang="en-US" sz="1200" dirty="0"/>
          </a:p>
        </p:txBody>
      </p:sp>
      <p:sp>
        <p:nvSpPr>
          <p:cNvPr id="11" name="Shape 9"/>
          <p:cNvSpPr/>
          <p:nvPr/>
        </p:nvSpPr>
        <p:spPr>
          <a:xfrm>
            <a:off x="812780" y="2475049"/>
            <a:ext cx="10566136" cy="63"/>
          </a:xfrm>
          <a:prstGeom prst="line">
            <a:avLst/>
          </a:prstGeom>
          <a:noFill/>
          <a:ln w="6350">
            <a:solidFill>
              <a:srgbClr val="D5DEEC"/>
            </a:solidFill>
            <a:prstDash val="solid"/>
          </a:ln>
        </p:spPr>
      </p:sp>
      <p:sp>
        <p:nvSpPr>
          <p:cNvPr id="12" name="Text 10"/>
          <p:cNvSpPr txBox="1"/>
          <p:nvPr/>
        </p:nvSpPr>
        <p:spPr>
          <a:xfrm>
            <a:off x="812780" y="2704834"/>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08</a:t>
            </a:r>
            <a:endParaRPr lang="en-US" sz="1600" dirty="0"/>
          </a:p>
        </p:txBody>
      </p:sp>
      <p:sp>
        <p:nvSpPr>
          <p:cNvPr id="13" name="Text 11"/>
          <p:cNvSpPr txBox="1"/>
          <p:nvPr/>
        </p:nvSpPr>
        <p:spPr>
          <a:xfrm>
            <a:off x="1203295" y="2612166"/>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Arrive and start</a:t>
            </a:r>
            <a:endParaRPr lang="en-US" sz="1300" dirty="0"/>
          </a:p>
        </p:txBody>
      </p:sp>
      <p:sp>
        <p:nvSpPr>
          <p:cNvPr id="14" name="Text 12"/>
          <p:cNvSpPr txBox="1"/>
          <p:nvPr/>
        </p:nvSpPr>
        <p:spPr>
          <a:xfrm>
            <a:off x="1203295" y="286864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 before-photo is required</a:t>
            </a:r>
            <a:endParaRPr lang="en-US" sz="1200" dirty="0"/>
          </a:p>
        </p:txBody>
      </p:sp>
      <p:sp>
        <p:nvSpPr>
          <p:cNvPr id="15" name="Shape 13"/>
          <p:cNvSpPr/>
          <p:nvPr/>
        </p:nvSpPr>
        <p:spPr>
          <a:xfrm>
            <a:off x="5248144" y="2557597"/>
            <a:ext cx="6130772" cy="579026"/>
          </a:xfrm>
          <a:prstGeom prst="roundRect">
            <a:avLst>
              <a:gd name="adj" fmla="val 8773"/>
            </a:avLst>
          </a:prstGeom>
          <a:solidFill>
            <a:srgbClr val="E7EEFA"/>
          </a:solidFill>
          <a:ln/>
        </p:spPr>
      </p:sp>
      <p:sp>
        <p:nvSpPr>
          <p:cNvPr id="16" name="Shape 14"/>
          <p:cNvSpPr/>
          <p:nvPr/>
        </p:nvSpPr>
        <p:spPr>
          <a:xfrm>
            <a:off x="5248144" y="2557597"/>
            <a:ext cx="38099" cy="579026"/>
          </a:xfrm>
          <a:prstGeom prst="roundRect">
            <a:avLst>
              <a:gd name="adj" fmla="val 50000"/>
            </a:avLst>
          </a:prstGeom>
          <a:solidFill>
            <a:srgbClr val="2454C5"/>
          </a:solidFill>
          <a:ln/>
        </p:spPr>
      </p:sp>
      <p:sp>
        <p:nvSpPr>
          <p:cNvPr id="17" name="Text 15"/>
          <p:cNvSpPr txBox="1"/>
          <p:nvPr/>
        </p:nvSpPr>
        <p:spPr>
          <a:xfrm>
            <a:off x="5413240" y="2633795"/>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/bookings/{id}/arrived</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/bookings/{id}/photos · /start</a:t>
            </a:r>
            <a:endParaRPr lang="en-US" sz="1200" dirty="0"/>
          </a:p>
        </p:txBody>
      </p:sp>
      <p:sp>
        <p:nvSpPr>
          <p:cNvPr id="18" name="Shape 16"/>
          <p:cNvSpPr/>
          <p:nvPr/>
        </p:nvSpPr>
        <p:spPr>
          <a:xfrm>
            <a:off x="812780" y="3174722"/>
            <a:ext cx="10566136" cy="63"/>
          </a:xfrm>
          <a:prstGeom prst="line">
            <a:avLst/>
          </a:prstGeom>
          <a:noFill/>
          <a:ln w="6350">
            <a:solidFill>
              <a:srgbClr val="D5DEEC"/>
            </a:solidFill>
            <a:prstDash val="solid"/>
          </a:ln>
        </p:spPr>
      </p:sp>
      <p:sp>
        <p:nvSpPr>
          <p:cNvPr id="19" name="Text 17"/>
          <p:cNvSpPr txBox="1"/>
          <p:nvPr/>
        </p:nvSpPr>
        <p:spPr>
          <a:xfrm>
            <a:off x="812780" y="340450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09</a:t>
            </a:r>
            <a:endParaRPr lang="en-US" sz="1600" dirty="0"/>
          </a:p>
        </p:txBody>
      </p:sp>
      <p:sp>
        <p:nvSpPr>
          <p:cNvPr id="20" name="Text 18"/>
          <p:cNvSpPr txBox="1"/>
          <p:nvPr/>
        </p:nvSpPr>
        <p:spPr>
          <a:xfrm>
            <a:off x="1203295" y="331183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Work and complete</a:t>
            </a:r>
            <a:endParaRPr lang="en-US" sz="1300" dirty="0"/>
          </a:p>
        </p:txBody>
      </p:sp>
      <p:sp>
        <p:nvSpPr>
          <p:cNvPr id="21" name="Text 19"/>
          <p:cNvSpPr txBox="1"/>
          <p:nvPr/>
        </p:nvSpPr>
        <p:spPr>
          <a:xfrm>
            <a:off x="1203295" y="356831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Pause; parts quote needs approval</a:t>
            </a:r>
            <a:endParaRPr lang="en-US" sz="1200" dirty="0"/>
          </a:p>
        </p:txBody>
      </p:sp>
      <p:sp>
        <p:nvSpPr>
          <p:cNvPr id="22" name="Shape 20"/>
          <p:cNvSpPr/>
          <p:nvPr/>
        </p:nvSpPr>
        <p:spPr>
          <a:xfrm>
            <a:off x="5248144" y="3257270"/>
            <a:ext cx="6130772" cy="579026"/>
          </a:xfrm>
          <a:prstGeom prst="roundRect">
            <a:avLst>
              <a:gd name="adj" fmla="val 8773"/>
            </a:avLst>
          </a:prstGeom>
          <a:solidFill>
            <a:srgbClr val="E7EEFA"/>
          </a:solidFill>
          <a:ln/>
        </p:spPr>
      </p:sp>
      <p:sp>
        <p:nvSpPr>
          <p:cNvPr id="23" name="Shape 21"/>
          <p:cNvSpPr/>
          <p:nvPr/>
        </p:nvSpPr>
        <p:spPr>
          <a:xfrm>
            <a:off x="5248144" y="3257270"/>
            <a:ext cx="38099" cy="579026"/>
          </a:xfrm>
          <a:prstGeom prst="roundRect">
            <a:avLst>
              <a:gd name="adj" fmla="val 50000"/>
            </a:avLst>
          </a:prstGeom>
          <a:solidFill>
            <a:srgbClr val="2454C5"/>
          </a:solidFill>
          <a:ln/>
        </p:spPr>
      </p:sp>
      <p:sp>
        <p:nvSpPr>
          <p:cNvPr id="24" name="Text 22"/>
          <p:cNvSpPr txBox="1"/>
          <p:nvPr/>
        </p:nvSpPr>
        <p:spPr>
          <a:xfrm>
            <a:off x="5413240" y="3333468"/>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/bookings/{id}/parts · /pause</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/bookings/{id}/complete</a:t>
            </a:r>
            <a:endParaRPr lang="en-US" sz="1200" dirty="0"/>
          </a:p>
        </p:txBody>
      </p:sp>
      <p:sp>
        <p:nvSpPr>
          <p:cNvPr id="25" name="Shape 23"/>
          <p:cNvSpPr/>
          <p:nvPr/>
        </p:nvSpPr>
        <p:spPr>
          <a:xfrm>
            <a:off x="812780" y="3874395"/>
            <a:ext cx="10566136" cy="63"/>
          </a:xfrm>
          <a:prstGeom prst="line">
            <a:avLst/>
          </a:prstGeom>
          <a:noFill/>
          <a:ln w="6350">
            <a:solidFill>
              <a:srgbClr val="D5DEEC"/>
            </a:solidFill>
            <a:prstDash val="solid"/>
          </a:ln>
        </p:spPr>
      </p:sp>
      <p:sp>
        <p:nvSpPr>
          <p:cNvPr id="26" name="Text 24"/>
          <p:cNvSpPr txBox="1"/>
          <p:nvPr/>
        </p:nvSpPr>
        <p:spPr>
          <a:xfrm>
            <a:off x="812780" y="410418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10</a:t>
            </a:r>
            <a:endParaRPr lang="en-US" sz="1600" dirty="0"/>
          </a:p>
        </p:txBody>
      </p:sp>
      <p:sp>
        <p:nvSpPr>
          <p:cNvPr id="27" name="Text 25"/>
          <p:cNvSpPr txBox="1"/>
          <p:nvPr/>
        </p:nvSpPr>
        <p:spPr>
          <a:xfrm>
            <a:off x="1203295" y="401151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Pay</a:t>
            </a:r>
            <a:endParaRPr lang="en-US" sz="1300" dirty="0"/>
          </a:p>
        </p:txBody>
      </p:sp>
      <p:sp>
        <p:nvSpPr>
          <p:cNvPr id="28" name="Text 26"/>
          <p:cNvSpPr txBox="1"/>
          <p:nvPr/>
        </p:nvSpPr>
        <p:spPr>
          <a:xfrm>
            <a:off x="1203295" y="426798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Amount from the booking, not the app</a:t>
            </a:r>
            <a:endParaRPr lang="en-US" sz="1200" dirty="0"/>
          </a:p>
        </p:txBody>
      </p:sp>
      <p:sp>
        <p:nvSpPr>
          <p:cNvPr id="29" name="Shape 27"/>
          <p:cNvSpPr/>
          <p:nvPr/>
        </p:nvSpPr>
        <p:spPr>
          <a:xfrm>
            <a:off x="5248144" y="3956943"/>
            <a:ext cx="6130772" cy="579026"/>
          </a:xfrm>
          <a:prstGeom prst="roundRect">
            <a:avLst>
              <a:gd name="adj" fmla="val 8773"/>
            </a:avLst>
          </a:prstGeom>
          <a:solidFill>
            <a:srgbClr val="E7EEFA"/>
          </a:solidFill>
          <a:ln/>
        </p:spPr>
      </p:sp>
      <p:sp>
        <p:nvSpPr>
          <p:cNvPr id="30" name="Shape 28"/>
          <p:cNvSpPr/>
          <p:nvPr/>
        </p:nvSpPr>
        <p:spPr>
          <a:xfrm>
            <a:off x="5248144" y="3956943"/>
            <a:ext cx="38099" cy="579026"/>
          </a:xfrm>
          <a:prstGeom prst="roundRect">
            <a:avLst>
              <a:gd name="adj" fmla="val 50000"/>
            </a:avLst>
          </a:prstGeom>
          <a:solidFill>
            <a:srgbClr val="2454C5"/>
          </a:solidFill>
          <a:ln/>
        </p:spPr>
      </p:sp>
      <p:sp>
        <p:nvSpPr>
          <p:cNvPr id="31" name="Text 29"/>
          <p:cNvSpPr txBox="1"/>
          <p:nvPr/>
        </p:nvSpPr>
        <p:spPr>
          <a:xfrm>
            <a:off x="5413240" y="403314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/payments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/payments/{id}/razorpay/verify</a:t>
            </a:r>
            <a:endParaRPr lang="en-US" sz="1200" dirty="0"/>
          </a:p>
        </p:txBody>
      </p:sp>
      <p:sp>
        <p:nvSpPr>
          <p:cNvPr id="32" name="Shape 30"/>
          <p:cNvSpPr/>
          <p:nvPr/>
        </p:nvSpPr>
        <p:spPr>
          <a:xfrm>
            <a:off x="812780" y="4574068"/>
            <a:ext cx="10566136" cy="63"/>
          </a:xfrm>
          <a:prstGeom prst="line">
            <a:avLst/>
          </a:prstGeom>
          <a:noFill/>
          <a:ln w="6350">
            <a:solidFill>
              <a:srgbClr val="D5DEEC"/>
            </a:solidFill>
            <a:prstDash val="solid"/>
          </a:ln>
        </p:spPr>
      </p:sp>
      <p:sp>
        <p:nvSpPr>
          <p:cNvPr id="33" name="Text 31"/>
          <p:cNvSpPr txBox="1"/>
          <p:nvPr/>
        </p:nvSpPr>
        <p:spPr>
          <a:xfrm>
            <a:off x="812780" y="4749284"/>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11</a:t>
            </a:r>
            <a:endParaRPr lang="en-US" sz="1600" dirty="0"/>
          </a:p>
        </p:txBody>
      </p:sp>
      <p:sp>
        <p:nvSpPr>
          <p:cNvPr id="34" name="Text 32"/>
          <p:cNvSpPr txBox="1"/>
          <p:nvPr/>
        </p:nvSpPr>
        <p:spPr>
          <a:xfrm>
            <a:off x="1203295" y="4656616"/>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Settle</a:t>
            </a:r>
            <a:endParaRPr lang="en-US" sz="1300" dirty="0"/>
          </a:p>
        </p:txBody>
      </p:sp>
      <p:sp>
        <p:nvSpPr>
          <p:cNvPr id="35" name="Text 33"/>
          <p:cNvSpPr txBox="1"/>
          <p:nvPr/>
        </p:nvSpPr>
        <p:spPr>
          <a:xfrm>
            <a:off x="1203295" y="4913090"/>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Wallet credit, invoice, notices</a:t>
            </a:r>
            <a:endParaRPr lang="en-US" sz="1200" dirty="0"/>
          </a:p>
        </p:txBody>
      </p:sp>
      <p:sp>
        <p:nvSpPr>
          <p:cNvPr id="36" name="Shape 34"/>
          <p:cNvSpPr/>
          <p:nvPr/>
        </p:nvSpPr>
        <p:spPr>
          <a:xfrm>
            <a:off x="5248144" y="4708606"/>
            <a:ext cx="6130772" cy="365711"/>
          </a:xfrm>
          <a:prstGeom prst="roundRect">
            <a:avLst>
              <a:gd name="adj" fmla="val 13890"/>
            </a:avLst>
          </a:prstGeom>
          <a:solidFill>
            <a:srgbClr val="E7EEFA"/>
          </a:solidFill>
          <a:ln/>
        </p:spPr>
      </p:sp>
      <p:sp>
        <p:nvSpPr>
          <p:cNvPr id="37" name="Shape 35"/>
          <p:cNvSpPr/>
          <p:nvPr/>
        </p:nvSpPr>
        <p:spPr>
          <a:xfrm>
            <a:off x="5248144" y="4708606"/>
            <a:ext cx="38099" cy="365711"/>
          </a:xfrm>
          <a:prstGeom prst="roundRect">
            <a:avLst>
              <a:gd name="adj" fmla="val 50000"/>
            </a:avLst>
          </a:prstGeom>
          <a:solidFill>
            <a:srgbClr val="2454C5"/>
          </a:solidFill>
          <a:ln/>
        </p:spPr>
      </p:sp>
      <p:sp>
        <p:nvSpPr>
          <p:cNvPr id="38" name="Text 36"/>
          <p:cNvSpPr txBox="1"/>
          <p:nvPr/>
        </p:nvSpPr>
        <p:spPr>
          <a:xfrm>
            <a:off x="5413240" y="4784804"/>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PaymentCompleted → provider JOB_CREDIT</a:t>
            </a:r>
            <a:endParaRPr lang="en-US" sz="1200" dirty="0"/>
          </a:p>
        </p:txBody>
      </p:sp>
      <p:sp>
        <p:nvSpPr>
          <p:cNvPr id="39" name="Shape 37"/>
          <p:cNvSpPr/>
          <p:nvPr/>
        </p:nvSpPr>
        <p:spPr>
          <a:xfrm>
            <a:off x="812780" y="5164504"/>
            <a:ext cx="10566136" cy="63"/>
          </a:xfrm>
          <a:prstGeom prst="line">
            <a:avLst/>
          </a:prstGeom>
          <a:noFill/>
          <a:ln w="6350">
            <a:solidFill>
              <a:srgbClr val="D5DEEC"/>
            </a:solidFill>
            <a:prstDash val="solid"/>
          </a:ln>
        </p:spPr>
      </p:sp>
      <p:sp>
        <p:nvSpPr>
          <p:cNvPr id="40" name="Text 38"/>
          <p:cNvSpPr txBox="1"/>
          <p:nvPr/>
        </p:nvSpPr>
        <p:spPr>
          <a:xfrm>
            <a:off x="812780" y="533972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12</a:t>
            </a:r>
            <a:endParaRPr lang="en-US" sz="1600" dirty="0"/>
          </a:p>
        </p:txBody>
      </p:sp>
      <p:sp>
        <p:nvSpPr>
          <p:cNvPr id="41" name="Text 39"/>
          <p:cNvSpPr txBox="1"/>
          <p:nvPr/>
        </p:nvSpPr>
        <p:spPr>
          <a:xfrm>
            <a:off x="1203295" y="524705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Review or complain</a:t>
            </a:r>
            <a:endParaRPr lang="en-US" sz="1300" dirty="0"/>
          </a:p>
        </p:txBody>
      </p:sp>
      <p:sp>
        <p:nvSpPr>
          <p:cNvPr id="42" name="Text 40"/>
          <p:cNvSpPr txBox="1"/>
          <p:nvPr/>
        </p:nvSpPr>
        <p:spPr>
          <a:xfrm>
            <a:off x="1203295" y="550352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7-day review window; complaint SLA</a:t>
            </a:r>
            <a:endParaRPr lang="en-US" sz="1200" dirty="0"/>
          </a:p>
        </p:txBody>
      </p:sp>
      <p:sp>
        <p:nvSpPr>
          <p:cNvPr id="43" name="Shape 41"/>
          <p:cNvSpPr/>
          <p:nvPr/>
        </p:nvSpPr>
        <p:spPr>
          <a:xfrm>
            <a:off x="5248144" y="5299042"/>
            <a:ext cx="6130772" cy="365711"/>
          </a:xfrm>
          <a:prstGeom prst="roundRect">
            <a:avLst>
              <a:gd name="adj" fmla="val 13890"/>
            </a:avLst>
          </a:prstGeom>
          <a:solidFill>
            <a:srgbClr val="E7EEFA"/>
          </a:solidFill>
          <a:ln/>
        </p:spPr>
      </p:sp>
      <p:sp>
        <p:nvSpPr>
          <p:cNvPr id="44" name="Shape 42"/>
          <p:cNvSpPr/>
          <p:nvPr/>
        </p:nvSpPr>
        <p:spPr>
          <a:xfrm>
            <a:off x="5248144" y="5299042"/>
            <a:ext cx="38099" cy="365711"/>
          </a:xfrm>
          <a:prstGeom prst="roundRect">
            <a:avLst>
              <a:gd name="adj" fmla="val 50000"/>
            </a:avLst>
          </a:prstGeom>
          <a:solidFill>
            <a:srgbClr val="2454C5"/>
          </a:solidFill>
          <a:ln/>
        </p:spPr>
      </p:sp>
      <p:sp>
        <p:nvSpPr>
          <p:cNvPr id="45" name="Text 43"/>
          <p:cNvSpPr txBox="1"/>
          <p:nvPr/>
        </p:nvSpPr>
        <p:spPr>
          <a:xfrm>
            <a:off x="5413240" y="5375240"/>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POST /reviews · POST /complaints</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Flows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SIGN-IN AND API CALL</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OTP sign-in, an API call, then a silent refresh</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sp>
      <p:sp>
        <p:nvSpPr>
          <p:cNvPr id="5" name="Shape 3"/>
          <p:cNvSpPr/>
          <p:nvPr/>
        </p:nvSpPr>
        <p:spPr>
          <a:xfrm>
            <a:off x="3981350" y="2260543"/>
            <a:ext cx="63" cy="3467013"/>
          </a:xfrm>
          <a:prstGeom prst="line">
            <a:avLst/>
          </a:prstGeom>
          <a:noFill/>
          <a:ln w="12700">
            <a:solidFill>
              <a:srgbClr val="D5DEEC"/>
            </a:solidFill>
            <a:prstDash val="dash"/>
          </a:ln>
        </p:spPr>
      </p:sp>
      <p:sp>
        <p:nvSpPr>
          <p:cNvPr id="6" name="Shape 4"/>
          <p:cNvSpPr/>
          <p:nvPr/>
        </p:nvSpPr>
        <p:spPr>
          <a:xfrm>
            <a:off x="6095848" y="2260543"/>
            <a:ext cx="63" cy="3467013"/>
          </a:xfrm>
          <a:prstGeom prst="line">
            <a:avLst/>
          </a:prstGeom>
          <a:noFill/>
          <a:ln w="12700">
            <a:solidFill>
              <a:srgbClr val="D5DEEC"/>
            </a:solidFill>
            <a:prstDash val="dash"/>
          </a:ln>
        </p:spPr>
      </p:sp>
      <p:sp>
        <p:nvSpPr>
          <p:cNvPr id="7" name="Shape 5"/>
          <p:cNvSpPr/>
          <p:nvPr/>
        </p:nvSpPr>
        <p:spPr>
          <a:xfrm>
            <a:off x="8203995" y="2260543"/>
            <a:ext cx="63" cy="3467013"/>
          </a:xfrm>
          <a:prstGeom prst="line">
            <a:avLst/>
          </a:prstGeom>
          <a:noFill/>
          <a:ln w="12700">
            <a:solidFill>
              <a:srgbClr val="D5DEEC"/>
            </a:solidFill>
            <a:prstDash val="dash"/>
          </a:ln>
        </p:spPr>
      </p:sp>
      <p:sp>
        <p:nvSpPr>
          <p:cNvPr id="8" name="Shape 6"/>
          <p:cNvSpPr/>
          <p:nvPr/>
        </p:nvSpPr>
        <p:spPr>
          <a:xfrm>
            <a:off x="10318492" y="2260543"/>
            <a:ext cx="63" cy="3467013"/>
          </a:xfrm>
          <a:prstGeom prst="line">
            <a:avLst/>
          </a:prstGeom>
          <a:noFill/>
          <a:ln w="12700">
            <a:solidFill>
              <a:srgbClr val="D5DEEC"/>
            </a:solidFill>
            <a:prstDash val="dash"/>
          </a:ln>
        </p:spPr>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sp>
      <p:sp>
        <p:nvSpPr>
          <p:cNvPr id="10" name="Text 8"/>
          <p:cNvSpPr txBox="1"/>
          <p:nvPr/>
        </p:nvSpPr>
        <p:spPr>
          <a:xfrm>
            <a:off x="1680228" y="1916362"/>
            <a:ext cx="373152"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E3EBFA"/>
          </a:solidFill>
          <a:ln w="12700">
            <a:solidFill>
              <a:srgbClr val="2454C5"/>
            </a:solidFill>
            <a:prstDash val="solid"/>
          </a:ln>
        </p:spPr>
      </p:sp>
      <p:sp>
        <p:nvSpPr>
          <p:cNvPr id="12" name="Text 10"/>
          <p:cNvSpPr txBox="1"/>
          <p:nvPr/>
        </p:nvSpPr>
        <p:spPr>
          <a:xfrm>
            <a:off x="3439858" y="1916362"/>
            <a:ext cx="10828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auth-service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FBE4E2"/>
          </a:solidFill>
          <a:ln w="12700">
            <a:solidFill>
              <a:srgbClr val="C0352B"/>
            </a:solidFill>
            <a:prstDash val="solid"/>
          </a:ln>
        </p:spPr>
      </p:sp>
      <p:sp>
        <p:nvSpPr>
          <p:cNvPr id="14" name="Text 12"/>
          <p:cNvSpPr txBox="1"/>
          <p:nvPr/>
        </p:nvSpPr>
        <p:spPr>
          <a:xfrm>
            <a:off x="5851776" y="1916362"/>
            <a:ext cx="488144"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15" name="Shape 13"/>
          <p:cNvSpPr/>
          <p:nvPr/>
        </p:nvSpPr>
        <p:spPr>
          <a:xfrm>
            <a:off x="7315017" y="1803355"/>
            <a:ext cx="1777956" cy="457189"/>
          </a:xfrm>
          <a:prstGeom prst="roundRect">
            <a:avLst>
              <a:gd name="adj" fmla="val 19444"/>
            </a:avLst>
          </a:prstGeom>
          <a:solidFill>
            <a:srgbClr val="E6EBF3"/>
          </a:solidFill>
          <a:ln w="12700">
            <a:solidFill>
              <a:srgbClr val="3F5F95"/>
            </a:solidFill>
            <a:prstDash val="solid"/>
          </a:ln>
        </p:spPr>
      </p:sp>
      <p:sp>
        <p:nvSpPr>
          <p:cNvPr id="16" name="Text 14"/>
          <p:cNvSpPr txBox="1"/>
          <p:nvPr/>
        </p:nvSpPr>
        <p:spPr>
          <a:xfrm>
            <a:off x="7681054" y="1916362"/>
            <a:ext cx="1045882"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7" name="Shape 15"/>
          <p:cNvSpPr/>
          <p:nvPr/>
        </p:nvSpPr>
        <p:spPr>
          <a:xfrm>
            <a:off x="9429514" y="1803355"/>
            <a:ext cx="1777956" cy="457189"/>
          </a:xfrm>
          <a:prstGeom prst="roundRect">
            <a:avLst>
              <a:gd name="adj" fmla="val 19444"/>
            </a:avLst>
          </a:prstGeom>
          <a:solidFill>
            <a:srgbClr val="DDF2EF"/>
          </a:solidFill>
          <a:ln w="12700">
            <a:solidFill>
              <a:srgbClr val="0B7F74"/>
            </a:solidFill>
            <a:prstDash val="solid"/>
          </a:ln>
        </p:spPr>
      </p:sp>
      <p:sp>
        <p:nvSpPr>
          <p:cNvPr id="18" name="Text 16"/>
          <p:cNvSpPr txBox="1"/>
          <p:nvPr/>
        </p:nvSpPr>
        <p:spPr>
          <a:xfrm>
            <a:off x="9655870" y="1916362"/>
            <a:ext cx="1325244"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Domain service</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sp>
      <p:sp>
        <p:nvSpPr>
          <p:cNvPr id="20" name="Shape 18"/>
          <p:cNvSpPr/>
          <p:nvPr/>
        </p:nvSpPr>
        <p:spPr>
          <a:xfrm>
            <a:off x="1943051" y="2476438"/>
            <a:ext cx="1962101" cy="213315"/>
          </a:xfrm>
          <a:prstGeom prst="roundRect">
            <a:avLst>
              <a:gd name="adj" fmla="val 17860"/>
            </a:avLst>
          </a:prstGeom>
          <a:solidFill>
            <a:srgbClr val="F5F7FB"/>
          </a:solidFill>
          <a:ln/>
        </p:spPr>
      </p:sp>
      <p:sp>
        <p:nvSpPr>
          <p:cNvPr id="21" name="Text 19"/>
          <p:cNvSpPr txBox="1"/>
          <p:nvPr/>
        </p:nvSpPr>
        <p:spPr>
          <a:xfrm>
            <a:off x="1825325" y="2476438"/>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POST /auth/register/otp</a:t>
            </a:r>
            <a:endParaRPr lang="en-US" sz="1200" dirty="0"/>
          </a:p>
        </p:txBody>
      </p:sp>
      <p:sp>
        <p:nvSpPr>
          <p:cNvPr id="22" name="Shape 20"/>
          <p:cNvSpPr/>
          <p:nvPr/>
        </p:nvSpPr>
        <p:spPr>
          <a:xfrm>
            <a:off x="4006750" y="3086023"/>
            <a:ext cx="2050999" cy="63"/>
          </a:xfrm>
          <a:prstGeom prst="line">
            <a:avLst/>
          </a:prstGeom>
          <a:noFill/>
          <a:ln w="19050">
            <a:solidFill>
              <a:srgbClr val="2454C5"/>
            </a:solidFill>
            <a:prstDash val="solid"/>
            <a:tailEnd type="triangle"/>
          </a:ln>
        </p:spPr>
      </p:sp>
      <p:sp>
        <p:nvSpPr>
          <p:cNvPr id="23" name="Shape 21"/>
          <p:cNvSpPr/>
          <p:nvPr/>
        </p:nvSpPr>
        <p:spPr>
          <a:xfrm>
            <a:off x="4057549" y="2832029"/>
            <a:ext cx="1962101" cy="213315"/>
          </a:xfrm>
          <a:prstGeom prst="roundRect">
            <a:avLst>
              <a:gd name="adj" fmla="val 17860"/>
            </a:avLst>
          </a:prstGeom>
          <a:solidFill>
            <a:srgbClr val="F5F7FB"/>
          </a:solidFill>
          <a:ln/>
        </p:spPr>
      </p:sp>
      <p:sp>
        <p:nvSpPr>
          <p:cNvPr id="24" name="Text 22"/>
          <p:cNvSpPr txBox="1"/>
          <p:nvPr/>
        </p:nvSpPr>
        <p:spPr>
          <a:xfrm>
            <a:off x="3939823" y="2832029"/>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hashed OTP, 5 tries</a:t>
            </a:r>
            <a:endParaRPr lang="en-US" sz="1200" dirty="0"/>
          </a:p>
        </p:txBody>
      </p:sp>
      <p:sp>
        <p:nvSpPr>
          <p:cNvPr id="25" name="Shape 23"/>
          <p:cNvSpPr/>
          <p:nvPr/>
        </p:nvSpPr>
        <p:spPr>
          <a:xfrm>
            <a:off x="1892253" y="3441614"/>
            <a:ext cx="2050999" cy="63"/>
          </a:xfrm>
          <a:prstGeom prst="line">
            <a:avLst/>
          </a:prstGeom>
          <a:noFill/>
          <a:ln w="19050">
            <a:solidFill>
              <a:srgbClr val="2454C5"/>
            </a:solidFill>
            <a:prstDash val="solid"/>
            <a:tailEnd type="triangle"/>
          </a:ln>
        </p:spPr>
      </p:sp>
      <p:sp>
        <p:nvSpPr>
          <p:cNvPr id="26" name="Shape 24"/>
          <p:cNvSpPr/>
          <p:nvPr/>
        </p:nvSpPr>
        <p:spPr>
          <a:xfrm>
            <a:off x="1943051" y="3187620"/>
            <a:ext cx="1962101" cy="213315"/>
          </a:xfrm>
          <a:prstGeom prst="roundRect">
            <a:avLst>
              <a:gd name="adj" fmla="val 17860"/>
            </a:avLst>
          </a:prstGeom>
          <a:solidFill>
            <a:srgbClr val="F5F7FB"/>
          </a:solidFill>
          <a:ln/>
        </p:spPr>
      </p:sp>
      <p:sp>
        <p:nvSpPr>
          <p:cNvPr id="27" name="Text 25"/>
          <p:cNvSpPr txBox="1"/>
          <p:nvPr/>
        </p:nvSpPr>
        <p:spPr>
          <a:xfrm>
            <a:off x="1825325" y="3187620"/>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POST …/register/verify</a:t>
            </a:r>
            <a:endParaRPr lang="en-US" sz="1200" dirty="0"/>
          </a:p>
        </p:txBody>
      </p:sp>
      <p:sp>
        <p:nvSpPr>
          <p:cNvPr id="28" name="Shape 26"/>
          <p:cNvSpPr/>
          <p:nvPr/>
        </p:nvSpPr>
        <p:spPr>
          <a:xfrm flipH="1">
            <a:off x="1904952" y="3797205"/>
            <a:ext cx="2050999" cy="63"/>
          </a:xfrm>
          <a:prstGeom prst="line">
            <a:avLst/>
          </a:prstGeom>
          <a:noFill/>
          <a:ln w="19050">
            <a:solidFill>
              <a:srgbClr val="5C6B8A"/>
            </a:solidFill>
            <a:prstDash val="dash"/>
            <a:tailEnd type="triangle"/>
          </a:ln>
        </p:spPr>
      </p:sp>
      <p:sp>
        <p:nvSpPr>
          <p:cNvPr id="29" name="Shape 27"/>
          <p:cNvSpPr/>
          <p:nvPr/>
        </p:nvSpPr>
        <p:spPr>
          <a:xfrm>
            <a:off x="1943051" y="3543211"/>
            <a:ext cx="1962101" cy="213315"/>
          </a:xfrm>
          <a:prstGeom prst="roundRect">
            <a:avLst>
              <a:gd name="adj" fmla="val 17860"/>
            </a:avLst>
          </a:prstGeom>
          <a:solidFill>
            <a:srgbClr val="F5F7FB"/>
          </a:solidFill>
          <a:ln/>
        </p:spPr>
      </p:sp>
      <p:sp>
        <p:nvSpPr>
          <p:cNvPr id="30" name="Text 28"/>
          <p:cNvSpPr txBox="1"/>
          <p:nvPr/>
        </p:nvSpPr>
        <p:spPr>
          <a:xfrm>
            <a:off x="1825325" y="3543211"/>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JWT 15 min + refresh</a:t>
            </a:r>
            <a:endParaRPr lang="en-US" sz="1200" dirty="0"/>
          </a:p>
        </p:txBody>
      </p:sp>
      <p:sp>
        <p:nvSpPr>
          <p:cNvPr id="31" name="Shape 29"/>
          <p:cNvSpPr/>
          <p:nvPr/>
        </p:nvSpPr>
        <p:spPr>
          <a:xfrm>
            <a:off x="1892253" y="4159146"/>
            <a:ext cx="6273643" cy="63"/>
          </a:xfrm>
          <a:prstGeom prst="line">
            <a:avLst/>
          </a:prstGeom>
          <a:noFill/>
          <a:ln w="19050">
            <a:solidFill>
              <a:srgbClr val="2454C5"/>
            </a:solidFill>
            <a:prstDash val="solid"/>
            <a:tailEnd type="triangle"/>
          </a:ln>
        </p:spPr>
      </p:sp>
      <p:sp>
        <p:nvSpPr>
          <p:cNvPr id="32" name="Shape 30"/>
          <p:cNvSpPr/>
          <p:nvPr/>
        </p:nvSpPr>
        <p:spPr>
          <a:xfrm>
            <a:off x="3657509" y="3905152"/>
            <a:ext cx="2749481" cy="213315"/>
          </a:xfrm>
          <a:prstGeom prst="roundRect">
            <a:avLst>
              <a:gd name="adj" fmla="val 17860"/>
            </a:avLst>
          </a:prstGeom>
          <a:solidFill>
            <a:srgbClr val="F5F7FB"/>
          </a:solidFill>
          <a:ln/>
        </p:spPr>
      </p:sp>
      <p:sp>
        <p:nvSpPr>
          <p:cNvPr id="33" name="Text 31"/>
          <p:cNvSpPr txBox="1"/>
          <p:nvPr/>
        </p:nvSpPr>
        <p:spPr>
          <a:xfrm>
            <a:off x="3492540" y="3905152"/>
            <a:ext cx="3079419"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GET /bookings · Bearer JWT</a:t>
            </a:r>
            <a:endParaRPr lang="en-US" sz="1200" dirty="0"/>
          </a:p>
        </p:txBody>
      </p:sp>
      <p:sp>
        <p:nvSpPr>
          <p:cNvPr id="34" name="Shape 32"/>
          <p:cNvSpPr/>
          <p:nvPr/>
        </p:nvSpPr>
        <p:spPr>
          <a:xfrm flipH="1">
            <a:off x="4019450" y="4514737"/>
            <a:ext cx="4159146" cy="63"/>
          </a:xfrm>
          <a:prstGeom prst="line">
            <a:avLst/>
          </a:prstGeom>
          <a:noFill/>
          <a:ln w="19050">
            <a:solidFill>
              <a:srgbClr val="2454C5"/>
            </a:solidFill>
            <a:prstDash val="solid"/>
            <a:tailEnd type="triangle"/>
          </a:ln>
        </p:spPr>
      </p:sp>
      <p:sp>
        <p:nvSpPr>
          <p:cNvPr id="35" name="Shape 33"/>
          <p:cNvSpPr/>
          <p:nvPr/>
        </p:nvSpPr>
        <p:spPr>
          <a:xfrm>
            <a:off x="4590935" y="4260743"/>
            <a:ext cx="3003475" cy="213315"/>
          </a:xfrm>
          <a:prstGeom prst="roundRect">
            <a:avLst>
              <a:gd name="adj" fmla="val 17860"/>
            </a:avLst>
          </a:prstGeom>
          <a:solidFill>
            <a:srgbClr val="F5F7FB"/>
          </a:solidFill>
          <a:ln/>
        </p:spPr>
      </p:sp>
      <p:sp>
        <p:nvSpPr>
          <p:cNvPr id="36" name="Text 34"/>
          <p:cNvSpPr txBox="1"/>
          <p:nvPr/>
        </p:nvSpPr>
        <p:spPr>
          <a:xfrm>
            <a:off x="4410727" y="4260743"/>
            <a:ext cx="3363892"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GET /auth/introspect (cached)</a:t>
            </a:r>
            <a:endParaRPr lang="en-US" sz="1200" dirty="0"/>
          </a:p>
        </p:txBody>
      </p:sp>
      <p:sp>
        <p:nvSpPr>
          <p:cNvPr id="37" name="Shape 35"/>
          <p:cNvSpPr/>
          <p:nvPr/>
        </p:nvSpPr>
        <p:spPr>
          <a:xfrm>
            <a:off x="8229394" y="4870328"/>
            <a:ext cx="2050999" cy="63"/>
          </a:xfrm>
          <a:prstGeom prst="line">
            <a:avLst/>
          </a:prstGeom>
          <a:noFill/>
          <a:ln w="19050">
            <a:solidFill>
              <a:srgbClr val="2454C5"/>
            </a:solidFill>
            <a:prstDash val="solid"/>
            <a:tailEnd type="triangle"/>
          </a:ln>
        </p:spPr>
      </p:sp>
      <p:sp>
        <p:nvSpPr>
          <p:cNvPr id="38" name="Shape 36"/>
          <p:cNvSpPr/>
          <p:nvPr/>
        </p:nvSpPr>
        <p:spPr>
          <a:xfrm>
            <a:off x="8699283" y="4616335"/>
            <a:ext cx="1117572" cy="213315"/>
          </a:xfrm>
          <a:prstGeom prst="roundRect">
            <a:avLst>
              <a:gd name="adj" fmla="val 17860"/>
            </a:avLst>
          </a:prstGeom>
          <a:solidFill>
            <a:srgbClr val="F5F7FB"/>
          </a:solidFill>
          <a:ln/>
        </p:spPr>
      </p:sp>
      <p:sp>
        <p:nvSpPr>
          <p:cNvPr id="39" name="Text 37"/>
          <p:cNvSpPr txBox="1"/>
          <p:nvPr/>
        </p:nvSpPr>
        <p:spPr>
          <a:xfrm>
            <a:off x="8632228" y="4616335"/>
            <a:ext cx="125168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forward</a:t>
            </a:r>
            <a:endParaRPr lang="en-US" sz="1200" dirty="0"/>
          </a:p>
        </p:txBody>
      </p:sp>
      <p:sp>
        <p:nvSpPr>
          <p:cNvPr id="40" name="Shape 38"/>
          <p:cNvSpPr/>
          <p:nvPr/>
        </p:nvSpPr>
        <p:spPr>
          <a:xfrm flipH="1">
            <a:off x="1904952" y="5225919"/>
            <a:ext cx="8388140" cy="63"/>
          </a:xfrm>
          <a:prstGeom prst="line">
            <a:avLst/>
          </a:prstGeom>
          <a:noFill/>
          <a:ln w="19050">
            <a:solidFill>
              <a:srgbClr val="5C6B8A"/>
            </a:solidFill>
            <a:prstDash val="dash"/>
            <a:tailEnd type="triangle"/>
          </a:ln>
        </p:spPr>
      </p:sp>
      <p:sp>
        <p:nvSpPr>
          <p:cNvPr id="41" name="Shape 39"/>
          <p:cNvSpPr/>
          <p:nvPr/>
        </p:nvSpPr>
        <p:spPr>
          <a:xfrm>
            <a:off x="4629034" y="4971926"/>
            <a:ext cx="2920927" cy="213315"/>
          </a:xfrm>
          <a:prstGeom prst="roundRect">
            <a:avLst>
              <a:gd name="adj" fmla="val 17860"/>
            </a:avLst>
          </a:prstGeom>
          <a:solidFill>
            <a:srgbClr val="F5F7FB"/>
          </a:solidFill>
          <a:ln/>
        </p:spPr>
      </p:sp>
      <p:sp>
        <p:nvSpPr>
          <p:cNvPr id="42" name="Text 40"/>
          <p:cNvSpPr txBox="1"/>
          <p:nvPr/>
        </p:nvSpPr>
        <p:spPr>
          <a:xfrm>
            <a:off x="4453779" y="4971926"/>
            <a:ext cx="32714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200 after RBAC and ownership</a:t>
            </a:r>
            <a:endParaRPr lang="en-US" sz="1200" dirty="0"/>
          </a:p>
        </p:txBody>
      </p:sp>
      <p:sp>
        <p:nvSpPr>
          <p:cNvPr id="43" name="Shape 41"/>
          <p:cNvSpPr/>
          <p:nvPr/>
        </p:nvSpPr>
        <p:spPr>
          <a:xfrm>
            <a:off x="1892253" y="5587860"/>
            <a:ext cx="2050999" cy="63"/>
          </a:xfrm>
          <a:prstGeom prst="line">
            <a:avLst/>
          </a:prstGeom>
          <a:noFill/>
          <a:ln w="19050">
            <a:solidFill>
              <a:srgbClr val="2454C5"/>
            </a:solidFill>
            <a:prstDash val="solid"/>
            <a:tailEnd type="triangle"/>
          </a:ln>
        </p:spPr>
      </p:sp>
      <p:sp>
        <p:nvSpPr>
          <p:cNvPr id="44" name="Shape 42"/>
          <p:cNvSpPr/>
          <p:nvPr/>
        </p:nvSpPr>
        <p:spPr>
          <a:xfrm>
            <a:off x="1943051" y="5333867"/>
            <a:ext cx="1962101" cy="213315"/>
          </a:xfrm>
          <a:prstGeom prst="roundRect">
            <a:avLst>
              <a:gd name="adj" fmla="val 17860"/>
            </a:avLst>
          </a:prstGeom>
          <a:solidFill>
            <a:srgbClr val="F5F7FB"/>
          </a:solidFill>
          <a:ln/>
        </p:spPr>
      </p:sp>
      <p:sp>
        <p:nvSpPr>
          <p:cNvPr id="45" name="Text 43"/>
          <p:cNvSpPr txBox="1"/>
          <p:nvPr/>
        </p:nvSpPr>
        <p:spPr>
          <a:xfrm>
            <a:off x="1825325" y="5333867"/>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POST /auth/token/refresh</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Sequences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BOOKING TO ACCEPTANCE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Three providers see the offer; the first to accept takes it</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sp>
      <p:sp>
        <p:nvSpPr>
          <p:cNvPr id="5" name="Shape 3"/>
          <p:cNvSpPr/>
          <p:nvPr/>
        </p:nvSpPr>
        <p:spPr>
          <a:xfrm>
            <a:off x="3981350" y="2260543"/>
            <a:ext cx="63" cy="3467013"/>
          </a:xfrm>
          <a:prstGeom prst="line">
            <a:avLst/>
          </a:prstGeom>
          <a:noFill/>
          <a:ln w="12700">
            <a:solidFill>
              <a:srgbClr val="D5DEEC"/>
            </a:solidFill>
            <a:prstDash val="dash"/>
          </a:ln>
        </p:spPr>
      </p:sp>
      <p:sp>
        <p:nvSpPr>
          <p:cNvPr id="6" name="Shape 4"/>
          <p:cNvSpPr/>
          <p:nvPr/>
        </p:nvSpPr>
        <p:spPr>
          <a:xfrm>
            <a:off x="6095848" y="2260543"/>
            <a:ext cx="63" cy="3467013"/>
          </a:xfrm>
          <a:prstGeom prst="line">
            <a:avLst/>
          </a:prstGeom>
          <a:noFill/>
          <a:ln w="12700">
            <a:solidFill>
              <a:srgbClr val="D5DEEC"/>
            </a:solidFill>
            <a:prstDash val="dash"/>
          </a:ln>
        </p:spPr>
      </p:sp>
      <p:sp>
        <p:nvSpPr>
          <p:cNvPr id="7" name="Shape 5"/>
          <p:cNvSpPr/>
          <p:nvPr/>
        </p:nvSpPr>
        <p:spPr>
          <a:xfrm>
            <a:off x="8203995" y="2260543"/>
            <a:ext cx="63" cy="3467013"/>
          </a:xfrm>
          <a:prstGeom prst="line">
            <a:avLst/>
          </a:prstGeom>
          <a:noFill/>
          <a:ln w="12700">
            <a:solidFill>
              <a:srgbClr val="D5DEEC"/>
            </a:solidFill>
            <a:prstDash val="dash"/>
          </a:ln>
        </p:spPr>
      </p:sp>
      <p:sp>
        <p:nvSpPr>
          <p:cNvPr id="8" name="Shape 6"/>
          <p:cNvSpPr/>
          <p:nvPr/>
        </p:nvSpPr>
        <p:spPr>
          <a:xfrm>
            <a:off x="10318492" y="2260543"/>
            <a:ext cx="63" cy="3467013"/>
          </a:xfrm>
          <a:prstGeom prst="line">
            <a:avLst/>
          </a:prstGeom>
          <a:noFill/>
          <a:ln w="12700">
            <a:solidFill>
              <a:srgbClr val="D5DEEC"/>
            </a:solidFill>
            <a:prstDash val="dash"/>
          </a:ln>
        </p:spPr>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sp>
      <p:sp>
        <p:nvSpPr>
          <p:cNvPr id="10" name="Text 8"/>
          <p:cNvSpPr txBox="1"/>
          <p:nvPr/>
        </p:nvSpPr>
        <p:spPr>
          <a:xfrm>
            <a:off x="1269911" y="1916362"/>
            <a:ext cx="11937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DDF2EF"/>
          </a:solidFill>
          <a:ln w="12700">
            <a:solidFill>
              <a:srgbClr val="0B7F74"/>
            </a:solidFill>
            <a:prstDash val="solid"/>
          </a:ln>
        </p:spPr>
      </p:sp>
      <p:sp>
        <p:nvSpPr>
          <p:cNvPr id="12" name="Text 10"/>
          <p:cNvSpPr txBox="1"/>
          <p:nvPr/>
        </p:nvSpPr>
        <p:spPr>
          <a:xfrm>
            <a:off x="3297615" y="1916362"/>
            <a:ext cx="136747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DDF2EF"/>
          </a:solidFill>
          <a:ln w="12700">
            <a:solidFill>
              <a:srgbClr val="0B7F74"/>
            </a:solidFill>
            <a:prstDash val="solid"/>
          </a:ln>
        </p:spPr>
      </p:sp>
      <p:sp>
        <p:nvSpPr>
          <p:cNvPr id="14" name="Text 12"/>
          <p:cNvSpPr txBox="1"/>
          <p:nvPr/>
        </p:nvSpPr>
        <p:spPr>
          <a:xfrm>
            <a:off x="5409452" y="1916362"/>
            <a:ext cx="1372693"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dispatch-engine</a:t>
            </a:r>
            <a:endParaRPr lang="en-US" sz="1300" dirty="0"/>
          </a:p>
        </p:txBody>
      </p:sp>
      <p:sp>
        <p:nvSpPr>
          <p:cNvPr id="15" name="Shape 13"/>
          <p:cNvSpPr/>
          <p:nvPr/>
        </p:nvSpPr>
        <p:spPr>
          <a:xfrm>
            <a:off x="7315017" y="1803355"/>
            <a:ext cx="1777956" cy="457189"/>
          </a:xfrm>
          <a:prstGeom prst="roundRect">
            <a:avLst>
              <a:gd name="adj" fmla="val 19444"/>
            </a:avLst>
          </a:prstGeom>
          <a:solidFill>
            <a:srgbClr val="DDF2EF"/>
          </a:solidFill>
          <a:ln w="12700">
            <a:solidFill>
              <a:srgbClr val="0B7F74"/>
            </a:solidFill>
            <a:prstDash val="solid"/>
          </a:ln>
        </p:spPr>
      </p:sp>
      <p:sp>
        <p:nvSpPr>
          <p:cNvPr id="16" name="Text 14"/>
          <p:cNvSpPr txBox="1"/>
          <p:nvPr/>
        </p:nvSpPr>
        <p:spPr>
          <a:xfrm>
            <a:off x="7751061" y="1916362"/>
            <a:ext cx="905868"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Provider A</a:t>
            </a:r>
            <a:endParaRPr lang="en-US" sz="1300" dirty="0"/>
          </a:p>
        </p:txBody>
      </p:sp>
      <p:sp>
        <p:nvSpPr>
          <p:cNvPr id="17" name="Shape 15"/>
          <p:cNvSpPr/>
          <p:nvPr/>
        </p:nvSpPr>
        <p:spPr>
          <a:xfrm>
            <a:off x="9429514" y="1803355"/>
            <a:ext cx="1777956" cy="457189"/>
          </a:xfrm>
          <a:prstGeom prst="roundRect">
            <a:avLst>
              <a:gd name="adj" fmla="val 19444"/>
            </a:avLst>
          </a:prstGeom>
          <a:solidFill>
            <a:srgbClr val="DDF2EF"/>
          </a:solidFill>
          <a:ln w="12700">
            <a:solidFill>
              <a:srgbClr val="0B7F74"/>
            </a:solidFill>
            <a:prstDash val="solid"/>
          </a:ln>
        </p:spPr>
      </p:sp>
      <p:sp>
        <p:nvSpPr>
          <p:cNvPr id="18" name="Text 16"/>
          <p:cNvSpPr txBox="1"/>
          <p:nvPr/>
        </p:nvSpPr>
        <p:spPr>
          <a:xfrm>
            <a:off x="9863897" y="1916362"/>
            <a:ext cx="90909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Provider B</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sp>
      <p:sp>
        <p:nvSpPr>
          <p:cNvPr id="20" name="Shape 18"/>
          <p:cNvSpPr/>
          <p:nvPr/>
        </p:nvSpPr>
        <p:spPr>
          <a:xfrm>
            <a:off x="1974801" y="2476438"/>
            <a:ext cx="1892253" cy="213315"/>
          </a:xfrm>
          <a:prstGeom prst="roundRect">
            <a:avLst>
              <a:gd name="adj" fmla="val 17860"/>
            </a:avLst>
          </a:prstGeom>
          <a:solidFill>
            <a:srgbClr val="F5F7FB"/>
          </a:solidFill>
          <a:ln/>
        </p:spPr>
      </p:sp>
      <p:sp>
        <p:nvSpPr>
          <p:cNvPr id="21" name="Text 19"/>
          <p:cNvSpPr txBox="1"/>
          <p:nvPr/>
        </p:nvSpPr>
        <p:spPr>
          <a:xfrm>
            <a:off x="1861265" y="2476438"/>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book and confirm</a:t>
            </a:r>
            <a:endParaRPr lang="en-US" sz="1200" dirty="0"/>
          </a:p>
        </p:txBody>
      </p:sp>
      <p:sp>
        <p:nvSpPr>
          <p:cNvPr id="22" name="Shape 20"/>
          <p:cNvSpPr/>
          <p:nvPr/>
        </p:nvSpPr>
        <p:spPr>
          <a:xfrm>
            <a:off x="4006750" y="3086023"/>
            <a:ext cx="2050999" cy="63"/>
          </a:xfrm>
          <a:prstGeom prst="line">
            <a:avLst/>
          </a:prstGeom>
          <a:noFill/>
          <a:ln w="19050">
            <a:solidFill>
              <a:srgbClr val="4B4B9A"/>
            </a:solidFill>
            <a:prstDash val="solid"/>
            <a:tailEnd type="triangle"/>
          </a:ln>
        </p:spPr>
      </p:sp>
      <p:sp>
        <p:nvSpPr>
          <p:cNvPr id="23" name="Shape 21"/>
          <p:cNvSpPr/>
          <p:nvPr/>
        </p:nvSpPr>
        <p:spPr>
          <a:xfrm>
            <a:off x="4178196" y="2832029"/>
            <a:ext cx="1720807" cy="213315"/>
          </a:xfrm>
          <a:prstGeom prst="roundRect">
            <a:avLst>
              <a:gd name="adj" fmla="val 17860"/>
            </a:avLst>
          </a:prstGeom>
          <a:solidFill>
            <a:srgbClr val="F5F7FB"/>
          </a:solidFill>
          <a:ln/>
        </p:spPr>
      </p:sp>
      <p:sp>
        <p:nvSpPr>
          <p:cNvPr id="24" name="Text 22"/>
          <p:cNvSpPr txBox="1"/>
          <p:nvPr/>
        </p:nvSpPr>
        <p:spPr>
          <a:xfrm>
            <a:off x="4074947" y="2832029"/>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BookingCreated</a:t>
            </a:r>
            <a:endParaRPr lang="en-US" sz="1200" dirty="0"/>
          </a:p>
        </p:txBody>
      </p:sp>
      <p:sp>
        <p:nvSpPr>
          <p:cNvPr id="25" name="Shape 23"/>
          <p:cNvSpPr/>
          <p:nvPr/>
        </p:nvSpPr>
        <p:spPr>
          <a:xfrm>
            <a:off x="6121247" y="3441614"/>
            <a:ext cx="2044649" cy="63"/>
          </a:xfrm>
          <a:prstGeom prst="line">
            <a:avLst/>
          </a:prstGeom>
          <a:noFill/>
          <a:ln w="19050">
            <a:solidFill>
              <a:srgbClr val="2454C5"/>
            </a:solidFill>
            <a:prstDash val="solid"/>
            <a:tailEnd type="triangle"/>
          </a:ln>
        </p:spPr>
      </p:sp>
      <p:sp>
        <p:nvSpPr>
          <p:cNvPr id="26" name="Shape 24"/>
          <p:cNvSpPr/>
          <p:nvPr/>
        </p:nvSpPr>
        <p:spPr>
          <a:xfrm>
            <a:off x="6172046" y="3187620"/>
            <a:ext cx="1955751" cy="213315"/>
          </a:xfrm>
          <a:prstGeom prst="roundRect">
            <a:avLst>
              <a:gd name="adj" fmla="val 17860"/>
            </a:avLst>
          </a:prstGeom>
          <a:solidFill>
            <a:srgbClr val="F5F7FB"/>
          </a:solidFill>
          <a:ln/>
        </p:spPr>
      </p:sp>
      <p:sp>
        <p:nvSpPr>
          <p:cNvPr id="27" name="Text 25"/>
          <p:cNvSpPr txBox="1"/>
          <p:nvPr/>
        </p:nvSpPr>
        <p:spPr>
          <a:xfrm>
            <a:off x="6054701" y="3187620"/>
            <a:ext cx="219044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offer, round of 3</a:t>
            </a:r>
            <a:endParaRPr lang="en-US" sz="1200" dirty="0"/>
          </a:p>
        </p:txBody>
      </p:sp>
      <p:sp>
        <p:nvSpPr>
          <p:cNvPr id="28" name="Shape 26"/>
          <p:cNvSpPr/>
          <p:nvPr/>
        </p:nvSpPr>
        <p:spPr>
          <a:xfrm>
            <a:off x="6121247" y="3797205"/>
            <a:ext cx="4159146" cy="63"/>
          </a:xfrm>
          <a:prstGeom prst="line">
            <a:avLst/>
          </a:prstGeom>
          <a:noFill/>
          <a:ln w="19050">
            <a:solidFill>
              <a:srgbClr val="2454C5"/>
            </a:solidFill>
            <a:prstDash val="solid"/>
            <a:tailEnd type="triangle"/>
          </a:ln>
        </p:spPr>
      </p:sp>
      <p:sp>
        <p:nvSpPr>
          <p:cNvPr id="29" name="Shape 27"/>
          <p:cNvSpPr/>
          <p:nvPr/>
        </p:nvSpPr>
        <p:spPr>
          <a:xfrm>
            <a:off x="7175321" y="3543211"/>
            <a:ext cx="2063698" cy="213315"/>
          </a:xfrm>
          <a:prstGeom prst="roundRect">
            <a:avLst>
              <a:gd name="adj" fmla="val 17860"/>
            </a:avLst>
          </a:prstGeom>
          <a:solidFill>
            <a:srgbClr val="F5F7FB"/>
          </a:solidFill>
          <a:ln/>
        </p:spPr>
      </p:sp>
      <p:sp>
        <p:nvSpPr>
          <p:cNvPr id="30" name="Text 28"/>
          <p:cNvSpPr txBox="1"/>
          <p:nvPr/>
        </p:nvSpPr>
        <p:spPr>
          <a:xfrm>
            <a:off x="7051499" y="3543211"/>
            <a:ext cx="2311342"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offer, same moment</a:t>
            </a:r>
            <a:endParaRPr lang="en-US" sz="1200" dirty="0"/>
          </a:p>
        </p:txBody>
      </p:sp>
      <p:sp>
        <p:nvSpPr>
          <p:cNvPr id="31" name="Shape 29"/>
          <p:cNvSpPr/>
          <p:nvPr/>
        </p:nvSpPr>
        <p:spPr>
          <a:xfrm flipH="1">
            <a:off x="6133947" y="4159146"/>
            <a:ext cx="2044649" cy="63"/>
          </a:xfrm>
          <a:prstGeom prst="line">
            <a:avLst/>
          </a:prstGeom>
          <a:noFill/>
          <a:ln w="19050">
            <a:solidFill>
              <a:srgbClr val="2454C5"/>
            </a:solidFill>
            <a:prstDash val="solid"/>
            <a:tailEnd type="triangle"/>
          </a:ln>
        </p:spPr>
      </p:sp>
      <p:sp>
        <p:nvSpPr>
          <p:cNvPr id="32" name="Shape 30"/>
          <p:cNvSpPr/>
          <p:nvPr/>
        </p:nvSpPr>
        <p:spPr>
          <a:xfrm>
            <a:off x="6330792" y="3905152"/>
            <a:ext cx="1631909" cy="213315"/>
          </a:xfrm>
          <a:prstGeom prst="roundRect">
            <a:avLst>
              <a:gd name="adj" fmla="val 17860"/>
            </a:avLst>
          </a:prstGeom>
          <a:solidFill>
            <a:srgbClr val="F5F7FB"/>
          </a:solidFill>
          <a:ln/>
        </p:spPr>
      </p:sp>
      <p:sp>
        <p:nvSpPr>
          <p:cNvPr id="33" name="Text 31"/>
          <p:cNvSpPr txBox="1"/>
          <p:nvPr/>
        </p:nvSpPr>
        <p:spPr>
          <a:xfrm>
            <a:off x="6232877" y="3905152"/>
            <a:ext cx="18277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POST …/accept</a:t>
            </a:r>
            <a:endParaRPr lang="en-US" sz="1200" dirty="0"/>
          </a:p>
        </p:txBody>
      </p:sp>
      <p:sp>
        <p:nvSpPr>
          <p:cNvPr id="34" name="Shape 32"/>
          <p:cNvSpPr/>
          <p:nvPr/>
        </p:nvSpPr>
        <p:spPr>
          <a:xfrm>
            <a:off x="6121247" y="4514737"/>
            <a:ext cx="4159146" cy="63"/>
          </a:xfrm>
          <a:prstGeom prst="line">
            <a:avLst/>
          </a:prstGeom>
          <a:noFill/>
          <a:ln w="19050">
            <a:solidFill>
              <a:srgbClr val="5C6B8A"/>
            </a:solidFill>
            <a:prstDash val="dash"/>
            <a:tailEnd type="triangle"/>
          </a:ln>
        </p:spPr>
      </p:sp>
      <p:sp>
        <p:nvSpPr>
          <p:cNvPr id="35" name="Shape 33"/>
          <p:cNvSpPr/>
          <p:nvPr/>
        </p:nvSpPr>
        <p:spPr>
          <a:xfrm>
            <a:off x="7562661" y="4260743"/>
            <a:ext cx="1289018" cy="213315"/>
          </a:xfrm>
          <a:prstGeom prst="roundRect">
            <a:avLst>
              <a:gd name="adj" fmla="val 17860"/>
            </a:avLst>
          </a:prstGeom>
          <a:solidFill>
            <a:srgbClr val="F5F7FB"/>
          </a:solidFill>
          <a:ln/>
        </p:spPr>
      </p:sp>
      <p:sp>
        <p:nvSpPr>
          <p:cNvPr id="36" name="Text 34"/>
          <p:cNvSpPr txBox="1"/>
          <p:nvPr/>
        </p:nvSpPr>
        <p:spPr>
          <a:xfrm>
            <a:off x="7485320" y="4260743"/>
            <a:ext cx="1443700"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withdrawn</a:t>
            </a:r>
            <a:endParaRPr lang="en-US" sz="1200" dirty="0"/>
          </a:p>
        </p:txBody>
      </p:sp>
      <p:sp>
        <p:nvSpPr>
          <p:cNvPr id="37" name="Shape 35"/>
          <p:cNvSpPr/>
          <p:nvPr/>
        </p:nvSpPr>
        <p:spPr>
          <a:xfrm flipH="1">
            <a:off x="4019450" y="4870328"/>
            <a:ext cx="2050999" cy="63"/>
          </a:xfrm>
          <a:prstGeom prst="line">
            <a:avLst/>
          </a:prstGeom>
          <a:noFill/>
          <a:ln w="19050">
            <a:solidFill>
              <a:srgbClr val="2454C5"/>
            </a:solidFill>
            <a:prstDash val="solid"/>
            <a:tailEnd type="triangle"/>
          </a:ln>
        </p:spPr>
      </p:sp>
      <p:sp>
        <p:nvSpPr>
          <p:cNvPr id="38" name="Shape 36"/>
          <p:cNvSpPr/>
          <p:nvPr/>
        </p:nvSpPr>
        <p:spPr>
          <a:xfrm>
            <a:off x="4057549" y="4616335"/>
            <a:ext cx="1962101" cy="213315"/>
          </a:xfrm>
          <a:prstGeom prst="roundRect">
            <a:avLst>
              <a:gd name="adj" fmla="val 17860"/>
            </a:avLst>
          </a:prstGeom>
          <a:solidFill>
            <a:srgbClr val="F5F7FB"/>
          </a:solidFill>
          <a:ln/>
        </p:spPr>
      </p:sp>
      <p:sp>
        <p:nvSpPr>
          <p:cNvPr id="39" name="Text 37"/>
          <p:cNvSpPr txBox="1"/>
          <p:nvPr/>
        </p:nvSpPr>
        <p:spPr>
          <a:xfrm>
            <a:off x="3939823" y="4616335"/>
            <a:ext cx="219755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provider-accepted</a:t>
            </a:r>
            <a:endParaRPr lang="en-US" sz="1200" dirty="0"/>
          </a:p>
        </p:txBody>
      </p:sp>
      <p:sp>
        <p:nvSpPr>
          <p:cNvPr id="40" name="Shape 38"/>
          <p:cNvSpPr/>
          <p:nvPr/>
        </p:nvSpPr>
        <p:spPr>
          <a:xfrm flipH="1">
            <a:off x="6133947" y="5225919"/>
            <a:ext cx="4159146" cy="63"/>
          </a:xfrm>
          <a:prstGeom prst="line">
            <a:avLst/>
          </a:prstGeom>
          <a:noFill/>
          <a:ln w="19050">
            <a:solidFill>
              <a:srgbClr val="5C6B8A"/>
            </a:solidFill>
            <a:prstDash val="dash"/>
            <a:tailEnd type="triangle"/>
          </a:ln>
        </p:spPr>
      </p:sp>
      <p:sp>
        <p:nvSpPr>
          <p:cNvPr id="41" name="Shape 39"/>
          <p:cNvSpPr/>
          <p:nvPr/>
        </p:nvSpPr>
        <p:spPr>
          <a:xfrm>
            <a:off x="7257869" y="4971926"/>
            <a:ext cx="1892253" cy="213315"/>
          </a:xfrm>
          <a:prstGeom prst="roundRect">
            <a:avLst>
              <a:gd name="adj" fmla="val 17860"/>
            </a:avLst>
          </a:prstGeom>
          <a:solidFill>
            <a:srgbClr val="F5F7FB"/>
          </a:solidFill>
          <a:ln/>
        </p:spPr>
      </p:sp>
      <p:sp>
        <p:nvSpPr>
          <p:cNvPr id="42" name="Text 40"/>
          <p:cNvSpPr txBox="1"/>
          <p:nvPr/>
        </p:nvSpPr>
        <p:spPr>
          <a:xfrm>
            <a:off x="7144333" y="4971926"/>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late accept: 409</a:t>
            </a:r>
            <a:endParaRPr lang="en-US" sz="1200" dirty="0"/>
          </a:p>
        </p:txBody>
      </p:sp>
      <p:sp>
        <p:nvSpPr>
          <p:cNvPr id="43" name="Shape 41"/>
          <p:cNvSpPr/>
          <p:nvPr/>
        </p:nvSpPr>
        <p:spPr>
          <a:xfrm flipH="1">
            <a:off x="1904952" y="5587860"/>
            <a:ext cx="2050999" cy="63"/>
          </a:xfrm>
          <a:prstGeom prst="line">
            <a:avLst/>
          </a:prstGeom>
          <a:noFill/>
          <a:ln w="19050">
            <a:solidFill>
              <a:srgbClr val="5C6B8A"/>
            </a:solidFill>
            <a:prstDash val="dash"/>
            <a:tailEnd type="triangle"/>
          </a:ln>
        </p:spPr>
      </p:sp>
      <p:sp>
        <p:nvSpPr>
          <p:cNvPr id="44" name="Shape 42"/>
          <p:cNvSpPr/>
          <p:nvPr/>
        </p:nvSpPr>
        <p:spPr>
          <a:xfrm>
            <a:off x="1974801" y="5333867"/>
            <a:ext cx="1892253" cy="213315"/>
          </a:xfrm>
          <a:prstGeom prst="roundRect">
            <a:avLst>
              <a:gd name="adj" fmla="val 17860"/>
            </a:avLst>
          </a:prstGeom>
          <a:solidFill>
            <a:srgbClr val="F5F7FB"/>
          </a:solidFill>
          <a:ln/>
        </p:spPr>
      </p:sp>
      <p:sp>
        <p:nvSpPr>
          <p:cNvPr id="45" name="Text 43"/>
          <p:cNvSpPr txBox="1"/>
          <p:nvPr/>
        </p:nvSpPr>
        <p:spPr>
          <a:xfrm>
            <a:off x="1861265" y="5333867"/>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status: accepted</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Sequences</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SEQUENCE · PAYMENT</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Verify and webhook settle each payment once</a:t>
            </a:r>
            <a:endParaRPr lang="en-US" sz="3000" dirty="0"/>
          </a:p>
        </p:txBody>
      </p:sp>
      <p:sp>
        <p:nvSpPr>
          <p:cNvPr id="4" name="Shape 2"/>
          <p:cNvSpPr/>
          <p:nvPr/>
        </p:nvSpPr>
        <p:spPr>
          <a:xfrm>
            <a:off x="1866853" y="2260543"/>
            <a:ext cx="63" cy="3467013"/>
          </a:xfrm>
          <a:prstGeom prst="line">
            <a:avLst/>
          </a:prstGeom>
          <a:noFill/>
          <a:ln w="12700">
            <a:solidFill>
              <a:srgbClr val="D5DEEC"/>
            </a:solidFill>
            <a:prstDash val="dash"/>
          </a:ln>
        </p:spPr>
      </p:sp>
      <p:sp>
        <p:nvSpPr>
          <p:cNvPr id="5" name="Shape 3"/>
          <p:cNvSpPr/>
          <p:nvPr/>
        </p:nvSpPr>
        <p:spPr>
          <a:xfrm>
            <a:off x="3981350" y="2260543"/>
            <a:ext cx="63" cy="3467013"/>
          </a:xfrm>
          <a:prstGeom prst="line">
            <a:avLst/>
          </a:prstGeom>
          <a:noFill/>
          <a:ln w="12700">
            <a:solidFill>
              <a:srgbClr val="D5DEEC"/>
            </a:solidFill>
            <a:prstDash val="dash"/>
          </a:ln>
        </p:spPr>
      </p:sp>
      <p:sp>
        <p:nvSpPr>
          <p:cNvPr id="6" name="Shape 4"/>
          <p:cNvSpPr/>
          <p:nvPr/>
        </p:nvSpPr>
        <p:spPr>
          <a:xfrm>
            <a:off x="6095848" y="2260543"/>
            <a:ext cx="63" cy="3467013"/>
          </a:xfrm>
          <a:prstGeom prst="line">
            <a:avLst/>
          </a:prstGeom>
          <a:noFill/>
          <a:ln w="12700">
            <a:solidFill>
              <a:srgbClr val="D5DEEC"/>
            </a:solidFill>
            <a:prstDash val="dash"/>
          </a:ln>
        </p:spPr>
      </p:sp>
      <p:sp>
        <p:nvSpPr>
          <p:cNvPr id="7" name="Shape 5"/>
          <p:cNvSpPr/>
          <p:nvPr/>
        </p:nvSpPr>
        <p:spPr>
          <a:xfrm>
            <a:off x="8203995" y="2260543"/>
            <a:ext cx="63" cy="3467013"/>
          </a:xfrm>
          <a:prstGeom prst="line">
            <a:avLst/>
          </a:prstGeom>
          <a:noFill/>
          <a:ln w="12700">
            <a:solidFill>
              <a:srgbClr val="D5DEEC"/>
            </a:solidFill>
            <a:prstDash val="dash"/>
          </a:ln>
        </p:spPr>
      </p:sp>
      <p:sp>
        <p:nvSpPr>
          <p:cNvPr id="8" name="Shape 6"/>
          <p:cNvSpPr/>
          <p:nvPr/>
        </p:nvSpPr>
        <p:spPr>
          <a:xfrm>
            <a:off x="10318492" y="2260543"/>
            <a:ext cx="63" cy="3467013"/>
          </a:xfrm>
          <a:prstGeom prst="line">
            <a:avLst/>
          </a:prstGeom>
          <a:noFill/>
          <a:ln w="12700">
            <a:solidFill>
              <a:srgbClr val="D5DEEC"/>
            </a:solidFill>
            <a:prstDash val="dash"/>
          </a:ln>
        </p:spPr>
      </p:sp>
      <p:sp>
        <p:nvSpPr>
          <p:cNvPr id="9" name="Shape 7"/>
          <p:cNvSpPr/>
          <p:nvPr/>
        </p:nvSpPr>
        <p:spPr>
          <a:xfrm>
            <a:off x="977876" y="1803355"/>
            <a:ext cx="1777956" cy="457189"/>
          </a:xfrm>
          <a:prstGeom prst="roundRect">
            <a:avLst>
              <a:gd name="adj" fmla="val 19444"/>
            </a:avLst>
          </a:prstGeom>
          <a:solidFill>
            <a:srgbClr val="E3EBFA"/>
          </a:solidFill>
          <a:ln w="12700">
            <a:solidFill>
              <a:srgbClr val="2454C5"/>
            </a:solidFill>
            <a:prstDash val="solid"/>
          </a:ln>
        </p:spPr>
      </p:sp>
      <p:sp>
        <p:nvSpPr>
          <p:cNvPr id="10" name="Text 8"/>
          <p:cNvSpPr txBox="1"/>
          <p:nvPr/>
        </p:nvSpPr>
        <p:spPr>
          <a:xfrm>
            <a:off x="1269911" y="1916362"/>
            <a:ext cx="119378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Customer app</a:t>
            </a:r>
            <a:endParaRPr lang="en-US" sz="1300" dirty="0"/>
          </a:p>
        </p:txBody>
      </p:sp>
      <p:sp>
        <p:nvSpPr>
          <p:cNvPr id="11" name="Shape 9"/>
          <p:cNvSpPr/>
          <p:nvPr/>
        </p:nvSpPr>
        <p:spPr>
          <a:xfrm>
            <a:off x="3092373" y="1803355"/>
            <a:ext cx="1777956" cy="457189"/>
          </a:xfrm>
          <a:prstGeom prst="roundRect">
            <a:avLst>
              <a:gd name="adj" fmla="val 19444"/>
            </a:avLst>
          </a:prstGeom>
          <a:solidFill>
            <a:srgbClr val="FCEBDD"/>
          </a:solidFill>
          <a:ln w="12700">
            <a:solidFill>
              <a:srgbClr val="B4530F"/>
            </a:solidFill>
            <a:prstDash val="solid"/>
          </a:ln>
        </p:spPr>
      </p:sp>
      <p:sp>
        <p:nvSpPr>
          <p:cNvPr id="12" name="Text 10"/>
          <p:cNvSpPr txBox="1"/>
          <p:nvPr/>
        </p:nvSpPr>
        <p:spPr>
          <a:xfrm>
            <a:off x="3258951" y="1916362"/>
            <a:ext cx="144470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payment-service</a:t>
            </a:r>
            <a:endParaRPr lang="en-US" sz="1300" dirty="0"/>
          </a:p>
        </p:txBody>
      </p:sp>
      <p:sp>
        <p:nvSpPr>
          <p:cNvPr id="13" name="Shape 11"/>
          <p:cNvSpPr/>
          <p:nvPr/>
        </p:nvSpPr>
        <p:spPr>
          <a:xfrm>
            <a:off x="5206870" y="1803355"/>
            <a:ext cx="1777956" cy="457189"/>
          </a:xfrm>
          <a:prstGeom prst="roundRect">
            <a:avLst>
              <a:gd name="adj" fmla="val 19444"/>
            </a:avLst>
          </a:prstGeom>
          <a:solidFill>
            <a:srgbClr val="DDF2EF"/>
          </a:solidFill>
          <a:ln w="12700">
            <a:solidFill>
              <a:srgbClr val="0B7F74"/>
            </a:solidFill>
            <a:prstDash val="solid"/>
          </a:ln>
        </p:spPr>
      </p:sp>
      <p:sp>
        <p:nvSpPr>
          <p:cNvPr id="14" name="Text 12"/>
          <p:cNvSpPr txBox="1"/>
          <p:nvPr/>
        </p:nvSpPr>
        <p:spPr>
          <a:xfrm>
            <a:off x="5412113" y="1916362"/>
            <a:ext cx="1367470"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booking-service</a:t>
            </a:r>
            <a:endParaRPr lang="en-US" sz="1300" dirty="0"/>
          </a:p>
        </p:txBody>
      </p:sp>
      <p:sp>
        <p:nvSpPr>
          <p:cNvPr id="15" name="Shape 13"/>
          <p:cNvSpPr/>
          <p:nvPr/>
        </p:nvSpPr>
        <p:spPr>
          <a:xfrm>
            <a:off x="7315017" y="1803355"/>
            <a:ext cx="1777956" cy="457189"/>
          </a:xfrm>
          <a:prstGeom prst="roundRect">
            <a:avLst>
              <a:gd name="adj" fmla="val 19444"/>
            </a:avLst>
          </a:prstGeom>
          <a:solidFill>
            <a:srgbClr val="EEF1F6"/>
          </a:solidFill>
          <a:ln w="12700">
            <a:solidFill>
              <a:srgbClr val="5C6B8A"/>
            </a:solidFill>
            <a:prstDash val="solid"/>
          </a:ln>
        </p:spPr>
      </p:sp>
      <p:sp>
        <p:nvSpPr>
          <p:cNvPr id="16" name="Text 14"/>
          <p:cNvSpPr txBox="1"/>
          <p:nvPr/>
        </p:nvSpPr>
        <p:spPr>
          <a:xfrm>
            <a:off x="7805072" y="1916362"/>
            <a:ext cx="79774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Razorpay</a:t>
            </a:r>
            <a:endParaRPr lang="en-US" sz="1300" dirty="0"/>
          </a:p>
        </p:txBody>
      </p:sp>
      <p:sp>
        <p:nvSpPr>
          <p:cNvPr id="17" name="Shape 15"/>
          <p:cNvSpPr/>
          <p:nvPr/>
        </p:nvSpPr>
        <p:spPr>
          <a:xfrm>
            <a:off x="9429514" y="1803355"/>
            <a:ext cx="1777956" cy="457189"/>
          </a:xfrm>
          <a:prstGeom prst="roundRect">
            <a:avLst>
              <a:gd name="adj" fmla="val 19444"/>
            </a:avLst>
          </a:prstGeom>
          <a:solidFill>
            <a:srgbClr val="E7E7F6"/>
          </a:solidFill>
          <a:ln w="12700">
            <a:solidFill>
              <a:srgbClr val="4B4B9A"/>
            </a:solidFill>
            <a:prstDash val="solid"/>
          </a:ln>
        </p:spPr>
      </p:sp>
      <p:sp>
        <p:nvSpPr>
          <p:cNvPr id="18" name="Text 16"/>
          <p:cNvSpPr txBox="1"/>
          <p:nvPr/>
        </p:nvSpPr>
        <p:spPr>
          <a:xfrm>
            <a:off x="10068269" y="1916362"/>
            <a:ext cx="500348"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Kafka</a:t>
            </a:r>
            <a:endParaRPr lang="en-US" sz="1300" dirty="0"/>
          </a:p>
        </p:txBody>
      </p:sp>
      <p:sp>
        <p:nvSpPr>
          <p:cNvPr id="19" name="Shape 17"/>
          <p:cNvSpPr/>
          <p:nvPr/>
        </p:nvSpPr>
        <p:spPr>
          <a:xfrm>
            <a:off x="1892253" y="2730432"/>
            <a:ext cx="2050999" cy="63"/>
          </a:xfrm>
          <a:prstGeom prst="line">
            <a:avLst/>
          </a:prstGeom>
          <a:noFill/>
          <a:ln w="19050">
            <a:solidFill>
              <a:srgbClr val="2454C5"/>
            </a:solidFill>
            <a:prstDash val="solid"/>
            <a:tailEnd type="triangle"/>
          </a:ln>
        </p:spPr>
      </p:sp>
      <p:sp>
        <p:nvSpPr>
          <p:cNvPr id="20" name="Shape 18"/>
          <p:cNvSpPr/>
          <p:nvPr/>
        </p:nvSpPr>
        <p:spPr>
          <a:xfrm>
            <a:off x="2063698" y="2476438"/>
            <a:ext cx="1720807" cy="213315"/>
          </a:xfrm>
          <a:prstGeom prst="roundRect">
            <a:avLst>
              <a:gd name="adj" fmla="val 17860"/>
            </a:avLst>
          </a:prstGeom>
          <a:solidFill>
            <a:srgbClr val="F5F7FB"/>
          </a:solidFill>
          <a:ln/>
        </p:spPr>
      </p:sp>
      <p:sp>
        <p:nvSpPr>
          <p:cNvPr id="21" name="Text 19"/>
          <p:cNvSpPr txBox="1"/>
          <p:nvPr/>
        </p:nvSpPr>
        <p:spPr>
          <a:xfrm>
            <a:off x="1960450" y="2476438"/>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 · POST /payments</a:t>
            </a:r>
            <a:endParaRPr lang="en-US" sz="1200" dirty="0"/>
          </a:p>
        </p:txBody>
      </p:sp>
      <p:sp>
        <p:nvSpPr>
          <p:cNvPr id="22" name="Shape 20"/>
          <p:cNvSpPr/>
          <p:nvPr/>
        </p:nvSpPr>
        <p:spPr>
          <a:xfrm>
            <a:off x="4006750" y="3047924"/>
            <a:ext cx="2050999" cy="63"/>
          </a:xfrm>
          <a:prstGeom prst="line">
            <a:avLst/>
          </a:prstGeom>
          <a:noFill/>
          <a:ln w="19050">
            <a:solidFill>
              <a:srgbClr val="2454C5"/>
            </a:solidFill>
            <a:prstDash val="solid"/>
            <a:tailEnd type="triangle"/>
          </a:ln>
        </p:spPr>
      </p:sp>
      <p:sp>
        <p:nvSpPr>
          <p:cNvPr id="23" name="Shape 21"/>
          <p:cNvSpPr/>
          <p:nvPr/>
        </p:nvSpPr>
        <p:spPr>
          <a:xfrm>
            <a:off x="4260743" y="2793930"/>
            <a:ext cx="1549361" cy="213315"/>
          </a:xfrm>
          <a:prstGeom prst="roundRect">
            <a:avLst>
              <a:gd name="adj" fmla="val 17860"/>
            </a:avLst>
          </a:prstGeom>
          <a:solidFill>
            <a:srgbClr val="F5F7FB"/>
          </a:solidFill>
          <a:ln/>
        </p:spPr>
      </p:sp>
      <p:sp>
        <p:nvSpPr>
          <p:cNvPr id="24" name="Text 22"/>
          <p:cNvSpPr txBox="1"/>
          <p:nvPr/>
        </p:nvSpPr>
        <p:spPr>
          <a:xfrm>
            <a:off x="4167782" y="2793930"/>
            <a:ext cx="1735285"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2 · amount facts</a:t>
            </a:r>
            <a:endParaRPr lang="en-US" sz="1200" dirty="0"/>
          </a:p>
        </p:txBody>
      </p:sp>
      <p:sp>
        <p:nvSpPr>
          <p:cNvPr id="25" name="Shape 23"/>
          <p:cNvSpPr/>
          <p:nvPr/>
        </p:nvSpPr>
        <p:spPr>
          <a:xfrm>
            <a:off x="4006750" y="3365416"/>
            <a:ext cx="4159146" cy="63"/>
          </a:xfrm>
          <a:prstGeom prst="line">
            <a:avLst/>
          </a:prstGeom>
          <a:noFill/>
          <a:ln w="19050">
            <a:solidFill>
              <a:srgbClr val="B4530F"/>
            </a:solidFill>
            <a:prstDash val="solid"/>
            <a:tailEnd type="triangle"/>
          </a:ln>
        </p:spPr>
      </p:sp>
      <p:sp>
        <p:nvSpPr>
          <p:cNvPr id="26" name="Shape 24"/>
          <p:cNvSpPr/>
          <p:nvPr/>
        </p:nvSpPr>
        <p:spPr>
          <a:xfrm>
            <a:off x="4971926" y="3111422"/>
            <a:ext cx="2235144" cy="213315"/>
          </a:xfrm>
          <a:prstGeom prst="roundRect">
            <a:avLst>
              <a:gd name="adj" fmla="val 17860"/>
            </a:avLst>
          </a:prstGeom>
          <a:solidFill>
            <a:srgbClr val="F5F7FB"/>
          </a:solidFill>
          <a:ln/>
        </p:spPr>
      </p:sp>
      <p:sp>
        <p:nvSpPr>
          <p:cNvPr id="27" name="Text 25"/>
          <p:cNvSpPr txBox="1"/>
          <p:nvPr/>
        </p:nvSpPr>
        <p:spPr>
          <a:xfrm>
            <a:off x="4837817" y="3111422"/>
            <a:ext cx="250336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3 · create order (paise)</a:t>
            </a:r>
            <a:endParaRPr lang="en-US" sz="1200" dirty="0"/>
          </a:p>
        </p:txBody>
      </p:sp>
      <p:sp>
        <p:nvSpPr>
          <p:cNvPr id="28" name="Shape 26"/>
          <p:cNvSpPr/>
          <p:nvPr/>
        </p:nvSpPr>
        <p:spPr>
          <a:xfrm flipH="1">
            <a:off x="1904952" y="3682908"/>
            <a:ext cx="2050999" cy="63"/>
          </a:xfrm>
          <a:prstGeom prst="line">
            <a:avLst/>
          </a:prstGeom>
          <a:noFill/>
          <a:ln w="19050">
            <a:solidFill>
              <a:srgbClr val="5C6B8A"/>
            </a:solidFill>
            <a:prstDash val="dash"/>
            <a:tailEnd type="triangle"/>
          </a:ln>
        </p:spPr>
      </p:sp>
      <p:sp>
        <p:nvSpPr>
          <p:cNvPr id="29" name="Shape 27"/>
          <p:cNvSpPr/>
          <p:nvPr/>
        </p:nvSpPr>
        <p:spPr>
          <a:xfrm>
            <a:off x="2063698" y="3428914"/>
            <a:ext cx="1720807" cy="213315"/>
          </a:xfrm>
          <a:prstGeom prst="roundRect">
            <a:avLst>
              <a:gd name="adj" fmla="val 17860"/>
            </a:avLst>
          </a:prstGeom>
          <a:solidFill>
            <a:srgbClr val="F5F7FB"/>
          </a:solidFill>
          <a:ln/>
        </p:spPr>
      </p:sp>
      <p:sp>
        <p:nvSpPr>
          <p:cNvPr id="30" name="Text 28"/>
          <p:cNvSpPr txBox="1"/>
          <p:nvPr/>
        </p:nvSpPr>
        <p:spPr>
          <a:xfrm>
            <a:off x="1960450" y="3428914"/>
            <a:ext cx="1927304"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4 · order + key id</a:t>
            </a:r>
            <a:endParaRPr lang="en-US" sz="1200" dirty="0"/>
          </a:p>
        </p:txBody>
      </p:sp>
      <p:sp>
        <p:nvSpPr>
          <p:cNvPr id="31" name="Shape 29"/>
          <p:cNvSpPr/>
          <p:nvPr/>
        </p:nvSpPr>
        <p:spPr>
          <a:xfrm>
            <a:off x="1892253" y="4000400"/>
            <a:ext cx="6273643" cy="63"/>
          </a:xfrm>
          <a:prstGeom prst="line">
            <a:avLst/>
          </a:prstGeom>
          <a:noFill/>
          <a:ln w="19050">
            <a:solidFill>
              <a:srgbClr val="B4530F"/>
            </a:solidFill>
            <a:prstDash val="solid"/>
            <a:tailEnd type="triangle"/>
          </a:ln>
        </p:spPr>
      </p:sp>
      <p:sp>
        <p:nvSpPr>
          <p:cNvPr id="32" name="Shape 30"/>
          <p:cNvSpPr/>
          <p:nvPr/>
        </p:nvSpPr>
        <p:spPr>
          <a:xfrm>
            <a:off x="4044849" y="3746406"/>
            <a:ext cx="1974801" cy="213315"/>
          </a:xfrm>
          <a:prstGeom prst="roundRect">
            <a:avLst>
              <a:gd name="adj" fmla="val 17860"/>
            </a:avLst>
          </a:prstGeom>
          <a:solidFill>
            <a:srgbClr val="F5F7FB"/>
          </a:solidFill>
          <a:ln/>
        </p:spPr>
      </p:sp>
      <p:sp>
        <p:nvSpPr>
          <p:cNvPr id="33" name="Text 31"/>
          <p:cNvSpPr txBox="1"/>
          <p:nvPr/>
        </p:nvSpPr>
        <p:spPr>
          <a:xfrm>
            <a:off x="3926361" y="3746406"/>
            <a:ext cx="2211777"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5 · Razorpay Checkout</a:t>
            </a:r>
            <a:endParaRPr lang="en-US" sz="1200" dirty="0"/>
          </a:p>
        </p:txBody>
      </p:sp>
      <p:sp>
        <p:nvSpPr>
          <p:cNvPr id="34" name="Shape 32"/>
          <p:cNvSpPr/>
          <p:nvPr/>
        </p:nvSpPr>
        <p:spPr>
          <a:xfrm flipH="1">
            <a:off x="1904952" y="4317892"/>
            <a:ext cx="6273643" cy="63"/>
          </a:xfrm>
          <a:prstGeom prst="line">
            <a:avLst/>
          </a:prstGeom>
          <a:noFill/>
          <a:ln w="19050">
            <a:solidFill>
              <a:srgbClr val="5C6B8A"/>
            </a:solidFill>
            <a:prstDash val="dash"/>
            <a:tailEnd type="triangle"/>
          </a:ln>
        </p:spPr>
      </p:sp>
      <p:sp>
        <p:nvSpPr>
          <p:cNvPr id="35" name="Shape 33"/>
          <p:cNvSpPr/>
          <p:nvPr/>
        </p:nvSpPr>
        <p:spPr>
          <a:xfrm>
            <a:off x="3828954" y="4063898"/>
            <a:ext cx="2406590" cy="213315"/>
          </a:xfrm>
          <a:prstGeom prst="roundRect">
            <a:avLst>
              <a:gd name="adj" fmla="val 17860"/>
            </a:avLst>
          </a:prstGeom>
          <a:solidFill>
            <a:srgbClr val="F5F7FB"/>
          </a:solidFill>
          <a:ln/>
        </p:spPr>
      </p:sp>
      <p:sp>
        <p:nvSpPr>
          <p:cNvPr id="36" name="Text 34"/>
          <p:cNvSpPr txBox="1"/>
          <p:nvPr/>
        </p:nvSpPr>
        <p:spPr>
          <a:xfrm>
            <a:off x="3684559" y="4063898"/>
            <a:ext cx="2695381"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6 · payment id + signature</a:t>
            </a:r>
            <a:endParaRPr lang="en-US" sz="1200" dirty="0"/>
          </a:p>
        </p:txBody>
      </p:sp>
      <p:sp>
        <p:nvSpPr>
          <p:cNvPr id="37" name="Shape 35"/>
          <p:cNvSpPr/>
          <p:nvPr/>
        </p:nvSpPr>
        <p:spPr>
          <a:xfrm>
            <a:off x="1892253" y="4635384"/>
            <a:ext cx="2050999" cy="63"/>
          </a:xfrm>
          <a:prstGeom prst="line">
            <a:avLst/>
          </a:prstGeom>
          <a:noFill/>
          <a:ln w="19050">
            <a:solidFill>
              <a:srgbClr val="2454C5"/>
            </a:solidFill>
            <a:prstDash val="solid"/>
            <a:tailEnd type="triangle"/>
          </a:ln>
        </p:spPr>
      </p:sp>
      <p:sp>
        <p:nvSpPr>
          <p:cNvPr id="38" name="Shape 36"/>
          <p:cNvSpPr/>
          <p:nvPr/>
        </p:nvSpPr>
        <p:spPr>
          <a:xfrm>
            <a:off x="2108147" y="4381390"/>
            <a:ext cx="1631909" cy="213315"/>
          </a:xfrm>
          <a:prstGeom prst="roundRect">
            <a:avLst>
              <a:gd name="adj" fmla="val 17860"/>
            </a:avLst>
          </a:prstGeom>
          <a:solidFill>
            <a:srgbClr val="F5F7FB"/>
          </a:solidFill>
          <a:ln/>
        </p:spPr>
      </p:sp>
      <p:sp>
        <p:nvSpPr>
          <p:cNvPr id="39" name="Text 37"/>
          <p:cNvSpPr txBox="1"/>
          <p:nvPr/>
        </p:nvSpPr>
        <p:spPr>
          <a:xfrm>
            <a:off x="2010233" y="4381390"/>
            <a:ext cx="1827738"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7 · POST …/verify</a:t>
            </a:r>
            <a:endParaRPr lang="en-US" sz="1200" dirty="0"/>
          </a:p>
        </p:txBody>
      </p:sp>
      <p:sp>
        <p:nvSpPr>
          <p:cNvPr id="40" name="Shape 38"/>
          <p:cNvSpPr/>
          <p:nvPr/>
        </p:nvSpPr>
        <p:spPr>
          <a:xfrm flipH="1">
            <a:off x="4019450" y="4952876"/>
            <a:ext cx="4159146" cy="63"/>
          </a:xfrm>
          <a:prstGeom prst="line">
            <a:avLst/>
          </a:prstGeom>
          <a:noFill/>
          <a:ln w="19050">
            <a:solidFill>
              <a:srgbClr val="B4530F"/>
            </a:solidFill>
            <a:prstDash val="solid"/>
            <a:tailEnd type="triangle"/>
          </a:ln>
        </p:spPr>
      </p:sp>
      <p:sp>
        <p:nvSpPr>
          <p:cNvPr id="41" name="Shape 39"/>
          <p:cNvSpPr/>
          <p:nvPr/>
        </p:nvSpPr>
        <p:spPr>
          <a:xfrm>
            <a:off x="5143371" y="4698883"/>
            <a:ext cx="1892253" cy="213315"/>
          </a:xfrm>
          <a:prstGeom prst="roundRect">
            <a:avLst>
              <a:gd name="adj" fmla="val 17860"/>
            </a:avLst>
          </a:prstGeom>
          <a:solidFill>
            <a:srgbClr val="F5F7FB"/>
          </a:solidFill>
          <a:ln/>
        </p:spPr>
      </p:sp>
      <p:sp>
        <p:nvSpPr>
          <p:cNvPr id="42" name="Text 40"/>
          <p:cNvSpPr txBox="1"/>
          <p:nvPr/>
        </p:nvSpPr>
        <p:spPr>
          <a:xfrm>
            <a:off x="5029836" y="4698883"/>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8 · webhook (signed)</a:t>
            </a:r>
            <a:endParaRPr lang="en-US" sz="1200" dirty="0"/>
          </a:p>
        </p:txBody>
      </p:sp>
      <p:sp>
        <p:nvSpPr>
          <p:cNvPr id="43" name="Shape 41"/>
          <p:cNvSpPr/>
          <p:nvPr/>
        </p:nvSpPr>
        <p:spPr>
          <a:xfrm>
            <a:off x="4006750" y="5270368"/>
            <a:ext cx="6273643" cy="63"/>
          </a:xfrm>
          <a:prstGeom prst="line">
            <a:avLst/>
          </a:prstGeom>
          <a:noFill/>
          <a:ln w="19050">
            <a:solidFill>
              <a:srgbClr val="4B4B9A"/>
            </a:solidFill>
            <a:prstDash val="solid"/>
            <a:tailEnd type="triangle"/>
          </a:ln>
        </p:spPr>
      </p:sp>
      <p:sp>
        <p:nvSpPr>
          <p:cNvPr id="44" name="Shape 42"/>
          <p:cNvSpPr/>
          <p:nvPr/>
        </p:nvSpPr>
        <p:spPr>
          <a:xfrm>
            <a:off x="6203795" y="5016375"/>
            <a:ext cx="1892253" cy="213315"/>
          </a:xfrm>
          <a:prstGeom prst="roundRect">
            <a:avLst>
              <a:gd name="adj" fmla="val 17860"/>
            </a:avLst>
          </a:prstGeom>
          <a:solidFill>
            <a:srgbClr val="F5F7FB"/>
          </a:solidFill>
          <a:ln/>
        </p:spPr>
      </p:sp>
      <p:sp>
        <p:nvSpPr>
          <p:cNvPr id="45" name="Text 43"/>
          <p:cNvSpPr txBox="1"/>
          <p:nvPr/>
        </p:nvSpPr>
        <p:spPr>
          <a:xfrm>
            <a:off x="6090260" y="5016375"/>
            <a:ext cx="2119323"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9 · PaymentCompleted</a:t>
            </a:r>
            <a:endParaRPr lang="en-US" sz="1200" dirty="0"/>
          </a:p>
        </p:txBody>
      </p:sp>
      <p:sp>
        <p:nvSpPr>
          <p:cNvPr id="46" name="Shape 44"/>
          <p:cNvSpPr/>
          <p:nvPr/>
        </p:nvSpPr>
        <p:spPr>
          <a:xfrm flipH="1">
            <a:off x="6133947" y="5587860"/>
            <a:ext cx="4159146" cy="63"/>
          </a:xfrm>
          <a:prstGeom prst="line">
            <a:avLst/>
          </a:prstGeom>
          <a:noFill/>
          <a:ln w="19050">
            <a:solidFill>
              <a:srgbClr val="4B4B9A"/>
            </a:solidFill>
            <a:prstDash val="solid"/>
            <a:tailEnd type="triangle"/>
          </a:ln>
        </p:spPr>
      </p:sp>
      <p:sp>
        <p:nvSpPr>
          <p:cNvPr id="47" name="Shape 45"/>
          <p:cNvSpPr/>
          <p:nvPr/>
        </p:nvSpPr>
        <p:spPr>
          <a:xfrm>
            <a:off x="7175321" y="5333867"/>
            <a:ext cx="2063698" cy="213315"/>
          </a:xfrm>
          <a:prstGeom prst="roundRect">
            <a:avLst>
              <a:gd name="adj" fmla="val 17860"/>
            </a:avLst>
          </a:prstGeom>
          <a:solidFill>
            <a:srgbClr val="F5F7FB"/>
          </a:solidFill>
          <a:ln/>
        </p:spPr>
      </p:sp>
      <p:sp>
        <p:nvSpPr>
          <p:cNvPr id="48" name="Text 46"/>
          <p:cNvSpPr txBox="1"/>
          <p:nvPr/>
        </p:nvSpPr>
        <p:spPr>
          <a:xfrm>
            <a:off x="7051499" y="5333867"/>
            <a:ext cx="2311342" cy="213355"/>
          </a:xfrm>
          <a:prstGeom prst="rect">
            <a:avLst/>
          </a:prstGeom>
          <a:noFill/>
          <a:ln/>
        </p:spPr>
        <p:txBody>
          <a:bodyPr wrap="square" lIns="0" tIns="0" rIns="0" bIns="0" rtlCol="0" anchor="t"/>
          <a:lstStyle/>
          <a:p>
            <a:pPr algn="ctr" indent="0" marL="0">
              <a:lnSpc>
                <a:spcPct val="116667"/>
              </a:lnSpc>
              <a:buNone/>
            </a:pPr>
            <a:r>
              <a:rPr lang="en-US" sz="1200" dirty="0">
                <a:solidFill>
                  <a:srgbClr val="1F3A70"/>
                </a:solidFill>
                <a:latin typeface="Calibri" pitchFamily="34" charset="0"/>
                <a:ea typeface="Calibri" pitchFamily="34" charset="-122"/>
                <a:cs typeface="Calibri" pitchFamily="34" charset="-120"/>
              </a:rPr>
              <a:t>10 · PAYMENT_COMPLETED</a:t>
            </a:r>
            <a:endParaRPr lang="en-US" sz="1200" dirty="0"/>
          </a:p>
        </p:txBody>
      </p:sp>
      <p:sp>
        <p:nvSpPr>
          <p:cNvPr id="49" name="Text 4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Sequences</a:t>
            </a:r>
            <a:endParaRPr lang="en-US" sz="1200" dirty="0"/>
          </a:p>
        </p:txBody>
      </p:sp>
      <p:sp>
        <p:nvSpPr>
          <p:cNvPr id="50" name="Text 4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BOOKING STATE MACHINE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Ten states on the happy path, five ways off it</a:t>
            </a:r>
            <a:endParaRPr lang="en-US" sz="3000" dirty="0"/>
          </a:p>
        </p:txBody>
      </p:sp>
      <p:sp>
        <p:nvSpPr>
          <p:cNvPr id="4" name="Shape 2"/>
          <p:cNvSpPr/>
          <p:nvPr/>
        </p:nvSpPr>
        <p:spPr>
          <a:xfrm>
            <a:off x="812780" y="1904952"/>
            <a:ext cx="1904952" cy="698483"/>
          </a:xfrm>
          <a:prstGeom prst="roundRect">
            <a:avLst>
              <a:gd name="adj" fmla="val 50000"/>
            </a:avLst>
          </a:prstGeom>
          <a:solidFill>
            <a:srgbClr val="E3EBFA"/>
          </a:solidFill>
          <a:ln w="12700">
            <a:solidFill>
              <a:srgbClr val="2454C5"/>
            </a:solidFill>
            <a:prstDash val="solid"/>
          </a:ln>
        </p:spPr>
      </p:sp>
      <p:sp>
        <p:nvSpPr>
          <p:cNvPr id="5" name="Text 3"/>
          <p:cNvSpPr txBox="1"/>
          <p:nvPr/>
        </p:nvSpPr>
        <p:spPr>
          <a:xfrm>
            <a:off x="1358999" y="2034529"/>
            <a:ext cx="81241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CREATED</a:t>
            </a:r>
            <a:endParaRPr lang="en-US" sz="1200" dirty="0"/>
          </a:p>
        </p:txBody>
      </p:sp>
      <p:sp>
        <p:nvSpPr>
          <p:cNvPr id="6" name="Text 4"/>
          <p:cNvSpPr txBox="1"/>
          <p:nvPr/>
        </p:nvSpPr>
        <p:spPr>
          <a:xfrm>
            <a:off x="1650959" y="2260543"/>
            <a:ext cx="228594" cy="213355"/>
          </a:xfrm>
          <a:prstGeom prst="rect">
            <a:avLst/>
          </a:prstGeom>
          <a:noFill/>
          <a:ln/>
        </p:spPr>
        <p:txBody>
          <a:bodyPr wrap="square" lIns="0" tIns="0" rIns="0" bIns="0" rtlCol="0" anchor="t"/>
          <a:lstStyle/>
          <a:p>
            <a:pPr algn="ctr" indent="0" marL="0">
              <a:lnSpc>
                <a:spcPct val="116667"/>
              </a:lnSpc>
              <a:buNone/>
            </a:pPr>
            <a:r>
              <a:rPr lang="en-US" sz="1200" dirty="0">
                <a:solidFill>
                  <a:srgbClr val="2454C5"/>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2978076" y="1904952"/>
            <a:ext cx="1904952" cy="698483"/>
          </a:xfrm>
          <a:prstGeom prst="roundRect">
            <a:avLst>
              <a:gd name="adj" fmla="val 50000"/>
            </a:avLst>
          </a:prstGeom>
          <a:solidFill>
            <a:srgbClr val="FCFDFF"/>
          </a:solidFill>
          <a:ln w="12700">
            <a:solidFill>
              <a:srgbClr val="0B7F74"/>
            </a:solidFill>
            <a:prstDash val="solid"/>
          </a:ln>
        </p:spPr>
      </p:sp>
      <p:sp>
        <p:nvSpPr>
          <p:cNvPr id="8" name="Text 6"/>
          <p:cNvSpPr txBox="1"/>
          <p:nvPr/>
        </p:nvSpPr>
        <p:spPr>
          <a:xfrm>
            <a:off x="2925229" y="2034529"/>
            <a:ext cx="201064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SEARCHING_PROVIDER</a:t>
            </a:r>
            <a:endParaRPr lang="en-US" sz="1200" dirty="0"/>
          </a:p>
        </p:txBody>
      </p:sp>
      <p:sp>
        <p:nvSpPr>
          <p:cNvPr id="9" name="Text 7"/>
          <p:cNvSpPr txBox="1"/>
          <p:nvPr/>
        </p:nvSpPr>
        <p:spPr>
          <a:xfrm>
            <a:off x="3318491" y="2260543"/>
            <a:ext cx="1224122"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BookingCreated</a:t>
            </a:r>
            <a:endParaRPr lang="en-US" sz="1200" dirty="0"/>
          </a:p>
        </p:txBody>
      </p:sp>
      <p:sp>
        <p:nvSpPr>
          <p:cNvPr id="10" name="Shape 8"/>
          <p:cNvSpPr/>
          <p:nvPr/>
        </p:nvSpPr>
        <p:spPr>
          <a:xfrm>
            <a:off x="5143371" y="1904952"/>
            <a:ext cx="1904952" cy="698483"/>
          </a:xfrm>
          <a:prstGeom prst="roundRect">
            <a:avLst>
              <a:gd name="adj" fmla="val 50000"/>
            </a:avLst>
          </a:prstGeom>
          <a:solidFill>
            <a:srgbClr val="FCFDFF"/>
          </a:solidFill>
          <a:ln w="12700">
            <a:solidFill>
              <a:srgbClr val="0B7F74"/>
            </a:solidFill>
            <a:prstDash val="solid"/>
          </a:ln>
        </p:spPr>
      </p:sp>
      <p:sp>
        <p:nvSpPr>
          <p:cNvPr id="11" name="Text 9"/>
          <p:cNvSpPr txBox="1"/>
          <p:nvPr/>
        </p:nvSpPr>
        <p:spPr>
          <a:xfrm>
            <a:off x="5133196" y="2034529"/>
            <a:ext cx="1925304"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PROVIDER_ACCEPTED</a:t>
            </a:r>
            <a:endParaRPr lang="en-US" sz="1200" dirty="0"/>
          </a:p>
        </p:txBody>
      </p:sp>
      <p:sp>
        <p:nvSpPr>
          <p:cNvPr id="12" name="Text 10"/>
          <p:cNvSpPr txBox="1"/>
          <p:nvPr/>
        </p:nvSpPr>
        <p:spPr>
          <a:xfrm>
            <a:off x="5422225" y="2260543"/>
            <a:ext cx="1347246"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ProviderAccepted</a:t>
            </a:r>
            <a:endParaRPr lang="en-US" sz="1200" dirty="0"/>
          </a:p>
        </p:txBody>
      </p:sp>
      <p:sp>
        <p:nvSpPr>
          <p:cNvPr id="13" name="Shape 11"/>
          <p:cNvSpPr/>
          <p:nvPr/>
        </p:nvSpPr>
        <p:spPr>
          <a:xfrm>
            <a:off x="7308667" y="1904952"/>
            <a:ext cx="1904952" cy="698483"/>
          </a:xfrm>
          <a:prstGeom prst="roundRect">
            <a:avLst>
              <a:gd name="adj" fmla="val 50000"/>
            </a:avLst>
          </a:prstGeom>
          <a:solidFill>
            <a:srgbClr val="FCFDFF"/>
          </a:solidFill>
          <a:ln w="12700">
            <a:solidFill>
              <a:srgbClr val="0B7F74"/>
            </a:solidFill>
            <a:prstDash val="solid"/>
          </a:ln>
        </p:spPr>
      </p:sp>
      <p:sp>
        <p:nvSpPr>
          <p:cNvPr id="14" name="Text 12"/>
          <p:cNvSpPr txBox="1"/>
          <p:nvPr/>
        </p:nvSpPr>
        <p:spPr>
          <a:xfrm>
            <a:off x="7187703" y="2034529"/>
            <a:ext cx="2146881"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PROVIDER_ON_THE_WAY</a:t>
            </a:r>
            <a:endParaRPr lang="en-US" sz="1200" dirty="0"/>
          </a:p>
        </p:txBody>
      </p:sp>
      <p:sp>
        <p:nvSpPr>
          <p:cNvPr id="15" name="Text 13"/>
          <p:cNvSpPr txBox="1"/>
          <p:nvPr/>
        </p:nvSpPr>
        <p:spPr>
          <a:xfrm>
            <a:off x="7654083" y="2260543"/>
            <a:ext cx="1214121"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ProviderArriving</a:t>
            </a:r>
            <a:endParaRPr lang="en-US" sz="1200" dirty="0"/>
          </a:p>
        </p:txBody>
      </p:sp>
      <p:sp>
        <p:nvSpPr>
          <p:cNvPr id="16" name="Shape 14"/>
          <p:cNvSpPr/>
          <p:nvPr/>
        </p:nvSpPr>
        <p:spPr>
          <a:xfrm>
            <a:off x="9473963" y="1904952"/>
            <a:ext cx="1904952" cy="698483"/>
          </a:xfrm>
          <a:prstGeom prst="roundRect">
            <a:avLst>
              <a:gd name="adj" fmla="val 50000"/>
            </a:avLst>
          </a:prstGeom>
          <a:solidFill>
            <a:srgbClr val="FCFDFF"/>
          </a:solidFill>
          <a:ln w="12700">
            <a:solidFill>
              <a:srgbClr val="0B7F74"/>
            </a:solidFill>
            <a:prstDash val="solid"/>
          </a:ln>
        </p:spPr>
      </p:sp>
      <p:sp>
        <p:nvSpPr>
          <p:cNvPr id="17" name="Text 15"/>
          <p:cNvSpPr txBox="1"/>
          <p:nvPr/>
        </p:nvSpPr>
        <p:spPr>
          <a:xfrm>
            <a:off x="9549129" y="2034529"/>
            <a:ext cx="1754620"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PROVIDER_ARRIVED</a:t>
            </a:r>
            <a:endParaRPr lang="en-US" sz="1200" dirty="0"/>
          </a:p>
        </p:txBody>
      </p:sp>
      <p:sp>
        <p:nvSpPr>
          <p:cNvPr id="18" name="Text 16"/>
          <p:cNvSpPr txBox="1"/>
          <p:nvPr/>
        </p:nvSpPr>
        <p:spPr>
          <a:xfrm>
            <a:off x="9838275" y="2260543"/>
            <a:ext cx="1176229"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ProviderArrived</a:t>
            </a:r>
            <a:endParaRPr lang="en-US" sz="1200" dirty="0"/>
          </a:p>
        </p:txBody>
      </p:sp>
      <p:sp>
        <p:nvSpPr>
          <p:cNvPr id="19" name="Shape 17"/>
          <p:cNvSpPr/>
          <p:nvPr/>
        </p:nvSpPr>
        <p:spPr>
          <a:xfrm>
            <a:off x="812780" y="3174921"/>
            <a:ext cx="1904952" cy="698483"/>
          </a:xfrm>
          <a:prstGeom prst="roundRect">
            <a:avLst>
              <a:gd name="adj" fmla="val 50000"/>
            </a:avLst>
          </a:prstGeom>
          <a:solidFill>
            <a:srgbClr val="E0F2E8"/>
          </a:solidFill>
          <a:ln w="12700">
            <a:solidFill>
              <a:srgbClr val="2E7D4F"/>
            </a:solidFill>
            <a:prstDash val="solid"/>
          </a:ln>
        </p:spPr>
      </p:sp>
      <p:sp>
        <p:nvSpPr>
          <p:cNvPr id="20" name="Text 18"/>
          <p:cNvSpPr txBox="1"/>
          <p:nvPr/>
        </p:nvSpPr>
        <p:spPr>
          <a:xfrm>
            <a:off x="778935" y="3304497"/>
            <a:ext cx="1972642"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PAYMENT_COMPLETED</a:t>
            </a:r>
            <a:endParaRPr lang="en-US" sz="1200" dirty="0"/>
          </a:p>
        </p:txBody>
      </p:sp>
      <p:sp>
        <p:nvSpPr>
          <p:cNvPr id="21" name="Text 19"/>
          <p:cNvSpPr txBox="1"/>
          <p:nvPr/>
        </p:nvSpPr>
        <p:spPr>
          <a:xfrm>
            <a:off x="1015736" y="3530512"/>
            <a:ext cx="1499039" cy="213355"/>
          </a:xfrm>
          <a:prstGeom prst="rect">
            <a:avLst/>
          </a:prstGeom>
          <a:noFill/>
          <a:ln/>
        </p:spPr>
        <p:txBody>
          <a:bodyPr wrap="square" lIns="0" tIns="0" rIns="0" bIns="0" rtlCol="0" anchor="t"/>
          <a:lstStyle/>
          <a:p>
            <a:pPr algn="ctr" indent="0" marL="0">
              <a:lnSpc>
                <a:spcPct val="116667"/>
              </a:lnSpc>
              <a:buNone/>
            </a:pPr>
            <a:r>
              <a:rPr lang="en-US" sz="1200" dirty="0">
                <a:solidFill>
                  <a:srgbClr val="2E7D4F"/>
                </a:solidFill>
                <a:latin typeface="Calibri" pitchFamily="34" charset="0"/>
                <a:ea typeface="Calibri" pitchFamily="34" charset="-122"/>
                <a:cs typeface="Calibri" pitchFamily="34" charset="-120"/>
              </a:rPr>
              <a:t>PaymentCompleted</a:t>
            </a:r>
            <a:endParaRPr lang="en-US" sz="1200" dirty="0"/>
          </a:p>
        </p:txBody>
      </p:sp>
      <p:sp>
        <p:nvSpPr>
          <p:cNvPr id="22" name="Shape 20"/>
          <p:cNvSpPr/>
          <p:nvPr/>
        </p:nvSpPr>
        <p:spPr>
          <a:xfrm>
            <a:off x="2978076" y="3174921"/>
            <a:ext cx="1904952" cy="698483"/>
          </a:xfrm>
          <a:prstGeom prst="roundRect">
            <a:avLst>
              <a:gd name="adj" fmla="val 50000"/>
            </a:avLst>
          </a:prstGeom>
          <a:solidFill>
            <a:srgbClr val="FCFDFF"/>
          </a:solidFill>
          <a:ln w="12700">
            <a:solidFill>
              <a:srgbClr val="B4530F"/>
            </a:solidFill>
            <a:prstDash val="solid"/>
          </a:ln>
        </p:spPr>
      </p:sp>
      <p:sp>
        <p:nvSpPr>
          <p:cNvPr id="23" name="Text 21"/>
          <p:cNvSpPr txBox="1"/>
          <p:nvPr/>
        </p:nvSpPr>
        <p:spPr>
          <a:xfrm>
            <a:off x="3091134" y="3304497"/>
            <a:ext cx="167883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PAYMENT_PENDING</a:t>
            </a:r>
            <a:endParaRPr lang="en-US" sz="1200" dirty="0"/>
          </a:p>
        </p:txBody>
      </p:sp>
      <p:sp>
        <p:nvSpPr>
          <p:cNvPr id="24" name="Text 22"/>
          <p:cNvSpPr txBox="1"/>
          <p:nvPr/>
        </p:nvSpPr>
        <p:spPr>
          <a:xfrm>
            <a:off x="3342277" y="3530512"/>
            <a:ext cx="1176451" cy="213355"/>
          </a:xfrm>
          <a:prstGeom prst="rect">
            <a:avLst/>
          </a:prstGeom>
          <a:noFill/>
          <a:ln/>
        </p:spPr>
        <p:txBody>
          <a:bodyPr wrap="square" lIns="0" tIns="0" rIns="0" bIns="0" rtlCol="0" anchor="t"/>
          <a:lstStyle/>
          <a:p>
            <a:pPr algn="ctr" indent="0" marL="0">
              <a:lnSpc>
                <a:spcPct val="116667"/>
              </a:lnSpc>
              <a:buNone/>
            </a:pPr>
            <a:r>
              <a:rPr lang="en-US" sz="1200" dirty="0">
                <a:solidFill>
                  <a:srgbClr val="B4530F"/>
                </a:solidFill>
                <a:latin typeface="Calibri" pitchFamily="34" charset="0"/>
                <a:ea typeface="Calibri" pitchFamily="34" charset="-122"/>
                <a:cs typeface="Calibri" pitchFamily="34" charset="-120"/>
              </a:rPr>
              <a:t>Razorpay order</a:t>
            </a:r>
            <a:endParaRPr lang="en-US" sz="1200" dirty="0"/>
          </a:p>
        </p:txBody>
      </p:sp>
      <p:sp>
        <p:nvSpPr>
          <p:cNvPr id="25" name="Shape 23"/>
          <p:cNvSpPr/>
          <p:nvPr/>
        </p:nvSpPr>
        <p:spPr>
          <a:xfrm>
            <a:off x="5143371" y="3174921"/>
            <a:ext cx="1904952" cy="698483"/>
          </a:xfrm>
          <a:prstGeom prst="roundRect">
            <a:avLst>
              <a:gd name="adj" fmla="val 50000"/>
            </a:avLst>
          </a:prstGeom>
          <a:solidFill>
            <a:srgbClr val="FCFDFF"/>
          </a:solidFill>
          <a:ln w="12700">
            <a:solidFill>
              <a:srgbClr val="B4530F"/>
            </a:solidFill>
            <a:prstDash val="solid"/>
          </a:ln>
        </p:spPr>
      </p:sp>
      <p:sp>
        <p:nvSpPr>
          <p:cNvPr id="26" name="Text 24"/>
          <p:cNvSpPr txBox="1"/>
          <p:nvPr/>
        </p:nvSpPr>
        <p:spPr>
          <a:xfrm>
            <a:off x="5044848" y="3304497"/>
            <a:ext cx="2102099"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CUSTOMER_CONFIRMED</a:t>
            </a:r>
            <a:endParaRPr lang="en-US" sz="1200" dirty="0"/>
          </a:p>
        </p:txBody>
      </p:sp>
      <p:sp>
        <p:nvSpPr>
          <p:cNvPr id="27" name="Text 25"/>
          <p:cNvSpPr txBox="1"/>
          <p:nvPr/>
        </p:nvSpPr>
        <p:spPr>
          <a:xfrm>
            <a:off x="5981550" y="3530512"/>
            <a:ext cx="228594" cy="213355"/>
          </a:xfrm>
          <a:prstGeom prst="rect">
            <a:avLst/>
          </a:prstGeom>
          <a:noFill/>
          <a:ln/>
        </p:spPr>
        <p:txBody>
          <a:bodyPr wrap="square" lIns="0" tIns="0" rIns="0" bIns="0" rtlCol="0" anchor="t"/>
          <a:lstStyle/>
          <a:p>
            <a:pPr algn="ctr" indent="0" marL="0">
              <a:lnSpc>
                <a:spcPct val="116667"/>
              </a:lnSpc>
              <a:buNone/>
            </a:pPr>
            <a:r>
              <a:rPr lang="en-US" sz="1200" dirty="0">
                <a:solidFill>
                  <a:srgbClr val="B4530F"/>
                </a:solidFill>
                <a:latin typeface="Calibri" pitchFamily="34" charset="0"/>
                <a:ea typeface="Calibri" pitchFamily="34" charset="-122"/>
                <a:cs typeface="Calibri" pitchFamily="34" charset="-120"/>
              </a:rPr>
              <a:t>—</a:t>
            </a:r>
            <a:endParaRPr lang="en-US" sz="1200" dirty="0"/>
          </a:p>
        </p:txBody>
      </p:sp>
      <p:sp>
        <p:nvSpPr>
          <p:cNvPr id="28" name="Shape 26"/>
          <p:cNvSpPr/>
          <p:nvPr/>
        </p:nvSpPr>
        <p:spPr>
          <a:xfrm>
            <a:off x="7308667" y="3174921"/>
            <a:ext cx="1904952" cy="698483"/>
          </a:xfrm>
          <a:prstGeom prst="roundRect">
            <a:avLst>
              <a:gd name="adj" fmla="val 50000"/>
            </a:avLst>
          </a:prstGeom>
          <a:solidFill>
            <a:srgbClr val="FCFDFF"/>
          </a:solidFill>
          <a:ln w="12700">
            <a:solidFill>
              <a:srgbClr val="0B7F74"/>
            </a:solidFill>
            <a:prstDash val="solid"/>
          </a:ln>
        </p:spPr>
      </p:sp>
      <p:sp>
        <p:nvSpPr>
          <p:cNvPr id="29" name="Text 27"/>
          <p:cNvSpPr txBox="1"/>
          <p:nvPr/>
        </p:nvSpPr>
        <p:spPr>
          <a:xfrm>
            <a:off x="7502401" y="3304497"/>
            <a:ext cx="151748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JOB_COMPLETED</a:t>
            </a:r>
            <a:endParaRPr lang="en-US" sz="1200" dirty="0"/>
          </a:p>
        </p:txBody>
      </p:sp>
      <p:sp>
        <p:nvSpPr>
          <p:cNvPr id="30" name="Text 28"/>
          <p:cNvSpPr txBox="1"/>
          <p:nvPr/>
        </p:nvSpPr>
        <p:spPr>
          <a:xfrm>
            <a:off x="7710761" y="3530512"/>
            <a:ext cx="1100666"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JobCompleted</a:t>
            </a:r>
            <a:endParaRPr lang="en-US" sz="1200" dirty="0"/>
          </a:p>
        </p:txBody>
      </p:sp>
      <p:sp>
        <p:nvSpPr>
          <p:cNvPr id="31" name="Shape 29"/>
          <p:cNvSpPr/>
          <p:nvPr/>
        </p:nvSpPr>
        <p:spPr>
          <a:xfrm>
            <a:off x="9473963" y="3174921"/>
            <a:ext cx="1904952" cy="698483"/>
          </a:xfrm>
          <a:prstGeom prst="roundRect">
            <a:avLst>
              <a:gd name="adj" fmla="val 50000"/>
            </a:avLst>
          </a:prstGeom>
          <a:solidFill>
            <a:srgbClr val="FCFDFF"/>
          </a:solidFill>
          <a:ln w="12700">
            <a:solidFill>
              <a:srgbClr val="0B7F74"/>
            </a:solidFill>
            <a:prstDash val="solid"/>
          </a:ln>
        </p:spPr>
      </p:sp>
      <p:sp>
        <p:nvSpPr>
          <p:cNvPr id="32" name="Text 30"/>
          <p:cNvSpPr txBox="1"/>
          <p:nvPr/>
        </p:nvSpPr>
        <p:spPr>
          <a:xfrm>
            <a:off x="9806822" y="3304497"/>
            <a:ext cx="1239235"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JOB_STARTED</a:t>
            </a:r>
            <a:endParaRPr lang="en-US" sz="1200" dirty="0"/>
          </a:p>
        </p:txBody>
      </p:sp>
      <p:sp>
        <p:nvSpPr>
          <p:cNvPr id="33" name="Text 31"/>
          <p:cNvSpPr txBox="1"/>
          <p:nvPr/>
        </p:nvSpPr>
        <p:spPr>
          <a:xfrm>
            <a:off x="10013626" y="3530512"/>
            <a:ext cx="825527" cy="213355"/>
          </a:xfrm>
          <a:prstGeom prst="rect">
            <a:avLst/>
          </a:prstGeom>
          <a:noFill/>
          <a:ln/>
        </p:spPr>
        <p:txBody>
          <a:bodyPr wrap="square" lIns="0" tIns="0" rIns="0" bIns="0" rtlCol="0" anchor="t"/>
          <a:lstStyle/>
          <a:p>
            <a:pPr algn="ctr" indent="0" marL="0">
              <a:lnSpc>
                <a:spcPct val="116667"/>
              </a:lnSpc>
              <a:buNone/>
            </a:pPr>
            <a:r>
              <a:rPr lang="en-US" sz="1200" dirty="0">
                <a:solidFill>
                  <a:srgbClr val="0B7F74"/>
                </a:solidFill>
                <a:latin typeface="Calibri" pitchFamily="34" charset="0"/>
                <a:ea typeface="Calibri" pitchFamily="34" charset="-122"/>
                <a:cs typeface="Calibri" pitchFamily="34" charset="-120"/>
              </a:rPr>
              <a:t>JobStarted</a:t>
            </a:r>
            <a:endParaRPr lang="en-US" sz="1200" dirty="0"/>
          </a:p>
        </p:txBody>
      </p:sp>
      <p:sp>
        <p:nvSpPr>
          <p:cNvPr id="34" name="Shape 32"/>
          <p:cNvSpPr/>
          <p:nvPr/>
        </p:nvSpPr>
        <p:spPr>
          <a:xfrm>
            <a:off x="2717732" y="2254194"/>
            <a:ext cx="260343" cy="63"/>
          </a:xfrm>
          <a:prstGeom prst="line">
            <a:avLst/>
          </a:prstGeom>
          <a:noFill/>
          <a:ln w="19050">
            <a:solidFill>
              <a:srgbClr val="0B7F74"/>
            </a:solidFill>
            <a:prstDash val="solid"/>
            <a:tailEnd type="triangle"/>
          </a:ln>
        </p:spPr>
      </p:sp>
      <p:sp>
        <p:nvSpPr>
          <p:cNvPr id="35" name="Shape 33"/>
          <p:cNvSpPr/>
          <p:nvPr/>
        </p:nvSpPr>
        <p:spPr>
          <a:xfrm flipH="1">
            <a:off x="2717732" y="3524162"/>
            <a:ext cx="260343" cy="63"/>
          </a:xfrm>
          <a:prstGeom prst="line">
            <a:avLst/>
          </a:prstGeom>
          <a:noFill/>
          <a:ln w="19050">
            <a:solidFill>
              <a:srgbClr val="B4530F"/>
            </a:solidFill>
            <a:prstDash val="solid"/>
            <a:tailEnd type="triangle"/>
          </a:ln>
        </p:spPr>
      </p:sp>
      <p:sp>
        <p:nvSpPr>
          <p:cNvPr id="36" name="Shape 34"/>
          <p:cNvSpPr/>
          <p:nvPr/>
        </p:nvSpPr>
        <p:spPr>
          <a:xfrm>
            <a:off x="4883028" y="2254194"/>
            <a:ext cx="260343" cy="63"/>
          </a:xfrm>
          <a:prstGeom prst="line">
            <a:avLst/>
          </a:prstGeom>
          <a:noFill/>
          <a:ln w="19050">
            <a:solidFill>
              <a:srgbClr val="0B7F74"/>
            </a:solidFill>
            <a:prstDash val="solid"/>
            <a:tailEnd type="triangle"/>
          </a:ln>
        </p:spPr>
      </p:sp>
      <p:sp>
        <p:nvSpPr>
          <p:cNvPr id="37" name="Shape 35"/>
          <p:cNvSpPr/>
          <p:nvPr/>
        </p:nvSpPr>
        <p:spPr>
          <a:xfrm flipH="1">
            <a:off x="4883028" y="3524162"/>
            <a:ext cx="260343" cy="63"/>
          </a:xfrm>
          <a:prstGeom prst="line">
            <a:avLst/>
          </a:prstGeom>
          <a:noFill/>
          <a:ln w="19050">
            <a:solidFill>
              <a:srgbClr val="B4530F"/>
            </a:solidFill>
            <a:prstDash val="solid"/>
            <a:tailEnd type="triangle"/>
          </a:ln>
        </p:spPr>
      </p:sp>
      <p:sp>
        <p:nvSpPr>
          <p:cNvPr id="38" name="Shape 36"/>
          <p:cNvSpPr/>
          <p:nvPr/>
        </p:nvSpPr>
        <p:spPr>
          <a:xfrm>
            <a:off x="7048324" y="2254194"/>
            <a:ext cx="260343" cy="63"/>
          </a:xfrm>
          <a:prstGeom prst="line">
            <a:avLst/>
          </a:prstGeom>
          <a:noFill/>
          <a:ln w="19050">
            <a:solidFill>
              <a:srgbClr val="0B7F74"/>
            </a:solidFill>
            <a:prstDash val="solid"/>
            <a:tailEnd type="triangle"/>
          </a:ln>
        </p:spPr>
      </p:sp>
      <p:sp>
        <p:nvSpPr>
          <p:cNvPr id="39" name="Shape 37"/>
          <p:cNvSpPr/>
          <p:nvPr/>
        </p:nvSpPr>
        <p:spPr>
          <a:xfrm flipH="1">
            <a:off x="7048324" y="3524162"/>
            <a:ext cx="260343" cy="63"/>
          </a:xfrm>
          <a:prstGeom prst="line">
            <a:avLst/>
          </a:prstGeom>
          <a:noFill/>
          <a:ln w="19050">
            <a:solidFill>
              <a:srgbClr val="0B7F74"/>
            </a:solidFill>
            <a:prstDash val="solid"/>
            <a:tailEnd type="triangle"/>
          </a:ln>
        </p:spPr>
      </p:sp>
      <p:sp>
        <p:nvSpPr>
          <p:cNvPr id="40" name="Shape 38"/>
          <p:cNvSpPr/>
          <p:nvPr/>
        </p:nvSpPr>
        <p:spPr>
          <a:xfrm>
            <a:off x="9213620" y="2254194"/>
            <a:ext cx="260343" cy="63"/>
          </a:xfrm>
          <a:prstGeom prst="line">
            <a:avLst/>
          </a:prstGeom>
          <a:noFill/>
          <a:ln w="19050">
            <a:solidFill>
              <a:srgbClr val="0B7F74"/>
            </a:solidFill>
            <a:prstDash val="solid"/>
            <a:tailEnd type="triangle"/>
          </a:ln>
        </p:spPr>
      </p:sp>
      <p:sp>
        <p:nvSpPr>
          <p:cNvPr id="41" name="Shape 39"/>
          <p:cNvSpPr/>
          <p:nvPr/>
        </p:nvSpPr>
        <p:spPr>
          <a:xfrm flipH="1">
            <a:off x="9213620" y="3524162"/>
            <a:ext cx="260343" cy="63"/>
          </a:xfrm>
          <a:prstGeom prst="line">
            <a:avLst/>
          </a:prstGeom>
          <a:noFill/>
          <a:ln w="19050">
            <a:solidFill>
              <a:srgbClr val="0B7F74"/>
            </a:solidFill>
            <a:prstDash val="solid"/>
            <a:tailEnd type="triangle"/>
          </a:ln>
        </p:spPr>
      </p:sp>
      <p:sp>
        <p:nvSpPr>
          <p:cNvPr id="42" name="Shape 40"/>
          <p:cNvSpPr/>
          <p:nvPr/>
        </p:nvSpPr>
        <p:spPr>
          <a:xfrm>
            <a:off x="10426439" y="2603435"/>
            <a:ext cx="63" cy="571486"/>
          </a:xfrm>
          <a:prstGeom prst="line">
            <a:avLst/>
          </a:prstGeom>
          <a:noFill/>
          <a:ln w="19050">
            <a:solidFill>
              <a:srgbClr val="0B7F74"/>
            </a:solidFill>
            <a:prstDash val="solid"/>
            <a:tailEnd type="triangle"/>
          </a:ln>
        </p:spPr>
      </p:sp>
      <p:sp>
        <p:nvSpPr>
          <p:cNvPr id="43" name="Text 41"/>
          <p:cNvSpPr txBox="1"/>
          <p:nvPr/>
        </p:nvSpPr>
        <p:spPr>
          <a:xfrm>
            <a:off x="812780" y="4127397"/>
            <a:ext cx="4267093" cy="213355"/>
          </a:xfrm>
          <a:prstGeom prst="rect">
            <a:avLst/>
          </a:prstGeom>
          <a:noFill/>
          <a:ln/>
        </p:spPr>
        <p:txBody>
          <a:bodyPr wrap="square" lIns="0" tIns="0" rIns="0" bIns="0" rtlCol="0" anchor="t"/>
          <a:lstStyle/>
          <a:p>
            <a:pPr algn="l" indent="0" marL="0">
              <a:lnSpc>
                <a:spcPct val="116667"/>
              </a:lnSpc>
              <a:buNone/>
            </a:pPr>
            <a:r>
              <a:rPr lang="en-US" sz="1200" b="1" dirty="0">
                <a:solidFill>
                  <a:srgbClr val="B8306E"/>
                </a:solidFill>
                <a:latin typeface="Calibri" pitchFamily="34" charset="0"/>
                <a:ea typeface="Calibri" pitchFamily="34" charset="-122"/>
                <a:cs typeface="Calibri" pitchFamily="34" charset="-120"/>
              </a:rPr>
              <a:t>Side paths</a:t>
            </a:r>
            <a:endParaRPr lang="en-US" sz="1200" dirty="0"/>
          </a:p>
        </p:txBody>
      </p:sp>
      <p:sp>
        <p:nvSpPr>
          <p:cNvPr id="44" name="Shape 42"/>
          <p:cNvSpPr/>
          <p:nvPr/>
        </p:nvSpPr>
        <p:spPr>
          <a:xfrm>
            <a:off x="812780" y="4444889"/>
            <a:ext cx="1987500" cy="952476"/>
          </a:xfrm>
          <a:prstGeom prst="roundRect">
            <a:avLst>
              <a:gd name="adj" fmla="val 9333"/>
            </a:avLst>
          </a:prstGeom>
          <a:solidFill>
            <a:srgbClr val="FAE3ED"/>
          </a:solidFill>
          <a:ln/>
        </p:spPr>
      </p:sp>
      <p:sp>
        <p:nvSpPr>
          <p:cNvPr id="45" name="Text 43"/>
          <p:cNvSpPr txBox="1"/>
          <p:nvPr/>
        </p:nvSpPr>
        <p:spPr>
          <a:xfrm>
            <a:off x="914377"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AWAITING_ASSIGNMENT</a:t>
            </a:r>
            <a:endParaRPr lang="en-US" sz="1200" dirty="0"/>
          </a:p>
        </p:txBody>
      </p:sp>
      <p:sp>
        <p:nvSpPr>
          <p:cNvPr id="46" name="Text 44"/>
          <p:cNvSpPr txBox="1"/>
          <p:nvPr/>
        </p:nvSpPr>
        <p:spPr>
          <a:xfrm>
            <a:off x="914377" y="4785201"/>
            <a:ext cx="1998422"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taker, an agency covers it</a:t>
            </a:r>
            <a:endParaRPr lang="en-US" sz="1200" dirty="0"/>
          </a:p>
        </p:txBody>
      </p:sp>
      <p:sp>
        <p:nvSpPr>
          <p:cNvPr id="47" name="Shape 45"/>
          <p:cNvSpPr/>
          <p:nvPr/>
        </p:nvSpPr>
        <p:spPr>
          <a:xfrm>
            <a:off x="2952676" y="4444889"/>
            <a:ext cx="1987500" cy="952476"/>
          </a:xfrm>
          <a:prstGeom prst="roundRect">
            <a:avLst>
              <a:gd name="adj" fmla="val 9333"/>
            </a:avLst>
          </a:prstGeom>
          <a:solidFill>
            <a:srgbClr val="FAE3ED"/>
          </a:solidFill>
          <a:ln/>
        </p:spPr>
      </p:sp>
      <p:sp>
        <p:nvSpPr>
          <p:cNvPr id="48" name="Text 46"/>
          <p:cNvSpPr txBox="1"/>
          <p:nvPr/>
        </p:nvSpPr>
        <p:spPr>
          <a:xfrm>
            <a:off x="3054274"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SEARCHING_FAILED</a:t>
            </a:r>
            <a:endParaRPr lang="en-US" sz="1200" dirty="0"/>
          </a:p>
        </p:txBody>
      </p:sp>
      <p:sp>
        <p:nvSpPr>
          <p:cNvPr id="49" name="Text 47"/>
          <p:cNvSpPr txBox="1"/>
          <p:nvPr/>
        </p:nvSpPr>
        <p:spPr>
          <a:xfrm>
            <a:off x="3054274" y="4785201"/>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taker, no agency</a:t>
            </a:r>
            <a:endParaRPr lang="en-US" sz="1200" dirty="0"/>
          </a:p>
        </p:txBody>
      </p:sp>
      <p:sp>
        <p:nvSpPr>
          <p:cNvPr id="50" name="Shape 48"/>
          <p:cNvSpPr/>
          <p:nvPr/>
        </p:nvSpPr>
        <p:spPr>
          <a:xfrm>
            <a:off x="5092573" y="4444889"/>
            <a:ext cx="1987500" cy="952476"/>
          </a:xfrm>
          <a:prstGeom prst="roundRect">
            <a:avLst>
              <a:gd name="adj" fmla="val 9333"/>
            </a:avLst>
          </a:prstGeom>
          <a:solidFill>
            <a:srgbClr val="FAE3ED"/>
          </a:solidFill>
          <a:ln/>
        </p:spPr>
      </p:sp>
      <p:sp>
        <p:nvSpPr>
          <p:cNvPr id="51" name="Text 49"/>
          <p:cNvSpPr txBox="1"/>
          <p:nvPr/>
        </p:nvSpPr>
        <p:spPr>
          <a:xfrm>
            <a:off x="5194170" y="4533787"/>
            <a:ext cx="1998422" cy="426630"/>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ADDITIONAL_QUOTE_</a:t>
            </a:r>
            <a:endParaRPr lang="en-US" sz="1200" dirty="0"/>
          </a:p>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REQUIRED</a:t>
            </a:r>
            <a:endParaRPr lang="en-US" sz="1200" dirty="0"/>
          </a:p>
        </p:txBody>
      </p:sp>
      <p:sp>
        <p:nvSpPr>
          <p:cNvPr id="52" name="Text 50"/>
          <p:cNvSpPr txBox="1"/>
          <p:nvPr/>
        </p:nvSpPr>
        <p:spPr>
          <a:xfrm>
            <a:off x="5194170" y="4998516"/>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parts quote to approve</a:t>
            </a:r>
            <a:endParaRPr lang="en-US" sz="1200" dirty="0"/>
          </a:p>
        </p:txBody>
      </p:sp>
      <p:sp>
        <p:nvSpPr>
          <p:cNvPr id="53" name="Shape 51"/>
          <p:cNvSpPr/>
          <p:nvPr/>
        </p:nvSpPr>
        <p:spPr>
          <a:xfrm>
            <a:off x="7232469" y="4444889"/>
            <a:ext cx="1987500" cy="952476"/>
          </a:xfrm>
          <a:prstGeom prst="roundRect">
            <a:avLst>
              <a:gd name="adj" fmla="val 9333"/>
            </a:avLst>
          </a:prstGeom>
          <a:solidFill>
            <a:srgbClr val="FAE3ED"/>
          </a:solidFill>
          <a:ln/>
        </p:spPr>
      </p:sp>
      <p:sp>
        <p:nvSpPr>
          <p:cNvPr id="54" name="Text 52"/>
          <p:cNvSpPr txBox="1"/>
          <p:nvPr/>
        </p:nvSpPr>
        <p:spPr>
          <a:xfrm>
            <a:off x="7334067" y="4533787"/>
            <a:ext cx="1998422" cy="426630"/>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DISPUTED → REFUNDED</a:t>
            </a:r>
            <a:endParaRPr lang="en-US" sz="1200" dirty="0"/>
          </a:p>
        </p:txBody>
      </p:sp>
      <p:sp>
        <p:nvSpPr>
          <p:cNvPr id="55" name="Text 53"/>
          <p:cNvSpPr txBox="1"/>
          <p:nvPr/>
        </p:nvSpPr>
        <p:spPr>
          <a:xfrm>
            <a:off x="7334067" y="4998516"/>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complaint upheld</a:t>
            </a:r>
            <a:endParaRPr lang="en-US" sz="1200" dirty="0"/>
          </a:p>
        </p:txBody>
      </p:sp>
      <p:sp>
        <p:nvSpPr>
          <p:cNvPr id="56" name="Shape 54"/>
          <p:cNvSpPr/>
          <p:nvPr/>
        </p:nvSpPr>
        <p:spPr>
          <a:xfrm>
            <a:off x="9372366" y="4444889"/>
            <a:ext cx="1987500" cy="952476"/>
          </a:xfrm>
          <a:prstGeom prst="roundRect">
            <a:avLst>
              <a:gd name="adj" fmla="val 9333"/>
            </a:avLst>
          </a:prstGeom>
          <a:solidFill>
            <a:srgbClr val="FAE3ED"/>
          </a:solidFill>
          <a:ln/>
        </p:spPr>
      </p:sp>
      <p:sp>
        <p:nvSpPr>
          <p:cNvPr id="57" name="Text 55"/>
          <p:cNvSpPr txBox="1"/>
          <p:nvPr/>
        </p:nvSpPr>
        <p:spPr>
          <a:xfrm>
            <a:off x="9473963" y="4533787"/>
            <a:ext cx="1998422"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CANCELLED</a:t>
            </a:r>
            <a:endParaRPr lang="en-US" sz="1200" dirty="0"/>
          </a:p>
        </p:txBody>
      </p:sp>
      <p:sp>
        <p:nvSpPr>
          <p:cNvPr id="58" name="Text 56"/>
          <p:cNvSpPr txBox="1"/>
          <p:nvPr/>
        </p:nvSpPr>
        <p:spPr>
          <a:xfrm>
            <a:off x="9473963" y="4785201"/>
            <a:ext cx="199842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any time before the job</a:t>
            </a:r>
            <a:endParaRPr lang="en-US" sz="1200" dirty="0"/>
          </a:p>
        </p:txBody>
      </p:sp>
      <p:sp>
        <p:nvSpPr>
          <p:cNvPr id="59"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Flows</a:t>
            </a:r>
            <a:endParaRPr lang="en-US" sz="1200" dirty="0"/>
          </a:p>
        </p:txBody>
      </p:sp>
      <p:sp>
        <p:nvSpPr>
          <p:cNvPr id="60"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LOGICAL DATA MODEL · PEOPLE AND SUPPLY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Accounts, customers, providers and agencies</a:t>
            </a:r>
            <a:endParaRPr lang="en-US" sz="3000" dirty="0"/>
          </a:p>
        </p:txBody>
      </p:sp>
      <p:sp>
        <p:nvSpPr>
          <p:cNvPr id="4" name="Shape 2"/>
          <p:cNvSpPr/>
          <p:nvPr/>
        </p:nvSpPr>
        <p:spPr>
          <a:xfrm>
            <a:off x="812780" y="1841454"/>
            <a:ext cx="2285943" cy="1079473"/>
          </a:xfrm>
          <a:prstGeom prst="roundRect">
            <a:avLst>
              <a:gd name="adj" fmla="val 7059"/>
            </a:avLst>
          </a:prstGeom>
          <a:solidFill>
            <a:srgbClr val="FCFDFF"/>
          </a:solidFill>
          <a:ln w="12700">
            <a:solidFill>
              <a:srgbClr val="2454C5"/>
            </a:solidFill>
            <a:prstDash val="solid"/>
          </a:ln>
        </p:spPr>
      </p:sp>
      <p:sp>
        <p:nvSpPr>
          <p:cNvPr id="5" name="Shape 3"/>
          <p:cNvSpPr/>
          <p:nvPr/>
        </p:nvSpPr>
        <p:spPr>
          <a:xfrm>
            <a:off x="825479" y="1854154"/>
            <a:ext cx="2260543" cy="289513"/>
          </a:xfrm>
          <a:prstGeom prst="roundRect">
            <a:avLst>
              <a:gd name="adj" fmla="val 21933"/>
            </a:avLst>
          </a:prstGeom>
          <a:solidFill>
            <a:srgbClr val="E3EBFA"/>
          </a:solidFill>
          <a:ln/>
        </p:spPr>
      </p:sp>
      <p:sp>
        <p:nvSpPr>
          <p:cNvPr id="6" name="Text 4"/>
          <p:cNvSpPr txBox="1"/>
          <p:nvPr/>
        </p:nvSpPr>
        <p:spPr>
          <a:xfrm>
            <a:off x="914377"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auth.user_account_role</a:t>
            </a:r>
            <a:endParaRPr lang="en-US" sz="1200" dirty="0"/>
          </a:p>
        </p:txBody>
      </p:sp>
      <p:sp>
        <p:nvSpPr>
          <p:cNvPr id="7" name="Text 5"/>
          <p:cNvSpPr txBox="1"/>
          <p:nvPr/>
        </p:nvSpPr>
        <p:spPr>
          <a:xfrm>
            <a:off x="914377"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PK user_id, role</a:t>
            </a:r>
            <a:endParaRPr lang="en-US" sz="1200" dirty="0"/>
          </a:p>
        </p:txBody>
      </p:sp>
      <p:sp>
        <p:nvSpPr>
          <p:cNvPr id="8" name="Text 6"/>
          <p:cNvSpPr txBox="1"/>
          <p:nvPr/>
        </p:nvSpPr>
        <p:spPr>
          <a:xfrm>
            <a:off x="914377"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role: Role enum</a:t>
            </a:r>
            <a:endParaRPr lang="en-US" sz="1200" dirty="0"/>
          </a:p>
        </p:txBody>
      </p:sp>
      <p:sp>
        <p:nvSpPr>
          <p:cNvPr id="9" name="Shape 7"/>
          <p:cNvSpPr/>
          <p:nvPr/>
        </p:nvSpPr>
        <p:spPr>
          <a:xfrm>
            <a:off x="3574961" y="1841454"/>
            <a:ext cx="2285943" cy="1079473"/>
          </a:xfrm>
          <a:prstGeom prst="roundRect">
            <a:avLst>
              <a:gd name="adj" fmla="val 7059"/>
            </a:avLst>
          </a:prstGeom>
          <a:solidFill>
            <a:srgbClr val="FCFDFF"/>
          </a:solidFill>
          <a:ln w="12700">
            <a:solidFill>
              <a:srgbClr val="2454C5"/>
            </a:solidFill>
            <a:prstDash val="solid"/>
          </a:ln>
        </p:spPr>
      </p:sp>
      <p:sp>
        <p:nvSpPr>
          <p:cNvPr id="10" name="Shape 8"/>
          <p:cNvSpPr/>
          <p:nvPr/>
        </p:nvSpPr>
        <p:spPr>
          <a:xfrm>
            <a:off x="3587660" y="1854154"/>
            <a:ext cx="2260543" cy="289513"/>
          </a:xfrm>
          <a:prstGeom prst="roundRect">
            <a:avLst>
              <a:gd name="adj" fmla="val 21933"/>
            </a:avLst>
          </a:prstGeom>
          <a:solidFill>
            <a:srgbClr val="E3EBFA"/>
          </a:solidFill>
          <a:ln/>
        </p:spPr>
      </p:sp>
      <p:sp>
        <p:nvSpPr>
          <p:cNvPr id="11" name="Text 9"/>
          <p:cNvSpPr txBox="1"/>
          <p:nvPr/>
        </p:nvSpPr>
        <p:spPr>
          <a:xfrm>
            <a:off x="3676558"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auth.user_account</a:t>
            </a:r>
            <a:endParaRPr lang="en-US" sz="1200" dirty="0"/>
          </a:p>
        </p:txBody>
      </p:sp>
      <p:sp>
        <p:nvSpPr>
          <p:cNvPr id="12" name="Text 10"/>
          <p:cNvSpPr txBox="1"/>
          <p:nvPr/>
        </p:nvSpPr>
        <p:spPr>
          <a:xfrm>
            <a:off x="3676558"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3" name="Text 11"/>
          <p:cNvSpPr txBox="1"/>
          <p:nvPr/>
        </p:nvSpPr>
        <p:spPr>
          <a:xfrm>
            <a:off x="3676558"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mobile, email, username</a:t>
            </a:r>
            <a:endParaRPr lang="en-US" sz="1200" dirty="0"/>
          </a:p>
        </p:txBody>
      </p:sp>
      <p:sp>
        <p:nvSpPr>
          <p:cNvPr id="14" name="Text 12"/>
          <p:cNvSpPr txBox="1"/>
          <p:nvPr/>
        </p:nvSpPr>
        <p:spPr>
          <a:xfrm>
            <a:off x="3676558"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AccountStatus</a:t>
            </a:r>
            <a:endParaRPr lang="en-US" sz="1200" dirty="0"/>
          </a:p>
        </p:txBody>
      </p:sp>
      <p:sp>
        <p:nvSpPr>
          <p:cNvPr id="15" name="Shape 13"/>
          <p:cNvSpPr/>
          <p:nvPr/>
        </p:nvSpPr>
        <p:spPr>
          <a:xfrm>
            <a:off x="6330792" y="1841454"/>
            <a:ext cx="2285943" cy="1079473"/>
          </a:xfrm>
          <a:prstGeom prst="roundRect">
            <a:avLst>
              <a:gd name="adj" fmla="val 7059"/>
            </a:avLst>
          </a:prstGeom>
          <a:solidFill>
            <a:srgbClr val="FCFDFF"/>
          </a:solidFill>
          <a:ln w="12700">
            <a:solidFill>
              <a:srgbClr val="2454C5"/>
            </a:solidFill>
            <a:prstDash val="solid"/>
          </a:ln>
        </p:spPr>
      </p:sp>
      <p:sp>
        <p:nvSpPr>
          <p:cNvPr id="16" name="Shape 14"/>
          <p:cNvSpPr/>
          <p:nvPr/>
        </p:nvSpPr>
        <p:spPr>
          <a:xfrm>
            <a:off x="6343491" y="1854154"/>
            <a:ext cx="2260543" cy="289513"/>
          </a:xfrm>
          <a:prstGeom prst="roundRect">
            <a:avLst>
              <a:gd name="adj" fmla="val 21933"/>
            </a:avLst>
          </a:prstGeom>
          <a:solidFill>
            <a:srgbClr val="E3EBFA"/>
          </a:solidFill>
          <a:ln/>
        </p:spPr>
      </p:sp>
      <p:sp>
        <p:nvSpPr>
          <p:cNvPr id="17" name="Text 15"/>
          <p:cNvSpPr txBox="1"/>
          <p:nvPr/>
        </p:nvSpPr>
        <p:spPr>
          <a:xfrm>
            <a:off x="6432389"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customer.customer_profile</a:t>
            </a:r>
            <a:endParaRPr lang="en-US" sz="1200" dirty="0"/>
          </a:p>
        </p:txBody>
      </p:sp>
      <p:sp>
        <p:nvSpPr>
          <p:cNvPr id="18" name="Text 16"/>
          <p:cNvSpPr txBox="1"/>
          <p:nvPr/>
        </p:nvSpPr>
        <p:spPr>
          <a:xfrm>
            <a:off x="6432389"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9" name="Text 17"/>
          <p:cNvSpPr txBox="1"/>
          <p:nvPr/>
        </p:nvSpPr>
        <p:spPr>
          <a:xfrm>
            <a:off x="6432389"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 auth</a:t>
            </a:r>
            <a:endParaRPr lang="en-US" sz="1200" dirty="0"/>
          </a:p>
        </p:txBody>
      </p:sp>
      <p:sp>
        <p:nvSpPr>
          <p:cNvPr id="20" name="Text 18"/>
          <p:cNvSpPr txBox="1"/>
          <p:nvPr/>
        </p:nvSpPr>
        <p:spPr>
          <a:xfrm>
            <a:off x="6432389"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name, email (encrypted)</a:t>
            </a:r>
            <a:endParaRPr lang="en-US" sz="1200" dirty="0"/>
          </a:p>
        </p:txBody>
      </p:sp>
      <p:sp>
        <p:nvSpPr>
          <p:cNvPr id="21" name="Shape 19"/>
          <p:cNvSpPr/>
          <p:nvPr/>
        </p:nvSpPr>
        <p:spPr>
          <a:xfrm>
            <a:off x="9092973" y="1841454"/>
            <a:ext cx="2285943" cy="1079473"/>
          </a:xfrm>
          <a:prstGeom prst="roundRect">
            <a:avLst>
              <a:gd name="adj" fmla="val 7059"/>
            </a:avLst>
          </a:prstGeom>
          <a:solidFill>
            <a:srgbClr val="FCFDFF"/>
          </a:solidFill>
          <a:ln w="12700">
            <a:solidFill>
              <a:srgbClr val="2454C5"/>
            </a:solidFill>
            <a:prstDash val="solid"/>
          </a:ln>
        </p:spPr>
      </p:sp>
      <p:sp>
        <p:nvSpPr>
          <p:cNvPr id="22" name="Shape 20"/>
          <p:cNvSpPr/>
          <p:nvPr/>
        </p:nvSpPr>
        <p:spPr>
          <a:xfrm>
            <a:off x="9105672" y="1854154"/>
            <a:ext cx="2260543" cy="289513"/>
          </a:xfrm>
          <a:prstGeom prst="roundRect">
            <a:avLst>
              <a:gd name="adj" fmla="val 21933"/>
            </a:avLst>
          </a:prstGeom>
          <a:solidFill>
            <a:srgbClr val="E3EBFA"/>
          </a:solidFill>
          <a:ln/>
        </p:spPr>
      </p:sp>
      <p:sp>
        <p:nvSpPr>
          <p:cNvPr id="23" name="Text 21"/>
          <p:cNvSpPr txBox="1"/>
          <p:nvPr/>
        </p:nvSpPr>
        <p:spPr>
          <a:xfrm>
            <a:off x="9194570"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customer.address</a:t>
            </a:r>
            <a:endParaRPr lang="en-US" sz="1200" dirty="0"/>
          </a:p>
        </p:txBody>
      </p:sp>
      <p:sp>
        <p:nvSpPr>
          <p:cNvPr id="24" name="Text 22"/>
          <p:cNvSpPr txBox="1"/>
          <p:nvPr/>
        </p:nvSpPr>
        <p:spPr>
          <a:xfrm>
            <a:off x="9194570"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25" name="Text 23"/>
          <p:cNvSpPr txBox="1"/>
          <p:nvPr/>
        </p:nvSpPr>
        <p:spPr>
          <a:xfrm>
            <a:off x="9194570"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FK</a:t>
            </a:r>
            <a:endParaRPr lang="en-US" sz="1200" dirty="0"/>
          </a:p>
        </p:txBody>
      </p:sp>
      <p:sp>
        <p:nvSpPr>
          <p:cNvPr id="26" name="Text 24"/>
          <p:cNvSpPr txBox="1"/>
          <p:nvPr/>
        </p:nvSpPr>
        <p:spPr>
          <a:xfrm>
            <a:off x="9194570"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lat, lng, is_default</a:t>
            </a:r>
            <a:endParaRPr lang="en-US" sz="1200" dirty="0"/>
          </a:p>
        </p:txBody>
      </p:sp>
      <p:sp>
        <p:nvSpPr>
          <p:cNvPr id="27" name="Shape 25"/>
          <p:cNvSpPr/>
          <p:nvPr/>
        </p:nvSpPr>
        <p:spPr>
          <a:xfrm>
            <a:off x="812780" y="3174921"/>
            <a:ext cx="2285943" cy="1079473"/>
          </a:xfrm>
          <a:prstGeom prst="roundRect">
            <a:avLst>
              <a:gd name="adj" fmla="val 7059"/>
            </a:avLst>
          </a:prstGeom>
          <a:solidFill>
            <a:srgbClr val="FCFDFF"/>
          </a:solidFill>
          <a:ln w="12700">
            <a:solidFill>
              <a:srgbClr val="0B7F74"/>
            </a:solidFill>
            <a:prstDash val="solid"/>
          </a:ln>
        </p:spPr>
      </p:sp>
      <p:sp>
        <p:nvSpPr>
          <p:cNvPr id="28" name="Shape 26"/>
          <p:cNvSpPr/>
          <p:nvPr/>
        </p:nvSpPr>
        <p:spPr>
          <a:xfrm>
            <a:off x="825479" y="3187620"/>
            <a:ext cx="2260543" cy="289513"/>
          </a:xfrm>
          <a:prstGeom prst="roundRect">
            <a:avLst>
              <a:gd name="adj" fmla="val 21933"/>
            </a:avLst>
          </a:prstGeom>
          <a:solidFill>
            <a:srgbClr val="DDF2EF"/>
          </a:solidFill>
          <a:ln/>
        </p:spPr>
      </p:sp>
      <p:sp>
        <p:nvSpPr>
          <p:cNvPr id="29" name="Text 27"/>
          <p:cNvSpPr txBox="1"/>
          <p:nvPr/>
        </p:nvSpPr>
        <p:spPr>
          <a:xfrm>
            <a:off x="914377"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provider.tenant</a:t>
            </a:r>
            <a:endParaRPr lang="en-US" sz="1200" dirty="0"/>
          </a:p>
        </p:txBody>
      </p:sp>
      <p:sp>
        <p:nvSpPr>
          <p:cNvPr id="30" name="Text 28"/>
          <p:cNvSpPr txBox="1"/>
          <p:nvPr/>
        </p:nvSpPr>
        <p:spPr>
          <a:xfrm>
            <a:off x="914377"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status</a:t>
            </a:r>
            <a:endParaRPr lang="en-US" sz="1200" dirty="0"/>
          </a:p>
        </p:txBody>
      </p:sp>
      <p:sp>
        <p:nvSpPr>
          <p:cNvPr id="31" name="Text 29"/>
          <p:cNvSpPr txBox="1"/>
          <p:nvPr/>
        </p:nvSpPr>
        <p:spPr>
          <a:xfrm>
            <a:off x="914377"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name, base lat/lng</a:t>
            </a:r>
            <a:endParaRPr lang="en-US" sz="1200" dirty="0"/>
          </a:p>
        </p:txBody>
      </p:sp>
      <p:sp>
        <p:nvSpPr>
          <p:cNvPr id="32" name="Text 30"/>
          <p:cNvSpPr txBox="1"/>
          <p:nvPr/>
        </p:nvSpPr>
        <p:spPr>
          <a:xfrm>
            <a:off x="914377"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service_radius_km</a:t>
            </a:r>
            <a:endParaRPr lang="en-US" sz="1200" dirty="0"/>
          </a:p>
        </p:txBody>
      </p:sp>
      <p:sp>
        <p:nvSpPr>
          <p:cNvPr id="33" name="Shape 31"/>
          <p:cNvSpPr/>
          <p:nvPr/>
        </p:nvSpPr>
        <p:spPr>
          <a:xfrm>
            <a:off x="3574961" y="3174921"/>
            <a:ext cx="2285943" cy="1079473"/>
          </a:xfrm>
          <a:prstGeom prst="roundRect">
            <a:avLst>
              <a:gd name="adj" fmla="val 7059"/>
            </a:avLst>
          </a:prstGeom>
          <a:solidFill>
            <a:srgbClr val="FCFDFF"/>
          </a:solidFill>
          <a:ln w="12700">
            <a:solidFill>
              <a:srgbClr val="0B7F74"/>
            </a:solidFill>
            <a:prstDash val="solid"/>
          </a:ln>
        </p:spPr>
      </p:sp>
      <p:sp>
        <p:nvSpPr>
          <p:cNvPr id="34" name="Shape 32"/>
          <p:cNvSpPr/>
          <p:nvPr/>
        </p:nvSpPr>
        <p:spPr>
          <a:xfrm>
            <a:off x="3587660" y="3187620"/>
            <a:ext cx="2260543" cy="289513"/>
          </a:xfrm>
          <a:prstGeom prst="roundRect">
            <a:avLst>
              <a:gd name="adj" fmla="val 21933"/>
            </a:avLst>
          </a:prstGeom>
          <a:solidFill>
            <a:srgbClr val="DDF2EF"/>
          </a:solidFill>
          <a:ln/>
        </p:spPr>
      </p:sp>
      <p:sp>
        <p:nvSpPr>
          <p:cNvPr id="35" name="Text 33"/>
          <p:cNvSpPr txBox="1"/>
          <p:nvPr/>
        </p:nvSpPr>
        <p:spPr>
          <a:xfrm>
            <a:off x="3676558"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provider.provider_profile</a:t>
            </a:r>
            <a:endParaRPr lang="en-US" sz="1200" dirty="0"/>
          </a:p>
        </p:txBody>
      </p:sp>
      <p:sp>
        <p:nvSpPr>
          <p:cNvPr id="36" name="Text 34"/>
          <p:cNvSpPr txBox="1"/>
          <p:nvPr/>
        </p:nvSpPr>
        <p:spPr>
          <a:xfrm>
            <a:off x="3676558"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tenant_id FK</a:t>
            </a:r>
            <a:endParaRPr lang="en-US" sz="1200" dirty="0"/>
          </a:p>
        </p:txBody>
      </p:sp>
      <p:sp>
        <p:nvSpPr>
          <p:cNvPr id="37" name="Text 35"/>
          <p:cNvSpPr txBox="1"/>
          <p:nvPr/>
        </p:nvSpPr>
        <p:spPr>
          <a:xfrm>
            <a:off x="3676558"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 auth</a:t>
            </a:r>
            <a:endParaRPr lang="en-US" sz="1200" dirty="0"/>
          </a:p>
        </p:txBody>
      </p:sp>
      <p:sp>
        <p:nvSpPr>
          <p:cNvPr id="38" name="Text 36"/>
          <p:cNvSpPr txBox="1"/>
          <p:nvPr/>
        </p:nvSpPr>
        <p:spPr>
          <a:xfrm>
            <a:off x="3676558"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wallet_balance, rating</a:t>
            </a:r>
            <a:endParaRPr lang="en-US" sz="1200" dirty="0"/>
          </a:p>
        </p:txBody>
      </p:sp>
      <p:sp>
        <p:nvSpPr>
          <p:cNvPr id="39" name="Shape 37"/>
          <p:cNvSpPr/>
          <p:nvPr/>
        </p:nvSpPr>
        <p:spPr>
          <a:xfrm>
            <a:off x="6330792" y="3174921"/>
            <a:ext cx="2285943" cy="1079473"/>
          </a:xfrm>
          <a:prstGeom prst="roundRect">
            <a:avLst>
              <a:gd name="adj" fmla="val 7059"/>
            </a:avLst>
          </a:prstGeom>
          <a:solidFill>
            <a:srgbClr val="FCFDFF"/>
          </a:solidFill>
          <a:ln w="12700">
            <a:solidFill>
              <a:srgbClr val="6A3FC0"/>
            </a:solidFill>
            <a:prstDash val="solid"/>
          </a:ln>
        </p:spPr>
      </p:sp>
      <p:sp>
        <p:nvSpPr>
          <p:cNvPr id="40" name="Shape 38"/>
          <p:cNvSpPr/>
          <p:nvPr/>
        </p:nvSpPr>
        <p:spPr>
          <a:xfrm>
            <a:off x="6343491" y="3187620"/>
            <a:ext cx="2260543" cy="289513"/>
          </a:xfrm>
          <a:prstGeom prst="roundRect">
            <a:avLst>
              <a:gd name="adj" fmla="val 21933"/>
            </a:avLst>
          </a:prstGeom>
          <a:solidFill>
            <a:srgbClr val="ECE5FA"/>
          </a:solidFill>
          <a:ln/>
        </p:spPr>
      </p:sp>
      <p:sp>
        <p:nvSpPr>
          <p:cNvPr id="41" name="Text 39"/>
          <p:cNvSpPr txBox="1"/>
          <p:nvPr/>
        </p:nvSpPr>
        <p:spPr>
          <a:xfrm>
            <a:off x="6432389"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verification.verification</a:t>
            </a:r>
            <a:endParaRPr lang="en-US" sz="1200" dirty="0"/>
          </a:p>
        </p:txBody>
      </p:sp>
      <p:sp>
        <p:nvSpPr>
          <p:cNvPr id="42" name="Text 40"/>
          <p:cNvSpPr txBox="1"/>
          <p:nvPr/>
        </p:nvSpPr>
        <p:spPr>
          <a:xfrm>
            <a:off x="6432389"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3" name="Text 41"/>
          <p:cNvSpPr txBox="1"/>
          <p:nvPr/>
        </p:nvSpPr>
        <p:spPr>
          <a:xfrm>
            <a:off x="6432389"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provider_id → provider</a:t>
            </a:r>
            <a:endParaRPr lang="en-US" sz="1200" dirty="0"/>
          </a:p>
        </p:txBody>
      </p:sp>
      <p:sp>
        <p:nvSpPr>
          <p:cNvPr id="44" name="Text 42"/>
          <p:cNvSpPr txBox="1"/>
          <p:nvPr/>
        </p:nvSpPr>
        <p:spPr>
          <a:xfrm>
            <a:off x="6432389"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VerificationStatus</a:t>
            </a:r>
            <a:endParaRPr lang="en-US" sz="1200" dirty="0"/>
          </a:p>
        </p:txBody>
      </p:sp>
      <p:sp>
        <p:nvSpPr>
          <p:cNvPr id="45" name="Shape 43"/>
          <p:cNvSpPr/>
          <p:nvPr/>
        </p:nvSpPr>
        <p:spPr>
          <a:xfrm>
            <a:off x="9092973" y="3174921"/>
            <a:ext cx="2285943" cy="1079473"/>
          </a:xfrm>
          <a:prstGeom prst="roundRect">
            <a:avLst>
              <a:gd name="adj" fmla="val 7059"/>
            </a:avLst>
          </a:prstGeom>
          <a:solidFill>
            <a:srgbClr val="FCFDFF"/>
          </a:solidFill>
          <a:ln w="12700">
            <a:solidFill>
              <a:srgbClr val="6A3FC0"/>
            </a:solidFill>
            <a:prstDash val="solid"/>
          </a:ln>
        </p:spPr>
      </p:sp>
      <p:sp>
        <p:nvSpPr>
          <p:cNvPr id="46" name="Shape 44"/>
          <p:cNvSpPr/>
          <p:nvPr/>
        </p:nvSpPr>
        <p:spPr>
          <a:xfrm>
            <a:off x="9105672" y="3187620"/>
            <a:ext cx="2260543" cy="289513"/>
          </a:xfrm>
          <a:prstGeom prst="roundRect">
            <a:avLst>
              <a:gd name="adj" fmla="val 21933"/>
            </a:avLst>
          </a:prstGeom>
          <a:solidFill>
            <a:srgbClr val="ECE5FA"/>
          </a:solidFill>
          <a:ln/>
        </p:spPr>
      </p:sp>
      <p:sp>
        <p:nvSpPr>
          <p:cNvPr id="47" name="Text 45"/>
          <p:cNvSpPr txBox="1"/>
          <p:nvPr/>
        </p:nvSpPr>
        <p:spPr>
          <a:xfrm>
            <a:off x="9194570"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verification_document</a:t>
            </a:r>
            <a:endParaRPr lang="en-US" sz="1200" dirty="0"/>
          </a:p>
        </p:txBody>
      </p:sp>
      <p:sp>
        <p:nvSpPr>
          <p:cNvPr id="48" name="Text 46"/>
          <p:cNvSpPr txBox="1"/>
          <p:nvPr/>
        </p:nvSpPr>
        <p:spPr>
          <a:xfrm>
            <a:off x="9194570"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9" name="Text 47"/>
          <p:cNvSpPr txBox="1"/>
          <p:nvPr/>
        </p:nvSpPr>
        <p:spPr>
          <a:xfrm>
            <a:off x="9194570"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verification_id FK</a:t>
            </a:r>
            <a:endParaRPr lang="en-US" sz="1200" dirty="0"/>
          </a:p>
        </p:txBody>
      </p:sp>
      <p:sp>
        <p:nvSpPr>
          <p:cNvPr id="50" name="Text 48"/>
          <p:cNvSpPr txBox="1"/>
          <p:nvPr/>
        </p:nvSpPr>
        <p:spPr>
          <a:xfrm>
            <a:off x="9194570"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document_type, storage_ref</a:t>
            </a:r>
            <a:endParaRPr lang="en-US" sz="1200" dirty="0"/>
          </a:p>
        </p:txBody>
      </p:sp>
      <p:sp>
        <p:nvSpPr>
          <p:cNvPr id="51" name="Shape 49"/>
          <p:cNvSpPr/>
          <p:nvPr/>
        </p:nvSpPr>
        <p:spPr>
          <a:xfrm>
            <a:off x="812780" y="4508387"/>
            <a:ext cx="2285943" cy="1079473"/>
          </a:xfrm>
          <a:prstGeom prst="roundRect">
            <a:avLst>
              <a:gd name="adj" fmla="val 7059"/>
            </a:avLst>
          </a:prstGeom>
          <a:solidFill>
            <a:srgbClr val="FCFDFF"/>
          </a:solidFill>
          <a:ln w="12700">
            <a:solidFill>
              <a:srgbClr val="0B7F74"/>
            </a:solidFill>
            <a:prstDash val="solid"/>
          </a:ln>
        </p:spPr>
      </p:sp>
      <p:sp>
        <p:nvSpPr>
          <p:cNvPr id="52" name="Shape 50"/>
          <p:cNvSpPr/>
          <p:nvPr/>
        </p:nvSpPr>
        <p:spPr>
          <a:xfrm>
            <a:off x="825479" y="4521087"/>
            <a:ext cx="2260543" cy="289513"/>
          </a:xfrm>
          <a:prstGeom prst="roundRect">
            <a:avLst>
              <a:gd name="adj" fmla="val 21933"/>
            </a:avLst>
          </a:prstGeom>
          <a:solidFill>
            <a:srgbClr val="DDF2EF"/>
          </a:solidFill>
          <a:ln/>
        </p:spPr>
      </p:sp>
      <p:sp>
        <p:nvSpPr>
          <p:cNvPr id="53" name="Text 51"/>
          <p:cNvSpPr txBox="1"/>
          <p:nvPr/>
        </p:nvSpPr>
        <p:spPr>
          <a:xfrm>
            <a:off x="914377"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provider.tenant_admin</a:t>
            </a:r>
            <a:endParaRPr lang="en-US" sz="1200" dirty="0"/>
          </a:p>
        </p:txBody>
      </p:sp>
      <p:sp>
        <p:nvSpPr>
          <p:cNvPr id="54" name="Text 52"/>
          <p:cNvSpPr txBox="1"/>
          <p:nvPr/>
        </p:nvSpPr>
        <p:spPr>
          <a:xfrm>
            <a:off x="914377"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user_id PK → auth</a:t>
            </a:r>
            <a:endParaRPr lang="en-US" sz="1200" dirty="0"/>
          </a:p>
        </p:txBody>
      </p:sp>
      <p:sp>
        <p:nvSpPr>
          <p:cNvPr id="55" name="Text 53"/>
          <p:cNvSpPr txBox="1"/>
          <p:nvPr/>
        </p:nvSpPr>
        <p:spPr>
          <a:xfrm>
            <a:off x="914377"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tenant_id FK</a:t>
            </a:r>
            <a:endParaRPr lang="en-US" sz="1200" dirty="0"/>
          </a:p>
        </p:txBody>
      </p:sp>
      <p:sp>
        <p:nvSpPr>
          <p:cNvPr id="56" name="Shape 54"/>
          <p:cNvSpPr/>
          <p:nvPr/>
        </p:nvSpPr>
        <p:spPr>
          <a:xfrm>
            <a:off x="3574961" y="4508387"/>
            <a:ext cx="2285943" cy="1079473"/>
          </a:xfrm>
          <a:prstGeom prst="roundRect">
            <a:avLst>
              <a:gd name="adj" fmla="val 7059"/>
            </a:avLst>
          </a:prstGeom>
          <a:solidFill>
            <a:srgbClr val="FCFDFF"/>
          </a:solidFill>
          <a:ln w="12700">
            <a:solidFill>
              <a:srgbClr val="0B7F74"/>
            </a:solidFill>
            <a:prstDash val="solid"/>
          </a:ln>
        </p:spPr>
      </p:sp>
      <p:sp>
        <p:nvSpPr>
          <p:cNvPr id="57" name="Shape 55"/>
          <p:cNvSpPr/>
          <p:nvPr/>
        </p:nvSpPr>
        <p:spPr>
          <a:xfrm>
            <a:off x="3587660" y="4521087"/>
            <a:ext cx="2260543" cy="289513"/>
          </a:xfrm>
          <a:prstGeom prst="roundRect">
            <a:avLst>
              <a:gd name="adj" fmla="val 21933"/>
            </a:avLst>
          </a:prstGeom>
          <a:solidFill>
            <a:srgbClr val="DDF2EF"/>
          </a:solidFill>
          <a:ln/>
        </p:spPr>
      </p:sp>
      <p:sp>
        <p:nvSpPr>
          <p:cNvPr id="58" name="Text 56"/>
          <p:cNvSpPr txBox="1"/>
          <p:nvPr/>
        </p:nvSpPr>
        <p:spPr>
          <a:xfrm>
            <a:off x="3676558"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provider.provider_earning</a:t>
            </a:r>
            <a:endParaRPr lang="en-US" sz="1200" dirty="0"/>
          </a:p>
        </p:txBody>
      </p:sp>
      <p:sp>
        <p:nvSpPr>
          <p:cNvPr id="59" name="Text 57"/>
          <p:cNvSpPr txBox="1"/>
          <p:nvPr/>
        </p:nvSpPr>
        <p:spPr>
          <a:xfrm>
            <a:off x="3676558"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60" name="Text 58"/>
          <p:cNvSpPr txBox="1"/>
          <p:nvPr/>
        </p:nvSpPr>
        <p:spPr>
          <a:xfrm>
            <a:off x="3676558"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gross, fee, net</a:t>
            </a:r>
            <a:endParaRPr lang="en-US" sz="1200" dirty="0"/>
          </a:p>
        </p:txBody>
      </p:sp>
      <p:sp>
        <p:nvSpPr>
          <p:cNvPr id="61" name="Text 59"/>
          <p:cNvSpPr txBox="1"/>
          <p:nvPr/>
        </p:nvSpPr>
        <p:spPr>
          <a:xfrm>
            <a:off x="3676558"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type EarningType</a:t>
            </a:r>
            <a:endParaRPr lang="en-US" sz="1200" dirty="0"/>
          </a:p>
        </p:txBody>
      </p:sp>
      <p:sp>
        <p:nvSpPr>
          <p:cNvPr id="62" name="Shape 60"/>
          <p:cNvSpPr/>
          <p:nvPr/>
        </p:nvSpPr>
        <p:spPr>
          <a:xfrm>
            <a:off x="6330792" y="4508387"/>
            <a:ext cx="2285943" cy="1079473"/>
          </a:xfrm>
          <a:prstGeom prst="roundRect">
            <a:avLst>
              <a:gd name="adj" fmla="val 7059"/>
            </a:avLst>
          </a:prstGeom>
          <a:solidFill>
            <a:srgbClr val="FCFDFF"/>
          </a:solidFill>
          <a:ln w="12700">
            <a:solidFill>
              <a:srgbClr val="6A3FC0"/>
            </a:solidFill>
            <a:prstDash val="solid"/>
          </a:ln>
        </p:spPr>
      </p:sp>
      <p:sp>
        <p:nvSpPr>
          <p:cNvPr id="63" name="Shape 61"/>
          <p:cNvSpPr/>
          <p:nvPr/>
        </p:nvSpPr>
        <p:spPr>
          <a:xfrm>
            <a:off x="6343491" y="4521087"/>
            <a:ext cx="2260543" cy="289513"/>
          </a:xfrm>
          <a:prstGeom prst="roundRect">
            <a:avLst>
              <a:gd name="adj" fmla="val 21933"/>
            </a:avLst>
          </a:prstGeom>
          <a:solidFill>
            <a:srgbClr val="ECE5FA"/>
          </a:solidFill>
          <a:ln/>
        </p:spPr>
      </p:sp>
      <p:sp>
        <p:nvSpPr>
          <p:cNvPr id="64" name="Text 62"/>
          <p:cNvSpPr txBox="1"/>
          <p:nvPr/>
        </p:nvSpPr>
        <p:spPr>
          <a:xfrm>
            <a:off x="6432389"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verification_audit_entry</a:t>
            </a:r>
            <a:endParaRPr lang="en-US" sz="1200" dirty="0"/>
          </a:p>
        </p:txBody>
      </p:sp>
      <p:sp>
        <p:nvSpPr>
          <p:cNvPr id="65" name="Text 63"/>
          <p:cNvSpPr txBox="1"/>
          <p:nvPr/>
        </p:nvSpPr>
        <p:spPr>
          <a:xfrm>
            <a:off x="6432389"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66" name="Text 64"/>
          <p:cNvSpPr txBox="1"/>
          <p:nvPr/>
        </p:nvSpPr>
        <p:spPr>
          <a:xfrm>
            <a:off x="6432389"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verification_id FK</a:t>
            </a:r>
            <a:endParaRPr lang="en-US" sz="1200" dirty="0"/>
          </a:p>
        </p:txBody>
      </p:sp>
      <p:sp>
        <p:nvSpPr>
          <p:cNvPr id="67" name="Text 65"/>
          <p:cNvSpPr txBox="1"/>
          <p:nvPr/>
        </p:nvSpPr>
        <p:spPr>
          <a:xfrm>
            <a:off x="6432389"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from_state → to_state</a:t>
            </a:r>
            <a:endParaRPr lang="en-US" sz="1200" dirty="0"/>
          </a:p>
        </p:txBody>
      </p:sp>
      <p:sp>
        <p:nvSpPr>
          <p:cNvPr id="68" name="Shape 66"/>
          <p:cNvSpPr/>
          <p:nvPr/>
        </p:nvSpPr>
        <p:spPr>
          <a:xfrm>
            <a:off x="9092973" y="4508387"/>
            <a:ext cx="2285943" cy="1079473"/>
          </a:xfrm>
          <a:prstGeom prst="roundRect">
            <a:avLst>
              <a:gd name="adj" fmla="val 7059"/>
            </a:avLst>
          </a:prstGeom>
          <a:solidFill>
            <a:srgbClr val="EEF1F6"/>
          </a:solidFill>
          <a:ln/>
        </p:spPr>
      </p:sp>
      <p:sp>
        <p:nvSpPr>
          <p:cNvPr id="69" name="Text 67"/>
          <p:cNvSpPr txBox="1"/>
          <p:nvPr/>
        </p:nvSpPr>
        <p:spPr>
          <a:xfrm>
            <a:off x="9194570" y="4597285"/>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Legend</a:t>
            </a:r>
            <a:endParaRPr lang="en-US" sz="1200" dirty="0"/>
          </a:p>
        </p:txBody>
      </p:sp>
      <p:sp>
        <p:nvSpPr>
          <p:cNvPr id="70" name="Text 68"/>
          <p:cNvSpPr txBox="1"/>
          <p:nvPr/>
        </p:nvSpPr>
        <p:spPr>
          <a:xfrm>
            <a:off x="9194570" y="4848699"/>
            <a:ext cx="2332678"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Solid: same schema. Dashed: plain UUID across services, no FK.</a:t>
            </a:r>
            <a:endParaRPr lang="en-US" sz="1200" dirty="0"/>
          </a:p>
        </p:txBody>
      </p:sp>
      <p:sp>
        <p:nvSpPr>
          <p:cNvPr id="71" name="Shape 69"/>
          <p:cNvSpPr/>
          <p:nvPr/>
        </p:nvSpPr>
        <p:spPr>
          <a:xfrm>
            <a:off x="3098723" y="2381190"/>
            <a:ext cx="476238" cy="63"/>
          </a:xfrm>
          <a:prstGeom prst="line">
            <a:avLst/>
          </a:prstGeom>
          <a:noFill/>
          <a:ln w="19050">
            <a:solidFill>
              <a:srgbClr val="5C6B8A"/>
            </a:solidFill>
            <a:prstDash val="solid"/>
          </a:ln>
        </p:spPr>
      </p:sp>
      <p:sp>
        <p:nvSpPr>
          <p:cNvPr id="72" name="Text 70"/>
          <p:cNvSpPr txBox="1"/>
          <p:nvPr/>
        </p:nvSpPr>
        <p:spPr>
          <a:xfrm>
            <a:off x="3086023"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73" name="Shape 71"/>
          <p:cNvSpPr/>
          <p:nvPr/>
        </p:nvSpPr>
        <p:spPr>
          <a:xfrm>
            <a:off x="5860903" y="2381190"/>
            <a:ext cx="469888" cy="63"/>
          </a:xfrm>
          <a:prstGeom prst="line">
            <a:avLst/>
          </a:prstGeom>
          <a:noFill/>
          <a:ln w="19050">
            <a:solidFill>
              <a:srgbClr val="5C6B8A"/>
            </a:solidFill>
            <a:prstDash val="dash"/>
          </a:ln>
        </p:spPr>
      </p:sp>
      <p:sp>
        <p:nvSpPr>
          <p:cNvPr id="74" name="Text 72"/>
          <p:cNvSpPr txBox="1"/>
          <p:nvPr/>
        </p:nvSpPr>
        <p:spPr>
          <a:xfrm>
            <a:off x="5848204" y="2127197"/>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75" name="Shape 73"/>
          <p:cNvSpPr/>
          <p:nvPr/>
        </p:nvSpPr>
        <p:spPr>
          <a:xfrm>
            <a:off x="8616735" y="2381190"/>
            <a:ext cx="476238" cy="63"/>
          </a:xfrm>
          <a:prstGeom prst="line">
            <a:avLst/>
          </a:prstGeom>
          <a:noFill/>
          <a:ln w="19050">
            <a:solidFill>
              <a:srgbClr val="5C6B8A"/>
            </a:solidFill>
            <a:prstDash val="solid"/>
          </a:ln>
        </p:spPr>
      </p:sp>
      <p:sp>
        <p:nvSpPr>
          <p:cNvPr id="76" name="Text 74"/>
          <p:cNvSpPr txBox="1"/>
          <p:nvPr/>
        </p:nvSpPr>
        <p:spPr>
          <a:xfrm>
            <a:off x="8604035"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7" name="Shape 75"/>
          <p:cNvSpPr/>
          <p:nvPr/>
        </p:nvSpPr>
        <p:spPr>
          <a:xfrm>
            <a:off x="4717932" y="2920927"/>
            <a:ext cx="63" cy="253994"/>
          </a:xfrm>
          <a:prstGeom prst="line">
            <a:avLst/>
          </a:prstGeom>
          <a:noFill/>
          <a:ln w="19050">
            <a:solidFill>
              <a:srgbClr val="5C6B8A"/>
            </a:solidFill>
            <a:prstDash val="dash"/>
          </a:ln>
        </p:spPr>
      </p:sp>
      <p:sp>
        <p:nvSpPr>
          <p:cNvPr id="78" name="Text 76"/>
          <p:cNvSpPr txBox="1"/>
          <p:nvPr/>
        </p:nvSpPr>
        <p:spPr>
          <a:xfrm>
            <a:off x="4794130" y="2939976"/>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79" name="Shape 77"/>
          <p:cNvSpPr/>
          <p:nvPr/>
        </p:nvSpPr>
        <p:spPr>
          <a:xfrm>
            <a:off x="3098723" y="3714657"/>
            <a:ext cx="476238" cy="63"/>
          </a:xfrm>
          <a:prstGeom prst="line">
            <a:avLst/>
          </a:prstGeom>
          <a:noFill/>
          <a:ln w="19050">
            <a:solidFill>
              <a:srgbClr val="5C6B8A"/>
            </a:solidFill>
            <a:prstDash val="solid"/>
          </a:ln>
        </p:spPr>
      </p:sp>
      <p:sp>
        <p:nvSpPr>
          <p:cNvPr id="80" name="Text 78"/>
          <p:cNvSpPr txBox="1"/>
          <p:nvPr/>
        </p:nvSpPr>
        <p:spPr>
          <a:xfrm>
            <a:off x="3086023"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1" name="Shape 79"/>
          <p:cNvSpPr/>
          <p:nvPr/>
        </p:nvSpPr>
        <p:spPr>
          <a:xfrm>
            <a:off x="5860903" y="3714657"/>
            <a:ext cx="469888" cy="63"/>
          </a:xfrm>
          <a:prstGeom prst="line">
            <a:avLst/>
          </a:prstGeom>
          <a:noFill/>
          <a:ln w="19050">
            <a:solidFill>
              <a:srgbClr val="5C6B8A"/>
            </a:solidFill>
            <a:prstDash val="dash"/>
          </a:ln>
        </p:spPr>
      </p:sp>
      <p:sp>
        <p:nvSpPr>
          <p:cNvPr id="82" name="Text 80"/>
          <p:cNvSpPr txBox="1"/>
          <p:nvPr/>
        </p:nvSpPr>
        <p:spPr>
          <a:xfrm>
            <a:off x="5848204" y="3460663"/>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3" name="Shape 81"/>
          <p:cNvSpPr/>
          <p:nvPr/>
        </p:nvSpPr>
        <p:spPr>
          <a:xfrm>
            <a:off x="8616735" y="3714657"/>
            <a:ext cx="476238" cy="63"/>
          </a:xfrm>
          <a:prstGeom prst="line">
            <a:avLst/>
          </a:prstGeom>
          <a:noFill/>
          <a:ln w="19050">
            <a:solidFill>
              <a:srgbClr val="5C6B8A"/>
            </a:solidFill>
            <a:prstDash val="solid"/>
          </a:ln>
        </p:spPr>
      </p:sp>
      <p:sp>
        <p:nvSpPr>
          <p:cNvPr id="84" name="Text 82"/>
          <p:cNvSpPr txBox="1"/>
          <p:nvPr/>
        </p:nvSpPr>
        <p:spPr>
          <a:xfrm>
            <a:off x="8604035"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5" name="Shape 83"/>
          <p:cNvSpPr/>
          <p:nvPr/>
        </p:nvSpPr>
        <p:spPr>
          <a:xfrm>
            <a:off x="1955751" y="4254394"/>
            <a:ext cx="63" cy="253994"/>
          </a:xfrm>
          <a:prstGeom prst="line">
            <a:avLst/>
          </a:prstGeom>
          <a:noFill/>
          <a:ln w="19050">
            <a:solidFill>
              <a:srgbClr val="5C6B8A"/>
            </a:solidFill>
            <a:prstDash val="solid"/>
          </a:ln>
        </p:spPr>
      </p:sp>
      <p:sp>
        <p:nvSpPr>
          <p:cNvPr id="86" name="Text 84"/>
          <p:cNvSpPr txBox="1"/>
          <p:nvPr/>
        </p:nvSpPr>
        <p:spPr>
          <a:xfrm>
            <a:off x="2031949"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7" name="Shape 85"/>
          <p:cNvSpPr/>
          <p:nvPr/>
        </p:nvSpPr>
        <p:spPr>
          <a:xfrm>
            <a:off x="4717932" y="4254394"/>
            <a:ext cx="63" cy="253994"/>
          </a:xfrm>
          <a:prstGeom prst="line">
            <a:avLst/>
          </a:prstGeom>
          <a:noFill/>
          <a:ln w="19050">
            <a:solidFill>
              <a:srgbClr val="5C6B8A"/>
            </a:solidFill>
            <a:prstDash val="solid"/>
          </a:ln>
        </p:spPr>
      </p:sp>
      <p:sp>
        <p:nvSpPr>
          <p:cNvPr id="88" name="Text 86"/>
          <p:cNvSpPr txBox="1"/>
          <p:nvPr/>
        </p:nvSpPr>
        <p:spPr>
          <a:xfrm>
            <a:off x="4794130"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9" name="Shape 87"/>
          <p:cNvSpPr/>
          <p:nvPr/>
        </p:nvSpPr>
        <p:spPr>
          <a:xfrm>
            <a:off x="7473763" y="4254394"/>
            <a:ext cx="63" cy="253994"/>
          </a:xfrm>
          <a:prstGeom prst="line">
            <a:avLst/>
          </a:prstGeom>
          <a:noFill/>
          <a:ln w="19050">
            <a:solidFill>
              <a:srgbClr val="5C6B8A"/>
            </a:solidFill>
            <a:prstDash val="solid"/>
          </a:ln>
        </p:spPr>
      </p:sp>
      <p:sp>
        <p:nvSpPr>
          <p:cNvPr id="90" name="Text 88"/>
          <p:cNvSpPr txBox="1"/>
          <p:nvPr/>
        </p:nvSpPr>
        <p:spPr>
          <a:xfrm>
            <a:off x="7549961"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91" name="Text 89"/>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Data model</a:t>
            </a:r>
            <a:endParaRPr lang="en-US" sz="1200" dirty="0"/>
          </a:p>
        </p:txBody>
      </p:sp>
      <p:sp>
        <p:nvSpPr>
          <p:cNvPr id="92" name="Text 90"/>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LOGICAL DATA MODEL · JOBS AND MONEY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Everything after the request hangs off the booking</a:t>
            </a:r>
            <a:endParaRPr lang="en-US" sz="3000" dirty="0"/>
          </a:p>
        </p:txBody>
      </p:sp>
      <p:sp>
        <p:nvSpPr>
          <p:cNvPr id="4" name="Shape 2"/>
          <p:cNvSpPr/>
          <p:nvPr/>
        </p:nvSpPr>
        <p:spPr>
          <a:xfrm>
            <a:off x="812780" y="1841454"/>
            <a:ext cx="2285943" cy="1079473"/>
          </a:xfrm>
          <a:prstGeom prst="roundRect">
            <a:avLst>
              <a:gd name="adj" fmla="val 7059"/>
            </a:avLst>
          </a:prstGeom>
          <a:solidFill>
            <a:srgbClr val="EEF1F6"/>
          </a:solidFill>
          <a:ln/>
        </p:spPr>
      </p:sp>
      <p:sp>
        <p:nvSpPr>
          <p:cNvPr id="5" name="Text 3"/>
          <p:cNvSpPr txBox="1"/>
          <p:nvPr/>
        </p:nvSpPr>
        <p:spPr>
          <a:xfrm>
            <a:off x="914377" y="1930352"/>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Legend</a:t>
            </a:r>
            <a:endParaRPr lang="en-US" sz="1200" dirty="0"/>
          </a:p>
        </p:txBody>
      </p:sp>
      <p:sp>
        <p:nvSpPr>
          <p:cNvPr id="6" name="Text 4"/>
          <p:cNvSpPr txBox="1"/>
          <p:nvPr/>
        </p:nvSpPr>
        <p:spPr>
          <a:xfrm>
            <a:off x="914377" y="2181766"/>
            <a:ext cx="2332678"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 is the hub. Solid: same schema. Dashed: UUID across services.</a:t>
            </a:r>
            <a:endParaRPr lang="en-US" sz="1200" dirty="0"/>
          </a:p>
        </p:txBody>
      </p:sp>
      <p:sp>
        <p:nvSpPr>
          <p:cNvPr id="7" name="Shape 5"/>
          <p:cNvSpPr/>
          <p:nvPr/>
        </p:nvSpPr>
        <p:spPr>
          <a:xfrm>
            <a:off x="3574961" y="1841454"/>
            <a:ext cx="2285943" cy="1079473"/>
          </a:xfrm>
          <a:prstGeom prst="roundRect">
            <a:avLst>
              <a:gd name="adj" fmla="val 7059"/>
            </a:avLst>
          </a:prstGeom>
          <a:solidFill>
            <a:srgbClr val="FCFDFF"/>
          </a:solidFill>
          <a:ln w="12700">
            <a:solidFill>
              <a:srgbClr val="0B7F74"/>
            </a:solidFill>
            <a:prstDash val="solid"/>
          </a:ln>
        </p:spPr>
      </p:sp>
      <p:sp>
        <p:nvSpPr>
          <p:cNvPr id="8" name="Shape 6"/>
          <p:cNvSpPr/>
          <p:nvPr/>
        </p:nvSpPr>
        <p:spPr>
          <a:xfrm>
            <a:off x="3587660" y="1854154"/>
            <a:ext cx="2260543" cy="289513"/>
          </a:xfrm>
          <a:prstGeom prst="roundRect">
            <a:avLst>
              <a:gd name="adj" fmla="val 21933"/>
            </a:avLst>
          </a:prstGeom>
          <a:solidFill>
            <a:srgbClr val="DDF2EF"/>
          </a:solidFill>
          <a:ln/>
        </p:spPr>
      </p:sp>
      <p:sp>
        <p:nvSpPr>
          <p:cNvPr id="9" name="Text 7"/>
          <p:cNvSpPr txBox="1"/>
          <p:nvPr/>
        </p:nvSpPr>
        <p:spPr>
          <a:xfrm>
            <a:off x="3676558"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booking.job_media</a:t>
            </a:r>
            <a:endParaRPr lang="en-US" sz="1200" dirty="0"/>
          </a:p>
        </p:txBody>
      </p:sp>
      <p:sp>
        <p:nvSpPr>
          <p:cNvPr id="10" name="Text 8"/>
          <p:cNvSpPr txBox="1"/>
          <p:nvPr/>
        </p:nvSpPr>
        <p:spPr>
          <a:xfrm>
            <a:off x="3676558"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11" name="Text 9"/>
          <p:cNvSpPr txBox="1"/>
          <p:nvPr/>
        </p:nvSpPr>
        <p:spPr>
          <a:xfrm>
            <a:off x="3676558"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a:t>
            </a:r>
            <a:endParaRPr lang="en-US" sz="1200" dirty="0"/>
          </a:p>
        </p:txBody>
      </p:sp>
      <p:sp>
        <p:nvSpPr>
          <p:cNvPr id="12" name="Text 10"/>
          <p:cNvSpPr txBox="1"/>
          <p:nvPr/>
        </p:nvSpPr>
        <p:spPr>
          <a:xfrm>
            <a:off x="3676558"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type, content_type</a:t>
            </a:r>
            <a:endParaRPr lang="en-US" sz="1200" dirty="0"/>
          </a:p>
        </p:txBody>
      </p:sp>
      <p:sp>
        <p:nvSpPr>
          <p:cNvPr id="13" name="Shape 11"/>
          <p:cNvSpPr/>
          <p:nvPr/>
        </p:nvSpPr>
        <p:spPr>
          <a:xfrm>
            <a:off x="6330792" y="1841454"/>
            <a:ext cx="2285943" cy="1079473"/>
          </a:xfrm>
          <a:prstGeom prst="roundRect">
            <a:avLst>
              <a:gd name="adj" fmla="val 7059"/>
            </a:avLst>
          </a:prstGeom>
          <a:solidFill>
            <a:srgbClr val="FCFDFF"/>
          </a:solidFill>
          <a:ln w="12700">
            <a:solidFill>
              <a:srgbClr val="B8306E"/>
            </a:solidFill>
            <a:prstDash val="solid"/>
          </a:ln>
        </p:spPr>
      </p:sp>
      <p:sp>
        <p:nvSpPr>
          <p:cNvPr id="14" name="Shape 12"/>
          <p:cNvSpPr/>
          <p:nvPr/>
        </p:nvSpPr>
        <p:spPr>
          <a:xfrm>
            <a:off x="6343491" y="1854154"/>
            <a:ext cx="2260543" cy="289513"/>
          </a:xfrm>
          <a:prstGeom prst="roundRect">
            <a:avLst>
              <a:gd name="adj" fmla="val 21933"/>
            </a:avLst>
          </a:prstGeom>
          <a:solidFill>
            <a:srgbClr val="FAE3ED"/>
          </a:solidFill>
          <a:ln/>
        </p:spPr>
      </p:sp>
      <p:sp>
        <p:nvSpPr>
          <p:cNvPr id="15" name="Text 13"/>
          <p:cNvSpPr txBox="1"/>
          <p:nvPr/>
        </p:nvSpPr>
        <p:spPr>
          <a:xfrm>
            <a:off x="6432389"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chat.chat_channel</a:t>
            </a:r>
            <a:endParaRPr lang="en-US" sz="1200" dirty="0"/>
          </a:p>
        </p:txBody>
      </p:sp>
      <p:sp>
        <p:nvSpPr>
          <p:cNvPr id="16" name="Text 14"/>
          <p:cNvSpPr txBox="1"/>
          <p:nvPr/>
        </p:nvSpPr>
        <p:spPr>
          <a:xfrm>
            <a:off x="6432389"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 PK → booking</a:t>
            </a:r>
            <a:endParaRPr lang="en-US" sz="1200" dirty="0"/>
          </a:p>
        </p:txBody>
      </p:sp>
      <p:sp>
        <p:nvSpPr>
          <p:cNvPr id="17" name="Text 15"/>
          <p:cNvSpPr txBox="1"/>
          <p:nvPr/>
        </p:nvSpPr>
        <p:spPr>
          <a:xfrm>
            <a:off x="6432389"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provider_id</a:t>
            </a:r>
            <a:endParaRPr lang="en-US" sz="1200" dirty="0"/>
          </a:p>
        </p:txBody>
      </p:sp>
      <p:sp>
        <p:nvSpPr>
          <p:cNvPr id="18" name="Text 16"/>
          <p:cNvSpPr txBox="1"/>
          <p:nvPr/>
        </p:nvSpPr>
        <p:spPr>
          <a:xfrm>
            <a:off x="6432389"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ChannelStatus</a:t>
            </a:r>
            <a:endParaRPr lang="en-US" sz="1200" dirty="0"/>
          </a:p>
        </p:txBody>
      </p:sp>
      <p:sp>
        <p:nvSpPr>
          <p:cNvPr id="19" name="Shape 17"/>
          <p:cNvSpPr/>
          <p:nvPr/>
        </p:nvSpPr>
        <p:spPr>
          <a:xfrm>
            <a:off x="9092973" y="1841454"/>
            <a:ext cx="2285943" cy="1079473"/>
          </a:xfrm>
          <a:prstGeom prst="roundRect">
            <a:avLst>
              <a:gd name="adj" fmla="val 7059"/>
            </a:avLst>
          </a:prstGeom>
          <a:solidFill>
            <a:srgbClr val="FCFDFF"/>
          </a:solidFill>
          <a:ln w="12700">
            <a:solidFill>
              <a:srgbClr val="B8306E"/>
            </a:solidFill>
            <a:prstDash val="solid"/>
          </a:ln>
        </p:spPr>
      </p:sp>
      <p:sp>
        <p:nvSpPr>
          <p:cNvPr id="20" name="Shape 18"/>
          <p:cNvSpPr/>
          <p:nvPr/>
        </p:nvSpPr>
        <p:spPr>
          <a:xfrm>
            <a:off x="9105672" y="1854154"/>
            <a:ext cx="2260543" cy="289513"/>
          </a:xfrm>
          <a:prstGeom prst="roundRect">
            <a:avLst>
              <a:gd name="adj" fmla="val 21933"/>
            </a:avLst>
          </a:prstGeom>
          <a:solidFill>
            <a:srgbClr val="FAE3ED"/>
          </a:solidFill>
          <a:ln/>
        </p:spPr>
      </p:sp>
      <p:sp>
        <p:nvSpPr>
          <p:cNvPr id="21" name="Text 19"/>
          <p:cNvSpPr txBox="1"/>
          <p:nvPr/>
        </p:nvSpPr>
        <p:spPr>
          <a:xfrm>
            <a:off x="9194570" y="1892253"/>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chat.chat_message</a:t>
            </a:r>
            <a:endParaRPr lang="en-US" sz="1200" dirty="0"/>
          </a:p>
        </p:txBody>
      </p:sp>
      <p:sp>
        <p:nvSpPr>
          <p:cNvPr id="22" name="Text 20"/>
          <p:cNvSpPr txBox="1"/>
          <p:nvPr/>
        </p:nvSpPr>
        <p:spPr>
          <a:xfrm>
            <a:off x="9194570" y="218176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23" name="Text 21"/>
          <p:cNvSpPr txBox="1"/>
          <p:nvPr/>
        </p:nvSpPr>
        <p:spPr>
          <a:xfrm>
            <a:off x="9194570" y="2387441"/>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booking_id FK</a:t>
            </a:r>
            <a:endParaRPr lang="en-US" sz="1200" dirty="0"/>
          </a:p>
        </p:txBody>
      </p:sp>
      <p:sp>
        <p:nvSpPr>
          <p:cNvPr id="24" name="Text 22"/>
          <p:cNvSpPr txBox="1"/>
          <p:nvPr/>
        </p:nvSpPr>
        <p:spPr>
          <a:xfrm>
            <a:off x="9194570" y="2593116"/>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sender_id, body</a:t>
            </a:r>
            <a:endParaRPr lang="en-US" sz="1200" dirty="0"/>
          </a:p>
        </p:txBody>
      </p:sp>
      <p:sp>
        <p:nvSpPr>
          <p:cNvPr id="25" name="Shape 23"/>
          <p:cNvSpPr/>
          <p:nvPr/>
        </p:nvSpPr>
        <p:spPr>
          <a:xfrm>
            <a:off x="812780" y="3174921"/>
            <a:ext cx="2285943" cy="1079473"/>
          </a:xfrm>
          <a:prstGeom prst="roundRect">
            <a:avLst>
              <a:gd name="adj" fmla="val 7059"/>
            </a:avLst>
          </a:prstGeom>
          <a:solidFill>
            <a:srgbClr val="FCFDFF"/>
          </a:solidFill>
          <a:ln w="12700">
            <a:solidFill>
              <a:srgbClr val="B8306E"/>
            </a:solidFill>
            <a:prstDash val="solid"/>
          </a:ln>
        </p:spPr>
      </p:sp>
      <p:sp>
        <p:nvSpPr>
          <p:cNvPr id="26" name="Shape 24"/>
          <p:cNvSpPr/>
          <p:nvPr/>
        </p:nvSpPr>
        <p:spPr>
          <a:xfrm>
            <a:off x="825479" y="3187620"/>
            <a:ext cx="2260543" cy="289513"/>
          </a:xfrm>
          <a:prstGeom prst="roundRect">
            <a:avLst>
              <a:gd name="adj" fmla="val 21933"/>
            </a:avLst>
          </a:prstGeom>
          <a:solidFill>
            <a:srgbClr val="FAE3ED"/>
          </a:solidFill>
          <a:ln/>
        </p:spPr>
      </p:sp>
      <p:sp>
        <p:nvSpPr>
          <p:cNvPr id="27" name="Text 25"/>
          <p:cNvSpPr txBox="1"/>
          <p:nvPr/>
        </p:nvSpPr>
        <p:spPr>
          <a:xfrm>
            <a:off x="914377"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complaint.complaint</a:t>
            </a:r>
            <a:endParaRPr lang="en-US" sz="1200" dirty="0"/>
          </a:p>
        </p:txBody>
      </p:sp>
      <p:sp>
        <p:nvSpPr>
          <p:cNvPr id="28" name="Text 26"/>
          <p:cNvSpPr txBox="1"/>
          <p:nvPr/>
        </p:nvSpPr>
        <p:spPr>
          <a:xfrm>
            <a:off x="914377"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29" name="Text 27"/>
          <p:cNvSpPr txBox="1"/>
          <p:nvPr/>
        </p:nvSpPr>
        <p:spPr>
          <a:xfrm>
            <a:off x="914377"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category, status</a:t>
            </a:r>
            <a:endParaRPr lang="en-US" sz="1200" dirty="0"/>
          </a:p>
        </p:txBody>
      </p:sp>
      <p:sp>
        <p:nvSpPr>
          <p:cNvPr id="30" name="Text 28"/>
          <p:cNvSpPr txBox="1"/>
          <p:nvPr/>
        </p:nvSpPr>
        <p:spPr>
          <a:xfrm>
            <a:off x="914377"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sla_deadline</a:t>
            </a:r>
            <a:endParaRPr lang="en-US" sz="1200" dirty="0"/>
          </a:p>
        </p:txBody>
      </p:sp>
      <p:sp>
        <p:nvSpPr>
          <p:cNvPr id="31" name="Shape 29"/>
          <p:cNvSpPr/>
          <p:nvPr/>
        </p:nvSpPr>
        <p:spPr>
          <a:xfrm>
            <a:off x="3574961" y="3174921"/>
            <a:ext cx="2285943" cy="1079473"/>
          </a:xfrm>
          <a:prstGeom prst="roundRect">
            <a:avLst>
              <a:gd name="adj" fmla="val 7059"/>
            </a:avLst>
          </a:prstGeom>
          <a:solidFill>
            <a:srgbClr val="FCFDFF"/>
          </a:solidFill>
          <a:ln w="12700">
            <a:solidFill>
              <a:srgbClr val="0B7F74"/>
            </a:solidFill>
            <a:prstDash val="solid"/>
          </a:ln>
        </p:spPr>
      </p:sp>
      <p:sp>
        <p:nvSpPr>
          <p:cNvPr id="32" name="Shape 30"/>
          <p:cNvSpPr/>
          <p:nvPr/>
        </p:nvSpPr>
        <p:spPr>
          <a:xfrm>
            <a:off x="3587660" y="3187620"/>
            <a:ext cx="2260543" cy="289513"/>
          </a:xfrm>
          <a:prstGeom prst="roundRect">
            <a:avLst>
              <a:gd name="adj" fmla="val 21933"/>
            </a:avLst>
          </a:prstGeom>
          <a:solidFill>
            <a:srgbClr val="DDF2EF"/>
          </a:solidFill>
          <a:ln/>
        </p:spPr>
      </p:sp>
      <p:sp>
        <p:nvSpPr>
          <p:cNvPr id="33" name="Text 31"/>
          <p:cNvSpPr txBox="1"/>
          <p:nvPr/>
        </p:nvSpPr>
        <p:spPr>
          <a:xfrm>
            <a:off x="3676558"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booking.booking</a:t>
            </a:r>
            <a:endParaRPr lang="en-US" sz="1200" dirty="0"/>
          </a:p>
        </p:txBody>
      </p:sp>
      <p:sp>
        <p:nvSpPr>
          <p:cNvPr id="34" name="Text 32"/>
          <p:cNvSpPr txBox="1"/>
          <p:nvPr/>
        </p:nvSpPr>
        <p:spPr>
          <a:xfrm>
            <a:off x="3676558"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reference</a:t>
            </a:r>
            <a:endParaRPr lang="en-US" sz="1200" dirty="0"/>
          </a:p>
        </p:txBody>
      </p:sp>
      <p:sp>
        <p:nvSpPr>
          <p:cNvPr id="35" name="Text 33"/>
          <p:cNvSpPr txBox="1"/>
          <p:nvPr/>
        </p:nvSpPr>
        <p:spPr>
          <a:xfrm>
            <a:off x="3676558"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customer_id, provider_id</a:t>
            </a:r>
            <a:endParaRPr lang="en-US" sz="1200" dirty="0"/>
          </a:p>
        </p:txBody>
      </p:sp>
      <p:sp>
        <p:nvSpPr>
          <p:cNvPr id="36" name="Text 34"/>
          <p:cNvSpPr txBox="1"/>
          <p:nvPr/>
        </p:nvSpPr>
        <p:spPr>
          <a:xfrm>
            <a:off x="3676558"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status, estimated_total</a:t>
            </a:r>
            <a:endParaRPr lang="en-US" sz="1200" dirty="0"/>
          </a:p>
        </p:txBody>
      </p:sp>
      <p:sp>
        <p:nvSpPr>
          <p:cNvPr id="37" name="Shape 35"/>
          <p:cNvSpPr/>
          <p:nvPr/>
        </p:nvSpPr>
        <p:spPr>
          <a:xfrm>
            <a:off x="6330792" y="3174921"/>
            <a:ext cx="2285943" cy="1079473"/>
          </a:xfrm>
          <a:prstGeom prst="roundRect">
            <a:avLst>
              <a:gd name="adj" fmla="val 7059"/>
            </a:avLst>
          </a:prstGeom>
          <a:solidFill>
            <a:srgbClr val="FCFDFF"/>
          </a:solidFill>
          <a:ln w="12700">
            <a:solidFill>
              <a:srgbClr val="B4530F"/>
            </a:solidFill>
            <a:prstDash val="solid"/>
          </a:ln>
        </p:spPr>
      </p:sp>
      <p:sp>
        <p:nvSpPr>
          <p:cNvPr id="38" name="Shape 36"/>
          <p:cNvSpPr/>
          <p:nvPr/>
        </p:nvSpPr>
        <p:spPr>
          <a:xfrm>
            <a:off x="6343491" y="3187620"/>
            <a:ext cx="2260543" cy="289513"/>
          </a:xfrm>
          <a:prstGeom prst="roundRect">
            <a:avLst>
              <a:gd name="adj" fmla="val 21933"/>
            </a:avLst>
          </a:prstGeom>
          <a:solidFill>
            <a:srgbClr val="FCEBDD"/>
          </a:solidFill>
          <a:ln/>
        </p:spPr>
      </p:sp>
      <p:sp>
        <p:nvSpPr>
          <p:cNvPr id="39" name="Text 37"/>
          <p:cNvSpPr txBox="1"/>
          <p:nvPr/>
        </p:nvSpPr>
        <p:spPr>
          <a:xfrm>
            <a:off x="6432389"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payment.payment_transaction</a:t>
            </a:r>
            <a:endParaRPr lang="en-US" sz="1200" dirty="0"/>
          </a:p>
        </p:txBody>
      </p:sp>
      <p:sp>
        <p:nvSpPr>
          <p:cNvPr id="40" name="Text 38"/>
          <p:cNvSpPr txBox="1"/>
          <p:nvPr/>
        </p:nvSpPr>
        <p:spPr>
          <a:xfrm>
            <a:off x="6432389"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41" name="Text 39"/>
          <p:cNvSpPr txBox="1"/>
          <p:nvPr/>
        </p:nvSpPr>
        <p:spPr>
          <a:xfrm>
            <a:off x="6432389"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42" name="Text 40"/>
          <p:cNvSpPr txBox="1"/>
          <p:nvPr/>
        </p:nvSpPr>
        <p:spPr>
          <a:xfrm>
            <a:off x="6432389"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idempotency_key UQ</a:t>
            </a:r>
            <a:endParaRPr lang="en-US" sz="1200" dirty="0"/>
          </a:p>
        </p:txBody>
      </p:sp>
      <p:sp>
        <p:nvSpPr>
          <p:cNvPr id="43" name="Shape 41"/>
          <p:cNvSpPr/>
          <p:nvPr/>
        </p:nvSpPr>
        <p:spPr>
          <a:xfrm>
            <a:off x="9092973" y="3174921"/>
            <a:ext cx="2285943" cy="1079473"/>
          </a:xfrm>
          <a:prstGeom prst="roundRect">
            <a:avLst>
              <a:gd name="adj" fmla="val 7059"/>
            </a:avLst>
          </a:prstGeom>
          <a:solidFill>
            <a:srgbClr val="FCFDFF"/>
          </a:solidFill>
          <a:ln w="12700">
            <a:solidFill>
              <a:srgbClr val="B4530F"/>
            </a:solidFill>
            <a:prstDash val="solid"/>
          </a:ln>
        </p:spPr>
      </p:sp>
      <p:sp>
        <p:nvSpPr>
          <p:cNvPr id="44" name="Shape 42"/>
          <p:cNvSpPr/>
          <p:nvPr/>
        </p:nvSpPr>
        <p:spPr>
          <a:xfrm>
            <a:off x="9105672" y="3187620"/>
            <a:ext cx="2260543" cy="289513"/>
          </a:xfrm>
          <a:prstGeom prst="roundRect">
            <a:avLst>
              <a:gd name="adj" fmla="val 21933"/>
            </a:avLst>
          </a:prstGeom>
          <a:solidFill>
            <a:srgbClr val="FCEBDD"/>
          </a:solidFill>
          <a:ln/>
        </p:spPr>
      </p:sp>
      <p:sp>
        <p:nvSpPr>
          <p:cNvPr id="45" name="Text 43"/>
          <p:cNvSpPr txBox="1"/>
          <p:nvPr/>
        </p:nvSpPr>
        <p:spPr>
          <a:xfrm>
            <a:off x="9194570" y="3225719"/>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payment.payment_refund</a:t>
            </a:r>
            <a:endParaRPr lang="en-US" sz="1200" dirty="0"/>
          </a:p>
        </p:txBody>
      </p:sp>
      <p:sp>
        <p:nvSpPr>
          <p:cNvPr id="46" name="Text 44"/>
          <p:cNvSpPr txBox="1"/>
          <p:nvPr/>
        </p:nvSpPr>
        <p:spPr>
          <a:xfrm>
            <a:off x="9194570" y="3515232"/>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47" name="Text 45"/>
          <p:cNvSpPr txBox="1"/>
          <p:nvPr/>
        </p:nvSpPr>
        <p:spPr>
          <a:xfrm>
            <a:off x="9194570" y="3720908"/>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transaction_id</a:t>
            </a:r>
            <a:endParaRPr lang="en-US" sz="1200" dirty="0"/>
          </a:p>
        </p:txBody>
      </p:sp>
      <p:sp>
        <p:nvSpPr>
          <p:cNvPr id="48" name="Text 46"/>
          <p:cNvSpPr txBox="1"/>
          <p:nvPr/>
        </p:nvSpPr>
        <p:spPr>
          <a:xfrm>
            <a:off x="9194570" y="3926583"/>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49" name="Shape 47"/>
          <p:cNvSpPr/>
          <p:nvPr/>
        </p:nvSpPr>
        <p:spPr>
          <a:xfrm>
            <a:off x="812780" y="4508387"/>
            <a:ext cx="2285943" cy="1079473"/>
          </a:xfrm>
          <a:prstGeom prst="roundRect">
            <a:avLst>
              <a:gd name="adj" fmla="val 7059"/>
            </a:avLst>
          </a:prstGeom>
          <a:solidFill>
            <a:srgbClr val="FCFDFF"/>
          </a:solidFill>
          <a:ln w="12700">
            <a:solidFill>
              <a:srgbClr val="B8306E"/>
            </a:solidFill>
            <a:prstDash val="solid"/>
          </a:ln>
        </p:spPr>
      </p:sp>
      <p:sp>
        <p:nvSpPr>
          <p:cNvPr id="50" name="Shape 48"/>
          <p:cNvSpPr/>
          <p:nvPr/>
        </p:nvSpPr>
        <p:spPr>
          <a:xfrm>
            <a:off x="825479" y="4521087"/>
            <a:ext cx="2260543" cy="289513"/>
          </a:xfrm>
          <a:prstGeom prst="roundRect">
            <a:avLst>
              <a:gd name="adj" fmla="val 21933"/>
            </a:avLst>
          </a:prstGeom>
          <a:solidFill>
            <a:srgbClr val="FAE3ED"/>
          </a:solidFill>
          <a:ln/>
        </p:spPr>
      </p:sp>
      <p:sp>
        <p:nvSpPr>
          <p:cNvPr id="51" name="Text 49"/>
          <p:cNvSpPr txBox="1"/>
          <p:nvPr/>
        </p:nvSpPr>
        <p:spPr>
          <a:xfrm>
            <a:off x="914377"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complaint.complaint_refund</a:t>
            </a:r>
            <a:endParaRPr lang="en-US" sz="1200" dirty="0"/>
          </a:p>
        </p:txBody>
      </p:sp>
      <p:sp>
        <p:nvSpPr>
          <p:cNvPr id="52" name="Text 50"/>
          <p:cNvSpPr txBox="1"/>
          <p:nvPr/>
        </p:nvSpPr>
        <p:spPr>
          <a:xfrm>
            <a:off x="914377"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a:t>
            </a:r>
            <a:endParaRPr lang="en-US" sz="1200" dirty="0"/>
          </a:p>
        </p:txBody>
      </p:sp>
      <p:sp>
        <p:nvSpPr>
          <p:cNvPr id="53" name="Text 51"/>
          <p:cNvSpPr txBox="1"/>
          <p:nvPr/>
        </p:nvSpPr>
        <p:spPr>
          <a:xfrm>
            <a:off x="914377"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complaint_id UQ FK</a:t>
            </a:r>
            <a:endParaRPr lang="en-US" sz="1200" dirty="0"/>
          </a:p>
        </p:txBody>
      </p:sp>
      <p:sp>
        <p:nvSpPr>
          <p:cNvPr id="54" name="Text 52"/>
          <p:cNvSpPr txBox="1"/>
          <p:nvPr/>
        </p:nvSpPr>
        <p:spPr>
          <a:xfrm>
            <a:off x="914377"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amount, status</a:t>
            </a:r>
            <a:endParaRPr lang="en-US" sz="1200" dirty="0"/>
          </a:p>
        </p:txBody>
      </p:sp>
      <p:sp>
        <p:nvSpPr>
          <p:cNvPr id="55" name="Shape 53"/>
          <p:cNvSpPr/>
          <p:nvPr/>
        </p:nvSpPr>
        <p:spPr>
          <a:xfrm>
            <a:off x="3574961" y="4508387"/>
            <a:ext cx="2285943" cy="1079473"/>
          </a:xfrm>
          <a:prstGeom prst="roundRect">
            <a:avLst>
              <a:gd name="adj" fmla="val 7059"/>
            </a:avLst>
          </a:prstGeom>
          <a:solidFill>
            <a:srgbClr val="FCFDFF"/>
          </a:solidFill>
          <a:ln w="12700">
            <a:solidFill>
              <a:srgbClr val="B8306E"/>
            </a:solidFill>
            <a:prstDash val="solid"/>
          </a:ln>
        </p:spPr>
      </p:sp>
      <p:sp>
        <p:nvSpPr>
          <p:cNvPr id="56" name="Shape 54"/>
          <p:cNvSpPr/>
          <p:nvPr/>
        </p:nvSpPr>
        <p:spPr>
          <a:xfrm>
            <a:off x="3587660" y="4521087"/>
            <a:ext cx="2260543" cy="289513"/>
          </a:xfrm>
          <a:prstGeom prst="roundRect">
            <a:avLst>
              <a:gd name="adj" fmla="val 21933"/>
            </a:avLst>
          </a:prstGeom>
          <a:solidFill>
            <a:srgbClr val="FAE3ED"/>
          </a:solidFill>
          <a:ln/>
        </p:spPr>
      </p:sp>
      <p:sp>
        <p:nvSpPr>
          <p:cNvPr id="57" name="Text 55"/>
          <p:cNvSpPr txBox="1"/>
          <p:nvPr/>
        </p:nvSpPr>
        <p:spPr>
          <a:xfrm>
            <a:off x="3676558"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rating.review</a:t>
            </a:r>
            <a:endParaRPr lang="en-US" sz="1200" dirty="0"/>
          </a:p>
        </p:txBody>
      </p:sp>
      <p:sp>
        <p:nvSpPr>
          <p:cNvPr id="58" name="Text 56"/>
          <p:cNvSpPr txBox="1"/>
          <p:nvPr/>
        </p:nvSpPr>
        <p:spPr>
          <a:xfrm>
            <a:off x="3676558"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booking_id</a:t>
            </a:r>
            <a:endParaRPr lang="en-US" sz="1200" dirty="0"/>
          </a:p>
        </p:txBody>
      </p:sp>
      <p:sp>
        <p:nvSpPr>
          <p:cNvPr id="59" name="Text 57"/>
          <p:cNvSpPr txBox="1"/>
          <p:nvPr/>
        </p:nvSpPr>
        <p:spPr>
          <a:xfrm>
            <a:off x="3676558"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reviewer, reviewee</a:t>
            </a:r>
            <a:endParaRPr lang="en-US" sz="1200" dirty="0"/>
          </a:p>
        </p:txBody>
      </p:sp>
      <p:sp>
        <p:nvSpPr>
          <p:cNvPr id="60" name="Text 58"/>
          <p:cNvSpPr txBox="1"/>
          <p:nvPr/>
        </p:nvSpPr>
        <p:spPr>
          <a:xfrm>
            <a:off x="3676558"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overall_rating</a:t>
            </a:r>
            <a:endParaRPr lang="en-US" sz="1200" dirty="0"/>
          </a:p>
        </p:txBody>
      </p:sp>
      <p:sp>
        <p:nvSpPr>
          <p:cNvPr id="61" name="Shape 59"/>
          <p:cNvSpPr/>
          <p:nvPr/>
        </p:nvSpPr>
        <p:spPr>
          <a:xfrm>
            <a:off x="6330792" y="4508387"/>
            <a:ext cx="2285943" cy="1079473"/>
          </a:xfrm>
          <a:prstGeom prst="roundRect">
            <a:avLst>
              <a:gd name="adj" fmla="val 7059"/>
            </a:avLst>
          </a:prstGeom>
          <a:solidFill>
            <a:srgbClr val="FCFDFF"/>
          </a:solidFill>
          <a:ln w="12700">
            <a:solidFill>
              <a:srgbClr val="B4530F"/>
            </a:solidFill>
            <a:prstDash val="solid"/>
          </a:ln>
        </p:spPr>
      </p:sp>
      <p:sp>
        <p:nvSpPr>
          <p:cNvPr id="62" name="Shape 60"/>
          <p:cNvSpPr/>
          <p:nvPr/>
        </p:nvSpPr>
        <p:spPr>
          <a:xfrm>
            <a:off x="6343491" y="4521087"/>
            <a:ext cx="2260543" cy="289513"/>
          </a:xfrm>
          <a:prstGeom prst="roundRect">
            <a:avLst>
              <a:gd name="adj" fmla="val 21933"/>
            </a:avLst>
          </a:prstGeom>
          <a:solidFill>
            <a:srgbClr val="FCEBDD"/>
          </a:solidFill>
          <a:ln/>
        </p:spPr>
      </p:sp>
      <p:sp>
        <p:nvSpPr>
          <p:cNvPr id="63" name="Text 61"/>
          <p:cNvSpPr txBox="1"/>
          <p:nvPr/>
        </p:nvSpPr>
        <p:spPr>
          <a:xfrm>
            <a:off x="6432389"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invoice.invoice</a:t>
            </a:r>
            <a:endParaRPr lang="en-US" sz="1200" dirty="0"/>
          </a:p>
        </p:txBody>
      </p:sp>
      <p:sp>
        <p:nvSpPr>
          <p:cNvPr id="64" name="Text 62"/>
          <p:cNvSpPr txBox="1"/>
          <p:nvPr/>
        </p:nvSpPr>
        <p:spPr>
          <a:xfrm>
            <a:off x="6432389"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invoice_number</a:t>
            </a:r>
            <a:endParaRPr lang="en-US" sz="1200" dirty="0"/>
          </a:p>
        </p:txBody>
      </p:sp>
      <p:sp>
        <p:nvSpPr>
          <p:cNvPr id="65" name="Text 63"/>
          <p:cNvSpPr txBox="1"/>
          <p:nvPr/>
        </p:nvSpPr>
        <p:spPr>
          <a:xfrm>
            <a:off x="6432389"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payment_id UQ → payment</a:t>
            </a:r>
            <a:endParaRPr lang="en-US" sz="1200" dirty="0"/>
          </a:p>
        </p:txBody>
      </p:sp>
      <p:sp>
        <p:nvSpPr>
          <p:cNvPr id="66" name="Text 64"/>
          <p:cNvSpPr txBox="1"/>
          <p:nvPr/>
        </p:nvSpPr>
        <p:spPr>
          <a:xfrm>
            <a:off x="6432389"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gross, fee, net</a:t>
            </a:r>
            <a:endParaRPr lang="en-US" sz="1200" dirty="0"/>
          </a:p>
        </p:txBody>
      </p:sp>
      <p:sp>
        <p:nvSpPr>
          <p:cNvPr id="67" name="Shape 65"/>
          <p:cNvSpPr/>
          <p:nvPr/>
        </p:nvSpPr>
        <p:spPr>
          <a:xfrm>
            <a:off x="9092973" y="4508387"/>
            <a:ext cx="2285943" cy="1079473"/>
          </a:xfrm>
          <a:prstGeom prst="roundRect">
            <a:avLst>
              <a:gd name="adj" fmla="val 7059"/>
            </a:avLst>
          </a:prstGeom>
          <a:solidFill>
            <a:srgbClr val="FCFDFF"/>
          </a:solidFill>
          <a:ln w="12700">
            <a:solidFill>
              <a:srgbClr val="6A3FC0"/>
            </a:solidFill>
            <a:prstDash val="solid"/>
          </a:ln>
        </p:spPr>
      </p:sp>
      <p:sp>
        <p:nvSpPr>
          <p:cNvPr id="68" name="Shape 66"/>
          <p:cNvSpPr/>
          <p:nvPr/>
        </p:nvSpPr>
        <p:spPr>
          <a:xfrm>
            <a:off x="9105672" y="4521087"/>
            <a:ext cx="2260543" cy="289513"/>
          </a:xfrm>
          <a:prstGeom prst="roundRect">
            <a:avLst>
              <a:gd name="adj" fmla="val 21933"/>
            </a:avLst>
          </a:prstGeom>
          <a:solidFill>
            <a:srgbClr val="ECE5FA"/>
          </a:solidFill>
          <a:ln/>
        </p:spPr>
      </p:sp>
      <p:sp>
        <p:nvSpPr>
          <p:cNvPr id="69" name="Text 67"/>
          <p:cNvSpPr txBox="1"/>
          <p:nvPr/>
        </p:nvSpPr>
        <p:spPr>
          <a:xfrm>
            <a:off x="9194570" y="4559186"/>
            <a:ext cx="2332678"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promotion.coupon</a:t>
            </a:r>
            <a:endParaRPr lang="en-US" sz="1200" dirty="0"/>
          </a:p>
        </p:txBody>
      </p:sp>
      <p:sp>
        <p:nvSpPr>
          <p:cNvPr id="70" name="Text 68"/>
          <p:cNvSpPr txBox="1"/>
          <p:nvPr/>
        </p:nvSpPr>
        <p:spPr>
          <a:xfrm>
            <a:off x="9194570" y="4848699"/>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id PK · code UQ</a:t>
            </a:r>
            <a:endParaRPr lang="en-US" sz="1200" dirty="0"/>
          </a:p>
        </p:txBody>
      </p:sp>
      <p:sp>
        <p:nvSpPr>
          <p:cNvPr id="71" name="Text 69"/>
          <p:cNvSpPr txBox="1"/>
          <p:nvPr/>
        </p:nvSpPr>
        <p:spPr>
          <a:xfrm>
            <a:off x="9194570" y="5054374"/>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discount type, value</a:t>
            </a:r>
            <a:endParaRPr lang="en-US" sz="1200" dirty="0"/>
          </a:p>
        </p:txBody>
      </p:sp>
      <p:sp>
        <p:nvSpPr>
          <p:cNvPr id="72" name="Text 70"/>
          <p:cNvSpPr txBox="1"/>
          <p:nvPr/>
        </p:nvSpPr>
        <p:spPr>
          <a:xfrm>
            <a:off x="9194570" y="5260050"/>
            <a:ext cx="233267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total, per-user limit</a:t>
            </a:r>
            <a:endParaRPr lang="en-US" sz="1200" dirty="0"/>
          </a:p>
        </p:txBody>
      </p:sp>
      <p:sp>
        <p:nvSpPr>
          <p:cNvPr id="73" name="Shape 71"/>
          <p:cNvSpPr/>
          <p:nvPr/>
        </p:nvSpPr>
        <p:spPr>
          <a:xfrm>
            <a:off x="8616735" y="2381190"/>
            <a:ext cx="476238" cy="63"/>
          </a:xfrm>
          <a:prstGeom prst="line">
            <a:avLst/>
          </a:prstGeom>
          <a:noFill/>
          <a:ln w="19050">
            <a:solidFill>
              <a:srgbClr val="5C6B8A"/>
            </a:solidFill>
            <a:prstDash val="solid"/>
          </a:ln>
        </p:spPr>
      </p:sp>
      <p:sp>
        <p:nvSpPr>
          <p:cNvPr id="74" name="Text 72"/>
          <p:cNvSpPr txBox="1"/>
          <p:nvPr/>
        </p:nvSpPr>
        <p:spPr>
          <a:xfrm>
            <a:off x="8604035" y="2127197"/>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5" name="Shape 73"/>
          <p:cNvSpPr/>
          <p:nvPr/>
        </p:nvSpPr>
        <p:spPr>
          <a:xfrm>
            <a:off x="3098723" y="3714657"/>
            <a:ext cx="476238" cy="63"/>
          </a:xfrm>
          <a:prstGeom prst="line">
            <a:avLst/>
          </a:prstGeom>
          <a:noFill/>
          <a:ln w="19050">
            <a:solidFill>
              <a:srgbClr val="5C6B8A"/>
            </a:solidFill>
            <a:prstDash val="dash"/>
          </a:ln>
        </p:spPr>
      </p:sp>
      <p:sp>
        <p:nvSpPr>
          <p:cNvPr id="76" name="Text 74"/>
          <p:cNvSpPr txBox="1"/>
          <p:nvPr/>
        </p:nvSpPr>
        <p:spPr>
          <a:xfrm>
            <a:off x="3086023"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77" name="Shape 75"/>
          <p:cNvSpPr/>
          <p:nvPr/>
        </p:nvSpPr>
        <p:spPr>
          <a:xfrm>
            <a:off x="5860903" y="3714657"/>
            <a:ext cx="469888" cy="63"/>
          </a:xfrm>
          <a:prstGeom prst="line">
            <a:avLst/>
          </a:prstGeom>
          <a:noFill/>
          <a:ln w="19050">
            <a:solidFill>
              <a:srgbClr val="5C6B8A"/>
            </a:solidFill>
            <a:prstDash val="dash"/>
          </a:ln>
        </p:spPr>
      </p:sp>
      <p:sp>
        <p:nvSpPr>
          <p:cNvPr id="78" name="Text 76"/>
          <p:cNvSpPr txBox="1"/>
          <p:nvPr/>
        </p:nvSpPr>
        <p:spPr>
          <a:xfrm>
            <a:off x="5848204" y="3460663"/>
            <a:ext cx="495288"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79" name="Shape 77"/>
          <p:cNvSpPr/>
          <p:nvPr/>
        </p:nvSpPr>
        <p:spPr>
          <a:xfrm>
            <a:off x="8616735" y="3714657"/>
            <a:ext cx="476238" cy="63"/>
          </a:xfrm>
          <a:prstGeom prst="line">
            <a:avLst/>
          </a:prstGeom>
          <a:noFill/>
          <a:ln w="19050">
            <a:solidFill>
              <a:srgbClr val="5C6B8A"/>
            </a:solidFill>
            <a:prstDash val="solid"/>
          </a:ln>
        </p:spPr>
      </p:sp>
      <p:sp>
        <p:nvSpPr>
          <p:cNvPr id="80" name="Text 78"/>
          <p:cNvSpPr txBox="1"/>
          <p:nvPr/>
        </p:nvSpPr>
        <p:spPr>
          <a:xfrm>
            <a:off x="8604035" y="3460663"/>
            <a:ext cx="501637" cy="213355"/>
          </a:xfrm>
          <a:prstGeom prst="rect">
            <a:avLst/>
          </a:prstGeom>
          <a:noFill/>
          <a:ln/>
        </p:spPr>
        <p:txBody>
          <a:bodyPr wrap="square" lIns="0" tIns="0" rIns="0" bIns="0" rtlCol="0" anchor="t"/>
          <a:lstStyle/>
          <a:p>
            <a:pPr algn="ctr"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1" name="Shape 79"/>
          <p:cNvSpPr/>
          <p:nvPr/>
        </p:nvSpPr>
        <p:spPr>
          <a:xfrm>
            <a:off x="4717932" y="2920927"/>
            <a:ext cx="63" cy="253994"/>
          </a:xfrm>
          <a:prstGeom prst="line">
            <a:avLst/>
          </a:prstGeom>
          <a:noFill/>
          <a:ln w="19050">
            <a:solidFill>
              <a:srgbClr val="5C6B8A"/>
            </a:solidFill>
            <a:prstDash val="solid"/>
          </a:ln>
        </p:spPr>
      </p:sp>
      <p:sp>
        <p:nvSpPr>
          <p:cNvPr id="82" name="Text 80"/>
          <p:cNvSpPr txBox="1"/>
          <p:nvPr/>
        </p:nvSpPr>
        <p:spPr>
          <a:xfrm>
            <a:off x="4794130" y="2939976"/>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N : 1</a:t>
            </a:r>
            <a:endParaRPr lang="en-US" sz="1200" dirty="0"/>
          </a:p>
        </p:txBody>
      </p:sp>
      <p:sp>
        <p:nvSpPr>
          <p:cNvPr id="83" name="Shape 81"/>
          <p:cNvSpPr/>
          <p:nvPr/>
        </p:nvSpPr>
        <p:spPr>
          <a:xfrm>
            <a:off x="1955751" y="4254394"/>
            <a:ext cx="63" cy="253994"/>
          </a:xfrm>
          <a:prstGeom prst="line">
            <a:avLst/>
          </a:prstGeom>
          <a:noFill/>
          <a:ln w="19050">
            <a:solidFill>
              <a:srgbClr val="5C6B8A"/>
            </a:solidFill>
            <a:prstDash val="solid"/>
          </a:ln>
        </p:spPr>
      </p:sp>
      <p:sp>
        <p:nvSpPr>
          <p:cNvPr id="84" name="Text 82"/>
          <p:cNvSpPr txBox="1"/>
          <p:nvPr/>
        </p:nvSpPr>
        <p:spPr>
          <a:xfrm>
            <a:off x="2031949"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5" name="Shape 83"/>
          <p:cNvSpPr/>
          <p:nvPr/>
        </p:nvSpPr>
        <p:spPr>
          <a:xfrm>
            <a:off x="4717932" y="4254394"/>
            <a:ext cx="63" cy="253994"/>
          </a:xfrm>
          <a:prstGeom prst="line">
            <a:avLst/>
          </a:prstGeom>
          <a:noFill/>
          <a:ln w="19050">
            <a:solidFill>
              <a:srgbClr val="5C6B8A"/>
            </a:solidFill>
            <a:prstDash val="dash"/>
          </a:ln>
        </p:spPr>
      </p:sp>
      <p:sp>
        <p:nvSpPr>
          <p:cNvPr id="86" name="Text 84"/>
          <p:cNvSpPr txBox="1"/>
          <p:nvPr/>
        </p:nvSpPr>
        <p:spPr>
          <a:xfrm>
            <a:off x="4794130"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N</a:t>
            </a:r>
            <a:endParaRPr lang="en-US" sz="1200" dirty="0"/>
          </a:p>
        </p:txBody>
      </p:sp>
      <p:sp>
        <p:nvSpPr>
          <p:cNvPr id="87" name="Shape 85"/>
          <p:cNvSpPr/>
          <p:nvPr/>
        </p:nvSpPr>
        <p:spPr>
          <a:xfrm>
            <a:off x="7473763" y="4254394"/>
            <a:ext cx="63" cy="253994"/>
          </a:xfrm>
          <a:prstGeom prst="line">
            <a:avLst/>
          </a:prstGeom>
          <a:noFill/>
          <a:ln w="19050">
            <a:solidFill>
              <a:srgbClr val="5C6B8A"/>
            </a:solidFill>
            <a:prstDash val="dash"/>
          </a:ln>
        </p:spPr>
      </p:sp>
      <p:sp>
        <p:nvSpPr>
          <p:cNvPr id="88" name="Text 86"/>
          <p:cNvSpPr txBox="1"/>
          <p:nvPr/>
        </p:nvSpPr>
        <p:spPr>
          <a:xfrm>
            <a:off x="7549961" y="4273443"/>
            <a:ext cx="647684"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1 : 1</a:t>
            </a:r>
            <a:endParaRPr lang="en-US" sz="1200" dirty="0"/>
          </a:p>
        </p:txBody>
      </p:sp>
      <p:sp>
        <p:nvSpPr>
          <p:cNvPr id="89" name="Text 8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Data model</a:t>
            </a:r>
            <a:endParaRPr lang="en-US" sz="1200" dirty="0"/>
          </a:p>
        </p:txBody>
      </p:sp>
      <p:sp>
        <p:nvSpPr>
          <p:cNvPr id="90" name="Text 8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WHERE STATE LIVES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Postgres keeps records; Redis keeps moments</a:t>
            </a:r>
            <a:endParaRPr lang="en-US" sz="3000" dirty="0"/>
          </a:p>
        </p:txBody>
      </p:sp>
      <p:sp>
        <p:nvSpPr>
          <p:cNvPr id="4" name="Shape 2"/>
          <p:cNvSpPr/>
          <p:nvPr/>
        </p:nvSpPr>
        <p:spPr>
          <a:xfrm>
            <a:off x="812780" y="1775376"/>
            <a:ext cx="3181767" cy="3259453"/>
          </a:xfrm>
          <a:prstGeom prst="roundRect">
            <a:avLst>
              <a:gd name="adj" fmla="val 3193"/>
            </a:avLst>
          </a:prstGeom>
          <a:solidFill>
            <a:srgbClr val="FCFDFF"/>
          </a:solidFill>
          <a:ln w="6350">
            <a:solidFill>
              <a:srgbClr val="D5DEEC"/>
            </a:solidFill>
            <a:prstDash val="solid"/>
          </a:ln>
        </p:spPr>
      </p:sp>
      <p:sp>
        <p:nvSpPr>
          <p:cNvPr id="5" name="Shape 3"/>
          <p:cNvSpPr/>
          <p:nvPr/>
        </p:nvSpPr>
        <p:spPr>
          <a:xfrm>
            <a:off x="812780" y="1775376"/>
            <a:ext cx="3181767" cy="50799"/>
          </a:xfrm>
          <a:prstGeom prst="roundRect">
            <a:avLst>
              <a:gd name="adj" fmla="val 50000"/>
            </a:avLst>
          </a:prstGeom>
          <a:solidFill>
            <a:srgbClr val="2F5C9A"/>
          </a:solidFill>
          <a:ln/>
        </p:spPr>
      </p:sp>
      <p:sp>
        <p:nvSpPr>
          <p:cNvPr id="6" name="Shape 4"/>
          <p:cNvSpPr/>
          <p:nvPr/>
        </p:nvSpPr>
        <p:spPr>
          <a:xfrm>
            <a:off x="971526" y="1978571"/>
            <a:ext cx="330192" cy="330192"/>
          </a:xfrm>
          <a:prstGeom prst="ellipse">
            <a:avLst/>
          </a:prstGeom>
          <a:solidFill>
            <a:srgbClr val="E2EAF6"/>
          </a:solidFill>
          <a:ln/>
        </p:spPr>
      </p:sp>
      <p:pic>
        <p:nvPicPr>
          <p:cNvPr id="7" name="Image 0" descr="preencoded.png">    </p:cNvPr>
          <p:cNvPicPr>
            <a:picLocks noChangeAspect="1"/>
          </p:cNvPicPr>
          <p:nvPr/>
        </p:nvPicPr>
        <p:blipFill>
          <a:blip r:embed="rId1"/>
          <a:stretch>
            <a:fillRect/>
          </a:stretch>
        </p:blipFill>
        <p:spPr>
          <a:xfrm>
            <a:off x="1047724" y="2054769"/>
            <a:ext cx="177796" cy="177796"/>
          </a:xfrm>
          <a:prstGeom prst="rect">
            <a:avLst/>
          </a:prstGeom>
        </p:spPr>
      </p:pic>
      <p:sp>
        <p:nvSpPr>
          <p:cNvPr id="8" name="Text 5"/>
          <p:cNvSpPr txBox="1"/>
          <p:nvPr/>
        </p:nvSpPr>
        <p:spPr>
          <a:xfrm>
            <a:off x="1390615" y="2029370"/>
            <a:ext cx="111166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PostgreSQL</a:t>
            </a:r>
            <a:endParaRPr lang="en-US" sz="1500" dirty="0"/>
          </a:p>
        </p:txBody>
      </p:sp>
      <p:sp>
        <p:nvSpPr>
          <p:cNvPr id="9" name="Shape 6"/>
          <p:cNvSpPr/>
          <p:nvPr/>
        </p:nvSpPr>
        <p:spPr>
          <a:xfrm>
            <a:off x="971526" y="2397660"/>
            <a:ext cx="543606" cy="299633"/>
          </a:xfrm>
          <a:prstGeom prst="roundRect">
            <a:avLst>
              <a:gd name="adj" fmla="val 21192"/>
            </a:avLst>
          </a:prstGeom>
          <a:solidFill>
            <a:srgbClr val="E2EAF6"/>
          </a:solidFill>
          <a:ln/>
        </p:spPr>
      </p:sp>
      <p:sp>
        <p:nvSpPr>
          <p:cNvPr id="10" name="Text 7"/>
          <p:cNvSpPr txBox="1"/>
          <p:nvPr/>
        </p:nvSpPr>
        <p:spPr>
          <a:xfrm>
            <a:off x="1060423" y="2448459"/>
            <a:ext cx="44200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auth</a:t>
            </a:r>
            <a:endParaRPr lang="en-US" sz="1200" dirty="0"/>
          </a:p>
        </p:txBody>
      </p:sp>
      <p:sp>
        <p:nvSpPr>
          <p:cNvPr id="11" name="Shape 8"/>
          <p:cNvSpPr/>
          <p:nvPr/>
        </p:nvSpPr>
        <p:spPr>
          <a:xfrm>
            <a:off x="1578630" y="2397660"/>
            <a:ext cx="909416" cy="299633"/>
          </a:xfrm>
          <a:prstGeom prst="roundRect">
            <a:avLst>
              <a:gd name="adj" fmla="val 21192"/>
            </a:avLst>
          </a:prstGeom>
          <a:solidFill>
            <a:srgbClr val="E2EAF6"/>
          </a:solidFill>
          <a:ln/>
        </p:spPr>
      </p:sp>
      <p:sp>
        <p:nvSpPr>
          <p:cNvPr id="12" name="Text 9"/>
          <p:cNvSpPr txBox="1"/>
          <p:nvPr/>
        </p:nvSpPr>
        <p:spPr>
          <a:xfrm>
            <a:off x="1667528" y="2448459"/>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customer</a:t>
            </a:r>
            <a:endParaRPr lang="en-US" sz="1200" dirty="0"/>
          </a:p>
        </p:txBody>
      </p:sp>
      <p:sp>
        <p:nvSpPr>
          <p:cNvPr id="13" name="Shape 10"/>
          <p:cNvSpPr/>
          <p:nvPr/>
        </p:nvSpPr>
        <p:spPr>
          <a:xfrm>
            <a:off x="2551545" y="2397660"/>
            <a:ext cx="909416" cy="299633"/>
          </a:xfrm>
          <a:prstGeom prst="roundRect">
            <a:avLst>
              <a:gd name="adj" fmla="val 21192"/>
            </a:avLst>
          </a:prstGeom>
          <a:solidFill>
            <a:srgbClr val="E2EAF6"/>
          </a:solidFill>
          <a:ln/>
        </p:spPr>
      </p:sp>
      <p:sp>
        <p:nvSpPr>
          <p:cNvPr id="14" name="Text 11"/>
          <p:cNvSpPr txBox="1"/>
          <p:nvPr/>
        </p:nvSpPr>
        <p:spPr>
          <a:xfrm>
            <a:off x="2640443" y="2448459"/>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provider</a:t>
            </a:r>
            <a:endParaRPr lang="en-US" sz="1200" dirty="0"/>
          </a:p>
        </p:txBody>
      </p:sp>
      <p:sp>
        <p:nvSpPr>
          <p:cNvPr id="15" name="Shape 12"/>
          <p:cNvSpPr/>
          <p:nvPr/>
        </p:nvSpPr>
        <p:spPr>
          <a:xfrm>
            <a:off x="971526" y="2760792"/>
            <a:ext cx="1275227" cy="299633"/>
          </a:xfrm>
          <a:prstGeom prst="roundRect">
            <a:avLst>
              <a:gd name="adj" fmla="val 21192"/>
            </a:avLst>
          </a:prstGeom>
          <a:solidFill>
            <a:srgbClr val="E2EAF6"/>
          </a:solidFill>
          <a:ln/>
        </p:spPr>
      </p:sp>
      <p:sp>
        <p:nvSpPr>
          <p:cNvPr id="16" name="Text 13"/>
          <p:cNvSpPr txBox="1"/>
          <p:nvPr/>
        </p:nvSpPr>
        <p:spPr>
          <a:xfrm>
            <a:off x="1060423" y="2811591"/>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verification</a:t>
            </a:r>
            <a:endParaRPr lang="en-US" sz="1200" dirty="0"/>
          </a:p>
        </p:txBody>
      </p:sp>
      <p:sp>
        <p:nvSpPr>
          <p:cNvPr id="17" name="Shape 14"/>
          <p:cNvSpPr/>
          <p:nvPr/>
        </p:nvSpPr>
        <p:spPr>
          <a:xfrm>
            <a:off x="2310251" y="2760792"/>
            <a:ext cx="818038" cy="299633"/>
          </a:xfrm>
          <a:prstGeom prst="roundRect">
            <a:avLst>
              <a:gd name="adj" fmla="val 21192"/>
            </a:avLst>
          </a:prstGeom>
          <a:solidFill>
            <a:srgbClr val="E2EAF6"/>
          </a:solidFill>
          <a:ln/>
        </p:spPr>
      </p:sp>
      <p:sp>
        <p:nvSpPr>
          <p:cNvPr id="18" name="Text 15"/>
          <p:cNvSpPr txBox="1"/>
          <p:nvPr/>
        </p:nvSpPr>
        <p:spPr>
          <a:xfrm>
            <a:off x="2399149" y="2811591"/>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catalog</a:t>
            </a:r>
            <a:endParaRPr lang="en-US" sz="1200" dirty="0"/>
          </a:p>
        </p:txBody>
      </p:sp>
      <p:sp>
        <p:nvSpPr>
          <p:cNvPr id="19" name="Shape 16"/>
          <p:cNvSpPr/>
          <p:nvPr/>
        </p:nvSpPr>
        <p:spPr>
          <a:xfrm>
            <a:off x="971526" y="3123923"/>
            <a:ext cx="818038" cy="299633"/>
          </a:xfrm>
          <a:prstGeom prst="roundRect">
            <a:avLst>
              <a:gd name="adj" fmla="val 21192"/>
            </a:avLst>
          </a:prstGeom>
          <a:solidFill>
            <a:srgbClr val="E2EAF6"/>
          </a:solidFill>
          <a:ln/>
        </p:spPr>
      </p:sp>
      <p:sp>
        <p:nvSpPr>
          <p:cNvPr id="20" name="Text 17"/>
          <p:cNvSpPr txBox="1"/>
          <p:nvPr/>
        </p:nvSpPr>
        <p:spPr>
          <a:xfrm>
            <a:off x="1060423" y="317472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pricing</a:t>
            </a:r>
            <a:endParaRPr lang="en-US" sz="1200" dirty="0"/>
          </a:p>
        </p:txBody>
      </p:sp>
      <p:sp>
        <p:nvSpPr>
          <p:cNvPr id="21" name="Shape 18"/>
          <p:cNvSpPr/>
          <p:nvPr/>
        </p:nvSpPr>
        <p:spPr>
          <a:xfrm>
            <a:off x="1853062" y="3123923"/>
            <a:ext cx="1000894" cy="299633"/>
          </a:xfrm>
          <a:prstGeom prst="roundRect">
            <a:avLst>
              <a:gd name="adj" fmla="val 21192"/>
            </a:avLst>
          </a:prstGeom>
          <a:solidFill>
            <a:srgbClr val="E2EAF6"/>
          </a:solidFill>
          <a:ln/>
        </p:spPr>
      </p:sp>
      <p:sp>
        <p:nvSpPr>
          <p:cNvPr id="22" name="Text 19"/>
          <p:cNvSpPr txBox="1"/>
          <p:nvPr/>
        </p:nvSpPr>
        <p:spPr>
          <a:xfrm>
            <a:off x="1941960" y="3174722"/>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promotion</a:t>
            </a:r>
            <a:endParaRPr lang="en-US" sz="1200" dirty="0"/>
          </a:p>
        </p:txBody>
      </p:sp>
      <p:sp>
        <p:nvSpPr>
          <p:cNvPr id="23" name="Shape 20"/>
          <p:cNvSpPr/>
          <p:nvPr/>
        </p:nvSpPr>
        <p:spPr>
          <a:xfrm>
            <a:off x="2917454" y="3123923"/>
            <a:ext cx="818038" cy="299633"/>
          </a:xfrm>
          <a:prstGeom prst="roundRect">
            <a:avLst>
              <a:gd name="adj" fmla="val 21192"/>
            </a:avLst>
          </a:prstGeom>
          <a:solidFill>
            <a:srgbClr val="E2EAF6"/>
          </a:solidFill>
          <a:ln/>
        </p:spPr>
      </p:sp>
      <p:sp>
        <p:nvSpPr>
          <p:cNvPr id="24" name="Text 21"/>
          <p:cNvSpPr txBox="1"/>
          <p:nvPr/>
        </p:nvSpPr>
        <p:spPr>
          <a:xfrm>
            <a:off x="3006352" y="3174722"/>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booking</a:t>
            </a:r>
            <a:endParaRPr lang="en-US" sz="1200" dirty="0"/>
          </a:p>
        </p:txBody>
      </p:sp>
      <p:sp>
        <p:nvSpPr>
          <p:cNvPr id="25" name="Shape 22"/>
          <p:cNvSpPr/>
          <p:nvPr/>
        </p:nvSpPr>
        <p:spPr>
          <a:xfrm>
            <a:off x="971526" y="3487055"/>
            <a:ext cx="909416" cy="299633"/>
          </a:xfrm>
          <a:prstGeom prst="roundRect">
            <a:avLst>
              <a:gd name="adj" fmla="val 21192"/>
            </a:avLst>
          </a:prstGeom>
          <a:solidFill>
            <a:srgbClr val="E2EAF6"/>
          </a:solidFill>
          <a:ln/>
        </p:spPr>
      </p:sp>
      <p:sp>
        <p:nvSpPr>
          <p:cNvPr id="26" name="Text 23"/>
          <p:cNvSpPr txBox="1"/>
          <p:nvPr/>
        </p:nvSpPr>
        <p:spPr>
          <a:xfrm>
            <a:off x="1060423" y="3537854"/>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dispatch</a:t>
            </a:r>
            <a:endParaRPr lang="en-US" sz="1200" dirty="0"/>
          </a:p>
        </p:txBody>
      </p:sp>
      <p:sp>
        <p:nvSpPr>
          <p:cNvPr id="27" name="Shape 24"/>
          <p:cNvSpPr/>
          <p:nvPr/>
        </p:nvSpPr>
        <p:spPr>
          <a:xfrm>
            <a:off x="1944440" y="3487055"/>
            <a:ext cx="909416" cy="299633"/>
          </a:xfrm>
          <a:prstGeom prst="roundRect">
            <a:avLst>
              <a:gd name="adj" fmla="val 21192"/>
            </a:avLst>
          </a:prstGeom>
          <a:solidFill>
            <a:srgbClr val="E2EAF6"/>
          </a:solidFill>
          <a:ln/>
        </p:spPr>
      </p:sp>
      <p:sp>
        <p:nvSpPr>
          <p:cNvPr id="28" name="Text 25"/>
          <p:cNvSpPr txBox="1"/>
          <p:nvPr/>
        </p:nvSpPr>
        <p:spPr>
          <a:xfrm>
            <a:off x="2033338" y="3537854"/>
            <a:ext cx="8194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location</a:t>
            </a:r>
            <a:endParaRPr lang="en-US" sz="1200" dirty="0"/>
          </a:p>
        </p:txBody>
      </p:sp>
      <p:sp>
        <p:nvSpPr>
          <p:cNvPr id="29" name="Shape 26"/>
          <p:cNvSpPr/>
          <p:nvPr/>
        </p:nvSpPr>
        <p:spPr>
          <a:xfrm>
            <a:off x="2917355" y="3487055"/>
            <a:ext cx="818038" cy="299633"/>
          </a:xfrm>
          <a:prstGeom prst="roundRect">
            <a:avLst>
              <a:gd name="adj" fmla="val 21192"/>
            </a:avLst>
          </a:prstGeom>
          <a:solidFill>
            <a:srgbClr val="E2EAF6"/>
          </a:solidFill>
          <a:ln/>
        </p:spPr>
      </p:sp>
      <p:sp>
        <p:nvSpPr>
          <p:cNvPr id="30" name="Text 27"/>
          <p:cNvSpPr txBox="1"/>
          <p:nvPr/>
        </p:nvSpPr>
        <p:spPr>
          <a:xfrm>
            <a:off x="3006253" y="3537854"/>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payment</a:t>
            </a:r>
            <a:endParaRPr lang="en-US" sz="1200" dirty="0"/>
          </a:p>
        </p:txBody>
      </p:sp>
      <p:sp>
        <p:nvSpPr>
          <p:cNvPr id="31" name="Shape 28"/>
          <p:cNvSpPr/>
          <p:nvPr/>
        </p:nvSpPr>
        <p:spPr>
          <a:xfrm>
            <a:off x="971526" y="3850187"/>
            <a:ext cx="818038" cy="299633"/>
          </a:xfrm>
          <a:prstGeom prst="roundRect">
            <a:avLst>
              <a:gd name="adj" fmla="val 21192"/>
            </a:avLst>
          </a:prstGeom>
          <a:solidFill>
            <a:srgbClr val="E2EAF6"/>
          </a:solidFill>
          <a:ln/>
        </p:spPr>
      </p:sp>
      <p:sp>
        <p:nvSpPr>
          <p:cNvPr id="32" name="Text 29"/>
          <p:cNvSpPr txBox="1"/>
          <p:nvPr/>
        </p:nvSpPr>
        <p:spPr>
          <a:xfrm>
            <a:off x="1060423" y="3900985"/>
            <a:ext cx="71707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invoice</a:t>
            </a:r>
            <a:endParaRPr lang="en-US" sz="1200" dirty="0"/>
          </a:p>
        </p:txBody>
      </p:sp>
      <p:sp>
        <p:nvSpPr>
          <p:cNvPr id="33" name="Shape 30"/>
          <p:cNvSpPr/>
          <p:nvPr/>
        </p:nvSpPr>
        <p:spPr>
          <a:xfrm>
            <a:off x="1853062" y="3850187"/>
            <a:ext cx="1275227" cy="299633"/>
          </a:xfrm>
          <a:prstGeom prst="roundRect">
            <a:avLst>
              <a:gd name="adj" fmla="val 21192"/>
            </a:avLst>
          </a:prstGeom>
          <a:solidFill>
            <a:srgbClr val="E2EAF6"/>
          </a:solidFill>
          <a:ln/>
        </p:spPr>
      </p:sp>
      <p:sp>
        <p:nvSpPr>
          <p:cNvPr id="34" name="Text 31"/>
          <p:cNvSpPr txBox="1"/>
          <p:nvPr/>
        </p:nvSpPr>
        <p:spPr>
          <a:xfrm>
            <a:off x="1941960" y="3900985"/>
            <a:ext cx="122912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notification</a:t>
            </a:r>
            <a:endParaRPr lang="en-US" sz="1200" dirty="0"/>
          </a:p>
        </p:txBody>
      </p:sp>
      <p:sp>
        <p:nvSpPr>
          <p:cNvPr id="35" name="Shape 32"/>
          <p:cNvSpPr/>
          <p:nvPr/>
        </p:nvSpPr>
        <p:spPr>
          <a:xfrm>
            <a:off x="971526" y="4213318"/>
            <a:ext cx="1000894" cy="299633"/>
          </a:xfrm>
          <a:prstGeom prst="roundRect">
            <a:avLst>
              <a:gd name="adj" fmla="val 21192"/>
            </a:avLst>
          </a:prstGeom>
          <a:solidFill>
            <a:srgbClr val="E2EAF6"/>
          </a:solidFill>
          <a:ln/>
        </p:spPr>
      </p:sp>
      <p:sp>
        <p:nvSpPr>
          <p:cNvPr id="36" name="Text 33"/>
          <p:cNvSpPr txBox="1"/>
          <p:nvPr/>
        </p:nvSpPr>
        <p:spPr>
          <a:xfrm>
            <a:off x="1060423" y="4264117"/>
            <a:ext cx="9218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complaint</a:t>
            </a:r>
            <a:endParaRPr lang="en-US" sz="1200" dirty="0"/>
          </a:p>
        </p:txBody>
      </p:sp>
      <p:sp>
        <p:nvSpPr>
          <p:cNvPr id="37" name="Shape 34"/>
          <p:cNvSpPr/>
          <p:nvPr/>
        </p:nvSpPr>
        <p:spPr>
          <a:xfrm>
            <a:off x="2035918" y="4213318"/>
            <a:ext cx="543606" cy="299633"/>
          </a:xfrm>
          <a:prstGeom prst="roundRect">
            <a:avLst>
              <a:gd name="adj" fmla="val 21192"/>
            </a:avLst>
          </a:prstGeom>
          <a:solidFill>
            <a:srgbClr val="E2EAF6"/>
          </a:solidFill>
          <a:ln/>
        </p:spPr>
      </p:sp>
      <p:sp>
        <p:nvSpPr>
          <p:cNvPr id="38" name="Text 35"/>
          <p:cNvSpPr txBox="1"/>
          <p:nvPr/>
        </p:nvSpPr>
        <p:spPr>
          <a:xfrm>
            <a:off x="2124816" y="4264117"/>
            <a:ext cx="44200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chat</a:t>
            </a:r>
            <a:endParaRPr lang="en-US" sz="1200" dirty="0"/>
          </a:p>
        </p:txBody>
      </p:sp>
      <p:sp>
        <p:nvSpPr>
          <p:cNvPr id="39" name="Shape 36"/>
          <p:cNvSpPr/>
          <p:nvPr/>
        </p:nvSpPr>
        <p:spPr>
          <a:xfrm>
            <a:off x="2643022" y="4213318"/>
            <a:ext cx="726561" cy="299633"/>
          </a:xfrm>
          <a:prstGeom prst="roundRect">
            <a:avLst>
              <a:gd name="adj" fmla="val 21192"/>
            </a:avLst>
          </a:prstGeom>
          <a:solidFill>
            <a:srgbClr val="E2EAF6"/>
          </a:solidFill>
          <a:ln/>
        </p:spPr>
      </p:sp>
      <p:sp>
        <p:nvSpPr>
          <p:cNvPr id="40" name="Text 37"/>
          <p:cNvSpPr txBox="1"/>
          <p:nvPr/>
        </p:nvSpPr>
        <p:spPr>
          <a:xfrm>
            <a:off x="2731920" y="4264117"/>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rating</a:t>
            </a:r>
            <a:endParaRPr lang="en-US" sz="1200" dirty="0"/>
          </a:p>
        </p:txBody>
      </p:sp>
      <p:sp>
        <p:nvSpPr>
          <p:cNvPr id="41" name="Shape 38"/>
          <p:cNvSpPr/>
          <p:nvPr/>
        </p:nvSpPr>
        <p:spPr>
          <a:xfrm>
            <a:off x="971526" y="4576450"/>
            <a:ext cx="635083" cy="299633"/>
          </a:xfrm>
          <a:prstGeom prst="roundRect">
            <a:avLst>
              <a:gd name="adj" fmla="val 21192"/>
            </a:avLst>
          </a:prstGeom>
          <a:solidFill>
            <a:srgbClr val="E2EAF6"/>
          </a:solidFill>
          <a:ln/>
        </p:spPr>
      </p:sp>
      <p:sp>
        <p:nvSpPr>
          <p:cNvPr id="42" name="Text 39"/>
          <p:cNvSpPr txBox="1"/>
          <p:nvPr/>
        </p:nvSpPr>
        <p:spPr>
          <a:xfrm>
            <a:off x="1060423" y="4627248"/>
            <a:ext cx="53348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admin</a:t>
            </a:r>
            <a:endParaRPr lang="en-US" sz="1200" dirty="0"/>
          </a:p>
        </p:txBody>
      </p:sp>
      <p:sp>
        <p:nvSpPr>
          <p:cNvPr id="43" name="Shape 40"/>
          <p:cNvSpPr/>
          <p:nvPr/>
        </p:nvSpPr>
        <p:spPr>
          <a:xfrm>
            <a:off x="1670107" y="4576450"/>
            <a:ext cx="726561" cy="299633"/>
          </a:xfrm>
          <a:prstGeom prst="roundRect">
            <a:avLst>
              <a:gd name="adj" fmla="val 21192"/>
            </a:avLst>
          </a:prstGeom>
          <a:solidFill>
            <a:srgbClr val="E2EAF6"/>
          </a:solidFill>
          <a:ln/>
        </p:spPr>
      </p:sp>
      <p:sp>
        <p:nvSpPr>
          <p:cNvPr id="44" name="Text 41"/>
          <p:cNvSpPr txBox="1"/>
          <p:nvPr/>
        </p:nvSpPr>
        <p:spPr>
          <a:xfrm>
            <a:off x="1759005" y="4627248"/>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outbox</a:t>
            </a:r>
            <a:endParaRPr lang="en-US" sz="1200" dirty="0"/>
          </a:p>
        </p:txBody>
      </p:sp>
      <p:sp>
        <p:nvSpPr>
          <p:cNvPr id="45" name="Shape 42"/>
          <p:cNvSpPr/>
          <p:nvPr/>
        </p:nvSpPr>
        <p:spPr>
          <a:xfrm>
            <a:off x="2460167" y="4576450"/>
            <a:ext cx="726561" cy="299633"/>
          </a:xfrm>
          <a:prstGeom prst="roundRect">
            <a:avLst>
              <a:gd name="adj" fmla="val 21192"/>
            </a:avLst>
          </a:prstGeom>
          <a:solidFill>
            <a:srgbClr val="E2EAF6"/>
          </a:solidFill>
          <a:ln/>
        </p:spPr>
      </p:sp>
      <p:sp>
        <p:nvSpPr>
          <p:cNvPr id="46" name="Text 43"/>
          <p:cNvSpPr txBox="1"/>
          <p:nvPr/>
        </p:nvSpPr>
        <p:spPr>
          <a:xfrm>
            <a:off x="2549064" y="4627248"/>
            <a:ext cx="62496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config</a:t>
            </a:r>
            <a:endParaRPr lang="en-US" sz="1200" dirty="0"/>
          </a:p>
        </p:txBody>
      </p:sp>
      <p:sp>
        <p:nvSpPr>
          <p:cNvPr id="47" name="Shape 44"/>
          <p:cNvSpPr/>
          <p:nvPr/>
        </p:nvSpPr>
        <p:spPr>
          <a:xfrm>
            <a:off x="4146942" y="1775376"/>
            <a:ext cx="3897810" cy="3259453"/>
          </a:xfrm>
          <a:prstGeom prst="roundRect">
            <a:avLst>
              <a:gd name="adj" fmla="val 3117"/>
            </a:avLst>
          </a:prstGeom>
          <a:solidFill>
            <a:srgbClr val="FCFDFF"/>
          </a:solidFill>
          <a:ln w="6350">
            <a:solidFill>
              <a:srgbClr val="D5DEEC"/>
            </a:solidFill>
            <a:prstDash val="solid"/>
          </a:ln>
        </p:spPr>
      </p:sp>
      <p:sp>
        <p:nvSpPr>
          <p:cNvPr id="48" name="Shape 45"/>
          <p:cNvSpPr/>
          <p:nvPr/>
        </p:nvSpPr>
        <p:spPr>
          <a:xfrm>
            <a:off x="4146942" y="1775376"/>
            <a:ext cx="3897810" cy="50799"/>
          </a:xfrm>
          <a:prstGeom prst="roundRect">
            <a:avLst>
              <a:gd name="adj" fmla="val 50000"/>
            </a:avLst>
          </a:prstGeom>
          <a:solidFill>
            <a:srgbClr val="C0352B"/>
          </a:solidFill>
          <a:ln/>
        </p:spPr>
      </p:sp>
      <p:sp>
        <p:nvSpPr>
          <p:cNvPr id="49" name="Shape 46"/>
          <p:cNvSpPr/>
          <p:nvPr/>
        </p:nvSpPr>
        <p:spPr>
          <a:xfrm>
            <a:off x="4305688" y="1978571"/>
            <a:ext cx="330192" cy="330192"/>
          </a:xfrm>
          <a:prstGeom prst="ellipse">
            <a:avLst/>
          </a:prstGeom>
          <a:solidFill>
            <a:srgbClr val="FBE4E2"/>
          </a:solidFill>
          <a:ln/>
        </p:spPr>
      </p:sp>
      <p:pic>
        <p:nvPicPr>
          <p:cNvPr id="50" name="Image 1" descr="preencoded.png">    </p:cNvPr>
          <p:cNvPicPr>
            <a:picLocks noChangeAspect="1"/>
          </p:cNvPicPr>
          <p:nvPr/>
        </p:nvPicPr>
        <p:blipFill>
          <a:blip r:embed="rId2"/>
          <a:stretch>
            <a:fillRect/>
          </a:stretch>
        </p:blipFill>
        <p:spPr>
          <a:xfrm>
            <a:off x="4381887" y="2054769"/>
            <a:ext cx="177796" cy="177796"/>
          </a:xfrm>
          <a:prstGeom prst="rect">
            <a:avLst/>
          </a:prstGeom>
        </p:spPr>
      </p:pic>
      <p:sp>
        <p:nvSpPr>
          <p:cNvPr id="51" name="Text 47"/>
          <p:cNvSpPr txBox="1"/>
          <p:nvPr/>
        </p:nvSpPr>
        <p:spPr>
          <a:xfrm>
            <a:off x="4724778" y="2029370"/>
            <a:ext cx="551543"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Redis</a:t>
            </a:r>
            <a:endParaRPr lang="en-US" sz="1500" dirty="0"/>
          </a:p>
        </p:txBody>
      </p:sp>
      <p:sp>
        <p:nvSpPr>
          <p:cNvPr id="52" name="Text 48"/>
          <p:cNvSpPr txBox="1"/>
          <p:nvPr/>
        </p:nvSpPr>
        <p:spPr>
          <a:xfrm>
            <a:off x="4305688" y="2397660"/>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auth:otp:session:{phone}</a:t>
            </a:r>
            <a:endParaRPr lang="en-US" sz="1200" dirty="0"/>
          </a:p>
        </p:txBody>
      </p:sp>
      <p:sp>
        <p:nvSpPr>
          <p:cNvPr id="53" name="Text 49"/>
          <p:cNvSpPr txBox="1"/>
          <p:nvPr/>
        </p:nvSpPr>
        <p:spPr>
          <a:xfrm>
            <a:off x="4305688" y="2641435"/>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auth:refresh:{sha256}</a:t>
            </a:r>
            <a:endParaRPr lang="en-US" sz="1200" dirty="0"/>
          </a:p>
        </p:txBody>
      </p:sp>
      <p:sp>
        <p:nvSpPr>
          <p:cNvPr id="54" name="Text 50"/>
          <p:cNvSpPr txBox="1"/>
          <p:nvPr/>
        </p:nvSpPr>
        <p:spPr>
          <a:xfrm>
            <a:off x="4305688" y="2885209"/>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dispatch:offer:booking:{id}</a:t>
            </a:r>
            <a:endParaRPr lang="en-US" sz="1200" dirty="0"/>
          </a:p>
        </p:txBody>
      </p:sp>
      <p:sp>
        <p:nvSpPr>
          <p:cNvPr id="55" name="Text 51"/>
          <p:cNvSpPr txBox="1"/>
          <p:nvPr/>
        </p:nvSpPr>
        <p:spPr>
          <a:xfrm>
            <a:off x="4305688" y="3128983"/>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dispatch:lock:provider:{id}</a:t>
            </a:r>
            <a:endParaRPr lang="en-US" sz="1200" dirty="0"/>
          </a:p>
        </p:txBody>
      </p:sp>
      <p:sp>
        <p:nvSpPr>
          <p:cNvPr id="56" name="Text 52"/>
          <p:cNvSpPr txBox="1"/>
          <p:nvPr/>
        </p:nvSpPr>
        <p:spPr>
          <a:xfrm>
            <a:off x="4305688" y="3372758"/>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location:latest:{providerId}</a:t>
            </a:r>
            <a:endParaRPr lang="en-US" sz="1200" dirty="0"/>
          </a:p>
        </p:txBody>
      </p:sp>
      <p:sp>
        <p:nvSpPr>
          <p:cNvPr id="57" name="Text 53"/>
          <p:cNvSpPr txBox="1"/>
          <p:nvPr/>
        </p:nvSpPr>
        <p:spPr>
          <a:xfrm>
            <a:off x="4305688" y="3616532"/>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payment:idem:{key}</a:t>
            </a:r>
            <a:endParaRPr lang="en-US" sz="1200" dirty="0"/>
          </a:p>
        </p:txBody>
      </p:sp>
      <p:sp>
        <p:nvSpPr>
          <p:cNvPr id="58" name="Text 54"/>
          <p:cNvSpPr txBox="1"/>
          <p:nvPr/>
        </p:nvSpPr>
        <p:spPr>
          <a:xfrm>
            <a:off x="4305688" y="3860307"/>
            <a:ext cx="400995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ourier New" pitchFamily="34" charset="0"/>
                <a:ea typeface="Courier New" pitchFamily="34" charset="-122"/>
                <a:cs typeface="Courier New" pitchFamily="34" charset="-120"/>
              </a:rPr>
              <a:t>gw:ratelimit:user:{sub}</a:t>
            </a:r>
            <a:endParaRPr lang="en-US" sz="1200" dirty="0"/>
          </a:p>
        </p:txBody>
      </p:sp>
      <p:sp>
        <p:nvSpPr>
          <p:cNvPr id="59" name="Shape 55"/>
          <p:cNvSpPr/>
          <p:nvPr/>
        </p:nvSpPr>
        <p:spPr>
          <a:xfrm>
            <a:off x="8197149" y="1775376"/>
            <a:ext cx="3181767" cy="3259453"/>
          </a:xfrm>
          <a:prstGeom prst="roundRect">
            <a:avLst>
              <a:gd name="adj" fmla="val 3193"/>
            </a:avLst>
          </a:prstGeom>
          <a:solidFill>
            <a:srgbClr val="FCFDFF"/>
          </a:solidFill>
          <a:ln w="6350">
            <a:solidFill>
              <a:srgbClr val="D5DEEC"/>
            </a:solidFill>
            <a:prstDash val="solid"/>
          </a:ln>
        </p:spPr>
      </p:sp>
      <p:sp>
        <p:nvSpPr>
          <p:cNvPr id="60" name="Shape 56"/>
          <p:cNvSpPr/>
          <p:nvPr/>
        </p:nvSpPr>
        <p:spPr>
          <a:xfrm>
            <a:off x="8197149" y="1775376"/>
            <a:ext cx="3181767" cy="50799"/>
          </a:xfrm>
          <a:prstGeom prst="roundRect">
            <a:avLst>
              <a:gd name="adj" fmla="val 50000"/>
            </a:avLst>
          </a:prstGeom>
          <a:solidFill>
            <a:srgbClr val="4B4B9A"/>
          </a:solidFill>
          <a:ln/>
        </p:spPr>
      </p:sp>
      <p:sp>
        <p:nvSpPr>
          <p:cNvPr id="61" name="Shape 57"/>
          <p:cNvSpPr/>
          <p:nvPr/>
        </p:nvSpPr>
        <p:spPr>
          <a:xfrm>
            <a:off x="8355895" y="1978571"/>
            <a:ext cx="330192" cy="330192"/>
          </a:xfrm>
          <a:prstGeom prst="ellipse">
            <a:avLst/>
          </a:prstGeom>
          <a:solidFill>
            <a:srgbClr val="E7E7F6"/>
          </a:solidFill>
          <a:ln/>
        </p:spPr>
      </p:sp>
      <p:pic>
        <p:nvPicPr>
          <p:cNvPr id="62" name="Image 2" descr="preencoded.png">    </p:cNvPr>
          <p:cNvPicPr>
            <a:picLocks noChangeAspect="1"/>
          </p:cNvPicPr>
          <p:nvPr/>
        </p:nvPicPr>
        <p:blipFill>
          <a:blip r:embed="rId3"/>
          <a:stretch>
            <a:fillRect/>
          </a:stretch>
        </p:blipFill>
        <p:spPr>
          <a:xfrm>
            <a:off x="8432093" y="2054769"/>
            <a:ext cx="177796" cy="177796"/>
          </a:xfrm>
          <a:prstGeom prst="rect">
            <a:avLst/>
          </a:prstGeom>
        </p:spPr>
      </p:pic>
      <p:sp>
        <p:nvSpPr>
          <p:cNvPr id="63" name="Text 58"/>
          <p:cNvSpPr txBox="1"/>
          <p:nvPr/>
        </p:nvSpPr>
        <p:spPr>
          <a:xfrm>
            <a:off x="8774985" y="2029370"/>
            <a:ext cx="565632"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Kafka</a:t>
            </a:r>
            <a:endParaRPr lang="en-US" sz="1500" dirty="0"/>
          </a:p>
        </p:txBody>
      </p:sp>
      <p:sp>
        <p:nvSpPr>
          <p:cNvPr id="64" name="Shape 59"/>
          <p:cNvSpPr/>
          <p:nvPr/>
        </p:nvSpPr>
        <p:spPr>
          <a:xfrm>
            <a:off x="8355895" y="2397660"/>
            <a:ext cx="1270762" cy="299633"/>
          </a:xfrm>
          <a:prstGeom prst="roundRect">
            <a:avLst>
              <a:gd name="adj" fmla="val 21192"/>
            </a:avLst>
          </a:prstGeom>
          <a:solidFill>
            <a:srgbClr val="E7E7F6"/>
          </a:solidFill>
          <a:ln/>
        </p:spPr>
      </p:sp>
      <p:sp>
        <p:nvSpPr>
          <p:cNvPr id="65" name="Text 60"/>
          <p:cNvSpPr txBox="1"/>
          <p:nvPr/>
        </p:nvSpPr>
        <p:spPr>
          <a:xfrm>
            <a:off x="8444793" y="2448459"/>
            <a:ext cx="122412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BookingCreated</a:t>
            </a:r>
            <a:endParaRPr lang="en-US" sz="1200" dirty="0"/>
          </a:p>
        </p:txBody>
      </p:sp>
      <p:sp>
        <p:nvSpPr>
          <p:cNvPr id="66" name="Shape 61"/>
          <p:cNvSpPr/>
          <p:nvPr/>
        </p:nvSpPr>
        <p:spPr>
          <a:xfrm>
            <a:off x="9690155" y="2397660"/>
            <a:ext cx="1380694" cy="299633"/>
          </a:xfrm>
          <a:prstGeom prst="roundRect">
            <a:avLst>
              <a:gd name="adj" fmla="val 21192"/>
            </a:avLst>
          </a:prstGeom>
          <a:solidFill>
            <a:srgbClr val="E7E7F6"/>
          </a:solidFill>
          <a:ln/>
        </p:spPr>
      </p:sp>
      <p:sp>
        <p:nvSpPr>
          <p:cNvPr id="67" name="Text 62"/>
          <p:cNvSpPr txBox="1"/>
          <p:nvPr/>
        </p:nvSpPr>
        <p:spPr>
          <a:xfrm>
            <a:off x="9779053" y="2448459"/>
            <a:ext cx="134724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ProviderAccepted</a:t>
            </a:r>
            <a:endParaRPr lang="en-US" sz="1200" dirty="0"/>
          </a:p>
        </p:txBody>
      </p:sp>
      <p:sp>
        <p:nvSpPr>
          <p:cNvPr id="68" name="Shape 63"/>
          <p:cNvSpPr/>
          <p:nvPr/>
        </p:nvSpPr>
        <p:spPr>
          <a:xfrm>
            <a:off x="8355895" y="2760792"/>
            <a:ext cx="1346762" cy="299633"/>
          </a:xfrm>
          <a:prstGeom prst="roundRect">
            <a:avLst>
              <a:gd name="adj" fmla="val 21192"/>
            </a:avLst>
          </a:prstGeom>
          <a:solidFill>
            <a:srgbClr val="E7E7F6"/>
          </a:solidFill>
          <a:ln/>
        </p:spPr>
      </p:sp>
      <p:sp>
        <p:nvSpPr>
          <p:cNvPr id="69" name="Text 64"/>
          <p:cNvSpPr txBox="1"/>
          <p:nvPr/>
        </p:nvSpPr>
        <p:spPr>
          <a:xfrm>
            <a:off x="8444793" y="2811591"/>
            <a:ext cx="130924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ProviderRejected</a:t>
            </a:r>
            <a:endParaRPr lang="en-US" sz="1200" dirty="0"/>
          </a:p>
        </p:txBody>
      </p:sp>
      <p:sp>
        <p:nvSpPr>
          <p:cNvPr id="70" name="Shape 65"/>
          <p:cNvSpPr/>
          <p:nvPr/>
        </p:nvSpPr>
        <p:spPr>
          <a:xfrm>
            <a:off x="9766155" y="2760792"/>
            <a:ext cx="914873" cy="299633"/>
          </a:xfrm>
          <a:prstGeom prst="roundRect">
            <a:avLst>
              <a:gd name="adj" fmla="val 21192"/>
            </a:avLst>
          </a:prstGeom>
          <a:solidFill>
            <a:srgbClr val="E7E7F6"/>
          </a:solidFill>
          <a:ln/>
        </p:spPr>
      </p:sp>
      <p:sp>
        <p:nvSpPr>
          <p:cNvPr id="71" name="Text 66"/>
          <p:cNvSpPr txBox="1"/>
          <p:nvPr/>
        </p:nvSpPr>
        <p:spPr>
          <a:xfrm>
            <a:off x="9855053" y="2811591"/>
            <a:ext cx="825527"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JobStarted</a:t>
            </a:r>
            <a:endParaRPr lang="en-US" sz="1200" dirty="0"/>
          </a:p>
        </p:txBody>
      </p:sp>
      <p:sp>
        <p:nvSpPr>
          <p:cNvPr id="72" name="Shape 67"/>
          <p:cNvSpPr/>
          <p:nvPr/>
        </p:nvSpPr>
        <p:spPr>
          <a:xfrm>
            <a:off x="8355895" y="3123923"/>
            <a:ext cx="1160533" cy="299633"/>
          </a:xfrm>
          <a:prstGeom prst="roundRect">
            <a:avLst>
              <a:gd name="adj" fmla="val 21192"/>
            </a:avLst>
          </a:prstGeom>
          <a:solidFill>
            <a:srgbClr val="E7E7F6"/>
          </a:solidFill>
          <a:ln/>
        </p:spPr>
      </p:sp>
      <p:sp>
        <p:nvSpPr>
          <p:cNvPr id="73" name="Text 68"/>
          <p:cNvSpPr txBox="1"/>
          <p:nvPr/>
        </p:nvSpPr>
        <p:spPr>
          <a:xfrm>
            <a:off x="8444793" y="3174722"/>
            <a:ext cx="110066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JobCompleted</a:t>
            </a:r>
            <a:endParaRPr lang="en-US" sz="1200" dirty="0"/>
          </a:p>
        </p:txBody>
      </p:sp>
      <p:sp>
        <p:nvSpPr>
          <p:cNvPr id="74" name="Shape 69"/>
          <p:cNvSpPr/>
          <p:nvPr/>
        </p:nvSpPr>
        <p:spPr>
          <a:xfrm>
            <a:off x="9579926" y="3123923"/>
            <a:ext cx="1516223" cy="299633"/>
          </a:xfrm>
          <a:prstGeom prst="roundRect">
            <a:avLst>
              <a:gd name="adj" fmla="val 21192"/>
            </a:avLst>
          </a:prstGeom>
          <a:solidFill>
            <a:srgbClr val="E7E7F6"/>
          </a:solidFill>
          <a:ln/>
        </p:spPr>
      </p:sp>
      <p:sp>
        <p:nvSpPr>
          <p:cNvPr id="75" name="Text 70"/>
          <p:cNvSpPr txBox="1"/>
          <p:nvPr/>
        </p:nvSpPr>
        <p:spPr>
          <a:xfrm>
            <a:off x="9668824" y="3174722"/>
            <a:ext cx="149903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PaymentCompleted</a:t>
            </a:r>
            <a:endParaRPr lang="en-US" sz="1200" dirty="0"/>
          </a:p>
        </p:txBody>
      </p:sp>
      <p:sp>
        <p:nvSpPr>
          <p:cNvPr id="76" name="Shape 71"/>
          <p:cNvSpPr/>
          <p:nvPr/>
        </p:nvSpPr>
        <p:spPr>
          <a:xfrm>
            <a:off x="8355895" y="3487055"/>
            <a:ext cx="1406291" cy="299633"/>
          </a:xfrm>
          <a:prstGeom prst="roundRect">
            <a:avLst>
              <a:gd name="adj" fmla="val 21192"/>
            </a:avLst>
          </a:prstGeom>
          <a:solidFill>
            <a:srgbClr val="E7E7F6"/>
          </a:solidFill>
          <a:ln/>
        </p:spPr>
      </p:sp>
      <p:sp>
        <p:nvSpPr>
          <p:cNvPr id="77" name="Text 72"/>
          <p:cNvSpPr txBox="1"/>
          <p:nvPr/>
        </p:nvSpPr>
        <p:spPr>
          <a:xfrm>
            <a:off x="8444793" y="3537854"/>
            <a:ext cx="137591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BookingCancelled</a:t>
            </a:r>
            <a:endParaRPr lang="en-US" sz="1200" dirty="0"/>
          </a:p>
        </p:txBody>
      </p:sp>
      <p:sp>
        <p:nvSpPr>
          <p:cNvPr id="78" name="Shape 73"/>
          <p:cNvSpPr/>
          <p:nvPr/>
        </p:nvSpPr>
        <p:spPr>
          <a:xfrm>
            <a:off x="9825685" y="3487055"/>
            <a:ext cx="1363628" cy="299633"/>
          </a:xfrm>
          <a:prstGeom prst="roundRect">
            <a:avLst>
              <a:gd name="adj" fmla="val 21192"/>
            </a:avLst>
          </a:prstGeom>
          <a:solidFill>
            <a:srgbClr val="E7E7F6"/>
          </a:solidFill>
          <a:ln/>
        </p:spPr>
      </p:sp>
      <p:sp>
        <p:nvSpPr>
          <p:cNvPr id="79" name="Text 74"/>
          <p:cNvSpPr txBox="1"/>
          <p:nvPr/>
        </p:nvSpPr>
        <p:spPr>
          <a:xfrm>
            <a:off x="9914583" y="3537854"/>
            <a:ext cx="132813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ReviewSubmitted</a:t>
            </a:r>
            <a:endParaRPr lang="en-US" sz="1200" dirty="0"/>
          </a:p>
        </p:txBody>
      </p:sp>
      <p:sp>
        <p:nvSpPr>
          <p:cNvPr id="80" name="Shape 75"/>
          <p:cNvSpPr/>
          <p:nvPr/>
        </p:nvSpPr>
        <p:spPr>
          <a:xfrm>
            <a:off x="8355895" y="3850187"/>
            <a:ext cx="1406093" cy="299633"/>
          </a:xfrm>
          <a:prstGeom prst="roundRect">
            <a:avLst>
              <a:gd name="adj" fmla="val 21192"/>
            </a:avLst>
          </a:prstGeom>
          <a:solidFill>
            <a:srgbClr val="E7E7F6"/>
          </a:solidFill>
          <a:ln/>
        </p:spPr>
      </p:sp>
      <p:sp>
        <p:nvSpPr>
          <p:cNvPr id="81" name="Text 76"/>
          <p:cNvSpPr txBox="1"/>
          <p:nvPr/>
        </p:nvSpPr>
        <p:spPr>
          <a:xfrm>
            <a:off x="8444793" y="3900985"/>
            <a:ext cx="137569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ComplaintCreated</a:t>
            </a:r>
            <a:endParaRPr lang="en-US" sz="1200" dirty="0"/>
          </a:p>
        </p:txBody>
      </p:sp>
      <p:sp>
        <p:nvSpPr>
          <p:cNvPr id="82" name="Shape 77"/>
          <p:cNvSpPr/>
          <p:nvPr/>
        </p:nvSpPr>
        <p:spPr>
          <a:xfrm>
            <a:off x="9825486" y="3850187"/>
            <a:ext cx="783511" cy="299633"/>
          </a:xfrm>
          <a:prstGeom prst="roundRect">
            <a:avLst>
              <a:gd name="adj" fmla="val 21192"/>
            </a:avLst>
          </a:prstGeom>
          <a:solidFill>
            <a:srgbClr val="E7E7F6"/>
          </a:solidFill>
          <a:ln/>
        </p:spPr>
      </p:sp>
      <p:sp>
        <p:nvSpPr>
          <p:cNvPr id="83" name="Text 78"/>
          <p:cNvSpPr txBox="1"/>
          <p:nvPr/>
        </p:nvSpPr>
        <p:spPr>
          <a:xfrm>
            <a:off x="9914384" y="3900985"/>
            <a:ext cx="68191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+ 4 more</a:t>
            </a:r>
            <a:endParaRPr lang="en-US" sz="1200" dirty="0"/>
          </a:p>
        </p:txBody>
      </p:sp>
      <p:sp>
        <p:nvSpPr>
          <p:cNvPr id="84" name="Text 79"/>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Data model</a:t>
            </a:r>
            <a:endParaRPr lang="en-US" sz="1200" dirty="0"/>
          </a:p>
        </p:txBody>
      </p:sp>
      <p:sp>
        <p:nvSpPr>
          <p:cNvPr id="85" name="Text 80"/>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READINESS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happy path works; the edges are still stubs</a:t>
            </a:r>
            <a:endParaRPr lang="en-US" sz="3000" dirty="0"/>
          </a:p>
        </p:txBody>
      </p:sp>
      <p:sp>
        <p:nvSpPr>
          <p:cNvPr id="4" name="Shape 2"/>
          <p:cNvSpPr/>
          <p:nvPr/>
        </p:nvSpPr>
        <p:spPr>
          <a:xfrm>
            <a:off x="812780" y="1775376"/>
            <a:ext cx="5181470" cy="2459571"/>
          </a:xfrm>
          <a:prstGeom prst="roundRect">
            <a:avLst>
              <a:gd name="adj" fmla="val 4131"/>
            </a:avLst>
          </a:prstGeom>
          <a:solidFill>
            <a:srgbClr val="FCFDFF"/>
          </a:solidFill>
          <a:ln w="6350">
            <a:solidFill>
              <a:srgbClr val="D5DEEC"/>
            </a:solidFill>
            <a:prstDash val="solid"/>
          </a:ln>
        </p:spPr>
      </p:sp>
      <p:sp>
        <p:nvSpPr>
          <p:cNvPr id="5" name="Shape 3"/>
          <p:cNvSpPr/>
          <p:nvPr/>
        </p:nvSpPr>
        <p:spPr>
          <a:xfrm>
            <a:off x="812780" y="1775376"/>
            <a:ext cx="5181470" cy="50799"/>
          </a:xfrm>
          <a:prstGeom prst="roundRect">
            <a:avLst>
              <a:gd name="adj" fmla="val 50000"/>
            </a:avLst>
          </a:prstGeom>
          <a:solidFill>
            <a:srgbClr val="2E7D4F"/>
          </a:solidFill>
          <a:ln/>
        </p:spPr>
      </p:sp>
      <p:sp>
        <p:nvSpPr>
          <p:cNvPr id="6" name="Shape 4"/>
          <p:cNvSpPr/>
          <p:nvPr/>
        </p:nvSpPr>
        <p:spPr>
          <a:xfrm>
            <a:off x="971526" y="1978571"/>
            <a:ext cx="330192" cy="330192"/>
          </a:xfrm>
          <a:prstGeom prst="ellipse">
            <a:avLst/>
          </a:prstGeom>
          <a:solidFill>
            <a:srgbClr val="E0F2E8"/>
          </a:solidFill>
          <a:ln/>
        </p:spPr>
      </p:sp>
      <p:pic>
        <p:nvPicPr>
          <p:cNvPr id="7" name="Image 0" descr="preencoded.png">    </p:cNvPr>
          <p:cNvPicPr>
            <a:picLocks noChangeAspect="1"/>
          </p:cNvPicPr>
          <p:nvPr/>
        </p:nvPicPr>
        <p:blipFill>
          <a:blip r:embed="rId1"/>
          <a:stretch>
            <a:fillRect/>
          </a:stretch>
        </p:blipFill>
        <p:spPr>
          <a:xfrm>
            <a:off x="1047724" y="2054769"/>
            <a:ext cx="177796" cy="177796"/>
          </a:xfrm>
          <a:prstGeom prst="rect">
            <a:avLst/>
          </a:prstGeom>
        </p:spPr>
      </p:pic>
      <p:sp>
        <p:nvSpPr>
          <p:cNvPr id="8" name="Text 5"/>
          <p:cNvSpPr txBox="1"/>
          <p:nvPr/>
        </p:nvSpPr>
        <p:spPr>
          <a:xfrm>
            <a:off x="1390615" y="2029370"/>
            <a:ext cx="1748508"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Works end to end</a:t>
            </a:r>
            <a:endParaRPr lang="en-US" sz="1500" dirty="0"/>
          </a:p>
        </p:txBody>
      </p:sp>
      <p:pic>
        <p:nvPicPr>
          <p:cNvPr id="9" name="Image 1" descr="preencoded.png">    </p:cNvPr>
          <p:cNvPicPr>
            <a:picLocks noChangeAspect="1"/>
          </p:cNvPicPr>
          <p:nvPr/>
        </p:nvPicPr>
        <p:blipFill>
          <a:blip r:embed="rId2"/>
          <a:stretch>
            <a:fillRect/>
          </a:stretch>
        </p:blipFill>
        <p:spPr>
          <a:xfrm>
            <a:off x="971526" y="2405201"/>
            <a:ext cx="190495" cy="190495"/>
          </a:xfrm>
          <a:prstGeom prst="rect">
            <a:avLst/>
          </a:prstGeom>
        </p:spPr>
      </p:pic>
      <p:sp>
        <p:nvSpPr>
          <p:cNvPr id="10" name="Text 6"/>
          <p:cNvSpPr txBox="1"/>
          <p:nvPr/>
        </p:nvSpPr>
        <p:spPr>
          <a:xfrm>
            <a:off x="1250919" y="2397660"/>
            <a:ext cx="2833839"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OTP, email, Google and Apple sign-in</a:t>
            </a:r>
            <a:endParaRPr lang="en-US" sz="1200" dirty="0"/>
          </a:p>
        </p:txBody>
      </p:sp>
      <p:pic>
        <p:nvPicPr>
          <p:cNvPr id="11" name="Image 2" descr="preencoded.png">    </p:cNvPr>
          <p:cNvPicPr>
            <a:picLocks noChangeAspect="1"/>
          </p:cNvPicPr>
          <p:nvPr/>
        </p:nvPicPr>
        <p:blipFill>
          <a:blip r:embed="rId3"/>
          <a:stretch>
            <a:fillRect/>
          </a:stretch>
        </p:blipFill>
        <p:spPr>
          <a:xfrm>
            <a:off x="971526" y="2699774"/>
            <a:ext cx="190495" cy="190495"/>
          </a:xfrm>
          <a:prstGeom prst="rect">
            <a:avLst/>
          </a:prstGeom>
        </p:spPr>
      </p:pic>
      <p:sp>
        <p:nvSpPr>
          <p:cNvPr id="12" name="Text 7"/>
          <p:cNvSpPr txBox="1"/>
          <p:nvPr/>
        </p:nvSpPr>
        <p:spPr>
          <a:xfrm>
            <a:off x="1250919" y="2692233"/>
            <a:ext cx="2956962"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Book, offer to several providers, accept</a:t>
            </a:r>
            <a:endParaRPr lang="en-US" sz="1200" dirty="0"/>
          </a:p>
        </p:txBody>
      </p:sp>
      <p:pic>
        <p:nvPicPr>
          <p:cNvPr id="13" name="Image 3" descr="preencoded.png">    </p:cNvPr>
          <p:cNvPicPr>
            <a:picLocks noChangeAspect="1"/>
          </p:cNvPicPr>
          <p:nvPr/>
        </p:nvPicPr>
        <p:blipFill>
          <a:blip r:embed="rId4"/>
          <a:stretch>
            <a:fillRect/>
          </a:stretch>
        </p:blipFill>
        <p:spPr>
          <a:xfrm>
            <a:off x="971526" y="2994347"/>
            <a:ext cx="190495" cy="190495"/>
          </a:xfrm>
          <a:prstGeom prst="rect">
            <a:avLst/>
          </a:prstGeom>
        </p:spPr>
      </p:pic>
      <p:sp>
        <p:nvSpPr>
          <p:cNvPr id="14" name="Text 8"/>
          <p:cNvSpPr txBox="1"/>
          <p:nvPr/>
        </p:nvSpPr>
        <p:spPr>
          <a:xfrm>
            <a:off x="1250919" y="2986807"/>
            <a:ext cx="308330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Start, complete, Razorpay pay and verify</a:t>
            </a:r>
            <a:endParaRPr lang="en-US" sz="1200" dirty="0"/>
          </a:p>
        </p:txBody>
      </p:sp>
      <p:pic>
        <p:nvPicPr>
          <p:cNvPr id="15" name="Image 4" descr="preencoded.png">    </p:cNvPr>
          <p:cNvPicPr>
            <a:picLocks noChangeAspect="1"/>
          </p:cNvPicPr>
          <p:nvPr/>
        </p:nvPicPr>
        <p:blipFill>
          <a:blip r:embed="rId5"/>
          <a:stretch>
            <a:fillRect/>
          </a:stretch>
        </p:blipFill>
        <p:spPr>
          <a:xfrm>
            <a:off x="971526" y="3288920"/>
            <a:ext cx="190495" cy="190495"/>
          </a:xfrm>
          <a:prstGeom prst="rect">
            <a:avLst/>
          </a:prstGeom>
        </p:spPr>
      </p:pic>
      <p:sp>
        <p:nvSpPr>
          <p:cNvPr id="16" name="Text 9"/>
          <p:cNvSpPr txBox="1"/>
          <p:nvPr/>
        </p:nvSpPr>
        <p:spPr>
          <a:xfrm>
            <a:off x="1250919" y="3281380"/>
            <a:ext cx="229589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Outbox to Kafka to consumers</a:t>
            </a:r>
            <a:endParaRPr lang="en-US" sz="1200" dirty="0"/>
          </a:p>
        </p:txBody>
      </p:sp>
      <p:pic>
        <p:nvPicPr>
          <p:cNvPr id="17" name="Image 5" descr="preencoded.png">    </p:cNvPr>
          <p:cNvPicPr>
            <a:picLocks noChangeAspect="1"/>
          </p:cNvPicPr>
          <p:nvPr/>
        </p:nvPicPr>
        <p:blipFill>
          <a:blip r:embed="rId6"/>
          <a:stretch>
            <a:fillRect/>
          </a:stretch>
        </p:blipFill>
        <p:spPr>
          <a:xfrm>
            <a:off x="971526" y="3583493"/>
            <a:ext cx="190495" cy="190495"/>
          </a:xfrm>
          <a:prstGeom prst="rect">
            <a:avLst/>
          </a:prstGeom>
        </p:spPr>
      </p:pic>
      <p:sp>
        <p:nvSpPr>
          <p:cNvPr id="18" name="Text 10"/>
          <p:cNvSpPr txBox="1"/>
          <p:nvPr/>
        </p:nvSpPr>
        <p:spPr>
          <a:xfrm>
            <a:off x="1250919" y="3575953"/>
            <a:ext cx="257781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Agency fallback and Tenant Portal</a:t>
            </a:r>
            <a:endParaRPr lang="en-US" sz="1200" dirty="0"/>
          </a:p>
        </p:txBody>
      </p:sp>
      <p:pic>
        <p:nvPicPr>
          <p:cNvPr id="19" name="Image 6" descr="preencoded.png">    </p:cNvPr>
          <p:cNvPicPr>
            <a:picLocks noChangeAspect="1"/>
          </p:cNvPicPr>
          <p:nvPr/>
        </p:nvPicPr>
        <p:blipFill>
          <a:blip r:embed="rId7"/>
          <a:stretch>
            <a:fillRect/>
          </a:stretch>
        </p:blipFill>
        <p:spPr>
          <a:xfrm>
            <a:off x="971526" y="3878066"/>
            <a:ext cx="190495" cy="190495"/>
          </a:xfrm>
          <a:prstGeom prst="rect">
            <a:avLst/>
          </a:prstGeom>
        </p:spPr>
      </p:pic>
      <p:sp>
        <p:nvSpPr>
          <p:cNvPr id="20" name="Text 11"/>
          <p:cNvSpPr txBox="1"/>
          <p:nvPr/>
        </p:nvSpPr>
        <p:spPr>
          <a:xfrm>
            <a:off x="1250919" y="3870526"/>
            <a:ext cx="252403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Smoke 78/78, booking flow 53/53</a:t>
            </a:r>
            <a:endParaRPr lang="en-US" sz="1200" dirty="0"/>
          </a:p>
        </p:txBody>
      </p:sp>
      <p:sp>
        <p:nvSpPr>
          <p:cNvPr id="21" name="Shape 12"/>
          <p:cNvSpPr/>
          <p:nvPr/>
        </p:nvSpPr>
        <p:spPr>
          <a:xfrm>
            <a:off x="6197445" y="1775376"/>
            <a:ext cx="5181470" cy="2459571"/>
          </a:xfrm>
          <a:prstGeom prst="roundRect">
            <a:avLst>
              <a:gd name="adj" fmla="val 4131"/>
            </a:avLst>
          </a:prstGeom>
          <a:solidFill>
            <a:srgbClr val="FCFDFF"/>
          </a:solidFill>
          <a:ln w="6350">
            <a:solidFill>
              <a:srgbClr val="D5DEEC"/>
            </a:solidFill>
            <a:prstDash val="solid"/>
          </a:ln>
        </p:spPr>
      </p:sp>
      <p:sp>
        <p:nvSpPr>
          <p:cNvPr id="22" name="Shape 13"/>
          <p:cNvSpPr/>
          <p:nvPr/>
        </p:nvSpPr>
        <p:spPr>
          <a:xfrm>
            <a:off x="6197445" y="1775376"/>
            <a:ext cx="5181470" cy="50799"/>
          </a:xfrm>
          <a:prstGeom prst="roundRect">
            <a:avLst>
              <a:gd name="adj" fmla="val 50000"/>
            </a:avLst>
          </a:prstGeom>
          <a:solidFill>
            <a:srgbClr val="B4530F"/>
          </a:solidFill>
          <a:ln/>
        </p:spPr>
      </p:sp>
      <p:sp>
        <p:nvSpPr>
          <p:cNvPr id="23" name="Shape 14"/>
          <p:cNvSpPr/>
          <p:nvPr/>
        </p:nvSpPr>
        <p:spPr>
          <a:xfrm>
            <a:off x="6356191" y="1978571"/>
            <a:ext cx="330192" cy="330192"/>
          </a:xfrm>
          <a:prstGeom prst="ellipse">
            <a:avLst/>
          </a:prstGeom>
          <a:solidFill>
            <a:srgbClr val="FCEBDD"/>
          </a:solidFill>
          <a:ln/>
        </p:spPr>
      </p:sp>
      <p:pic>
        <p:nvPicPr>
          <p:cNvPr id="24" name="Image 7" descr="preencoded.png">    </p:cNvPr>
          <p:cNvPicPr>
            <a:picLocks noChangeAspect="1"/>
          </p:cNvPicPr>
          <p:nvPr/>
        </p:nvPicPr>
        <p:blipFill>
          <a:blip r:embed="rId8"/>
          <a:stretch>
            <a:fillRect/>
          </a:stretch>
        </p:blipFill>
        <p:spPr>
          <a:xfrm>
            <a:off x="6432389" y="2054769"/>
            <a:ext cx="177796" cy="177796"/>
          </a:xfrm>
          <a:prstGeom prst="rect">
            <a:avLst/>
          </a:prstGeom>
        </p:spPr>
      </p:pic>
      <p:sp>
        <p:nvSpPr>
          <p:cNvPr id="25" name="Text 15"/>
          <p:cNvSpPr txBox="1"/>
          <p:nvPr/>
        </p:nvSpPr>
        <p:spPr>
          <a:xfrm>
            <a:off x="6775281" y="2029370"/>
            <a:ext cx="1856297"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Stubbed or broken</a:t>
            </a:r>
            <a:endParaRPr lang="en-US" sz="1500" dirty="0"/>
          </a:p>
        </p:txBody>
      </p:sp>
      <p:pic>
        <p:nvPicPr>
          <p:cNvPr id="26" name="Image 8" descr="preencoded.png">    </p:cNvPr>
          <p:cNvPicPr>
            <a:picLocks noChangeAspect="1"/>
          </p:cNvPicPr>
          <p:nvPr/>
        </p:nvPicPr>
        <p:blipFill>
          <a:blip r:embed="rId9"/>
          <a:stretch>
            <a:fillRect/>
          </a:stretch>
        </p:blipFill>
        <p:spPr>
          <a:xfrm>
            <a:off x="6356191" y="2405201"/>
            <a:ext cx="190495" cy="190495"/>
          </a:xfrm>
          <a:prstGeom prst="rect">
            <a:avLst/>
          </a:prstGeom>
        </p:spPr>
      </p:pic>
      <p:sp>
        <p:nvSpPr>
          <p:cNvPr id="27" name="Text 16"/>
          <p:cNvSpPr txBox="1"/>
          <p:nvPr/>
        </p:nvSpPr>
        <p:spPr>
          <a:xfrm>
            <a:off x="6635584" y="2397660"/>
            <a:ext cx="197330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SMS, email, push only log</a:t>
            </a:r>
            <a:endParaRPr lang="en-US" sz="1200" dirty="0"/>
          </a:p>
        </p:txBody>
      </p:sp>
      <p:pic>
        <p:nvPicPr>
          <p:cNvPr id="28" name="Image 9" descr="preencoded.png">    </p:cNvPr>
          <p:cNvPicPr>
            <a:picLocks noChangeAspect="1"/>
          </p:cNvPicPr>
          <p:nvPr/>
        </p:nvPicPr>
        <p:blipFill>
          <a:blip r:embed="rId10"/>
          <a:stretch>
            <a:fillRect/>
          </a:stretch>
        </p:blipFill>
        <p:spPr>
          <a:xfrm>
            <a:off x="6356191" y="2699774"/>
            <a:ext cx="190495" cy="190495"/>
          </a:xfrm>
          <a:prstGeom prst="rect">
            <a:avLst/>
          </a:prstGeom>
        </p:spPr>
      </p:pic>
      <p:sp>
        <p:nvSpPr>
          <p:cNvPr id="29" name="Text 17"/>
          <p:cNvSpPr txBox="1"/>
          <p:nvPr/>
        </p:nvSpPr>
        <p:spPr>
          <a:xfrm>
            <a:off x="6635584" y="2692233"/>
            <a:ext cx="148037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S3 storage stubbed</a:t>
            </a:r>
            <a:endParaRPr lang="en-US" sz="1200" dirty="0"/>
          </a:p>
        </p:txBody>
      </p:sp>
      <p:pic>
        <p:nvPicPr>
          <p:cNvPr id="30" name="Image 10" descr="preencoded.png">    </p:cNvPr>
          <p:cNvPicPr>
            <a:picLocks noChangeAspect="1"/>
          </p:cNvPicPr>
          <p:nvPr/>
        </p:nvPicPr>
        <p:blipFill>
          <a:blip r:embed="rId11"/>
          <a:stretch>
            <a:fillRect/>
          </a:stretch>
        </p:blipFill>
        <p:spPr>
          <a:xfrm>
            <a:off x="6356191" y="2994347"/>
            <a:ext cx="190495" cy="190495"/>
          </a:xfrm>
          <a:prstGeom prst="rect">
            <a:avLst/>
          </a:prstGeom>
        </p:spPr>
      </p:pic>
      <p:sp>
        <p:nvSpPr>
          <p:cNvPr id="31" name="Text 18"/>
          <p:cNvSpPr txBox="1"/>
          <p:nvPr/>
        </p:nvSpPr>
        <p:spPr>
          <a:xfrm>
            <a:off x="6635584" y="2986807"/>
            <a:ext cx="236257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Complaint refunds and payouts</a:t>
            </a:r>
            <a:endParaRPr lang="en-US" sz="1200" dirty="0"/>
          </a:p>
        </p:txBody>
      </p:sp>
      <p:pic>
        <p:nvPicPr>
          <p:cNvPr id="32" name="Image 11" descr="preencoded.png">    </p:cNvPr>
          <p:cNvPicPr>
            <a:picLocks noChangeAspect="1"/>
          </p:cNvPicPr>
          <p:nvPr/>
        </p:nvPicPr>
        <p:blipFill>
          <a:blip r:embed="rId12"/>
          <a:stretch>
            <a:fillRect/>
          </a:stretch>
        </p:blipFill>
        <p:spPr>
          <a:xfrm>
            <a:off x="6356191" y="3288920"/>
            <a:ext cx="190495" cy="190495"/>
          </a:xfrm>
          <a:prstGeom prst="rect">
            <a:avLst/>
          </a:prstGeom>
        </p:spPr>
      </p:pic>
      <p:sp>
        <p:nvSpPr>
          <p:cNvPr id="33" name="Text 19"/>
          <p:cNvSpPr txBox="1"/>
          <p:nvPr/>
        </p:nvSpPr>
        <p:spPr>
          <a:xfrm>
            <a:off x="6635584" y="3281380"/>
            <a:ext cx="246702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Coupon redemption never called</a:t>
            </a:r>
            <a:endParaRPr lang="en-US" sz="1200" dirty="0"/>
          </a:p>
        </p:txBody>
      </p:sp>
      <p:pic>
        <p:nvPicPr>
          <p:cNvPr id="34" name="Image 12" descr="preencoded.png">    </p:cNvPr>
          <p:cNvPicPr>
            <a:picLocks noChangeAspect="1"/>
          </p:cNvPicPr>
          <p:nvPr/>
        </p:nvPicPr>
        <p:blipFill>
          <a:blip r:embed="rId13"/>
          <a:stretch>
            <a:fillRect/>
          </a:stretch>
        </p:blipFill>
        <p:spPr>
          <a:xfrm>
            <a:off x="6356191" y="3583493"/>
            <a:ext cx="190495" cy="190495"/>
          </a:xfrm>
          <a:prstGeom prst="rect">
            <a:avLst/>
          </a:prstGeom>
        </p:spPr>
      </p:pic>
      <p:sp>
        <p:nvSpPr>
          <p:cNvPr id="35" name="Text 20"/>
          <p:cNvSpPr txBox="1"/>
          <p:nvPr/>
        </p:nvSpPr>
        <p:spPr>
          <a:xfrm>
            <a:off x="6635584" y="3575953"/>
            <a:ext cx="2248558"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Reviews never update ratings</a:t>
            </a:r>
            <a:endParaRPr lang="en-US" sz="1200" dirty="0"/>
          </a:p>
        </p:txBody>
      </p:sp>
      <p:pic>
        <p:nvPicPr>
          <p:cNvPr id="36" name="Image 13" descr="preencoded.png">    </p:cNvPr>
          <p:cNvPicPr>
            <a:picLocks noChangeAspect="1"/>
          </p:cNvPicPr>
          <p:nvPr/>
        </p:nvPicPr>
        <p:blipFill>
          <a:blip r:embed="rId14"/>
          <a:stretch>
            <a:fillRect/>
          </a:stretch>
        </p:blipFill>
        <p:spPr>
          <a:xfrm>
            <a:off x="6356191" y="3878066"/>
            <a:ext cx="190495" cy="190495"/>
          </a:xfrm>
          <a:prstGeom prst="rect">
            <a:avLst/>
          </a:prstGeom>
        </p:spPr>
      </p:pic>
      <p:sp>
        <p:nvSpPr>
          <p:cNvPr id="37" name="Text 21"/>
          <p:cNvSpPr txBox="1"/>
          <p:nvPr/>
        </p:nvSpPr>
        <p:spPr>
          <a:xfrm>
            <a:off x="6635584" y="3870526"/>
            <a:ext cx="174573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Native builds never run</a:t>
            </a:r>
            <a:endParaRPr lang="en-US" sz="1200" dirty="0"/>
          </a:p>
        </p:txBody>
      </p:sp>
      <p:sp>
        <p:nvSpPr>
          <p:cNvPr id="38" name="Text 22"/>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Readiness</a:t>
            </a:r>
            <a:endParaRPr lang="en-US" sz="1200" dirty="0"/>
          </a:p>
        </p:txBody>
      </p:sp>
      <p:sp>
        <p:nvSpPr>
          <p:cNvPr id="39" name="Text 23"/>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TOPOLOGY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Eight containers in Docker; data services on the host</a:t>
            </a:r>
            <a:endParaRPr lang="en-US" sz="3000" dirty="0"/>
          </a:p>
        </p:txBody>
      </p:sp>
      <p:sp>
        <p:nvSpPr>
          <p:cNvPr id="4" name="Shape 2"/>
          <p:cNvSpPr/>
          <p:nvPr/>
        </p:nvSpPr>
        <p:spPr>
          <a:xfrm>
            <a:off x="812780" y="1803355"/>
            <a:ext cx="10566136" cy="3975001"/>
          </a:xfrm>
          <a:prstGeom prst="roundRect">
            <a:avLst>
              <a:gd name="adj" fmla="val 3195"/>
            </a:avLst>
          </a:prstGeom>
          <a:solidFill>
            <a:srgbClr val="EEF2F8"/>
          </a:solidFill>
          <a:ln w="12700">
            <a:solidFill>
              <a:srgbClr val="5C6B8A"/>
            </a:solidFill>
            <a:prstDash val="dash"/>
          </a:ln>
        </p:spPr>
      </p:sp>
      <p:sp>
        <p:nvSpPr>
          <p:cNvPr id="5" name="Text 3"/>
          <p:cNvSpPr txBox="1"/>
          <p:nvPr/>
        </p:nvSpPr>
        <p:spPr>
          <a:xfrm>
            <a:off x="939777" y="1879553"/>
            <a:ext cx="11549599"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5C6B8A"/>
                </a:solidFill>
                <a:latin typeface="Courier New" pitchFamily="34" charset="0"/>
                <a:ea typeface="Courier New" pitchFamily="34" charset="-122"/>
                <a:cs typeface="Courier New" pitchFamily="34" charset="-120"/>
              </a:rPr>
              <a:t>Windows 11 host</a:t>
            </a:r>
            <a:endParaRPr lang="en-US" sz="1200" dirty="0"/>
          </a:p>
        </p:txBody>
      </p:sp>
      <p:sp>
        <p:nvSpPr>
          <p:cNvPr id="6" name="Shape 4"/>
          <p:cNvSpPr/>
          <p:nvPr/>
        </p:nvSpPr>
        <p:spPr>
          <a:xfrm>
            <a:off x="1015975" y="2158946"/>
            <a:ext cx="1650959" cy="1396965"/>
          </a:xfrm>
          <a:prstGeom prst="roundRect">
            <a:avLst>
              <a:gd name="adj" fmla="val 6364"/>
            </a:avLst>
          </a:prstGeom>
          <a:solidFill>
            <a:srgbClr val="FCFDFF"/>
          </a:solidFill>
          <a:ln w="12700">
            <a:solidFill>
              <a:srgbClr val="2454C5"/>
            </a:solidFill>
            <a:prstDash val="solid"/>
          </a:ln>
        </p:spPr>
      </p:sp>
      <p:sp>
        <p:nvSpPr>
          <p:cNvPr id="7" name="Shape 5"/>
          <p:cNvSpPr/>
          <p:nvPr/>
        </p:nvSpPr>
        <p:spPr>
          <a:xfrm>
            <a:off x="1015975" y="2158946"/>
            <a:ext cx="50799" cy="1396965"/>
          </a:xfrm>
          <a:prstGeom prst="roundRect">
            <a:avLst>
              <a:gd name="adj" fmla="val 50000"/>
            </a:avLst>
          </a:prstGeom>
          <a:solidFill>
            <a:srgbClr val="2454C5"/>
          </a:solidFill>
          <a:ln/>
        </p:spPr>
      </p:sp>
      <p:pic>
        <p:nvPicPr>
          <p:cNvPr id="8" name="Image 0" descr="preencoded.png">    </p:cNvPr>
          <p:cNvPicPr>
            <a:picLocks noChangeAspect="1"/>
          </p:cNvPicPr>
          <p:nvPr/>
        </p:nvPicPr>
        <p:blipFill>
          <a:blip r:embed="rId1"/>
          <a:stretch>
            <a:fillRect/>
          </a:stretch>
        </p:blipFill>
        <p:spPr>
          <a:xfrm>
            <a:off x="1181070" y="2264314"/>
            <a:ext cx="190495" cy="190495"/>
          </a:xfrm>
          <a:prstGeom prst="rect">
            <a:avLst/>
          </a:prstGeom>
        </p:spPr>
      </p:pic>
      <p:sp>
        <p:nvSpPr>
          <p:cNvPr id="9" name="Text 6"/>
          <p:cNvSpPr txBox="1"/>
          <p:nvPr/>
        </p:nvSpPr>
        <p:spPr>
          <a:xfrm>
            <a:off x="1435064" y="2260543"/>
            <a:ext cx="70433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Browser</a:t>
            </a:r>
            <a:endParaRPr lang="en-US" sz="1300" dirty="0"/>
          </a:p>
        </p:txBody>
      </p:sp>
      <p:sp>
        <p:nvSpPr>
          <p:cNvPr id="10" name="Text 7"/>
          <p:cNvSpPr txBox="1"/>
          <p:nvPr/>
        </p:nvSpPr>
        <p:spPr>
          <a:xfrm>
            <a:off x="1181070" y="2483979"/>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:5173 customer</a:t>
            </a:r>
            <a:endParaRPr lang="en-US" sz="1200" dirty="0"/>
          </a:p>
        </p:txBody>
      </p:sp>
      <p:sp>
        <p:nvSpPr>
          <p:cNvPr id="11" name="Text 8"/>
          <p:cNvSpPr txBox="1"/>
          <p:nvPr/>
        </p:nvSpPr>
        <p:spPr>
          <a:xfrm>
            <a:off x="1181070" y="2715053"/>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:5174 provider</a:t>
            </a:r>
            <a:endParaRPr lang="en-US" sz="1200" dirty="0"/>
          </a:p>
        </p:txBody>
      </p:sp>
      <p:sp>
        <p:nvSpPr>
          <p:cNvPr id="12" name="Text 9"/>
          <p:cNvSpPr txBox="1"/>
          <p:nvPr/>
        </p:nvSpPr>
        <p:spPr>
          <a:xfrm>
            <a:off x="1181070" y="2946128"/>
            <a:ext cx="1521930"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:5175 admin</a:t>
            </a:r>
            <a:endParaRPr lang="en-US" sz="1200" dirty="0"/>
          </a:p>
        </p:txBody>
      </p:sp>
      <p:sp>
        <p:nvSpPr>
          <p:cNvPr id="13" name="Shape 10"/>
          <p:cNvSpPr/>
          <p:nvPr/>
        </p:nvSpPr>
        <p:spPr>
          <a:xfrm>
            <a:off x="1015975" y="3809905"/>
            <a:ext cx="1650959" cy="1777956"/>
          </a:xfrm>
          <a:prstGeom prst="roundRect">
            <a:avLst>
              <a:gd name="adj" fmla="val 5385"/>
            </a:avLst>
          </a:prstGeom>
          <a:solidFill>
            <a:srgbClr val="EEF1F6"/>
          </a:solidFill>
          <a:ln w="12700">
            <a:solidFill>
              <a:srgbClr val="5C6B8A"/>
            </a:solidFill>
            <a:prstDash val="dash"/>
          </a:ln>
        </p:spPr>
      </p:sp>
      <p:sp>
        <p:nvSpPr>
          <p:cNvPr id="14" name="Shape 11"/>
          <p:cNvSpPr/>
          <p:nvPr/>
        </p:nvSpPr>
        <p:spPr>
          <a:xfrm>
            <a:off x="1015975" y="3809905"/>
            <a:ext cx="50799" cy="1777956"/>
          </a:xfrm>
          <a:prstGeom prst="roundRect">
            <a:avLst>
              <a:gd name="adj" fmla="val 50000"/>
            </a:avLst>
          </a:prstGeom>
          <a:solidFill>
            <a:srgbClr val="5C6B8A"/>
          </a:solidFill>
          <a:ln/>
        </p:spPr>
      </p:sp>
      <p:pic>
        <p:nvPicPr>
          <p:cNvPr id="15" name="Image 1" descr="preencoded.png">    </p:cNvPr>
          <p:cNvPicPr>
            <a:picLocks noChangeAspect="1"/>
          </p:cNvPicPr>
          <p:nvPr/>
        </p:nvPicPr>
        <p:blipFill>
          <a:blip r:embed="rId2"/>
          <a:stretch>
            <a:fillRect/>
          </a:stretch>
        </p:blipFill>
        <p:spPr>
          <a:xfrm>
            <a:off x="1181070" y="4014290"/>
            <a:ext cx="190495" cy="190495"/>
          </a:xfrm>
          <a:prstGeom prst="rect">
            <a:avLst/>
          </a:prstGeom>
        </p:spPr>
      </p:pic>
      <p:sp>
        <p:nvSpPr>
          <p:cNvPr id="16" name="Text 12"/>
          <p:cNvSpPr txBox="1"/>
          <p:nvPr/>
        </p:nvSpPr>
        <p:spPr>
          <a:xfrm>
            <a:off x="1435064" y="3911502"/>
            <a:ext cx="1237457" cy="396071"/>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Or all in Docker</a:t>
            </a:r>
            <a:endParaRPr lang="en-US" sz="1300" dirty="0"/>
          </a:p>
        </p:txBody>
      </p:sp>
      <p:sp>
        <p:nvSpPr>
          <p:cNvPr id="17" name="Text 13"/>
          <p:cNvSpPr txBox="1"/>
          <p:nvPr/>
        </p:nvSpPr>
        <p:spPr>
          <a:xfrm>
            <a:off x="1181070" y="4332973"/>
            <a:ext cx="1521930" cy="617026"/>
          </a:xfrm>
          <a:prstGeom prst="rect">
            <a:avLst/>
          </a:prstGeom>
          <a:noFill/>
          <a:ln/>
        </p:spPr>
        <p:txBody>
          <a:bodyPr wrap="square" lIns="0" tIns="0" rIns="0" bIns="0" rtlCol="0" anchor="t"/>
          <a:lstStyle/>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infra compose file: PG :5533, Redis :6380, Kafka :9095</a:t>
            </a:r>
            <a:endParaRPr lang="en-US" sz="1200" dirty="0"/>
          </a:p>
        </p:txBody>
      </p:sp>
      <p:sp>
        <p:nvSpPr>
          <p:cNvPr id="18" name="Shape 14"/>
          <p:cNvSpPr/>
          <p:nvPr/>
        </p:nvSpPr>
        <p:spPr>
          <a:xfrm>
            <a:off x="2920927" y="2095448"/>
            <a:ext cx="5587860" cy="3555911"/>
          </a:xfrm>
          <a:prstGeom prst="roundRect">
            <a:avLst>
              <a:gd name="adj" fmla="val 3571"/>
            </a:avLst>
          </a:prstGeom>
          <a:solidFill>
            <a:srgbClr val="E3EBFA"/>
          </a:solidFill>
          <a:ln w="12700">
            <a:solidFill>
              <a:srgbClr val="2454C5"/>
            </a:solidFill>
            <a:prstDash val="solid"/>
          </a:ln>
        </p:spPr>
      </p:sp>
      <p:sp>
        <p:nvSpPr>
          <p:cNvPr id="19" name="Text 15"/>
          <p:cNvSpPr txBox="1"/>
          <p:nvPr/>
        </p:nvSpPr>
        <p:spPr>
          <a:xfrm>
            <a:off x="3047924" y="2171646"/>
            <a:ext cx="5973931"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2454C5"/>
                </a:solidFill>
                <a:latin typeface="Courier New" pitchFamily="34" charset="0"/>
                <a:ea typeface="Courier New" pitchFamily="34" charset="-122"/>
                <a:cs typeface="Courier New" pitchFamily="34" charset="-120"/>
              </a:rPr>
              <a:t>Docker Desktop · WSL2 · 11 GB</a:t>
            </a:r>
            <a:endParaRPr lang="en-US" sz="1200" dirty="0"/>
          </a:p>
        </p:txBody>
      </p:sp>
      <p:sp>
        <p:nvSpPr>
          <p:cNvPr id="20" name="Shape 16"/>
          <p:cNvSpPr/>
          <p:nvPr/>
        </p:nvSpPr>
        <p:spPr>
          <a:xfrm>
            <a:off x="3073323" y="2476438"/>
            <a:ext cx="1587460" cy="825479"/>
          </a:xfrm>
          <a:prstGeom prst="roundRect">
            <a:avLst>
              <a:gd name="adj" fmla="val 10769"/>
            </a:avLst>
          </a:prstGeom>
          <a:solidFill>
            <a:srgbClr val="FCFDFF"/>
          </a:solidFill>
          <a:ln w="12700">
            <a:solidFill>
              <a:srgbClr val="B8306E"/>
            </a:solidFill>
            <a:prstDash val="solid"/>
          </a:ln>
        </p:spPr>
      </p:sp>
      <p:sp>
        <p:nvSpPr>
          <p:cNvPr id="21" name="Shape 17"/>
          <p:cNvSpPr/>
          <p:nvPr/>
        </p:nvSpPr>
        <p:spPr>
          <a:xfrm>
            <a:off x="3073323" y="2476438"/>
            <a:ext cx="50799" cy="825479"/>
          </a:xfrm>
          <a:prstGeom prst="roundRect">
            <a:avLst>
              <a:gd name="adj" fmla="val 50000"/>
            </a:avLst>
          </a:prstGeom>
          <a:solidFill>
            <a:srgbClr val="B8306E"/>
          </a:solidFill>
          <a:ln/>
        </p:spPr>
      </p:sp>
      <p:pic>
        <p:nvPicPr>
          <p:cNvPr id="22" name="Image 2" descr="preencoded.png">    </p:cNvPr>
          <p:cNvPicPr>
            <a:picLocks noChangeAspect="1"/>
          </p:cNvPicPr>
          <p:nvPr/>
        </p:nvPicPr>
        <p:blipFill>
          <a:blip r:embed="rId3"/>
          <a:stretch>
            <a:fillRect/>
          </a:stretch>
        </p:blipFill>
        <p:spPr>
          <a:xfrm>
            <a:off x="3238419" y="2581806"/>
            <a:ext cx="190495" cy="190495"/>
          </a:xfrm>
          <a:prstGeom prst="rect">
            <a:avLst/>
          </a:prstGeom>
        </p:spPr>
      </p:pic>
      <p:sp>
        <p:nvSpPr>
          <p:cNvPr id="23" name="Text 18"/>
          <p:cNvSpPr txBox="1"/>
          <p:nvPr/>
        </p:nvSpPr>
        <p:spPr>
          <a:xfrm>
            <a:off x="3492413" y="2578036"/>
            <a:ext cx="972097"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3 web apps</a:t>
            </a:r>
            <a:endParaRPr lang="en-US" sz="1300" dirty="0"/>
          </a:p>
        </p:txBody>
      </p:sp>
      <p:sp>
        <p:nvSpPr>
          <p:cNvPr id="24" name="Text 19"/>
          <p:cNvSpPr txBox="1"/>
          <p:nvPr/>
        </p:nvSpPr>
        <p:spPr>
          <a:xfrm>
            <a:off x="3238419" y="2801471"/>
            <a:ext cx="145081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nginx :80</a:t>
            </a:r>
            <a:endParaRPr lang="en-US" sz="1200" dirty="0"/>
          </a:p>
        </p:txBody>
      </p:sp>
      <p:sp>
        <p:nvSpPr>
          <p:cNvPr id="25" name="Shape 20"/>
          <p:cNvSpPr/>
          <p:nvPr/>
        </p:nvSpPr>
        <p:spPr>
          <a:xfrm>
            <a:off x="4851279" y="2476438"/>
            <a:ext cx="1587460" cy="825479"/>
          </a:xfrm>
          <a:prstGeom prst="roundRect">
            <a:avLst>
              <a:gd name="adj" fmla="val 10769"/>
            </a:avLst>
          </a:prstGeom>
          <a:solidFill>
            <a:srgbClr val="FCFDFF"/>
          </a:solidFill>
          <a:ln w="12700">
            <a:solidFill>
              <a:srgbClr val="3F5F95"/>
            </a:solidFill>
            <a:prstDash val="solid"/>
          </a:ln>
        </p:spPr>
      </p:sp>
      <p:sp>
        <p:nvSpPr>
          <p:cNvPr id="26" name="Shape 21"/>
          <p:cNvSpPr/>
          <p:nvPr/>
        </p:nvSpPr>
        <p:spPr>
          <a:xfrm>
            <a:off x="4851279" y="2476438"/>
            <a:ext cx="50799" cy="825479"/>
          </a:xfrm>
          <a:prstGeom prst="roundRect">
            <a:avLst>
              <a:gd name="adj" fmla="val 50000"/>
            </a:avLst>
          </a:prstGeom>
          <a:solidFill>
            <a:srgbClr val="3F5F95"/>
          </a:solidFill>
          <a:ln/>
        </p:spPr>
      </p:sp>
      <p:sp>
        <p:nvSpPr>
          <p:cNvPr id="27" name="Text 22"/>
          <p:cNvSpPr txBox="1"/>
          <p:nvPr/>
        </p:nvSpPr>
        <p:spPr>
          <a:xfrm>
            <a:off x="5016375" y="2578036"/>
            <a:ext cx="1450812"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api-gateway</a:t>
            </a:r>
            <a:endParaRPr lang="en-US" sz="1300" dirty="0"/>
          </a:p>
        </p:txBody>
      </p:sp>
      <p:sp>
        <p:nvSpPr>
          <p:cNvPr id="28" name="Text 23"/>
          <p:cNvSpPr txBox="1"/>
          <p:nvPr/>
        </p:nvSpPr>
        <p:spPr>
          <a:xfrm>
            <a:off x="5016375" y="2801471"/>
            <a:ext cx="1450812"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:8080 · 448m</a:t>
            </a:r>
            <a:endParaRPr lang="en-US" sz="1200" dirty="0"/>
          </a:p>
        </p:txBody>
      </p:sp>
      <p:sp>
        <p:nvSpPr>
          <p:cNvPr id="29" name="Shape 24"/>
          <p:cNvSpPr/>
          <p:nvPr/>
        </p:nvSpPr>
        <p:spPr>
          <a:xfrm>
            <a:off x="6629234" y="2476438"/>
            <a:ext cx="1714457" cy="825479"/>
          </a:xfrm>
          <a:prstGeom prst="roundRect">
            <a:avLst>
              <a:gd name="adj" fmla="val 10769"/>
            </a:avLst>
          </a:prstGeom>
          <a:solidFill>
            <a:srgbClr val="FCFDFF"/>
          </a:solidFill>
          <a:ln w="12700">
            <a:solidFill>
              <a:srgbClr val="5C6B8A"/>
            </a:solidFill>
            <a:prstDash val="solid"/>
          </a:ln>
        </p:spPr>
      </p:sp>
      <p:sp>
        <p:nvSpPr>
          <p:cNvPr id="30" name="Shape 25"/>
          <p:cNvSpPr/>
          <p:nvPr/>
        </p:nvSpPr>
        <p:spPr>
          <a:xfrm>
            <a:off x="6629234" y="2476438"/>
            <a:ext cx="50799" cy="825479"/>
          </a:xfrm>
          <a:prstGeom prst="roundRect">
            <a:avLst>
              <a:gd name="adj" fmla="val 50000"/>
            </a:avLst>
          </a:prstGeom>
          <a:solidFill>
            <a:srgbClr val="5C6B8A"/>
          </a:solidFill>
          <a:ln/>
        </p:spPr>
      </p:sp>
      <p:sp>
        <p:nvSpPr>
          <p:cNvPr id="31" name="Text 26"/>
          <p:cNvSpPr txBox="1"/>
          <p:nvPr/>
        </p:nvSpPr>
        <p:spPr>
          <a:xfrm>
            <a:off x="6794330" y="2578036"/>
            <a:ext cx="1593048"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Dev sinks</a:t>
            </a:r>
            <a:endParaRPr lang="en-US" sz="1300" dirty="0"/>
          </a:p>
        </p:txBody>
      </p:sp>
      <p:sp>
        <p:nvSpPr>
          <p:cNvPr id="32" name="Text 27"/>
          <p:cNvSpPr txBox="1"/>
          <p:nvPr/>
        </p:nvSpPr>
        <p:spPr>
          <a:xfrm>
            <a:off x="6794330" y="2801471"/>
            <a:ext cx="1593048"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dev-sms, dev-mail</a:t>
            </a:r>
            <a:endParaRPr lang="en-US" sz="1200" dirty="0"/>
          </a:p>
        </p:txBody>
      </p:sp>
      <p:sp>
        <p:nvSpPr>
          <p:cNvPr id="33" name="Shape 28"/>
          <p:cNvSpPr/>
          <p:nvPr/>
        </p:nvSpPr>
        <p:spPr>
          <a:xfrm>
            <a:off x="3073323" y="3492413"/>
            <a:ext cx="5270368" cy="2031949"/>
          </a:xfrm>
          <a:prstGeom prst="roundRect">
            <a:avLst>
              <a:gd name="adj" fmla="val 4375"/>
            </a:avLst>
          </a:prstGeom>
          <a:solidFill>
            <a:srgbClr val="FCFDFF"/>
          </a:solidFill>
          <a:ln w="12700">
            <a:solidFill>
              <a:srgbClr val="2454C5"/>
            </a:solidFill>
            <a:prstDash val="solid"/>
          </a:ln>
        </p:spPr>
      </p:sp>
      <p:sp>
        <p:nvSpPr>
          <p:cNvPr id="34" name="Text 29"/>
          <p:cNvSpPr txBox="1"/>
          <p:nvPr/>
        </p:nvSpPr>
        <p:spPr>
          <a:xfrm>
            <a:off x="3200320" y="3594010"/>
            <a:ext cx="5618340"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4 deployables · 20 services · one JVM each</a:t>
            </a:r>
            <a:endParaRPr lang="en-US" sz="1300" dirty="0"/>
          </a:p>
        </p:txBody>
      </p:sp>
      <p:sp>
        <p:nvSpPr>
          <p:cNvPr id="35" name="Text 30"/>
          <p:cNvSpPr txBox="1"/>
          <p:nvPr/>
        </p:nvSpPr>
        <p:spPr>
          <a:xfrm>
            <a:off x="3200320" y="3888583"/>
            <a:ext cx="5618340" cy="198115"/>
          </a:xfrm>
          <a:prstGeom prst="rect">
            <a:avLst/>
          </a:prstGeom>
          <a:noFill/>
          <a:ln/>
        </p:spPr>
        <p:txBody>
          <a:bodyPr wrap="square" lIns="0" tIns="0" rIns="0" bIns="0" rtlCol="0" anchor="t"/>
          <a:lstStyle/>
          <a:p>
            <a:pPr algn="l" indent="0" marL="0">
              <a:lnSpc>
                <a:spcPct val="108333"/>
              </a:lnSpc>
              <a:buNone/>
            </a:pPr>
            <a:r>
              <a:rPr lang="en-US" sz="1200" b="1" dirty="0">
                <a:solidFill>
                  <a:srgbClr val="2454C5"/>
                </a:solidFill>
                <a:latin typeface="Courier New" pitchFamily="34" charset="0"/>
                <a:ea typeface="Courier New" pitchFamily="34" charset="-122"/>
                <a:cs typeface="Courier New" pitchFamily="34" charset="-120"/>
              </a:rPr>
              <a:t>identity-app</a:t>
            </a:r>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 896m · 8081–8083, 8094</a:t>
            </a:r>
            <a:endParaRPr lang="en-US" sz="1200" dirty="0"/>
          </a:p>
        </p:txBody>
      </p:sp>
      <p:sp>
        <p:nvSpPr>
          <p:cNvPr id="36" name="Text 31"/>
          <p:cNvSpPr txBox="1"/>
          <p:nvPr/>
        </p:nvSpPr>
        <p:spPr>
          <a:xfrm>
            <a:off x="3200320" y="4150117"/>
            <a:ext cx="5618340" cy="198115"/>
          </a:xfrm>
          <a:prstGeom prst="rect">
            <a:avLst/>
          </a:prstGeom>
          <a:noFill/>
          <a:ln/>
        </p:spPr>
        <p:txBody>
          <a:bodyPr wrap="square" lIns="0" tIns="0" rIns="0" bIns="0" rtlCol="0" anchor="t"/>
          <a:lstStyle/>
          <a:p>
            <a:pPr algn="l" indent="0" marL="0">
              <a:lnSpc>
                <a:spcPct val="108333"/>
              </a:lnSpc>
              <a:buNone/>
            </a:pPr>
            <a:r>
              <a:rPr lang="en-US" sz="1200" b="1" dirty="0">
                <a:solidFill>
                  <a:srgbClr val="0B7F74"/>
                </a:solidFill>
                <a:latin typeface="Courier New" pitchFamily="34" charset="0"/>
                <a:ea typeface="Courier New" pitchFamily="34" charset="-122"/>
                <a:cs typeface="Courier New" pitchFamily="34" charset="-120"/>
              </a:rPr>
              <a:t>jobs-app</a:t>
            </a:r>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 1280m · 8084–8087, 8092, 8093, 8098</a:t>
            </a:r>
            <a:endParaRPr lang="en-US" sz="1200" dirty="0"/>
          </a:p>
        </p:txBody>
      </p:sp>
      <p:sp>
        <p:nvSpPr>
          <p:cNvPr id="37" name="Text 32"/>
          <p:cNvSpPr txBox="1"/>
          <p:nvPr/>
        </p:nvSpPr>
        <p:spPr>
          <a:xfrm>
            <a:off x="3200320" y="4411651"/>
            <a:ext cx="5618340" cy="198115"/>
          </a:xfrm>
          <a:prstGeom prst="rect">
            <a:avLst/>
          </a:prstGeom>
          <a:noFill/>
          <a:ln/>
        </p:spPr>
        <p:txBody>
          <a:bodyPr wrap="square" lIns="0" tIns="0" rIns="0" bIns="0" rtlCol="0" anchor="t"/>
          <a:lstStyle/>
          <a:p>
            <a:pPr algn="l" indent="0" marL="0">
              <a:lnSpc>
                <a:spcPct val="108333"/>
              </a:lnSpc>
              <a:buNone/>
            </a:pPr>
            <a:r>
              <a:rPr lang="en-US" sz="1200" b="1" dirty="0">
                <a:solidFill>
                  <a:srgbClr val="B4530F"/>
                </a:solidFill>
                <a:latin typeface="Courier New" pitchFamily="34" charset="0"/>
                <a:ea typeface="Courier New" pitchFamily="34" charset="-122"/>
                <a:cs typeface="Courier New" pitchFamily="34" charset="-120"/>
              </a:rPr>
              <a:t>money-app</a:t>
            </a:r>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 640m · 8088, 8089</a:t>
            </a:r>
            <a:endParaRPr lang="en-US" sz="1200" dirty="0"/>
          </a:p>
        </p:txBody>
      </p:sp>
      <p:sp>
        <p:nvSpPr>
          <p:cNvPr id="38" name="Text 33"/>
          <p:cNvSpPr txBox="1"/>
          <p:nvPr/>
        </p:nvSpPr>
        <p:spPr>
          <a:xfrm>
            <a:off x="3200320" y="4673186"/>
            <a:ext cx="5618340" cy="198115"/>
          </a:xfrm>
          <a:prstGeom prst="rect">
            <a:avLst/>
          </a:prstGeom>
          <a:noFill/>
          <a:ln/>
        </p:spPr>
        <p:txBody>
          <a:bodyPr wrap="square" lIns="0" tIns="0" rIns="0" bIns="0" rtlCol="0" anchor="t"/>
          <a:lstStyle/>
          <a:p>
            <a:pPr algn="l" indent="0" marL="0">
              <a:lnSpc>
                <a:spcPct val="108333"/>
              </a:lnSpc>
              <a:buNone/>
            </a:pPr>
            <a:r>
              <a:rPr lang="en-US" sz="1200" b="1" dirty="0">
                <a:solidFill>
                  <a:srgbClr val="B8306E"/>
                </a:solidFill>
                <a:latin typeface="Courier New" pitchFamily="34" charset="0"/>
                <a:ea typeface="Courier New" pitchFamily="34" charset="-122"/>
                <a:cs typeface="Courier New" pitchFamily="34" charset="-120"/>
              </a:rPr>
              <a:t>engagement-app</a:t>
            </a:r>
            <a:pPr algn="l" indent="0" marL="0">
              <a:lnSpc>
                <a:spcPct val="108333"/>
              </a:lnSpc>
              <a:buNone/>
            </a:pPr>
            <a:r>
              <a:rPr lang="en-US" sz="1200" dirty="0">
                <a:solidFill>
                  <a:srgbClr val="1F3A70"/>
                </a:solidFill>
                <a:latin typeface="Courier New" pitchFamily="34" charset="0"/>
                <a:ea typeface="Courier New" pitchFamily="34" charset="-122"/>
                <a:cs typeface="Courier New" pitchFamily="34" charset="-120"/>
              </a:rPr>
              <a:t> 1152m · 8090, 8091, 8095–8097, 8099</a:t>
            </a:r>
            <a:endParaRPr lang="en-US" sz="1200" dirty="0"/>
          </a:p>
        </p:txBody>
      </p:sp>
      <p:sp>
        <p:nvSpPr>
          <p:cNvPr id="39" name="Text 34"/>
          <p:cNvSpPr txBox="1"/>
          <p:nvPr/>
        </p:nvSpPr>
        <p:spPr>
          <a:xfrm>
            <a:off x="3200320" y="4934720"/>
            <a:ext cx="5618340" cy="205735"/>
          </a:xfrm>
          <a:prstGeom prst="rect">
            <a:avLst/>
          </a:prstGeom>
          <a:noFill/>
          <a:ln/>
        </p:spPr>
        <p:txBody>
          <a:bodyPr wrap="square" lIns="0" tIns="0" rIns="0" bIns="0" rtlCol="0" anchor="t"/>
          <a:lstStyle/>
          <a:p>
            <a:pPr algn="l" indent="0" marL="0">
              <a:lnSpc>
                <a:spcPct val="112500"/>
              </a:lnSpc>
              <a:buNone/>
            </a:pPr>
            <a:r>
              <a:rPr lang="en-US" sz="1200" dirty="0">
                <a:solidFill>
                  <a:srgbClr val="5C6B8A"/>
                </a:solidFill>
                <a:latin typeface="Calibri" pitchFamily="34" charset="0"/>
                <a:ea typeface="Calibri" pitchFamily="34" charset="-122"/>
                <a:cs typeface="Calibri" pitchFamily="34" charset="-120"/>
              </a:rPr>
              <a:t>Java 25 Alpine images, user UID 999, serial GC</a:t>
            </a:r>
            <a:endParaRPr lang="en-US" sz="1200" dirty="0"/>
          </a:p>
        </p:txBody>
      </p:sp>
      <p:sp>
        <p:nvSpPr>
          <p:cNvPr id="40" name="Text 35"/>
          <p:cNvSpPr txBox="1"/>
          <p:nvPr/>
        </p:nvSpPr>
        <p:spPr>
          <a:xfrm>
            <a:off x="8762781" y="1904952"/>
            <a:ext cx="2773611"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via host.docker.internal</a:t>
            </a:r>
            <a:endParaRPr lang="en-US" sz="1200" dirty="0"/>
          </a:p>
        </p:txBody>
      </p:sp>
      <p:sp>
        <p:nvSpPr>
          <p:cNvPr id="41" name="Shape 36"/>
          <p:cNvSpPr/>
          <p:nvPr/>
        </p:nvSpPr>
        <p:spPr>
          <a:xfrm>
            <a:off x="8762781" y="2222444"/>
            <a:ext cx="2476438" cy="888978"/>
          </a:xfrm>
          <a:prstGeom prst="roundRect">
            <a:avLst>
              <a:gd name="adj" fmla="val 10000"/>
            </a:avLst>
          </a:prstGeom>
          <a:solidFill>
            <a:srgbClr val="FCFDFF"/>
          </a:solidFill>
          <a:ln w="12700">
            <a:solidFill>
              <a:srgbClr val="2F5C9A"/>
            </a:solidFill>
            <a:prstDash val="solid"/>
          </a:ln>
        </p:spPr>
      </p:sp>
      <p:sp>
        <p:nvSpPr>
          <p:cNvPr id="42" name="Shape 37"/>
          <p:cNvSpPr/>
          <p:nvPr/>
        </p:nvSpPr>
        <p:spPr>
          <a:xfrm>
            <a:off x="8762781" y="2222444"/>
            <a:ext cx="50799" cy="888978"/>
          </a:xfrm>
          <a:prstGeom prst="roundRect">
            <a:avLst>
              <a:gd name="adj" fmla="val 50000"/>
            </a:avLst>
          </a:prstGeom>
          <a:solidFill>
            <a:srgbClr val="2F5C9A"/>
          </a:solidFill>
          <a:ln/>
        </p:spPr>
      </p:sp>
      <p:pic>
        <p:nvPicPr>
          <p:cNvPr id="43" name="Image 3" descr="preencoded.png">    </p:cNvPr>
          <p:cNvPicPr>
            <a:picLocks noChangeAspect="1"/>
          </p:cNvPicPr>
          <p:nvPr/>
        </p:nvPicPr>
        <p:blipFill>
          <a:blip r:embed="rId4"/>
          <a:stretch>
            <a:fillRect/>
          </a:stretch>
        </p:blipFill>
        <p:spPr>
          <a:xfrm>
            <a:off x="8927877" y="2327812"/>
            <a:ext cx="190495" cy="190495"/>
          </a:xfrm>
          <a:prstGeom prst="rect">
            <a:avLst/>
          </a:prstGeom>
        </p:spPr>
      </p:pic>
      <p:sp>
        <p:nvSpPr>
          <p:cNvPr id="44" name="Text 38"/>
          <p:cNvSpPr txBox="1"/>
          <p:nvPr/>
        </p:nvSpPr>
        <p:spPr>
          <a:xfrm>
            <a:off x="9181870" y="2324042"/>
            <a:ext cx="1228901"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PostgreSQL 18</a:t>
            </a:r>
            <a:endParaRPr lang="en-US" sz="1300" dirty="0"/>
          </a:p>
        </p:txBody>
      </p:sp>
      <p:sp>
        <p:nvSpPr>
          <p:cNvPr id="45" name="Text 39"/>
          <p:cNvSpPr txBox="1"/>
          <p:nvPr/>
        </p:nvSpPr>
        <p:spPr>
          <a:xfrm>
            <a:off x="8927877" y="2547477"/>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Windows service · :5432</a:t>
            </a:r>
            <a:endParaRPr lang="en-US" sz="1200" dirty="0"/>
          </a:p>
        </p:txBody>
      </p:sp>
      <p:sp>
        <p:nvSpPr>
          <p:cNvPr id="46" name="Shape 40"/>
          <p:cNvSpPr/>
          <p:nvPr/>
        </p:nvSpPr>
        <p:spPr>
          <a:xfrm>
            <a:off x="8762781" y="3301917"/>
            <a:ext cx="2476438" cy="888978"/>
          </a:xfrm>
          <a:prstGeom prst="roundRect">
            <a:avLst>
              <a:gd name="adj" fmla="val 10000"/>
            </a:avLst>
          </a:prstGeom>
          <a:solidFill>
            <a:srgbClr val="FCFDFF"/>
          </a:solidFill>
          <a:ln w="12700">
            <a:solidFill>
              <a:srgbClr val="C0352B"/>
            </a:solidFill>
            <a:prstDash val="solid"/>
          </a:ln>
        </p:spPr>
      </p:sp>
      <p:sp>
        <p:nvSpPr>
          <p:cNvPr id="47" name="Shape 41"/>
          <p:cNvSpPr/>
          <p:nvPr/>
        </p:nvSpPr>
        <p:spPr>
          <a:xfrm>
            <a:off x="8762781" y="3301917"/>
            <a:ext cx="50799" cy="888978"/>
          </a:xfrm>
          <a:prstGeom prst="roundRect">
            <a:avLst>
              <a:gd name="adj" fmla="val 50000"/>
            </a:avLst>
          </a:prstGeom>
          <a:solidFill>
            <a:srgbClr val="C0352B"/>
          </a:solidFill>
          <a:ln/>
        </p:spPr>
      </p:sp>
      <p:pic>
        <p:nvPicPr>
          <p:cNvPr id="48" name="Image 4" descr="preencoded.png">    </p:cNvPr>
          <p:cNvPicPr>
            <a:picLocks noChangeAspect="1"/>
          </p:cNvPicPr>
          <p:nvPr/>
        </p:nvPicPr>
        <p:blipFill>
          <a:blip r:embed="rId5"/>
          <a:stretch>
            <a:fillRect/>
          </a:stretch>
        </p:blipFill>
        <p:spPr>
          <a:xfrm>
            <a:off x="8927877" y="3407285"/>
            <a:ext cx="190495" cy="190495"/>
          </a:xfrm>
          <a:prstGeom prst="rect">
            <a:avLst/>
          </a:prstGeom>
        </p:spPr>
      </p:pic>
      <p:sp>
        <p:nvSpPr>
          <p:cNvPr id="49" name="Text 42"/>
          <p:cNvSpPr txBox="1"/>
          <p:nvPr/>
        </p:nvSpPr>
        <p:spPr>
          <a:xfrm>
            <a:off x="9181870" y="3403515"/>
            <a:ext cx="48814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Redis</a:t>
            </a:r>
            <a:endParaRPr lang="en-US" sz="1300" dirty="0"/>
          </a:p>
        </p:txBody>
      </p:sp>
      <p:sp>
        <p:nvSpPr>
          <p:cNvPr id="50" name="Text 43"/>
          <p:cNvSpPr txBox="1"/>
          <p:nvPr/>
        </p:nvSpPr>
        <p:spPr>
          <a:xfrm>
            <a:off x="8927877" y="3626950"/>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Memurai or container · :6379</a:t>
            </a:r>
            <a:endParaRPr lang="en-US" sz="1200" dirty="0"/>
          </a:p>
        </p:txBody>
      </p:sp>
      <p:sp>
        <p:nvSpPr>
          <p:cNvPr id="51" name="Shape 44"/>
          <p:cNvSpPr/>
          <p:nvPr/>
        </p:nvSpPr>
        <p:spPr>
          <a:xfrm>
            <a:off x="8762781" y="4381390"/>
            <a:ext cx="2476438" cy="1206470"/>
          </a:xfrm>
          <a:prstGeom prst="roundRect">
            <a:avLst>
              <a:gd name="adj" fmla="val 7368"/>
            </a:avLst>
          </a:prstGeom>
          <a:solidFill>
            <a:srgbClr val="FCFDFF"/>
          </a:solidFill>
          <a:ln w="12700">
            <a:solidFill>
              <a:srgbClr val="4B4B9A"/>
            </a:solidFill>
            <a:prstDash val="solid"/>
          </a:ln>
        </p:spPr>
      </p:sp>
      <p:sp>
        <p:nvSpPr>
          <p:cNvPr id="52" name="Shape 45"/>
          <p:cNvSpPr/>
          <p:nvPr/>
        </p:nvSpPr>
        <p:spPr>
          <a:xfrm>
            <a:off x="8762781" y="4381390"/>
            <a:ext cx="50799" cy="1206470"/>
          </a:xfrm>
          <a:prstGeom prst="roundRect">
            <a:avLst>
              <a:gd name="adj" fmla="val 50000"/>
            </a:avLst>
          </a:prstGeom>
          <a:solidFill>
            <a:srgbClr val="4B4B9A"/>
          </a:solidFill>
          <a:ln/>
        </p:spPr>
      </p:sp>
      <p:pic>
        <p:nvPicPr>
          <p:cNvPr id="53" name="Image 5" descr="preencoded.png">    </p:cNvPr>
          <p:cNvPicPr>
            <a:picLocks noChangeAspect="1"/>
          </p:cNvPicPr>
          <p:nvPr/>
        </p:nvPicPr>
        <p:blipFill>
          <a:blip r:embed="rId6"/>
          <a:stretch>
            <a:fillRect/>
          </a:stretch>
        </p:blipFill>
        <p:spPr>
          <a:xfrm>
            <a:off x="8927877" y="4486758"/>
            <a:ext cx="190495" cy="190495"/>
          </a:xfrm>
          <a:prstGeom prst="rect">
            <a:avLst/>
          </a:prstGeom>
        </p:spPr>
      </p:pic>
      <p:sp>
        <p:nvSpPr>
          <p:cNvPr id="54" name="Text 46"/>
          <p:cNvSpPr txBox="1"/>
          <p:nvPr/>
        </p:nvSpPr>
        <p:spPr>
          <a:xfrm>
            <a:off x="9181870" y="4482988"/>
            <a:ext cx="1338245"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Kafka 4.1 KRaft</a:t>
            </a:r>
            <a:endParaRPr lang="en-US" sz="1300" dirty="0"/>
          </a:p>
        </p:txBody>
      </p:sp>
      <p:sp>
        <p:nvSpPr>
          <p:cNvPr id="55" name="Text 47"/>
          <p:cNvSpPr txBox="1"/>
          <p:nvPr/>
        </p:nvSpPr>
        <p:spPr>
          <a:xfrm>
            <a:off x="8927877" y="4706423"/>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C:\kafka · :9094</a:t>
            </a:r>
            <a:endParaRPr lang="en-US" sz="1200" dirty="0"/>
          </a:p>
        </p:txBody>
      </p:sp>
      <p:sp>
        <p:nvSpPr>
          <p:cNvPr id="56" name="Text 48"/>
          <p:cNvSpPr txBox="1"/>
          <p:nvPr/>
        </p:nvSpPr>
        <p:spPr>
          <a:xfrm>
            <a:off x="8927877" y="4937498"/>
            <a:ext cx="2446467"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start by hand after reboot</a:t>
            </a:r>
            <a:endParaRPr lang="en-US" sz="1200" dirty="0"/>
          </a:p>
        </p:txBody>
      </p:sp>
      <p:sp>
        <p:nvSpPr>
          <p:cNvPr id="57" name="Shape 49"/>
          <p:cNvSpPr/>
          <p:nvPr/>
        </p:nvSpPr>
        <p:spPr>
          <a:xfrm>
            <a:off x="2666933" y="2889178"/>
            <a:ext cx="406390" cy="63"/>
          </a:xfrm>
          <a:prstGeom prst="line">
            <a:avLst/>
          </a:prstGeom>
          <a:noFill/>
          <a:ln w="19050">
            <a:solidFill>
              <a:srgbClr val="5C6B8A"/>
            </a:solidFill>
            <a:prstDash val="solid"/>
            <a:tailEnd type="triangle"/>
          </a:ln>
        </p:spPr>
      </p:sp>
      <p:sp>
        <p:nvSpPr>
          <p:cNvPr id="58" name="Shape 50"/>
          <p:cNvSpPr/>
          <p:nvPr/>
        </p:nvSpPr>
        <p:spPr>
          <a:xfrm>
            <a:off x="4660783" y="2889178"/>
            <a:ext cx="190495" cy="63"/>
          </a:xfrm>
          <a:prstGeom prst="line">
            <a:avLst/>
          </a:prstGeom>
          <a:noFill/>
          <a:ln w="19050">
            <a:solidFill>
              <a:srgbClr val="5C6B8A"/>
            </a:solidFill>
            <a:prstDash val="solid"/>
            <a:tailEnd type="triangle"/>
          </a:ln>
        </p:spPr>
      </p:sp>
      <p:sp>
        <p:nvSpPr>
          <p:cNvPr id="59" name="Shape 51"/>
          <p:cNvSpPr/>
          <p:nvPr/>
        </p:nvSpPr>
        <p:spPr>
          <a:xfrm>
            <a:off x="8508787" y="2666933"/>
            <a:ext cx="253994" cy="63"/>
          </a:xfrm>
          <a:prstGeom prst="line">
            <a:avLst/>
          </a:prstGeom>
          <a:noFill/>
          <a:ln w="19050">
            <a:solidFill>
              <a:srgbClr val="2F5C9A"/>
            </a:solidFill>
            <a:prstDash val="solid"/>
            <a:headEnd type="triangle"/>
            <a:tailEnd type="triangle"/>
          </a:ln>
        </p:spPr>
      </p:sp>
      <p:sp>
        <p:nvSpPr>
          <p:cNvPr id="60" name="Shape 52"/>
          <p:cNvSpPr/>
          <p:nvPr/>
        </p:nvSpPr>
        <p:spPr>
          <a:xfrm>
            <a:off x="8508787" y="3746406"/>
            <a:ext cx="253994" cy="63"/>
          </a:xfrm>
          <a:prstGeom prst="line">
            <a:avLst/>
          </a:prstGeom>
          <a:noFill/>
          <a:ln w="19050">
            <a:solidFill>
              <a:srgbClr val="C0352B"/>
            </a:solidFill>
            <a:prstDash val="solid"/>
            <a:headEnd type="triangle"/>
            <a:tailEnd type="triangle"/>
          </a:ln>
        </p:spPr>
      </p:sp>
      <p:sp>
        <p:nvSpPr>
          <p:cNvPr id="61" name="Shape 53"/>
          <p:cNvSpPr/>
          <p:nvPr/>
        </p:nvSpPr>
        <p:spPr>
          <a:xfrm>
            <a:off x="8508787" y="4984625"/>
            <a:ext cx="253994" cy="63"/>
          </a:xfrm>
          <a:prstGeom prst="line">
            <a:avLst/>
          </a:prstGeom>
          <a:noFill/>
          <a:ln w="19050">
            <a:solidFill>
              <a:srgbClr val="4B4B9A"/>
            </a:solidFill>
            <a:prstDash val="solid"/>
            <a:headEnd type="triangle"/>
            <a:tailEnd type="triangle"/>
          </a:ln>
        </p:spPr>
      </p:sp>
      <p:sp>
        <p:nvSpPr>
          <p:cNvPr id="62" name="Text 5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Local deployment</a:t>
            </a:r>
            <a:endParaRPr lang="en-US" sz="1200" dirty="0"/>
          </a:p>
        </p:txBody>
      </p:sp>
      <p:sp>
        <p:nvSpPr>
          <p:cNvPr id="63" name="Text 5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STEPS 1–6</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Install, configure, build once, start eight containers</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Install the tools</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JDK 25, Node 24, Docker; host data stores</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sp>
      <p:sp>
        <p:nvSpPr>
          <p:cNvPr id="9" name="Shape 7"/>
          <p:cNvSpPr/>
          <p:nvPr/>
        </p:nvSpPr>
        <p:spPr>
          <a:xfrm>
            <a:off x="5248144" y="1909913"/>
            <a:ext cx="38099" cy="365711"/>
          </a:xfrm>
          <a:prstGeom prst="roundRect">
            <a:avLst>
              <a:gd name="adj" fmla="val 50000"/>
            </a:avLst>
          </a:prstGeom>
          <a:solidFill>
            <a:srgbClr val="2454C5"/>
          </a:solidFill>
          <a:ln/>
        </p:spPr>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java -version → 25 · node -v → v24</a:t>
            </a:r>
            <a:endParaRPr lang="en-US" sz="1200" dirty="0"/>
          </a:p>
        </p:txBody>
      </p:sp>
      <p:sp>
        <p:nvSpPr>
          <p:cNvPr id="11" name="Shape 9"/>
          <p:cNvSpPr/>
          <p:nvPr/>
        </p:nvSpPr>
        <p:spPr>
          <a:xfrm>
            <a:off x="812780" y="2365812"/>
            <a:ext cx="10566136" cy="63"/>
          </a:xfrm>
          <a:prstGeom prst="line">
            <a:avLst/>
          </a:prstGeom>
          <a:noFill/>
          <a:ln w="6350">
            <a:solidFill>
              <a:srgbClr val="D5DEEC"/>
            </a:solidFill>
            <a:prstDash val="solid"/>
          </a:ln>
        </p:spPr>
      </p:sp>
      <p:sp>
        <p:nvSpPr>
          <p:cNvPr id="12" name="Text 10"/>
          <p:cNvSpPr txBox="1"/>
          <p:nvPr/>
        </p:nvSpPr>
        <p:spPr>
          <a:xfrm>
            <a:off x="812780" y="2541028"/>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1203295" y="2448360"/>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Create .env</a:t>
            </a:r>
            <a:endParaRPr lang="en-US" sz="1300" dirty="0"/>
          </a:p>
        </p:txBody>
      </p:sp>
      <p:sp>
        <p:nvSpPr>
          <p:cNvPr id="14" name="Text 12"/>
          <p:cNvSpPr txBox="1"/>
          <p:nvPr/>
        </p:nvSpPr>
        <p:spPr>
          <a:xfrm>
            <a:off x="1203295" y="2704834"/>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Fresh secrets, never the example's</a:t>
            </a:r>
            <a:endParaRPr lang="en-US" sz="1200" dirty="0"/>
          </a:p>
        </p:txBody>
      </p:sp>
      <p:sp>
        <p:nvSpPr>
          <p:cNvPr id="15" name="Shape 13"/>
          <p:cNvSpPr/>
          <p:nvPr/>
        </p:nvSpPr>
        <p:spPr>
          <a:xfrm>
            <a:off x="5248144" y="2500349"/>
            <a:ext cx="6130772" cy="365711"/>
          </a:xfrm>
          <a:prstGeom prst="roundRect">
            <a:avLst>
              <a:gd name="adj" fmla="val 13890"/>
            </a:avLst>
          </a:prstGeom>
          <a:solidFill>
            <a:srgbClr val="E7EEFA"/>
          </a:solidFill>
          <a:ln/>
        </p:spPr>
      </p:sp>
      <p:sp>
        <p:nvSpPr>
          <p:cNvPr id="16" name="Shape 14"/>
          <p:cNvSpPr/>
          <p:nvPr/>
        </p:nvSpPr>
        <p:spPr>
          <a:xfrm>
            <a:off x="5248144" y="2500349"/>
            <a:ext cx="38099" cy="365711"/>
          </a:xfrm>
          <a:prstGeom prst="roundRect">
            <a:avLst>
              <a:gd name="adj" fmla="val 50000"/>
            </a:avLst>
          </a:prstGeom>
          <a:solidFill>
            <a:srgbClr val="2454C5"/>
          </a:solidFill>
          <a:ln/>
        </p:spPr>
      </p:sp>
      <p:sp>
        <p:nvSpPr>
          <p:cNvPr id="17" name="Text 15"/>
          <p:cNvSpPr txBox="1"/>
          <p:nvPr/>
        </p:nvSpPr>
        <p:spPr>
          <a:xfrm>
            <a:off x="5413240" y="2576547"/>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cp .env.example .env · openssl rand -base64 48</a:t>
            </a:r>
            <a:endParaRPr lang="en-US" sz="1200" dirty="0"/>
          </a:p>
        </p:txBody>
      </p:sp>
      <p:sp>
        <p:nvSpPr>
          <p:cNvPr id="18" name="Shape 16"/>
          <p:cNvSpPr/>
          <p:nvPr/>
        </p:nvSpPr>
        <p:spPr>
          <a:xfrm>
            <a:off x="812780" y="2956248"/>
            <a:ext cx="10566136" cy="63"/>
          </a:xfrm>
          <a:prstGeom prst="line">
            <a:avLst/>
          </a:prstGeom>
          <a:noFill/>
          <a:ln w="6350">
            <a:solidFill>
              <a:srgbClr val="D5DEEC"/>
            </a:solidFill>
            <a:prstDash val="solid"/>
          </a:ln>
        </p:spPr>
      </p:sp>
      <p:sp>
        <p:nvSpPr>
          <p:cNvPr id="19" name="Text 17"/>
          <p:cNvSpPr txBox="1"/>
          <p:nvPr/>
        </p:nvSpPr>
        <p:spPr>
          <a:xfrm>
            <a:off x="812780" y="318603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03</a:t>
            </a:r>
            <a:endParaRPr lang="en-US" sz="1600" dirty="0"/>
          </a:p>
        </p:txBody>
      </p:sp>
      <p:sp>
        <p:nvSpPr>
          <p:cNvPr id="20" name="Text 18"/>
          <p:cNvSpPr txBox="1"/>
          <p:nvPr/>
        </p:nvSpPr>
        <p:spPr>
          <a:xfrm>
            <a:off x="1203295" y="309336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Prepare the database</a:t>
            </a:r>
            <a:endParaRPr lang="en-US" sz="1300" dirty="0"/>
          </a:p>
        </p:txBody>
      </p:sp>
      <p:sp>
        <p:nvSpPr>
          <p:cNvPr id="21" name="Text 19"/>
          <p:cNvSpPr txBox="1"/>
          <p:nvPr/>
        </p:nvSpPr>
        <p:spPr>
          <a:xfrm>
            <a:off x="1203295" y="334983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Once, or to reset after a backup</a:t>
            </a:r>
            <a:endParaRPr lang="en-US" sz="1200" dirty="0"/>
          </a:p>
        </p:txBody>
      </p:sp>
      <p:sp>
        <p:nvSpPr>
          <p:cNvPr id="22" name="Shape 20"/>
          <p:cNvSpPr/>
          <p:nvPr/>
        </p:nvSpPr>
        <p:spPr>
          <a:xfrm>
            <a:off x="5248144" y="3038796"/>
            <a:ext cx="6130772" cy="579026"/>
          </a:xfrm>
          <a:prstGeom prst="roundRect">
            <a:avLst>
              <a:gd name="adj" fmla="val 8773"/>
            </a:avLst>
          </a:prstGeom>
          <a:solidFill>
            <a:srgbClr val="E7EEFA"/>
          </a:solidFill>
          <a:ln/>
        </p:spPr>
      </p:sp>
      <p:sp>
        <p:nvSpPr>
          <p:cNvPr id="23" name="Shape 21"/>
          <p:cNvSpPr/>
          <p:nvPr/>
        </p:nvSpPr>
        <p:spPr>
          <a:xfrm>
            <a:off x="5248144" y="3038796"/>
            <a:ext cx="38099" cy="579026"/>
          </a:xfrm>
          <a:prstGeom prst="roundRect">
            <a:avLst>
              <a:gd name="adj" fmla="val 50000"/>
            </a:avLst>
          </a:prstGeom>
          <a:solidFill>
            <a:srgbClr val="2454C5"/>
          </a:solidFill>
          <a:ln/>
        </p:spPr>
      </p:sp>
      <p:sp>
        <p:nvSpPr>
          <p:cNvPr id="24" name="Text 22"/>
          <p:cNvSpPr txBox="1"/>
          <p:nvPr/>
        </p:nvSpPr>
        <p:spPr>
          <a:xfrm>
            <a:off x="5413240" y="3114994"/>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pg_dump -Fc -f backup.dump</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docker/init-db.sql</a:t>
            </a:r>
            <a:endParaRPr lang="en-US" sz="1200" dirty="0"/>
          </a:p>
        </p:txBody>
      </p:sp>
      <p:sp>
        <p:nvSpPr>
          <p:cNvPr id="25" name="Shape 23"/>
          <p:cNvSpPr/>
          <p:nvPr/>
        </p:nvSpPr>
        <p:spPr>
          <a:xfrm>
            <a:off x="812780" y="3655921"/>
            <a:ext cx="10566136" cy="63"/>
          </a:xfrm>
          <a:prstGeom prst="line">
            <a:avLst/>
          </a:prstGeom>
          <a:noFill/>
          <a:ln w="6350">
            <a:solidFill>
              <a:srgbClr val="D5DEEC"/>
            </a:solidFill>
            <a:prstDash val="solid"/>
          </a:ln>
        </p:spPr>
      </p:sp>
      <p:sp>
        <p:nvSpPr>
          <p:cNvPr id="26" name="Text 24"/>
          <p:cNvSpPr txBox="1"/>
          <p:nvPr/>
        </p:nvSpPr>
        <p:spPr>
          <a:xfrm>
            <a:off x="812780" y="383113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04</a:t>
            </a:r>
            <a:endParaRPr lang="en-US" sz="1600" dirty="0"/>
          </a:p>
        </p:txBody>
      </p:sp>
      <p:sp>
        <p:nvSpPr>
          <p:cNvPr id="27" name="Text 25"/>
          <p:cNvSpPr txBox="1"/>
          <p:nvPr/>
        </p:nvSpPr>
        <p:spPr>
          <a:xfrm>
            <a:off x="1203295" y="373846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Build everything</a:t>
            </a:r>
            <a:endParaRPr lang="en-US" sz="1300" dirty="0"/>
          </a:p>
        </p:txBody>
      </p:sp>
      <p:sp>
        <p:nvSpPr>
          <p:cNvPr id="28" name="Text 26"/>
          <p:cNvSpPr txBox="1"/>
          <p:nvPr/>
        </p:nvSpPr>
        <p:spPr>
          <a:xfrm>
            <a:off x="1203295" y="399494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One reactor build on JDK 25</a:t>
            </a:r>
            <a:endParaRPr lang="en-US" sz="1200" dirty="0"/>
          </a:p>
        </p:txBody>
      </p:sp>
      <p:sp>
        <p:nvSpPr>
          <p:cNvPr id="29" name="Shape 27"/>
          <p:cNvSpPr/>
          <p:nvPr/>
        </p:nvSpPr>
        <p:spPr>
          <a:xfrm>
            <a:off x="5248144" y="3790458"/>
            <a:ext cx="6130772" cy="365711"/>
          </a:xfrm>
          <a:prstGeom prst="roundRect">
            <a:avLst>
              <a:gd name="adj" fmla="val 13890"/>
            </a:avLst>
          </a:prstGeom>
          <a:solidFill>
            <a:srgbClr val="E7EEFA"/>
          </a:solidFill>
          <a:ln/>
        </p:spPr>
      </p:sp>
      <p:sp>
        <p:nvSpPr>
          <p:cNvPr id="30" name="Shape 28"/>
          <p:cNvSpPr/>
          <p:nvPr/>
        </p:nvSpPr>
        <p:spPr>
          <a:xfrm>
            <a:off x="5248144" y="3790458"/>
            <a:ext cx="38099" cy="365711"/>
          </a:xfrm>
          <a:prstGeom prst="roundRect">
            <a:avLst>
              <a:gd name="adj" fmla="val 50000"/>
            </a:avLst>
          </a:prstGeom>
          <a:solidFill>
            <a:srgbClr val="2454C5"/>
          </a:solidFill>
          <a:ln/>
        </p:spPr>
      </p:sp>
      <p:sp>
        <p:nvSpPr>
          <p:cNvPr id="31" name="Text 29"/>
          <p:cNvSpPr txBox="1"/>
          <p:nvPr/>
        </p:nvSpPr>
        <p:spPr>
          <a:xfrm>
            <a:off x="5413240" y="3866656"/>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JAVA_HOME=…/jdk-25 mvn -q -DskipTests package</a:t>
            </a:r>
            <a:endParaRPr lang="en-US" sz="1200" dirty="0"/>
          </a:p>
        </p:txBody>
      </p:sp>
      <p:sp>
        <p:nvSpPr>
          <p:cNvPr id="32" name="Shape 30"/>
          <p:cNvSpPr/>
          <p:nvPr/>
        </p:nvSpPr>
        <p:spPr>
          <a:xfrm>
            <a:off x="812780" y="4246357"/>
            <a:ext cx="10566136" cy="63"/>
          </a:xfrm>
          <a:prstGeom prst="line">
            <a:avLst/>
          </a:prstGeom>
          <a:noFill/>
          <a:ln w="6350">
            <a:solidFill>
              <a:srgbClr val="D5DEEC"/>
            </a:solidFill>
            <a:prstDash val="solid"/>
          </a:ln>
        </p:spPr>
      </p:sp>
      <p:sp>
        <p:nvSpPr>
          <p:cNvPr id="33" name="Text 31"/>
          <p:cNvSpPr txBox="1"/>
          <p:nvPr/>
        </p:nvSpPr>
        <p:spPr>
          <a:xfrm>
            <a:off x="812780" y="447614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05</a:t>
            </a:r>
            <a:endParaRPr lang="en-US" sz="1600" dirty="0"/>
          </a:p>
        </p:txBody>
      </p:sp>
      <p:sp>
        <p:nvSpPr>
          <p:cNvPr id="34" name="Text 32"/>
          <p:cNvSpPr txBox="1"/>
          <p:nvPr/>
        </p:nvSpPr>
        <p:spPr>
          <a:xfrm>
            <a:off x="1203295" y="438347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Start Kafka and Redis</a:t>
            </a:r>
            <a:endParaRPr lang="en-US" sz="1300" dirty="0"/>
          </a:p>
        </p:txBody>
      </p:sp>
      <p:sp>
        <p:nvSpPr>
          <p:cNvPr id="35" name="Text 33"/>
          <p:cNvSpPr txBox="1"/>
          <p:nvPr/>
        </p:nvSpPr>
        <p:spPr>
          <a:xfrm>
            <a:off x="1203295" y="463994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Postgres is a Windows service</a:t>
            </a:r>
            <a:endParaRPr lang="en-US" sz="1200" dirty="0"/>
          </a:p>
        </p:txBody>
      </p:sp>
      <p:sp>
        <p:nvSpPr>
          <p:cNvPr id="36" name="Shape 34"/>
          <p:cNvSpPr/>
          <p:nvPr/>
        </p:nvSpPr>
        <p:spPr>
          <a:xfrm>
            <a:off x="5248144" y="4328905"/>
            <a:ext cx="6130772" cy="579026"/>
          </a:xfrm>
          <a:prstGeom prst="roundRect">
            <a:avLst>
              <a:gd name="adj" fmla="val 8773"/>
            </a:avLst>
          </a:prstGeom>
          <a:solidFill>
            <a:srgbClr val="E7EEFA"/>
          </a:solidFill>
          <a:ln/>
        </p:spPr>
      </p:sp>
      <p:sp>
        <p:nvSpPr>
          <p:cNvPr id="37" name="Shape 35"/>
          <p:cNvSpPr/>
          <p:nvPr/>
        </p:nvSpPr>
        <p:spPr>
          <a:xfrm>
            <a:off x="5248144" y="4328905"/>
            <a:ext cx="38099" cy="579026"/>
          </a:xfrm>
          <a:prstGeom prst="roundRect">
            <a:avLst>
              <a:gd name="adj" fmla="val 50000"/>
            </a:avLst>
          </a:prstGeom>
          <a:solidFill>
            <a:srgbClr val="2454C5"/>
          </a:solidFill>
          <a:ln/>
        </p:spPr>
      </p:sp>
      <p:sp>
        <p:nvSpPr>
          <p:cNvPr id="38" name="Text 36"/>
          <p:cNvSpPr txBox="1"/>
          <p:nvPr/>
        </p:nvSpPr>
        <p:spPr>
          <a:xfrm>
            <a:off x="5413240" y="4405103"/>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kafka-server-start.bat …\server.properties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docker start homefix-local-redis</a:t>
            </a:r>
            <a:endParaRPr lang="en-US" sz="1200" dirty="0"/>
          </a:p>
        </p:txBody>
      </p:sp>
      <p:sp>
        <p:nvSpPr>
          <p:cNvPr id="39" name="Shape 37"/>
          <p:cNvSpPr/>
          <p:nvPr/>
        </p:nvSpPr>
        <p:spPr>
          <a:xfrm>
            <a:off x="812780" y="4946030"/>
            <a:ext cx="10566136" cy="63"/>
          </a:xfrm>
          <a:prstGeom prst="line">
            <a:avLst/>
          </a:prstGeom>
          <a:noFill/>
          <a:ln w="6350">
            <a:solidFill>
              <a:srgbClr val="D5DEEC"/>
            </a:solidFill>
            <a:prstDash val="solid"/>
          </a:ln>
        </p:spPr>
      </p:sp>
      <p:sp>
        <p:nvSpPr>
          <p:cNvPr id="40" name="Text 38"/>
          <p:cNvSpPr txBox="1"/>
          <p:nvPr/>
        </p:nvSpPr>
        <p:spPr>
          <a:xfrm>
            <a:off x="812780" y="5175815"/>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06</a:t>
            </a:r>
            <a:endParaRPr lang="en-US" sz="1600" dirty="0"/>
          </a:p>
        </p:txBody>
      </p:sp>
      <p:sp>
        <p:nvSpPr>
          <p:cNvPr id="41" name="Text 39"/>
          <p:cNvSpPr txBox="1"/>
          <p:nvPr/>
        </p:nvSpPr>
        <p:spPr>
          <a:xfrm>
            <a:off x="1203295" y="5083147"/>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Start the stack</a:t>
            </a:r>
            <a:endParaRPr lang="en-US" sz="1300" dirty="0"/>
          </a:p>
        </p:txBody>
      </p:sp>
      <p:sp>
        <p:nvSpPr>
          <p:cNvPr id="42" name="Text 40"/>
          <p:cNvSpPr txBox="1"/>
          <p:nvPr/>
        </p:nvSpPr>
        <p:spPr>
          <a:xfrm>
            <a:off x="1203295" y="5339621"/>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Waits on every health check</a:t>
            </a:r>
            <a:endParaRPr lang="en-US" sz="1200" dirty="0"/>
          </a:p>
        </p:txBody>
      </p:sp>
      <p:sp>
        <p:nvSpPr>
          <p:cNvPr id="43" name="Shape 41"/>
          <p:cNvSpPr/>
          <p:nvPr/>
        </p:nvSpPr>
        <p:spPr>
          <a:xfrm>
            <a:off x="5248144" y="5028578"/>
            <a:ext cx="6130772" cy="579026"/>
          </a:xfrm>
          <a:prstGeom prst="roundRect">
            <a:avLst>
              <a:gd name="adj" fmla="val 8773"/>
            </a:avLst>
          </a:prstGeom>
          <a:solidFill>
            <a:srgbClr val="E7EEFA"/>
          </a:solidFill>
          <a:ln/>
        </p:spPr>
      </p:sp>
      <p:sp>
        <p:nvSpPr>
          <p:cNvPr id="44" name="Shape 42"/>
          <p:cNvSpPr/>
          <p:nvPr/>
        </p:nvSpPr>
        <p:spPr>
          <a:xfrm>
            <a:off x="5248144" y="5028578"/>
            <a:ext cx="38099" cy="579026"/>
          </a:xfrm>
          <a:prstGeom prst="roundRect">
            <a:avLst>
              <a:gd name="adj" fmla="val 50000"/>
            </a:avLst>
          </a:prstGeom>
          <a:solidFill>
            <a:srgbClr val="2454C5"/>
          </a:solidFill>
          <a:ln/>
        </p:spPr>
      </p:sp>
      <p:sp>
        <p:nvSpPr>
          <p:cNvPr id="45" name="Text 43"/>
          <p:cNvSpPr txBox="1"/>
          <p:nvPr/>
        </p:nvSpPr>
        <p:spPr>
          <a:xfrm>
            <a:off x="5413240" y="5104776"/>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docker compose -f docker-compose.core.yml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up -d --build --wait</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Local deployment</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LOCAL DEPLOYMENT · STEPS 7–11</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Seed data, prove the flows, then iterate</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232513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07</a:t>
            </a:r>
            <a:endParaRPr lang="en-US" sz="1600" dirty="0"/>
          </a:p>
        </p:txBody>
      </p:sp>
      <p:sp>
        <p:nvSpPr>
          <p:cNvPr id="6" name="Text 4"/>
          <p:cNvSpPr txBox="1"/>
          <p:nvPr/>
        </p:nvSpPr>
        <p:spPr>
          <a:xfrm>
            <a:off x="1203295" y="223246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Seed in this order</a:t>
            </a:r>
            <a:endParaRPr lang="en-US" sz="1300" dirty="0"/>
          </a:p>
        </p:txBody>
      </p:sp>
      <p:sp>
        <p:nvSpPr>
          <p:cNvPr id="7" name="Text 5"/>
          <p:cNvSpPr txBox="1"/>
          <p:nvPr/>
        </p:nvSpPr>
        <p:spPr>
          <a:xfrm>
            <a:off x="1203295" y="248893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Catalog, pricing, providers, agency</a:t>
            </a:r>
            <a:endParaRPr lang="en-US" sz="1200" dirty="0"/>
          </a:p>
        </p:txBody>
      </p:sp>
      <p:sp>
        <p:nvSpPr>
          <p:cNvPr id="8" name="Shape 6"/>
          <p:cNvSpPr/>
          <p:nvPr/>
        </p:nvSpPr>
        <p:spPr>
          <a:xfrm>
            <a:off x="5248144" y="1857924"/>
            <a:ext cx="6130772" cy="1218971"/>
          </a:xfrm>
          <a:prstGeom prst="roundRect">
            <a:avLst>
              <a:gd name="adj" fmla="val 4167"/>
            </a:avLst>
          </a:prstGeom>
          <a:solidFill>
            <a:srgbClr val="E7EEFA"/>
          </a:solidFill>
          <a:ln/>
        </p:spPr>
      </p:sp>
      <p:sp>
        <p:nvSpPr>
          <p:cNvPr id="9" name="Shape 7"/>
          <p:cNvSpPr/>
          <p:nvPr/>
        </p:nvSpPr>
        <p:spPr>
          <a:xfrm>
            <a:off x="5248144" y="1857924"/>
            <a:ext cx="38099" cy="1218971"/>
          </a:xfrm>
          <a:prstGeom prst="roundRect">
            <a:avLst>
              <a:gd name="adj" fmla="val 50000"/>
            </a:avLst>
          </a:prstGeom>
          <a:solidFill>
            <a:srgbClr val="2454C5"/>
          </a:solidFill>
          <a:ln/>
        </p:spPr>
      </p:sp>
      <p:sp>
        <p:nvSpPr>
          <p:cNvPr id="10" name="Text 8"/>
          <p:cNvSpPr txBox="1"/>
          <p:nvPr/>
        </p:nvSpPr>
        <p:spPr>
          <a:xfrm>
            <a:off x="5413240" y="1934122"/>
            <a:ext cx="6539321" cy="106657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 docker/local-infra.sh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docker/seed-catalog.sql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docker/seed-pricing.sh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docker/seed-provider-profiles.sql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"$PSQL" -f docker/seed-tenants.sql</a:t>
            </a:r>
            <a:endParaRPr lang="en-US" sz="1200" dirty="0"/>
          </a:p>
        </p:txBody>
      </p:sp>
      <p:sp>
        <p:nvSpPr>
          <p:cNvPr id="11" name="Shape 9"/>
          <p:cNvSpPr/>
          <p:nvPr/>
        </p:nvSpPr>
        <p:spPr>
          <a:xfrm>
            <a:off x="812780" y="3153093"/>
            <a:ext cx="10566136" cy="63"/>
          </a:xfrm>
          <a:prstGeom prst="line">
            <a:avLst/>
          </a:prstGeom>
          <a:noFill/>
          <a:ln w="6350">
            <a:solidFill>
              <a:srgbClr val="D5DEEC"/>
            </a:solidFill>
            <a:prstDash val="solid"/>
          </a:ln>
        </p:spPr>
      </p:sp>
      <p:sp>
        <p:nvSpPr>
          <p:cNvPr id="12" name="Text 10"/>
          <p:cNvSpPr txBox="1"/>
          <p:nvPr/>
        </p:nvSpPr>
        <p:spPr>
          <a:xfrm>
            <a:off x="812780" y="3382878"/>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08</a:t>
            </a:r>
            <a:endParaRPr lang="en-US" sz="1600" dirty="0"/>
          </a:p>
        </p:txBody>
      </p:sp>
      <p:sp>
        <p:nvSpPr>
          <p:cNvPr id="13" name="Text 11"/>
          <p:cNvSpPr txBox="1"/>
          <p:nvPr/>
        </p:nvSpPr>
        <p:spPr>
          <a:xfrm>
            <a:off x="1203295" y="3290210"/>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Prove the flows</a:t>
            </a:r>
            <a:endParaRPr lang="en-US" sz="1300" dirty="0"/>
          </a:p>
        </p:txBody>
      </p:sp>
      <p:sp>
        <p:nvSpPr>
          <p:cNvPr id="14" name="Text 12"/>
          <p:cNvSpPr txBox="1"/>
          <p:nvPr/>
        </p:nvSpPr>
        <p:spPr>
          <a:xfrm>
            <a:off x="1203295" y="3546684"/>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Expect 78/78 and 53/53</a:t>
            </a:r>
            <a:endParaRPr lang="en-US" sz="1200" dirty="0"/>
          </a:p>
        </p:txBody>
      </p:sp>
      <p:sp>
        <p:nvSpPr>
          <p:cNvPr id="15" name="Shape 13"/>
          <p:cNvSpPr/>
          <p:nvPr/>
        </p:nvSpPr>
        <p:spPr>
          <a:xfrm>
            <a:off x="5248144" y="3235641"/>
            <a:ext cx="6130772" cy="579026"/>
          </a:xfrm>
          <a:prstGeom prst="roundRect">
            <a:avLst>
              <a:gd name="adj" fmla="val 8773"/>
            </a:avLst>
          </a:prstGeom>
          <a:solidFill>
            <a:srgbClr val="E7EEFA"/>
          </a:solidFill>
          <a:ln/>
        </p:spPr>
      </p:sp>
      <p:sp>
        <p:nvSpPr>
          <p:cNvPr id="16" name="Shape 14"/>
          <p:cNvSpPr/>
          <p:nvPr/>
        </p:nvSpPr>
        <p:spPr>
          <a:xfrm>
            <a:off x="5248144" y="3235641"/>
            <a:ext cx="38099" cy="579026"/>
          </a:xfrm>
          <a:prstGeom prst="roundRect">
            <a:avLst>
              <a:gd name="adj" fmla="val 50000"/>
            </a:avLst>
          </a:prstGeom>
          <a:solidFill>
            <a:srgbClr val="2454C5"/>
          </a:solidFill>
          <a:ln/>
        </p:spPr>
      </p:sp>
      <p:sp>
        <p:nvSpPr>
          <p:cNvPr id="17" name="Text 15"/>
          <p:cNvSpPr txBox="1"/>
          <p:nvPr/>
        </p:nvSpPr>
        <p:spPr>
          <a:xfrm>
            <a:off x="5413240" y="3311839"/>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docker/smoke-flows.sh</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bash docker/verify-outbox-flow.sh</a:t>
            </a:r>
            <a:endParaRPr lang="en-US" sz="1200" dirty="0"/>
          </a:p>
        </p:txBody>
      </p:sp>
      <p:sp>
        <p:nvSpPr>
          <p:cNvPr id="18" name="Shape 16"/>
          <p:cNvSpPr/>
          <p:nvPr/>
        </p:nvSpPr>
        <p:spPr>
          <a:xfrm>
            <a:off x="812780" y="3890865"/>
            <a:ext cx="10566136" cy="63"/>
          </a:xfrm>
          <a:prstGeom prst="line">
            <a:avLst/>
          </a:prstGeom>
          <a:noFill/>
          <a:ln w="6350">
            <a:solidFill>
              <a:srgbClr val="D5DEEC"/>
            </a:solidFill>
            <a:prstDash val="solid"/>
          </a:ln>
        </p:spPr>
      </p:sp>
      <p:sp>
        <p:nvSpPr>
          <p:cNvPr id="19" name="Text 17"/>
          <p:cNvSpPr txBox="1"/>
          <p:nvPr/>
        </p:nvSpPr>
        <p:spPr>
          <a:xfrm>
            <a:off x="812780" y="4066081"/>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09</a:t>
            </a:r>
            <a:endParaRPr lang="en-US" sz="1600" dirty="0"/>
          </a:p>
        </p:txBody>
      </p:sp>
      <p:sp>
        <p:nvSpPr>
          <p:cNvPr id="20" name="Text 18"/>
          <p:cNvSpPr txBox="1"/>
          <p:nvPr/>
        </p:nvSpPr>
        <p:spPr>
          <a:xfrm>
            <a:off x="1203295" y="3973413"/>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Open the apps</a:t>
            </a:r>
            <a:endParaRPr lang="en-US" sz="1300" dirty="0"/>
          </a:p>
        </p:txBody>
      </p:sp>
      <p:sp>
        <p:nvSpPr>
          <p:cNvPr id="21" name="Text 19"/>
          <p:cNvSpPr txBox="1"/>
          <p:nvPr/>
        </p:nvSpPr>
        <p:spPr>
          <a:xfrm>
            <a:off x="1203295" y="4229887"/>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Test users when DEV_SEED_ENABLED=true</a:t>
            </a:r>
            <a:endParaRPr lang="en-US" sz="1200" dirty="0"/>
          </a:p>
        </p:txBody>
      </p:sp>
      <p:sp>
        <p:nvSpPr>
          <p:cNvPr id="22" name="Shape 20"/>
          <p:cNvSpPr/>
          <p:nvPr/>
        </p:nvSpPr>
        <p:spPr>
          <a:xfrm>
            <a:off x="5248144" y="4025402"/>
            <a:ext cx="6130772" cy="365711"/>
          </a:xfrm>
          <a:prstGeom prst="roundRect">
            <a:avLst>
              <a:gd name="adj" fmla="val 13890"/>
            </a:avLst>
          </a:prstGeom>
          <a:solidFill>
            <a:srgbClr val="E7EEFA"/>
          </a:solidFill>
          <a:ln/>
        </p:spPr>
      </p:sp>
      <p:sp>
        <p:nvSpPr>
          <p:cNvPr id="23" name="Shape 21"/>
          <p:cNvSpPr/>
          <p:nvPr/>
        </p:nvSpPr>
        <p:spPr>
          <a:xfrm>
            <a:off x="5248144" y="4025402"/>
            <a:ext cx="38099" cy="365711"/>
          </a:xfrm>
          <a:prstGeom prst="roundRect">
            <a:avLst>
              <a:gd name="adj" fmla="val 50000"/>
            </a:avLst>
          </a:prstGeom>
          <a:solidFill>
            <a:srgbClr val="2454C5"/>
          </a:solidFill>
          <a:ln/>
        </p:spPr>
      </p:sp>
      <p:sp>
        <p:nvSpPr>
          <p:cNvPr id="24" name="Text 22"/>
          <p:cNvSpPr txBox="1"/>
          <p:nvPr/>
        </p:nvSpPr>
        <p:spPr>
          <a:xfrm>
            <a:off x="5413240" y="410160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:5173 customer · :5174 provider · :5175 admin</a:t>
            </a:r>
            <a:endParaRPr lang="en-US" sz="1200" dirty="0"/>
          </a:p>
        </p:txBody>
      </p:sp>
      <p:sp>
        <p:nvSpPr>
          <p:cNvPr id="25" name="Shape 23"/>
          <p:cNvSpPr/>
          <p:nvPr/>
        </p:nvSpPr>
        <p:spPr>
          <a:xfrm>
            <a:off x="812780" y="4519400"/>
            <a:ext cx="10566136" cy="63"/>
          </a:xfrm>
          <a:prstGeom prst="line">
            <a:avLst/>
          </a:prstGeom>
          <a:noFill/>
          <a:ln w="6350">
            <a:solidFill>
              <a:srgbClr val="D5DEEC"/>
            </a:solidFill>
            <a:prstDash val="solid"/>
          </a:ln>
        </p:spPr>
      </p:sp>
      <p:sp>
        <p:nvSpPr>
          <p:cNvPr id="26" name="Text 24"/>
          <p:cNvSpPr txBox="1"/>
          <p:nvPr/>
        </p:nvSpPr>
        <p:spPr>
          <a:xfrm>
            <a:off x="812780" y="4749185"/>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10</a:t>
            </a:r>
            <a:endParaRPr lang="en-US" sz="1600" dirty="0"/>
          </a:p>
        </p:txBody>
      </p:sp>
      <p:sp>
        <p:nvSpPr>
          <p:cNvPr id="27" name="Text 25"/>
          <p:cNvSpPr txBox="1"/>
          <p:nvPr/>
        </p:nvSpPr>
        <p:spPr>
          <a:xfrm>
            <a:off x="1203295" y="4656517"/>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Change a service</a:t>
            </a:r>
            <a:endParaRPr lang="en-US" sz="1300" dirty="0"/>
          </a:p>
        </p:txBody>
      </p:sp>
      <p:sp>
        <p:nvSpPr>
          <p:cNvPr id="28" name="Text 26"/>
          <p:cNvSpPr txBox="1"/>
          <p:nvPr/>
        </p:nvSpPr>
        <p:spPr>
          <a:xfrm>
            <a:off x="1203295" y="4912991"/>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Rebuild its deployable only</a:t>
            </a:r>
            <a:endParaRPr lang="en-US" sz="1200" dirty="0"/>
          </a:p>
        </p:txBody>
      </p:sp>
      <p:sp>
        <p:nvSpPr>
          <p:cNvPr id="29" name="Shape 27"/>
          <p:cNvSpPr/>
          <p:nvPr/>
        </p:nvSpPr>
        <p:spPr>
          <a:xfrm>
            <a:off x="5248144" y="4601948"/>
            <a:ext cx="6130772" cy="579026"/>
          </a:xfrm>
          <a:prstGeom prst="roundRect">
            <a:avLst>
              <a:gd name="adj" fmla="val 8773"/>
            </a:avLst>
          </a:prstGeom>
          <a:solidFill>
            <a:srgbClr val="E7EEFA"/>
          </a:solidFill>
          <a:ln/>
        </p:spPr>
      </p:sp>
      <p:sp>
        <p:nvSpPr>
          <p:cNvPr id="30" name="Shape 28"/>
          <p:cNvSpPr/>
          <p:nvPr/>
        </p:nvSpPr>
        <p:spPr>
          <a:xfrm>
            <a:off x="5248144" y="4601948"/>
            <a:ext cx="38099" cy="579026"/>
          </a:xfrm>
          <a:prstGeom prst="roundRect">
            <a:avLst>
              <a:gd name="adj" fmla="val 50000"/>
            </a:avLst>
          </a:prstGeom>
          <a:solidFill>
            <a:srgbClr val="2454C5"/>
          </a:solidFill>
          <a:ln/>
        </p:spPr>
      </p:sp>
      <p:sp>
        <p:nvSpPr>
          <p:cNvPr id="31" name="Text 29"/>
          <p:cNvSpPr txBox="1"/>
          <p:nvPr/>
        </p:nvSpPr>
        <p:spPr>
          <a:xfrm>
            <a:off x="5413240" y="4678146"/>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mvn -q -DskipTests package -pl apps/jobs-app -am</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docker compose ... up -d --build --wait jobs-app</a:t>
            </a:r>
            <a:endParaRPr lang="en-US" sz="1200" dirty="0"/>
          </a:p>
        </p:txBody>
      </p:sp>
      <p:sp>
        <p:nvSpPr>
          <p:cNvPr id="32" name="Shape 30"/>
          <p:cNvSpPr/>
          <p:nvPr/>
        </p:nvSpPr>
        <p:spPr>
          <a:xfrm>
            <a:off x="812780" y="5257172"/>
            <a:ext cx="10566136" cy="63"/>
          </a:xfrm>
          <a:prstGeom prst="line">
            <a:avLst/>
          </a:prstGeom>
          <a:noFill/>
          <a:ln w="6350">
            <a:solidFill>
              <a:srgbClr val="D5DEEC"/>
            </a:solidFill>
            <a:prstDash val="solid"/>
          </a:ln>
        </p:spPr>
      </p:sp>
      <p:sp>
        <p:nvSpPr>
          <p:cNvPr id="33" name="Text 31"/>
          <p:cNvSpPr txBox="1"/>
          <p:nvPr/>
        </p:nvSpPr>
        <p:spPr>
          <a:xfrm>
            <a:off x="812780" y="548695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11</a:t>
            </a:r>
            <a:endParaRPr lang="en-US" sz="1600" dirty="0"/>
          </a:p>
        </p:txBody>
      </p:sp>
      <p:sp>
        <p:nvSpPr>
          <p:cNvPr id="34" name="Text 32"/>
          <p:cNvSpPr txBox="1"/>
          <p:nvPr/>
        </p:nvSpPr>
        <p:spPr>
          <a:xfrm>
            <a:off x="1203295" y="539428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Work on a web app</a:t>
            </a:r>
            <a:endParaRPr lang="en-US" sz="1300" dirty="0"/>
          </a:p>
        </p:txBody>
      </p:sp>
      <p:sp>
        <p:nvSpPr>
          <p:cNvPr id="35" name="Text 33"/>
          <p:cNvSpPr txBox="1"/>
          <p:nvPr/>
        </p:nvSpPr>
        <p:spPr>
          <a:xfrm>
            <a:off x="1203295" y="565076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Vite proxies /api to the stack</a:t>
            </a:r>
            <a:endParaRPr lang="en-US" sz="1200" dirty="0"/>
          </a:p>
        </p:txBody>
      </p:sp>
      <p:sp>
        <p:nvSpPr>
          <p:cNvPr id="36" name="Shape 34"/>
          <p:cNvSpPr/>
          <p:nvPr/>
        </p:nvSpPr>
        <p:spPr>
          <a:xfrm>
            <a:off x="5248144" y="5339720"/>
            <a:ext cx="6130772" cy="579026"/>
          </a:xfrm>
          <a:prstGeom prst="roundRect">
            <a:avLst>
              <a:gd name="adj" fmla="val 8773"/>
            </a:avLst>
          </a:prstGeom>
          <a:solidFill>
            <a:srgbClr val="E7EEFA"/>
          </a:solidFill>
          <a:ln/>
        </p:spPr>
      </p:sp>
      <p:sp>
        <p:nvSpPr>
          <p:cNvPr id="37" name="Shape 35"/>
          <p:cNvSpPr/>
          <p:nvPr/>
        </p:nvSpPr>
        <p:spPr>
          <a:xfrm>
            <a:off x="5248144" y="5339720"/>
            <a:ext cx="38099" cy="579026"/>
          </a:xfrm>
          <a:prstGeom prst="roundRect">
            <a:avLst>
              <a:gd name="adj" fmla="val 50000"/>
            </a:avLst>
          </a:prstGeom>
          <a:solidFill>
            <a:srgbClr val="2454C5"/>
          </a:solidFill>
          <a:ln/>
        </p:spPr>
      </p:sp>
      <p:sp>
        <p:nvSpPr>
          <p:cNvPr id="38" name="Text 36"/>
          <p:cNvSpPr txBox="1"/>
          <p:nvPr/>
        </p:nvSpPr>
        <p:spPr>
          <a:xfrm>
            <a:off x="5413240" y="5415919"/>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cd frontend/customer-app</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npm install &amp;&amp; npm run dev</a:t>
            </a:r>
            <a:endParaRPr lang="en-US" sz="1200" dirty="0"/>
          </a:p>
        </p:txBody>
      </p:sp>
      <p:sp>
        <p:nvSpPr>
          <p:cNvPr id="39" name="Text 3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Local deployment</a:t>
            </a:r>
            <a:endParaRPr lang="en-US" sz="1200" dirty="0"/>
          </a:p>
        </p:txBody>
      </p:sp>
      <p:sp>
        <p:nvSpPr>
          <p:cNvPr id="40" name="Text 3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TOPOLOGY</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data tier is ready; the path into the cluster is not</a:t>
            </a:r>
            <a:endParaRPr lang="en-US" sz="3000" dirty="0"/>
          </a:p>
        </p:txBody>
      </p:sp>
      <p:sp>
        <p:nvSpPr>
          <p:cNvPr id="4" name="Shape 2"/>
          <p:cNvSpPr/>
          <p:nvPr/>
        </p:nvSpPr>
        <p:spPr>
          <a:xfrm>
            <a:off x="812780" y="1803355"/>
            <a:ext cx="10566136" cy="3975001"/>
          </a:xfrm>
          <a:prstGeom prst="roundRect">
            <a:avLst>
              <a:gd name="adj" fmla="val 3195"/>
            </a:avLst>
          </a:prstGeom>
          <a:solidFill>
            <a:srgbClr val="F0F4FA"/>
          </a:solidFill>
          <a:ln w="12700">
            <a:solidFill>
              <a:srgbClr val="3F5F95"/>
            </a:solidFill>
            <a:prstDash val="dash"/>
          </a:ln>
        </p:spPr>
      </p:sp>
      <p:sp>
        <p:nvSpPr>
          <p:cNvPr id="5" name="Text 3"/>
          <p:cNvSpPr txBox="1"/>
          <p:nvPr/>
        </p:nvSpPr>
        <p:spPr>
          <a:xfrm>
            <a:off x="939777" y="1879553"/>
            <a:ext cx="11549599"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3F5F95"/>
                </a:solidFill>
                <a:latin typeface="Courier New" pitchFamily="34" charset="0"/>
                <a:ea typeface="Courier New" pitchFamily="34" charset="-122"/>
                <a:cs typeface="Courier New" pitchFamily="34" charset="-120"/>
              </a:rPr>
              <a:t>AWS · ap-south-1</a:t>
            </a:r>
            <a:endParaRPr lang="en-US" sz="1200" dirty="0"/>
          </a:p>
        </p:txBody>
      </p:sp>
      <p:sp>
        <p:nvSpPr>
          <p:cNvPr id="6" name="Shape 4"/>
          <p:cNvSpPr/>
          <p:nvPr/>
        </p:nvSpPr>
        <p:spPr>
          <a:xfrm>
            <a:off x="965176" y="2158946"/>
            <a:ext cx="1904952" cy="634984"/>
          </a:xfrm>
          <a:prstGeom prst="roundRect">
            <a:avLst>
              <a:gd name="adj" fmla="val 14000"/>
            </a:avLst>
          </a:prstGeom>
          <a:solidFill>
            <a:srgbClr val="FCFDFF"/>
          </a:solidFill>
          <a:ln w="12700">
            <a:solidFill>
              <a:srgbClr val="2454C5"/>
            </a:solidFill>
            <a:prstDash val="solid"/>
          </a:ln>
        </p:spPr>
      </p:sp>
      <p:sp>
        <p:nvSpPr>
          <p:cNvPr id="7" name="Shape 5"/>
          <p:cNvSpPr/>
          <p:nvPr/>
        </p:nvSpPr>
        <p:spPr>
          <a:xfrm>
            <a:off x="965176" y="2158946"/>
            <a:ext cx="50799" cy="634984"/>
          </a:xfrm>
          <a:prstGeom prst="roundRect">
            <a:avLst>
              <a:gd name="adj" fmla="val 50000"/>
            </a:avLst>
          </a:prstGeom>
          <a:solidFill>
            <a:srgbClr val="2454C5"/>
          </a:solidFill>
          <a:ln/>
        </p:spPr>
      </p:sp>
      <p:pic>
        <p:nvPicPr>
          <p:cNvPr id="8" name="Image 0" descr="preencoded.png">    </p:cNvPr>
          <p:cNvPicPr>
            <a:picLocks noChangeAspect="1"/>
          </p:cNvPicPr>
          <p:nvPr/>
        </p:nvPicPr>
        <p:blipFill>
          <a:blip r:embed="rId1"/>
          <a:stretch>
            <a:fillRect/>
          </a:stretch>
        </p:blipFill>
        <p:spPr>
          <a:xfrm>
            <a:off x="1130272" y="2226215"/>
            <a:ext cx="190495" cy="190495"/>
          </a:xfrm>
          <a:prstGeom prst="rect">
            <a:avLst/>
          </a:prstGeom>
        </p:spPr>
      </p:pic>
      <p:sp>
        <p:nvSpPr>
          <p:cNvPr id="9" name="Text 6"/>
          <p:cNvSpPr txBox="1"/>
          <p:nvPr/>
        </p:nvSpPr>
        <p:spPr>
          <a:xfrm>
            <a:off x="1384265" y="2222444"/>
            <a:ext cx="495784"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Users</a:t>
            </a:r>
            <a:endParaRPr lang="en-US" sz="1300" dirty="0"/>
          </a:p>
        </p:txBody>
      </p:sp>
      <p:sp>
        <p:nvSpPr>
          <p:cNvPr id="10" name="Text 7"/>
          <p:cNvSpPr txBox="1"/>
          <p:nvPr/>
        </p:nvSpPr>
        <p:spPr>
          <a:xfrm>
            <a:off x="1130272" y="2445879"/>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web, iOS, Android</a:t>
            </a:r>
            <a:endParaRPr lang="en-US" sz="1200" dirty="0"/>
          </a:p>
        </p:txBody>
      </p:sp>
      <p:sp>
        <p:nvSpPr>
          <p:cNvPr id="11" name="Shape 8"/>
          <p:cNvSpPr/>
          <p:nvPr/>
        </p:nvSpPr>
        <p:spPr>
          <a:xfrm>
            <a:off x="965176" y="2984425"/>
            <a:ext cx="1904952" cy="825479"/>
          </a:xfrm>
          <a:prstGeom prst="roundRect">
            <a:avLst>
              <a:gd name="adj" fmla="val 10769"/>
            </a:avLst>
          </a:prstGeom>
          <a:solidFill>
            <a:srgbClr val="FCFDFF"/>
          </a:solidFill>
          <a:ln w="12700">
            <a:solidFill>
              <a:srgbClr val="3F5F95"/>
            </a:solidFill>
            <a:prstDash val="solid"/>
          </a:ln>
        </p:spPr>
      </p:sp>
      <p:sp>
        <p:nvSpPr>
          <p:cNvPr id="12" name="Shape 9"/>
          <p:cNvSpPr/>
          <p:nvPr/>
        </p:nvSpPr>
        <p:spPr>
          <a:xfrm>
            <a:off x="965176" y="2984425"/>
            <a:ext cx="50799" cy="825479"/>
          </a:xfrm>
          <a:prstGeom prst="roundRect">
            <a:avLst>
              <a:gd name="adj" fmla="val 50000"/>
            </a:avLst>
          </a:prstGeom>
          <a:solidFill>
            <a:srgbClr val="3F5F95"/>
          </a:solidFill>
          <a:ln/>
        </p:spPr>
      </p:sp>
      <p:sp>
        <p:nvSpPr>
          <p:cNvPr id="13" name="Text 10"/>
          <p:cNvSpPr txBox="1"/>
          <p:nvPr/>
        </p:nvSpPr>
        <p:spPr>
          <a:xfrm>
            <a:off x="1130272" y="3060623"/>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API Gateway</a:t>
            </a:r>
            <a:endParaRPr lang="en-US" sz="1300" dirty="0"/>
          </a:p>
        </p:txBody>
      </p:sp>
      <p:sp>
        <p:nvSpPr>
          <p:cNvPr id="14" name="Text 11"/>
          <p:cNvSpPr txBox="1"/>
          <p:nvPr/>
        </p:nvSpPr>
        <p:spPr>
          <a:xfrm>
            <a:off x="1130272" y="3284059"/>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HTTP API + WAF</a:t>
            </a:r>
            <a:endParaRPr lang="en-US" sz="1200" dirty="0"/>
          </a:p>
        </p:txBody>
      </p:sp>
      <p:sp>
        <p:nvSpPr>
          <p:cNvPr id="15" name="Text 12"/>
          <p:cNvSpPr txBox="1"/>
          <p:nvPr/>
        </p:nvSpPr>
        <p:spPr>
          <a:xfrm>
            <a:off x="1130272" y="3515133"/>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no routes yet</a:t>
            </a:r>
            <a:endParaRPr lang="en-US" sz="1200" dirty="0"/>
          </a:p>
        </p:txBody>
      </p:sp>
      <p:sp>
        <p:nvSpPr>
          <p:cNvPr id="16" name="Shape 13"/>
          <p:cNvSpPr/>
          <p:nvPr/>
        </p:nvSpPr>
        <p:spPr>
          <a:xfrm>
            <a:off x="965176" y="4000400"/>
            <a:ext cx="1904952" cy="698483"/>
          </a:xfrm>
          <a:prstGeom prst="roundRect">
            <a:avLst>
              <a:gd name="adj" fmla="val 12727"/>
            </a:avLst>
          </a:prstGeom>
          <a:solidFill>
            <a:srgbClr val="FCEBDD"/>
          </a:solidFill>
          <a:ln w="12700">
            <a:solidFill>
              <a:srgbClr val="B4530F"/>
            </a:solidFill>
            <a:prstDash val="dash"/>
          </a:ln>
        </p:spPr>
      </p:sp>
      <p:sp>
        <p:nvSpPr>
          <p:cNvPr id="17" name="Shape 14"/>
          <p:cNvSpPr/>
          <p:nvPr/>
        </p:nvSpPr>
        <p:spPr>
          <a:xfrm>
            <a:off x="965176" y="4000400"/>
            <a:ext cx="50799" cy="698483"/>
          </a:xfrm>
          <a:prstGeom prst="roundRect">
            <a:avLst>
              <a:gd name="adj" fmla="val 50000"/>
            </a:avLst>
          </a:prstGeom>
          <a:solidFill>
            <a:srgbClr val="B4530F"/>
          </a:solidFill>
          <a:ln/>
        </p:spPr>
      </p:sp>
      <p:sp>
        <p:nvSpPr>
          <p:cNvPr id="18" name="Text 15"/>
          <p:cNvSpPr txBox="1"/>
          <p:nvPr/>
        </p:nvSpPr>
        <p:spPr>
          <a:xfrm>
            <a:off x="1130272" y="4076598"/>
            <a:ext cx="1806403"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CloudFront + S3</a:t>
            </a:r>
            <a:endParaRPr lang="en-US" sz="1300" dirty="0"/>
          </a:p>
        </p:txBody>
      </p:sp>
      <p:sp>
        <p:nvSpPr>
          <p:cNvPr id="19" name="Text 16"/>
          <p:cNvSpPr txBox="1"/>
          <p:nvPr/>
        </p:nvSpPr>
        <p:spPr>
          <a:xfrm>
            <a:off x="1130272" y="4300033"/>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B4530F"/>
                </a:solidFill>
                <a:latin typeface="Calibri" pitchFamily="34" charset="0"/>
                <a:ea typeface="Calibri" pitchFamily="34" charset="-122"/>
                <a:cs typeface="Calibri" pitchFamily="34" charset="-120"/>
              </a:rPr>
              <a:t>SPA hosting: missing</a:t>
            </a:r>
            <a:endParaRPr lang="en-US" sz="1200" dirty="0"/>
          </a:p>
        </p:txBody>
      </p:sp>
      <p:sp>
        <p:nvSpPr>
          <p:cNvPr id="20" name="Shape 17"/>
          <p:cNvSpPr/>
          <p:nvPr/>
        </p:nvSpPr>
        <p:spPr>
          <a:xfrm>
            <a:off x="965176" y="4889378"/>
            <a:ext cx="1904952" cy="761981"/>
          </a:xfrm>
          <a:prstGeom prst="roundRect">
            <a:avLst>
              <a:gd name="adj" fmla="val 11667"/>
            </a:avLst>
          </a:prstGeom>
          <a:solidFill>
            <a:srgbClr val="FCFDFF"/>
          </a:solidFill>
          <a:ln w="12700">
            <a:solidFill>
              <a:srgbClr val="5C6B8A"/>
            </a:solidFill>
            <a:prstDash val="solid"/>
          </a:ln>
        </p:spPr>
      </p:sp>
      <p:sp>
        <p:nvSpPr>
          <p:cNvPr id="21" name="Shape 18"/>
          <p:cNvSpPr/>
          <p:nvPr/>
        </p:nvSpPr>
        <p:spPr>
          <a:xfrm>
            <a:off x="965176" y="4889378"/>
            <a:ext cx="50799" cy="761981"/>
          </a:xfrm>
          <a:prstGeom prst="roundRect">
            <a:avLst>
              <a:gd name="adj" fmla="val 50000"/>
            </a:avLst>
          </a:prstGeom>
          <a:solidFill>
            <a:srgbClr val="5C6B8A"/>
          </a:solidFill>
          <a:ln/>
        </p:spPr>
      </p:sp>
      <p:pic>
        <p:nvPicPr>
          <p:cNvPr id="22" name="Image 1" descr="preencoded.png">    </p:cNvPr>
          <p:cNvPicPr>
            <a:picLocks noChangeAspect="1"/>
          </p:cNvPicPr>
          <p:nvPr/>
        </p:nvPicPr>
        <p:blipFill>
          <a:blip r:embed="rId2"/>
          <a:stretch>
            <a:fillRect/>
          </a:stretch>
        </p:blipFill>
        <p:spPr>
          <a:xfrm>
            <a:off x="1130272" y="4969346"/>
            <a:ext cx="190495" cy="190495"/>
          </a:xfrm>
          <a:prstGeom prst="rect">
            <a:avLst/>
          </a:prstGeom>
        </p:spPr>
      </p:pic>
      <p:sp>
        <p:nvSpPr>
          <p:cNvPr id="23" name="Text 19"/>
          <p:cNvSpPr txBox="1"/>
          <p:nvPr/>
        </p:nvSpPr>
        <p:spPr>
          <a:xfrm>
            <a:off x="1384265" y="4965576"/>
            <a:ext cx="1275016" cy="198115"/>
          </a:xfrm>
          <a:prstGeom prst="rect">
            <a:avLst/>
          </a:prstGeom>
          <a:noFill/>
          <a:ln/>
        </p:spPr>
        <p:txBody>
          <a:bodyPr wrap="square" lIns="0" tIns="0" rIns="0" bIns="0" rtlCol="0" anchor="t"/>
          <a:lstStyle/>
          <a:p>
            <a:pPr algn="l" indent="0" marL="0">
              <a:lnSpc>
                <a:spcPct val="100000"/>
              </a:lnSpc>
              <a:buNone/>
            </a:pPr>
            <a:r>
              <a:rPr lang="en-US" sz="1300" b="1" dirty="0">
                <a:solidFill>
                  <a:srgbClr val="1F3A70"/>
                </a:solidFill>
                <a:latin typeface="Calibri" pitchFamily="34" charset="0"/>
                <a:ea typeface="Calibri" pitchFamily="34" charset="-122"/>
                <a:cs typeface="Calibri" pitchFamily="34" charset="-120"/>
              </a:rPr>
              <a:t>GitHub Actions</a:t>
            </a:r>
            <a:endParaRPr lang="en-US" sz="1300" dirty="0"/>
          </a:p>
        </p:txBody>
      </p:sp>
      <p:sp>
        <p:nvSpPr>
          <p:cNvPr id="24" name="Text 20"/>
          <p:cNvSpPr txBox="1"/>
          <p:nvPr/>
        </p:nvSpPr>
        <p:spPr>
          <a:xfrm>
            <a:off x="1130272" y="5189011"/>
            <a:ext cx="1806403" cy="205735"/>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OIDC → ECR (missing)</a:t>
            </a:r>
            <a:endParaRPr lang="en-US" sz="1200" dirty="0"/>
          </a:p>
        </p:txBody>
      </p:sp>
      <p:sp>
        <p:nvSpPr>
          <p:cNvPr id="25" name="Shape 21"/>
          <p:cNvSpPr/>
          <p:nvPr/>
        </p:nvSpPr>
        <p:spPr>
          <a:xfrm>
            <a:off x="3111422" y="2095448"/>
            <a:ext cx="8115097" cy="2743131"/>
          </a:xfrm>
          <a:prstGeom prst="roundRect">
            <a:avLst>
              <a:gd name="adj" fmla="val 4630"/>
            </a:avLst>
          </a:prstGeom>
          <a:solidFill>
            <a:srgbClr val="E6EEF9"/>
          </a:solidFill>
          <a:ln w="12700">
            <a:solidFill>
              <a:srgbClr val="2454C5"/>
            </a:solidFill>
            <a:prstDash val="solid"/>
          </a:ln>
        </p:spPr>
      </p:sp>
      <p:sp>
        <p:nvSpPr>
          <p:cNvPr id="26" name="Text 22"/>
          <p:cNvSpPr txBox="1"/>
          <p:nvPr/>
        </p:nvSpPr>
        <p:spPr>
          <a:xfrm>
            <a:off x="3238419" y="2171646"/>
            <a:ext cx="8804436" cy="213355"/>
          </a:xfrm>
          <a:prstGeom prst="rect">
            <a:avLst/>
          </a:prstGeom>
          <a:noFill/>
          <a:ln/>
        </p:spPr>
        <p:txBody>
          <a:bodyPr wrap="square" lIns="0" tIns="0" rIns="0" bIns="0" rtlCol="0" anchor="t"/>
          <a:lstStyle/>
          <a:p>
            <a:pPr algn="l" indent="0" marL="0">
              <a:lnSpc>
                <a:spcPct val="116667"/>
              </a:lnSpc>
              <a:buNone/>
            </a:pPr>
            <a:r>
              <a:rPr lang="en-US" sz="1200" spc="50" kern="0" dirty="0">
                <a:solidFill>
                  <a:srgbClr val="2454C5"/>
                </a:solidFill>
                <a:latin typeface="Courier New" pitchFamily="34" charset="0"/>
                <a:ea typeface="Courier New" pitchFamily="34" charset="-122"/>
                <a:cs typeface="Courier New" pitchFamily="34" charset="-120"/>
              </a:rPr>
              <a:t>VPC · 3 AZs · flow logs</a:t>
            </a:r>
            <a:endParaRPr lang="en-US" sz="1200" dirty="0"/>
          </a:p>
        </p:txBody>
      </p:sp>
      <p:sp>
        <p:nvSpPr>
          <p:cNvPr id="27" name="Shape 23"/>
          <p:cNvSpPr/>
          <p:nvPr/>
        </p:nvSpPr>
        <p:spPr>
          <a:xfrm>
            <a:off x="3238419" y="2412940"/>
            <a:ext cx="7861103" cy="507987"/>
          </a:xfrm>
          <a:prstGeom prst="roundRect">
            <a:avLst>
              <a:gd name="adj" fmla="val 15000"/>
            </a:avLst>
          </a:prstGeom>
          <a:solidFill>
            <a:srgbClr val="FCFDFF"/>
          </a:solidFill>
          <a:ln w="6350">
            <a:solidFill>
              <a:srgbClr val="D5DEEC"/>
            </a:solidFill>
            <a:prstDash val="solid"/>
          </a:ln>
        </p:spPr>
      </p:sp>
      <p:sp>
        <p:nvSpPr>
          <p:cNvPr id="28" name="Text 24"/>
          <p:cNvSpPr txBox="1"/>
          <p:nvPr/>
        </p:nvSpPr>
        <p:spPr>
          <a:xfrm>
            <a:off x="3346366" y="2560276"/>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2454C5"/>
                </a:solidFill>
                <a:latin typeface="Courier New" pitchFamily="34" charset="0"/>
                <a:ea typeface="Courier New" pitchFamily="34" charset="-122"/>
                <a:cs typeface="Courier New" pitchFamily="34" charset="-120"/>
              </a:rPr>
              <a:t>Public</a:t>
            </a:r>
            <a:endParaRPr lang="en-US" sz="1200" dirty="0"/>
          </a:p>
        </p:txBody>
      </p:sp>
      <p:sp>
        <p:nvSpPr>
          <p:cNvPr id="29" name="Shape 25"/>
          <p:cNvSpPr/>
          <p:nvPr/>
        </p:nvSpPr>
        <p:spPr>
          <a:xfrm>
            <a:off x="4248044" y="2517117"/>
            <a:ext cx="1294574" cy="299633"/>
          </a:xfrm>
          <a:prstGeom prst="roundRect">
            <a:avLst>
              <a:gd name="adj" fmla="val 21192"/>
            </a:avLst>
          </a:prstGeom>
          <a:solidFill>
            <a:srgbClr val="E3EBFA"/>
          </a:solidFill>
          <a:ln/>
        </p:spPr>
      </p:sp>
      <p:sp>
        <p:nvSpPr>
          <p:cNvPr id="30" name="Text 26"/>
          <p:cNvSpPr txBox="1"/>
          <p:nvPr/>
        </p:nvSpPr>
        <p:spPr>
          <a:xfrm>
            <a:off x="4336942" y="2567915"/>
            <a:ext cx="1250792"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NAT gateway ×3</a:t>
            </a:r>
            <a:endParaRPr lang="en-US" sz="1200" dirty="0"/>
          </a:p>
        </p:txBody>
      </p:sp>
      <p:sp>
        <p:nvSpPr>
          <p:cNvPr id="31" name="Shape 27"/>
          <p:cNvSpPr/>
          <p:nvPr/>
        </p:nvSpPr>
        <p:spPr>
          <a:xfrm>
            <a:off x="5618816" y="2504417"/>
            <a:ext cx="1609189" cy="325032"/>
          </a:xfrm>
          <a:prstGeom prst="roundRect">
            <a:avLst>
              <a:gd name="adj" fmla="val 19536"/>
            </a:avLst>
          </a:prstGeom>
          <a:solidFill>
            <a:srgbClr val="FCEBDD"/>
          </a:solidFill>
          <a:ln w="12700">
            <a:solidFill>
              <a:srgbClr val="B4530F"/>
            </a:solidFill>
            <a:prstDash val="dash"/>
          </a:ln>
        </p:spPr>
      </p:sp>
      <p:sp>
        <p:nvSpPr>
          <p:cNvPr id="32" name="Text 28"/>
          <p:cNvSpPr txBox="1"/>
          <p:nvPr/>
        </p:nvSpPr>
        <p:spPr>
          <a:xfrm>
            <a:off x="5720413" y="2567915"/>
            <a:ext cx="1574713"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ALB or NLB: missing</a:t>
            </a:r>
            <a:endParaRPr lang="en-US" sz="1200" dirty="0"/>
          </a:p>
        </p:txBody>
      </p:sp>
      <p:sp>
        <p:nvSpPr>
          <p:cNvPr id="33" name="Shape 29"/>
          <p:cNvSpPr/>
          <p:nvPr/>
        </p:nvSpPr>
        <p:spPr>
          <a:xfrm>
            <a:off x="3238419" y="3009825"/>
            <a:ext cx="7861103" cy="952476"/>
          </a:xfrm>
          <a:prstGeom prst="roundRect">
            <a:avLst>
              <a:gd name="adj" fmla="val 8000"/>
            </a:avLst>
          </a:prstGeom>
          <a:solidFill>
            <a:srgbClr val="FCFDFF"/>
          </a:solidFill>
          <a:ln w="6350">
            <a:solidFill>
              <a:srgbClr val="D5DEEC"/>
            </a:solidFill>
            <a:prstDash val="solid"/>
          </a:ln>
        </p:spPr>
      </p:sp>
      <p:sp>
        <p:nvSpPr>
          <p:cNvPr id="34" name="Text 30"/>
          <p:cNvSpPr txBox="1"/>
          <p:nvPr/>
        </p:nvSpPr>
        <p:spPr>
          <a:xfrm>
            <a:off x="3346366" y="3157161"/>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0B7F74"/>
                </a:solidFill>
                <a:latin typeface="Courier New" pitchFamily="34" charset="0"/>
                <a:ea typeface="Courier New" pitchFamily="34" charset="-122"/>
                <a:cs typeface="Courier New" pitchFamily="34" charset="-120"/>
              </a:rPr>
              <a:t>Private</a:t>
            </a:r>
            <a:endParaRPr lang="en-US" sz="1200" dirty="0"/>
          </a:p>
        </p:txBody>
      </p:sp>
      <p:sp>
        <p:nvSpPr>
          <p:cNvPr id="35" name="Shape 31"/>
          <p:cNvSpPr/>
          <p:nvPr/>
        </p:nvSpPr>
        <p:spPr>
          <a:xfrm>
            <a:off x="4248044" y="3114002"/>
            <a:ext cx="2418496" cy="299633"/>
          </a:xfrm>
          <a:prstGeom prst="roundRect">
            <a:avLst>
              <a:gd name="adj" fmla="val 21192"/>
            </a:avLst>
          </a:prstGeom>
          <a:solidFill>
            <a:srgbClr val="DDF2EF"/>
          </a:solidFill>
          <a:ln/>
        </p:spPr>
      </p:sp>
      <p:sp>
        <p:nvSpPr>
          <p:cNvPr id="36" name="Text 32"/>
          <p:cNvSpPr txBox="1"/>
          <p:nvPr/>
        </p:nvSpPr>
        <p:spPr>
          <a:xfrm>
            <a:off x="4336942" y="3164801"/>
            <a:ext cx="2509584"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EKS 1.29 · t3.xlarge + c5.2xlarge</a:t>
            </a:r>
            <a:endParaRPr lang="en-US" sz="1200" dirty="0"/>
          </a:p>
        </p:txBody>
      </p:sp>
      <p:sp>
        <p:nvSpPr>
          <p:cNvPr id="37" name="Shape 33"/>
          <p:cNvSpPr/>
          <p:nvPr/>
        </p:nvSpPr>
        <p:spPr>
          <a:xfrm>
            <a:off x="6742738" y="3114002"/>
            <a:ext cx="2244967" cy="299633"/>
          </a:xfrm>
          <a:prstGeom prst="roundRect">
            <a:avLst>
              <a:gd name="adj" fmla="val 21192"/>
            </a:avLst>
          </a:prstGeom>
          <a:solidFill>
            <a:srgbClr val="DDF2EF"/>
          </a:solidFill>
          <a:ln/>
        </p:spPr>
      </p:sp>
      <p:sp>
        <p:nvSpPr>
          <p:cNvPr id="38" name="Text 34"/>
          <p:cNvSpPr txBox="1"/>
          <p:nvPr/>
        </p:nvSpPr>
        <p:spPr>
          <a:xfrm>
            <a:off x="6831635" y="3164801"/>
            <a:ext cx="2315231"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5 deployables · 6 namespaces</a:t>
            </a:r>
            <a:endParaRPr lang="en-US" sz="1200" dirty="0"/>
          </a:p>
        </p:txBody>
      </p:sp>
      <p:sp>
        <p:nvSpPr>
          <p:cNvPr id="39" name="Shape 35"/>
          <p:cNvSpPr/>
          <p:nvPr/>
        </p:nvSpPr>
        <p:spPr>
          <a:xfrm>
            <a:off x="3346366" y="3558491"/>
            <a:ext cx="1928665" cy="299633"/>
          </a:xfrm>
          <a:prstGeom prst="roundRect">
            <a:avLst>
              <a:gd name="adj" fmla="val 21192"/>
            </a:avLst>
          </a:prstGeom>
          <a:solidFill>
            <a:srgbClr val="DDF2EF"/>
          </a:solidFill>
          <a:ln/>
        </p:spPr>
      </p:sp>
      <p:sp>
        <p:nvSpPr>
          <p:cNvPr id="40" name="Text 36"/>
          <p:cNvSpPr txBox="1"/>
          <p:nvPr/>
        </p:nvSpPr>
        <p:spPr>
          <a:xfrm>
            <a:off x="3435264" y="3609289"/>
            <a:ext cx="1960974"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HPA 3–20 · non-root pods</a:t>
            </a:r>
            <a:endParaRPr lang="en-US" sz="1200" dirty="0"/>
          </a:p>
        </p:txBody>
      </p:sp>
      <p:sp>
        <p:nvSpPr>
          <p:cNvPr id="41" name="Shape 37"/>
          <p:cNvSpPr/>
          <p:nvPr/>
        </p:nvSpPr>
        <p:spPr>
          <a:xfrm>
            <a:off x="3238419" y="4063898"/>
            <a:ext cx="7861103" cy="634984"/>
          </a:xfrm>
          <a:prstGeom prst="roundRect">
            <a:avLst>
              <a:gd name="adj" fmla="val 12000"/>
            </a:avLst>
          </a:prstGeom>
          <a:solidFill>
            <a:srgbClr val="FCFDFF"/>
          </a:solidFill>
          <a:ln w="6350">
            <a:solidFill>
              <a:srgbClr val="D5DEEC"/>
            </a:solidFill>
            <a:prstDash val="solid"/>
          </a:ln>
        </p:spPr>
      </p:sp>
      <p:sp>
        <p:nvSpPr>
          <p:cNvPr id="42" name="Text 38"/>
          <p:cNvSpPr txBox="1"/>
          <p:nvPr/>
        </p:nvSpPr>
        <p:spPr>
          <a:xfrm>
            <a:off x="3346366" y="4274733"/>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2F5C9A"/>
                </a:solidFill>
                <a:latin typeface="Courier New" pitchFamily="34" charset="0"/>
                <a:ea typeface="Courier New" pitchFamily="34" charset="-122"/>
                <a:cs typeface="Courier New" pitchFamily="34" charset="-120"/>
              </a:rPr>
              <a:t>Data</a:t>
            </a:r>
            <a:endParaRPr lang="en-US" sz="1200" dirty="0"/>
          </a:p>
        </p:txBody>
      </p:sp>
      <p:sp>
        <p:nvSpPr>
          <p:cNvPr id="43" name="Shape 39"/>
          <p:cNvSpPr/>
          <p:nvPr/>
        </p:nvSpPr>
        <p:spPr>
          <a:xfrm>
            <a:off x="4248044" y="4231574"/>
            <a:ext cx="1846018" cy="299633"/>
          </a:xfrm>
          <a:prstGeom prst="roundRect">
            <a:avLst>
              <a:gd name="adj" fmla="val 21192"/>
            </a:avLst>
          </a:prstGeom>
          <a:solidFill>
            <a:srgbClr val="E2EAF6"/>
          </a:solidFill>
          <a:ln/>
        </p:spPr>
      </p:sp>
      <p:sp>
        <p:nvSpPr>
          <p:cNvPr id="44" name="Text 40"/>
          <p:cNvSpPr txBox="1"/>
          <p:nvPr/>
        </p:nvSpPr>
        <p:spPr>
          <a:xfrm>
            <a:off x="4336942" y="4282373"/>
            <a:ext cx="186840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RDS Postgres · Multi-AZ</a:t>
            </a:r>
            <a:endParaRPr lang="en-US" sz="1200" dirty="0"/>
          </a:p>
        </p:txBody>
      </p:sp>
      <p:sp>
        <p:nvSpPr>
          <p:cNvPr id="45" name="Shape 41"/>
          <p:cNvSpPr/>
          <p:nvPr/>
        </p:nvSpPr>
        <p:spPr>
          <a:xfrm>
            <a:off x="6170260" y="4231574"/>
            <a:ext cx="1644311" cy="299633"/>
          </a:xfrm>
          <a:prstGeom prst="roundRect">
            <a:avLst>
              <a:gd name="adj" fmla="val 21192"/>
            </a:avLst>
          </a:prstGeom>
          <a:solidFill>
            <a:srgbClr val="E7E7F6"/>
          </a:solidFill>
          <a:ln/>
        </p:spPr>
      </p:sp>
      <p:sp>
        <p:nvSpPr>
          <p:cNvPr id="46" name="Text 42"/>
          <p:cNvSpPr txBox="1"/>
          <p:nvPr/>
        </p:nvSpPr>
        <p:spPr>
          <a:xfrm>
            <a:off x="6259158" y="4282373"/>
            <a:ext cx="164249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MSK · TLS + SCRAM</a:t>
            </a:r>
            <a:endParaRPr lang="en-US" sz="1200" dirty="0"/>
          </a:p>
        </p:txBody>
      </p:sp>
      <p:sp>
        <p:nvSpPr>
          <p:cNvPr id="47" name="Shape 43"/>
          <p:cNvSpPr/>
          <p:nvPr/>
        </p:nvSpPr>
        <p:spPr>
          <a:xfrm>
            <a:off x="7890769" y="4231574"/>
            <a:ext cx="1873501" cy="299633"/>
          </a:xfrm>
          <a:prstGeom prst="roundRect">
            <a:avLst>
              <a:gd name="adj" fmla="val 21192"/>
            </a:avLst>
          </a:prstGeom>
          <a:solidFill>
            <a:srgbClr val="FBE4E2"/>
          </a:solidFill>
          <a:ln/>
        </p:spPr>
      </p:sp>
      <p:sp>
        <p:nvSpPr>
          <p:cNvPr id="48" name="Text 44"/>
          <p:cNvSpPr txBox="1"/>
          <p:nvPr/>
        </p:nvSpPr>
        <p:spPr>
          <a:xfrm>
            <a:off x="7979667" y="4282373"/>
            <a:ext cx="189919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ElastiCache · TLS + auth</a:t>
            </a:r>
            <a:endParaRPr lang="en-US" sz="1200" dirty="0"/>
          </a:p>
        </p:txBody>
      </p:sp>
      <p:sp>
        <p:nvSpPr>
          <p:cNvPr id="49" name="Shape 45"/>
          <p:cNvSpPr/>
          <p:nvPr/>
        </p:nvSpPr>
        <p:spPr>
          <a:xfrm>
            <a:off x="3111422" y="5016375"/>
            <a:ext cx="8115097" cy="634984"/>
          </a:xfrm>
          <a:prstGeom prst="roundRect">
            <a:avLst>
              <a:gd name="adj" fmla="val 12000"/>
            </a:avLst>
          </a:prstGeom>
          <a:solidFill>
            <a:srgbClr val="FCFDFF"/>
          </a:solidFill>
          <a:ln w="6350">
            <a:solidFill>
              <a:srgbClr val="D5DEEC"/>
            </a:solidFill>
            <a:prstDash val="solid"/>
          </a:ln>
        </p:spPr>
      </p:sp>
      <p:sp>
        <p:nvSpPr>
          <p:cNvPr id="50" name="Text 46"/>
          <p:cNvSpPr txBox="1"/>
          <p:nvPr/>
        </p:nvSpPr>
        <p:spPr>
          <a:xfrm>
            <a:off x="3219370" y="5227209"/>
            <a:ext cx="924537" cy="213355"/>
          </a:xfrm>
          <a:prstGeom prst="rect">
            <a:avLst/>
          </a:prstGeom>
          <a:noFill/>
          <a:ln/>
        </p:spPr>
        <p:txBody>
          <a:bodyPr wrap="square" lIns="0" tIns="0" rIns="0" bIns="0" rtlCol="0" anchor="t"/>
          <a:lstStyle/>
          <a:p>
            <a:pPr algn="l" indent="0" marL="0">
              <a:lnSpc>
                <a:spcPct val="116667"/>
              </a:lnSpc>
              <a:buNone/>
            </a:pPr>
            <a:r>
              <a:rPr lang="en-US" sz="1200" b="1" dirty="0">
                <a:solidFill>
                  <a:srgbClr val="6A3FC0"/>
                </a:solidFill>
                <a:latin typeface="Courier New" pitchFamily="34" charset="0"/>
                <a:ea typeface="Courier New" pitchFamily="34" charset="-122"/>
                <a:cs typeface="Courier New" pitchFamily="34" charset="-120"/>
              </a:rPr>
              <a:t>Regional</a:t>
            </a:r>
            <a:endParaRPr lang="en-US" sz="1200" dirty="0"/>
          </a:p>
        </p:txBody>
      </p:sp>
      <p:sp>
        <p:nvSpPr>
          <p:cNvPr id="51" name="Shape 47"/>
          <p:cNvSpPr/>
          <p:nvPr/>
        </p:nvSpPr>
        <p:spPr>
          <a:xfrm>
            <a:off x="4121047" y="5184050"/>
            <a:ext cx="1287232" cy="299633"/>
          </a:xfrm>
          <a:prstGeom prst="roundRect">
            <a:avLst>
              <a:gd name="adj" fmla="val 21192"/>
            </a:avLst>
          </a:prstGeom>
          <a:solidFill>
            <a:srgbClr val="ECE5FA"/>
          </a:solidFill>
          <a:ln/>
        </p:spPr>
      </p:sp>
      <p:sp>
        <p:nvSpPr>
          <p:cNvPr id="52" name="Text 48"/>
          <p:cNvSpPr txBox="1"/>
          <p:nvPr/>
        </p:nvSpPr>
        <p:spPr>
          <a:xfrm>
            <a:off x="4209945" y="5234849"/>
            <a:ext cx="1242569"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KMS: rds, s3, pii</a:t>
            </a:r>
            <a:endParaRPr lang="en-US" sz="1200" dirty="0"/>
          </a:p>
        </p:txBody>
      </p:sp>
      <p:sp>
        <p:nvSpPr>
          <p:cNvPr id="53" name="Shape 49"/>
          <p:cNvSpPr/>
          <p:nvPr/>
        </p:nvSpPr>
        <p:spPr>
          <a:xfrm>
            <a:off x="5484477" y="5184050"/>
            <a:ext cx="1338328" cy="299633"/>
          </a:xfrm>
          <a:prstGeom prst="roundRect">
            <a:avLst>
              <a:gd name="adj" fmla="val 21192"/>
            </a:avLst>
          </a:prstGeom>
          <a:solidFill>
            <a:srgbClr val="ECE5FA"/>
          </a:solidFill>
          <a:ln/>
        </p:spPr>
      </p:sp>
      <p:sp>
        <p:nvSpPr>
          <p:cNvPr id="54" name="Text 50"/>
          <p:cNvSpPr txBox="1"/>
          <p:nvPr/>
        </p:nvSpPr>
        <p:spPr>
          <a:xfrm>
            <a:off x="5573375" y="5234849"/>
            <a:ext cx="1299797"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Secrets Manager</a:t>
            </a:r>
            <a:endParaRPr lang="en-US" sz="1200" dirty="0"/>
          </a:p>
        </p:txBody>
      </p:sp>
      <p:sp>
        <p:nvSpPr>
          <p:cNvPr id="55" name="Shape 51"/>
          <p:cNvSpPr/>
          <p:nvPr/>
        </p:nvSpPr>
        <p:spPr>
          <a:xfrm>
            <a:off x="6899003" y="5184050"/>
            <a:ext cx="1058836" cy="299633"/>
          </a:xfrm>
          <a:prstGeom prst="roundRect">
            <a:avLst>
              <a:gd name="adj" fmla="val 21192"/>
            </a:avLst>
          </a:prstGeom>
          <a:solidFill>
            <a:srgbClr val="E0F2E8"/>
          </a:solidFill>
          <a:ln/>
        </p:spPr>
      </p:sp>
      <p:sp>
        <p:nvSpPr>
          <p:cNvPr id="56" name="Text 52"/>
          <p:cNvSpPr txBox="1"/>
          <p:nvPr/>
        </p:nvSpPr>
        <p:spPr>
          <a:xfrm>
            <a:off x="6987901" y="5234849"/>
            <a:ext cx="98676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4 S3 buckets</a:t>
            </a:r>
            <a:endParaRPr lang="en-US" sz="1200" dirty="0"/>
          </a:p>
        </p:txBody>
      </p:sp>
      <p:sp>
        <p:nvSpPr>
          <p:cNvPr id="57" name="Shape 53"/>
          <p:cNvSpPr/>
          <p:nvPr/>
        </p:nvSpPr>
        <p:spPr>
          <a:xfrm>
            <a:off x="8034037" y="5184050"/>
            <a:ext cx="1002283" cy="299633"/>
          </a:xfrm>
          <a:prstGeom prst="roundRect">
            <a:avLst>
              <a:gd name="adj" fmla="val 21192"/>
            </a:avLst>
          </a:prstGeom>
          <a:solidFill>
            <a:srgbClr val="EEF1F6"/>
          </a:solidFill>
          <a:ln/>
        </p:spPr>
      </p:sp>
      <p:sp>
        <p:nvSpPr>
          <p:cNvPr id="58" name="Text 54"/>
          <p:cNvSpPr txBox="1"/>
          <p:nvPr/>
        </p:nvSpPr>
        <p:spPr>
          <a:xfrm>
            <a:off x="8122935" y="5234849"/>
            <a:ext cx="923426"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CloudWatch</a:t>
            </a:r>
            <a:endParaRPr lang="en-US" sz="1200" dirty="0"/>
          </a:p>
        </p:txBody>
      </p:sp>
      <p:sp>
        <p:nvSpPr>
          <p:cNvPr id="59" name="Shape 55"/>
          <p:cNvSpPr/>
          <p:nvPr/>
        </p:nvSpPr>
        <p:spPr>
          <a:xfrm>
            <a:off x="1917652" y="2793930"/>
            <a:ext cx="63" cy="190495"/>
          </a:xfrm>
          <a:prstGeom prst="line">
            <a:avLst/>
          </a:prstGeom>
          <a:noFill/>
          <a:ln w="19050">
            <a:solidFill>
              <a:srgbClr val="5C6B8A"/>
            </a:solidFill>
            <a:prstDash val="solid"/>
            <a:tailEnd type="triangle"/>
          </a:ln>
        </p:spPr>
      </p:sp>
      <p:sp>
        <p:nvSpPr>
          <p:cNvPr id="60" name="Shape 56"/>
          <p:cNvSpPr/>
          <p:nvPr/>
        </p:nvSpPr>
        <p:spPr>
          <a:xfrm>
            <a:off x="2870128" y="3486063"/>
            <a:ext cx="368291" cy="63"/>
          </a:xfrm>
          <a:prstGeom prst="line">
            <a:avLst/>
          </a:prstGeom>
          <a:noFill/>
          <a:ln w="19050">
            <a:solidFill>
              <a:srgbClr val="B4530F"/>
            </a:solidFill>
            <a:prstDash val="dash"/>
            <a:tailEnd type="triangle"/>
          </a:ln>
        </p:spPr>
      </p:sp>
      <p:sp>
        <p:nvSpPr>
          <p:cNvPr id="61" name="Text 5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62" name="Text 5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STEPS 1–6</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Provision AWS in two Terraform phases</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Clear the blockers</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Start with the API Gateway module</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sp>
      <p:sp>
        <p:nvSpPr>
          <p:cNvPr id="9" name="Shape 7"/>
          <p:cNvSpPr/>
          <p:nvPr/>
        </p:nvSpPr>
        <p:spPr>
          <a:xfrm>
            <a:off x="5248144" y="1909913"/>
            <a:ext cx="38099" cy="365711"/>
          </a:xfrm>
          <a:prstGeom prst="roundRect">
            <a:avLst>
              <a:gd name="adj" fmla="val 50000"/>
            </a:avLst>
          </a:prstGeom>
          <a:solidFill>
            <a:srgbClr val="2454C5"/>
          </a:solidFill>
          <a:ln/>
        </p:spPr>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grep -n 32wqa …/api_gateway/main.tf → no output</a:t>
            </a:r>
            <a:endParaRPr lang="en-US" sz="1200" dirty="0"/>
          </a:p>
        </p:txBody>
      </p:sp>
      <p:sp>
        <p:nvSpPr>
          <p:cNvPr id="11" name="Shape 9"/>
          <p:cNvSpPr/>
          <p:nvPr/>
        </p:nvSpPr>
        <p:spPr>
          <a:xfrm>
            <a:off x="812780" y="2365812"/>
            <a:ext cx="10566136" cy="63"/>
          </a:xfrm>
          <a:prstGeom prst="line">
            <a:avLst/>
          </a:prstGeom>
          <a:noFill/>
          <a:ln w="6350">
            <a:solidFill>
              <a:srgbClr val="D5DEEC"/>
            </a:solidFill>
            <a:prstDash val="solid"/>
          </a:ln>
        </p:spPr>
      </p:sp>
      <p:sp>
        <p:nvSpPr>
          <p:cNvPr id="12" name="Text 10"/>
          <p:cNvSpPr txBox="1"/>
          <p:nvPr/>
        </p:nvSpPr>
        <p:spPr>
          <a:xfrm>
            <a:off x="812780" y="259559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1203295" y="250292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Bootstrap once</a:t>
            </a:r>
            <a:endParaRPr lang="en-US" sz="1300" dirty="0"/>
          </a:p>
        </p:txBody>
      </p:sp>
      <p:sp>
        <p:nvSpPr>
          <p:cNvPr id="14" name="Text 12"/>
          <p:cNvSpPr txBox="1"/>
          <p:nvPr/>
        </p:nvSpPr>
        <p:spPr>
          <a:xfrm>
            <a:off x="1203295" y="275940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State, locks, ECR, OIDC roles</a:t>
            </a:r>
            <a:endParaRPr lang="en-US" sz="1200" dirty="0"/>
          </a:p>
        </p:txBody>
      </p:sp>
      <p:sp>
        <p:nvSpPr>
          <p:cNvPr id="15" name="Shape 13"/>
          <p:cNvSpPr/>
          <p:nvPr/>
        </p:nvSpPr>
        <p:spPr>
          <a:xfrm>
            <a:off x="5248144" y="2448360"/>
            <a:ext cx="6130772" cy="579026"/>
          </a:xfrm>
          <a:prstGeom prst="roundRect">
            <a:avLst>
              <a:gd name="adj" fmla="val 8773"/>
            </a:avLst>
          </a:prstGeom>
          <a:solidFill>
            <a:srgbClr val="E7EEFA"/>
          </a:solidFill>
          <a:ln/>
        </p:spPr>
      </p:sp>
      <p:sp>
        <p:nvSpPr>
          <p:cNvPr id="16" name="Shape 14"/>
          <p:cNvSpPr/>
          <p:nvPr/>
        </p:nvSpPr>
        <p:spPr>
          <a:xfrm>
            <a:off x="5248144" y="2448360"/>
            <a:ext cx="38099" cy="579026"/>
          </a:xfrm>
          <a:prstGeom prst="roundRect">
            <a:avLst>
              <a:gd name="adj" fmla="val 50000"/>
            </a:avLst>
          </a:prstGeom>
          <a:solidFill>
            <a:srgbClr val="2454C5"/>
          </a:solidFill>
          <a:ln/>
        </p:spPr>
      </p:sp>
      <p:sp>
        <p:nvSpPr>
          <p:cNvPr id="17" name="Text 15"/>
          <p:cNvSpPr txBox="1"/>
          <p:nvPr/>
        </p:nvSpPr>
        <p:spPr>
          <a:xfrm>
            <a:off x="5413240" y="2524558"/>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homefix-terraform-state (versioned, KMS)</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homefix-terraform-locks (DynamoDB)</a:t>
            </a:r>
            <a:endParaRPr lang="en-US" sz="1200" dirty="0"/>
          </a:p>
        </p:txBody>
      </p:sp>
      <p:sp>
        <p:nvSpPr>
          <p:cNvPr id="18" name="Shape 16"/>
          <p:cNvSpPr/>
          <p:nvPr/>
        </p:nvSpPr>
        <p:spPr>
          <a:xfrm>
            <a:off x="812780" y="3065485"/>
            <a:ext cx="10566136" cy="63"/>
          </a:xfrm>
          <a:prstGeom prst="line">
            <a:avLst/>
          </a:prstGeom>
          <a:noFill/>
          <a:ln w="6350">
            <a:solidFill>
              <a:srgbClr val="D5DEEC"/>
            </a:solidFill>
            <a:prstDash val="solid"/>
          </a:ln>
        </p:spPr>
      </p:sp>
      <p:sp>
        <p:nvSpPr>
          <p:cNvPr id="19" name="Text 17"/>
          <p:cNvSpPr txBox="1"/>
          <p:nvPr/>
        </p:nvSpPr>
        <p:spPr>
          <a:xfrm>
            <a:off x="812780" y="329527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03</a:t>
            </a:r>
            <a:endParaRPr lang="en-US" sz="1600" dirty="0"/>
          </a:p>
        </p:txBody>
      </p:sp>
      <p:sp>
        <p:nvSpPr>
          <p:cNvPr id="20" name="Text 18"/>
          <p:cNvSpPr txBox="1"/>
          <p:nvPr/>
        </p:nvSpPr>
        <p:spPr>
          <a:xfrm>
            <a:off x="1203295" y="320260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Phase 1: platform</a:t>
            </a:r>
            <a:endParaRPr lang="en-US" sz="1300" dirty="0"/>
          </a:p>
        </p:txBody>
      </p:sp>
      <p:sp>
        <p:nvSpPr>
          <p:cNvPr id="21" name="Text 19"/>
          <p:cNvSpPr txBox="1"/>
          <p:nvPr/>
        </p:nvSpPr>
        <p:spPr>
          <a:xfrm>
            <a:off x="1203295" y="345907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Network, EKS, data, edge</a:t>
            </a:r>
            <a:endParaRPr lang="en-US" sz="1200" dirty="0"/>
          </a:p>
        </p:txBody>
      </p:sp>
      <p:sp>
        <p:nvSpPr>
          <p:cNvPr id="22" name="Shape 20"/>
          <p:cNvSpPr/>
          <p:nvPr/>
        </p:nvSpPr>
        <p:spPr>
          <a:xfrm>
            <a:off x="5248144" y="3148033"/>
            <a:ext cx="6130772" cy="579026"/>
          </a:xfrm>
          <a:prstGeom prst="roundRect">
            <a:avLst>
              <a:gd name="adj" fmla="val 8773"/>
            </a:avLst>
          </a:prstGeom>
          <a:solidFill>
            <a:srgbClr val="E7EEFA"/>
          </a:solidFill>
          <a:ln/>
        </p:spPr>
      </p:sp>
      <p:sp>
        <p:nvSpPr>
          <p:cNvPr id="23" name="Shape 21"/>
          <p:cNvSpPr/>
          <p:nvPr/>
        </p:nvSpPr>
        <p:spPr>
          <a:xfrm>
            <a:off x="5248144" y="3148033"/>
            <a:ext cx="38099" cy="579026"/>
          </a:xfrm>
          <a:prstGeom prst="roundRect">
            <a:avLst>
              <a:gd name="adj" fmla="val 50000"/>
            </a:avLst>
          </a:prstGeom>
          <a:solidFill>
            <a:srgbClr val="2454C5"/>
          </a:solidFill>
          <a:ln/>
        </p:spPr>
      </p:sp>
      <p:sp>
        <p:nvSpPr>
          <p:cNvPr id="24" name="Text 22"/>
          <p:cNvSpPr txBox="1"/>
          <p:nvPr/>
        </p:nvSpPr>
        <p:spPr>
          <a:xfrm>
            <a:off x="5413240" y="322423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init -backend-config=…</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apply -target=module.kms -target=…</a:t>
            </a:r>
            <a:endParaRPr lang="en-US" sz="1200" dirty="0"/>
          </a:p>
        </p:txBody>
      </p:sp>
      <p:sp>
        <p:nvSpPr>
          <p:cNvPr id="25" name="Shape 23"/>
          <p:cNvSpPr/>
          <p:nvPr/>
        </p:nvSpPr>
        <p:spPr>
          <a:xfrm>
            <a:off x="812780" y="3765158"/>
            <a:ext cx="10566136" cy="63"/>
          </a:xfrm>
          <a:prstGeom prst="line">
            <a:avLst/>
          </a:prstGeom>
          <a:noFill/>
          <a:ln w="6350">
            <a:solidFill>
              <a:srgbClr val="D5DEEC"/>
            </a:solidFill>
            <a:prstDash val="solid"/>
          </a:ln>
        </p:spPr>
      </p:sp>
      <p:sp>
        <p:nvSpPr>
          <p:cNvPr id="26" name="Text 24"/>
          <p:cNvSpPr txBox="1"/>
          <p:nvPr/>
        </p:nvSpPr>
        <p:spPr>
          <a:xfrm>
            <a:off x="812780" y="399494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04</a:t>
            </a:r>
            <a:endParaRPr lang="en-US" sz="1600" dirty="0"/>
          </a:p>
        </p:txBody>
      </p:sp>
      <p:sp>
        <p:nvSpPr>
          <p:cNvPr id="27" name="Text 25"/>
          <p:cNvSpPr txBox="1"/>
          <p:nvPr/>
        </p:nvSpPr>
        <p:spPr>
          <a:xfrm>
            <a:off x="1203295" y="390227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Phase 2: IAM, namespaces</a:t>
            </a:r>
            <a:endParaRPr lang="en-US" sz="1300" dirty="0"/>
          </a:p>
        </p:txBody>
      </p:sp>
      <p:sp>
        <p:nvSpPr>
          <p:cNvPr id="28" name="Text 26"/>
          <p:cNvSpPr txBox="1"/>
          <p:nvPr/>
        </p:nvSpPr>
        <p:spPr>
          <a:xfrm>
            <a:off x="1203295" y="415874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EKS endpoint and CA into tfvars</a:t>
            </a:r>
            <a:endParaRPr lang="en-US" sz="1200" dirty="0"/>
          </a:p>
        </p:txBody>
      </p:sp>
      <p:sp>
        <p:nvSpPr>
          <p:cNvPr id="29" name="Shape 27"/>
          <p:cNvSpPr/>
          <p:nvPr/>
        </p:nvSpPr>
        <p:spPr>
          <a:xfrm>
            <a:off x="5248144" y="3847706"/>
            <a:ext cx="6130772" cy="579026"/>
          </a:xfrm>
          <a:prstGeom prst="roundRect">
            <a:avLst>
              <a:gd name="adj" fmla="val 8773"/>
            </a:avLst>
          </a:prstGeom>
          <a:solidFill>
            <a:srgbClr val="E7EEFA"/>
          </a:solidFill>
          <a:ln/>
        </p:spPr>
      </p:sp>
      <p:sp>
        <p:nvSpPr>
          <p:cNvPr id="30" name="Shape 28"/>
          <p:cNvSpPr/>
          <p:nvPr/>
        </p:nvSpPr>
        <p:spPr>
          <a:xfrm>
            <a:off x="5248144" y="3847706"/>
            <a:ext cx="38099" cy="579026"/>
          </a:xfrm>
          <a:prstGeom prst="roundRect">
            <a:avLst>
              <a:gd name="adj" fmla="val 50000"/>
            </a:avLst>
          </a:prstGeom>
          <a:solidFill>
            <a:srgbClr val="2454C5"/>
          </a:solidFill>
          <a:ln/>
        </p:spPr>
      </p:sp>
      <p:sp>
        <p:nvSpPr>
          <p:cNvPr id="31" name="Text 29"/>
          <p:cNvSpPr txBox="1"/>
          <p:nvPr/>
        </p:nvSpPr>
        <p:spPr>
          <a:xfrm>
            <a:off x="5413240" y="3923904"/>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terraform apply -target=module.iam</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-target=module.k8s_namespaces</a:t>
            </a:r>
            <a:endParaRPr lang="en-US" sz="1200" dirty="0"/>
          </a:p>
        </p:txBody>
      </p:sp>
      <p:sp>
        <p:nvSpPr>
          <p:cNvPr id="32" name="Shape 30"/>
          <p:cNvSpPr/>
          <p:nvPr/>
        </p:nvSpPr>
        <p:spPr>
          <a:xfrm>
            <a:off x="812780" y="4464831"/>
            <a:ext cx="10566136" cy="63"/>
          </a:xfrm>
          <a:prstGeom prst="line">
            <a:avLst/>
          </a:prstGeom>
          <a:noFill/>
          <a:ln w="6350">
            <a:solidFill>
              <a:srgbClr val="D5DEEC"/>
            </a:solidFill>
            <a:prstDash val="solid"/>
          </a:ln>
        </p:spPr>
      </p:sp>
      <p:sp>
        <p:nvSpPr>
          <p:cNvPr id="33" name="Text 31"/>
          <p:cNvSpPr txBox="1"/>
          <p:nvPr/>
        </p:nvSpPr>
        <p:spPr>
          <a:xfrm>
            <a:off x="812780" y="464004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05</a:t>
            </a:r>
            <a:endParaRPr lang="en-US" sz="1600" dirty="0"/>
          </a:p>
        </p:txBody>
      </p:sp>
      <p:sp>
        <p:nvSpPr>
          <p:cNvPr id="34" name="Text 32"/>
          <p:cNvSpPr txBox="1"/>
          <p:nvPr/>
        </p:nvSpPr>
        <p:spPr>
          <a:xfrm>
            <a:off x="1203295" y="454737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Load real secrets</a:t>
            </a:r>
            <a:endParaRPr lang="en-US" sz="1300" dirty="0"/>
          </a:p>
        </p:txBody>
      </p:sp>
      <p:sp>
        <p:nvSpPr>
          <p:cNvPr id="35" name="Text 33"/>
          <p:cNvSpPr txBox="1"/>
          <p:nvPr/>
        </p:nvSpPr>
        <p:spPr>
          <a:xfrm>
            <a:off x="1203295" y="480385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Never reuse dev values</a:t>
            </a:r>
            <a:endParaRPr lang="en-US" sz="1200" dirty="0"/>
          </a:p>
        </p:txBody>
      </p:sp>
      <p:sp>
        <p:nvSpPr>
          <p:cNvPr id="36" name="Shape 34"/>
          <p:cNvSpPr/>
          <p:nvPr/>
        </p:nvSpPr>
        <p:spPr>
          <a:xfrm>
            <a:off x="5248144" y="4599369"/>
            <a:ext cx="6130772" cy="365711"/>
          </a:xfrm>
          <a:prstGeom prst="roundRect">
            <a:avLst>
              <a:gd name="adj" fmla="val 13890"/>
            </a:avLst>
          </a:prstGeom>
          <a:solidFill>
            <a:srgbClr val="E7EEFA"/>
          </a:solidFill>
          <a:ln/>
        </p:spPr>
      </p:sp>
      <p:sp>
        <p:nvSpPr>
          <p:cNvPr id="37" name="Shape 35"/>
          <p:cNvSpPr/>
          <p:nvPr/>
        </p:nvSpPr>
        <p:spPr>
          <a:xfrm>
            <a:off x="5248144" y="4599369"/>
            <a:ext cx="38099" cy="365711"/>
          </a:xfrm>
          <a:prstGeom prst="roundRect">
            <a:avLst>
              <a:gd name="adj" fmla="val 50000"/>
            </a:avLst>
          </a:prstGeom>
          <a:solidFill>
            <a:srgbClr val="2454C5"/>
          </a:solidFill>
          <a:ln/>
        </p:spPr>
      </p:sp>
      <p:sp>
        <p:nvSpPr>
          <p:cNvPr id="38" name="Text 36"/>
          <p:cNvSpPr txBox="1"/>
          <p:nvPr/>
        </p:nvSpPr>
        <p:spPr>
          <a:xfrm>
            <a:off x="5413240" y="4675567"/>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Secrets Manager → External Secrets → pods</a:t>
            </a:r>
            <a:endParaRPr lang="en-US" sz="1200" dirty="0"/>
          </a:p>
        </p:txBody>
      </p:sp>
      <p:sp>
        <p:nvSpPr>
          <p:cNvPr id="39" name="Shape 37"/>
          <p:cNvSpPr/>
          <p:nvPr/>
        </p:nvSpPr>
        <p:spPr>
          <a:xfrm>
            <a:off x="812780" y="5055267"/>
            <a:ext cx="10566136" cy="63"/>
          </a:xfrm>
          <a:prstGeom prst="line">
            <a:avLst/>
          </a:prstGeom>
          <a:noFill/>
          <a:ln w="6350">
            <a:solidFill>
              <a:srgbClr val="D5DEEC"/>
            </a:solidFill>
            <a:prstDash val="solid"/>
          </a:ln>
        </p:spPr>
      </p:sp>
      <p:sp>
        <p:nvSpPr>
          <p:cNvPr id="40" name="Text 38"/>
          <p:cNvSpPr txBox="1"/>
          <p:nvPr/>
        </p:nvSpPr>
        <p:spPr>
          <a:xfrm>
            <a:off x="812780" y="523048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06</a:t>
            </a:r>
            <a:endParaRPr lang="en-US" sz="1600" dirty="0"/>
          </a:p>
        </p:txBody>
      </p:sp>
      <p:sp>
        <p:nvSpPr>
          <p:cNvPr id="41" name="Text 39"/>
          <p:cNvSpPr txBox="1"/>
          <p:nvPr/>
        </p:nvSpPr>
        <p:spPr>
          <a:xfrm>
            <a:off x="1203295" y="513781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Prepare the database</a:t>
            </a:r>
            <a:endParaRPr lang="en-US" sz="1300" dirty="0"/>
          </a:p>
        </p:txBody>
      </p:sp>
      <p:sp>
        <p:nvSpPr>
          <p:cNvPr id="42" name="Text 40"/>
          <p:cNvSpPr txBox="1"/>
          <p:nvPr/>
        </p:nvSpPr>
        <p:spPr>
          <a:xfrm>
            <a:off x="1203295" y="539428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Roles, schemas, then a migration Job</a:t>
            </a:r>
            <a:endParaRPr lang="en-US" sz="1200" dirty="0"/>
          </a:p>
        </p:txBody>
      </p:sp>
      <p:sp>
        <p:nvSpPr>
          <p:cNvPr id="43" name="Shape 41"/>
          <p:cNvSpPr/>
          <p:nvPr/>
        </p:nvSpPr>
        <p:spPr>
          <a:xfrm>
            <a:off x="5248144" y="5189805"/>
            <a:ext cx="6130772" cy="365711"/>
          </a:xfrm>
          <a:prstGeom prst="roundRect">
            <a:avLst>
              <a:gd name="adj" fmla="val 13890"/>
            </a:avLst>
          </a:prstGeom>
          <a:solidFill>
            <a:srgbClr val="E7EEFA"/>
          </a:solidFill>
          <a:ln/>
        </p:spPr>
      </p:sp>
      <p:sp>
        <p:nvSpPr>
          <p:cNvPr id="44" name="Shape 42"/>
          <p:cNvSpPr/>
          <p:nvPr/>
        </p:nvSpPr>
        <p:spPr>
          <a:xfrm>
            <a:off x="5248144" y="5189805"/>
            <a:ext cx="38099" cy="365711"/>
          </a:xfrm>
          <a:prstGeom prst="roundRect">
            <a:avLst>
              <a:gd name="adj" fmla="val 50000"/>
            </a:avLst>
          </a:prstGeom>
          <a:solidFill>
            <a:srgbClr val="2454C5"/>
          </a:solidFill>
          <a:ln/>
        </p:spPr>
      </p:sp>
      <p:sp>
        <p:nvSpPr>
          <p:cNvPr id="45" name="Text 43"/>
          <p:cNvSpPr txBox="1"/>
          <p:nvPr/>
        </p:nvSpPr>
        <p:spPr>
          <a:xfrm>
            <a:off x="5413240" y="5266003"/>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init-db.sql for RDS, then a Flyway Job</a:t>
            </a:r>
            <a:endParaRPr lang="en-US" sz="1200" dirty="0"/>
          </a:p>
        </p:txBody>
      </p:sp>
      <p:sp>
        <p:nvSpPr>
          <p:cNvPr id="46" name="Text 44"/>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47" name="Text 45"/>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STEPS 7–10</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Ship a commit to staging and configure it</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1950592"/>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07</a:t>
            </a:r>
            <a:endParaRPr lang="en-US" sz="1600" dirty="0"/>
          </a:p>
        </p:txBody>
      </p:sp>
      <p:sp>
        <p:nvSpPr>
          <p:cNvPr id="6" name="Text 4"/>
          <p:cNvSpPr txBox="1"/>
          <p:nvPr/>
        </p:nvSpPr>
        <p:spPr>
          <a:xfrm>
            <a:off x="1203295" y="1857924"/>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Install cluster add-ons</a:t>
            </a:r>
            <a:endParaRPr lang="en-US" sz="1300" dirty="0"/>
          </a:p>
        </p:txBody>
      </p:sp>
      <p:sp>
        <p:nvSpPr>
          <p:cNvPr id="7" name="Text 5"/>
          <p:cNvSpPr txBox="1"/>
          <p:nvPr/>
        </p:nvSpPr>
        <p:spPr>
          <a:xfrm>
            <a:off x="1203295" y="2114398"/>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LB controller, External Secrets, monitoring</a:t>
            </a:r>
            <a:endParaRPr lang="en-US" sz="1200" dirty="0"/>
          </a:p>
        </p:txBody>
      </p:sp>
      <p:sp>
        <p:nvSpPr>
          <p:cNvPr id="8" name="Shape 6"/>
          <p:cNvSpPr/>
          <p:nvPr/>
        </p:nvSpPr>
        <p:spPr>
          <a:xfrm>
            <a:off x="5248144" y="1909913"/>
            <a:ext cx="6130772" cy="365711"/>
          </a:xfrm>
          <a:prstGeom prst="roundRect">
            <a:avLst>
              <a:gd name="adj" fmla="val 13890"/>
            </a:avLst>
          </a:prstGeom>
          <a:solidFill>
            <a:srgbClr val="E7EEFA"/>
          </a:solidFill>
          <a:ln/>
        </p:spPr>
      </p:sp>
      <p:sp>
        <p:nvSpPr>
          <p:cNvPr id="9" name="Shape 7"/>
          <p:cNvSpPr/>
          <p:nvPr/>
        </p:nvSpPr>
        <p:spPr>
          <a:xfrm>
            <a:off x="5248144" y="1909913"/>
            <a:ext cx="38099" cy="365711"/>
          </a:xfrm>
          <a:prstGeom prst="roundRect">
            <a:avLst>
              <a:gd name="adj" fmla="val 50000"/>
            </a:avLst>
          </a:prstGeom>
          <a:solidFill>
            <a:srgbClr val="2454C5"/>
          </a:solidFill>
          <a:ln/>
        </p:spPr>
      </p:sp>
      <p:sp>
        <p:nvSpPr>
          <p:cNvPr id="10" name="Text 8"/>
          <p:cNvSpPr txBox="1"/>
          <p:nvPr/>
        </p:nvSpPr>
        <p:spPr>
          <a:xfrm>
            <a:off x="5413240" y="1986111"/>
            <a:ext cx="6539321" cy="213355"/>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helm install … infra/k8s/observability/*-values.yaml</a:t>
            </a:r>
            <a:endParaRPr lang="en-US" sz="1200" dirty="0"/>
          </a:p>
        </p:txBody>
      </p:sp>
      <p:sp>
        <p:nvSpPr>
          <p:cNvPr id="11" name="Shape 9"/>
          <p:cNvSpPr/>
          <p:nvPr/>
        </p:nvSpPr>
        <p:spPr>
          <a:xfrm>
            <a:off x="812780" y="2403911"/>
            <a:ext cx="10566136" cy="63"/>
          </a:xfrm>
          <a:prstGeom prst="line">
            <a:avLst/>
          </a:prstGeom>
          <a:noFill/>
          <a:ln w="6350">
            <a:solidFill>
              <a:srgbClr val="D5DEEC"/>
            </a:solidFill>
            <a:prstDash val="solid"/>
          </a:ln>
        </p:spPr>
      </p:sp>
      <p:sp>
        <p:nvSpPr>
          <p:cNvPr id="12" name="Text 10"/>
          <p:cNvSpPr txBox="1"/>
          <p:nvPr/>
        </p:nvSpPr>
        <p:spPr>
          <a:xfrm>
            <a:off x="812780" y="2633696"/>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08</a:t>
            </a:r>
            <a:endParaRPr lang="en-US" sz="1600" dirty="0"/>
          </a:p>
        </p:txBody>
      </p:sp>
      <p:sp>
        <p:nvSpPr>
          <p:cNvPr id="13" name="Text 11"/>
          <p:cNvSpPr txBox="1"/>
          <p:nvPr/>
        </p:nvSpPr>
        <p:spPr>
          <a:xfrm>
            <a:off x="1203295" y="2541028"/>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Merge to main</a:t>
            </a:r>
            <a:endParaRPr lang="en-US" sz="1300" dirty="0"/>
          </a:p>
        </p:txBody>
      </p:sp>
      <p:sp>
        <p:nvSpPr>
          <p:cNvPr id="14" name="Text 12"/>
          <p:cNvSpPr txBox="1"/>
          <p:nvPr/>
        </p:nvSpPr>
        <p:spPr>
          <a:xfrm>
            <a:off x="1203295" y="2797502"/>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One reactor build, an image per deployable, Trivy, ECR</a:t>
            </a:r>
            <a:endParaRPr lang="en-US" sz="1200" dirty="0"/>
          </a:p>
        </p:txBody>
      </p:sp>
      <p:sp>
        <p:nvSpPr>
          <p:cNvPr id="15" name="Shape 13"/>
          <p:cNvSpPr/>
          <p:nvPr/>
        </p:nvSpPr>
        <p:spPr>
          <a:xfrm>
            <a:off x="5248144" y="2486459"/>
            <a:ext cx="6130772" cy="579026"/>
          </a:xfrm>
          <a:prstGeom prst="roundRect">
            <a:avLst>
              <a:gd name="adj" fmla="val 8773"/>
            </a:avLst>
          </a:prstGeom>
          <a:solidFill>
            <a:srgbClr val="E7EEFA"/>
          </a:solidFill>
          <a:ln/>
        </p:spPr>
      </p:sp>
      <p:sp>
        <p:nvSpPr>
          <p:cNvPr id="16" name="Shape 14"/>
          <p:cNvSpPr/>
          <p:nvPr/>
        </p:nvSpPr>
        <p:spPr>
          <a:xfrm>
            <a:off x="5248144" y="2486459"/>
            <a:ext cx="38099" cy="579026"/>
          </a:xfrm>
          <a:prstGeom prst="roundRect">
            <a:avLst>
              <a:gd name="adj" fmla="val 50000"/>
            </a:avLst>
          </a:prstGeom>
          <a:solidFill>
            <a:srgbClr val="2454C5"/>
          </a:solidFill>
          <a:ln/>
        </p:spPr>
      </p:sp>
      <p:sp>
        <p:nvSpPr>
          <p:cNvPr id="17" name="Text 15"/>
          <p:cNvSpPr txBox="1"/>
          <p:nvPr/>
        </p:nvSpPr>
        <p:spPr>
          <a:xfrm>
            <a:off x="5413240" y="2562657"/>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vars: IMAGE_PUSH_ENABLED,</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STAGING_DEPLOY_ENABLED</a:t>
            </a:r>
            <a:endParaRPr lang="en-US" sz="1200" dirty="0"/>
          </a:p>
        </p:txBody>
      </p:sp>
      <p:sp>
        <p:nvSpPr>
          <p:cNvPr id="18" name="Shape 16"/>
          <p:cNvSpPr/>
          <p:nvPr/>
        </p:nvSpPr>
        <p:spPr>
          <a:xfrm>
            <a:off x="812780" y="3141683"/>
            <a:ext cx="10566136" cy="63"/>
          </a:xfrm>
          <a:prstGeom prst="line">
            <a:avLst/>
          </a:prstGeom>
          <a:noFill/>
          <a:ln w="6350">
            <a:solidFill>
              <a:srgbClr val="D5DEEC"/>
            </a:solidFill>
            <a:prstDash val="solid"/>
          </a:ln>
        </p:spPr>
      </p:sp>
      <p:sp>
        <p:nvSpPr>
          <p:cNvPr id="19" name="Text 17"/>
          <p:cNvSpPr txBox="1"/>
          <p:nvPr/>
        </p:nvSpPr>
        <p:spPr>
          <a:xfrm>
            <a:off x="812780" y="3371468"/>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09</a:t>
            </a:r>
            <a:endParaRPr lang="en-US" sz="1600" dirty="0"/>
          </a:p>
        </p:txBody>
      </p:sp>
      <p:sp>
        <p:nvSpPr>
          <p:cNvPr id="20" name="Text 18"/>
          <p:cNvSpPr txBox="1"/>
          <p:nvPr/>
        </p:nvSpPr>
        <p:spPr>
          <a:xfrm>
            <a:off x="1203295" y="3278800"/>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Staging deploys itself</a:t>
            </a:r>
            <a:endParaRPr lang="en-US" sz="1300" dirty="0"/>
          </a:p>
        </p:txBody>
      </p:sp>
      <p:sp>
        <p:nvSpPr>
          <p:cNvPr id="21" name="Text 19"/>
          <p:cNvSpPr txBox="1"/>
          <p:nvPr/>
        </p:nvSpPr>
        <p:spPr>
          <a:xfrm>
            <a:off x="1203295" y="3535274"/>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Preflight, then one Helm release per deployable</a:t>
            </a:r>
            <a:endParaRPr lang="en-US" sz="1200" dirty="0"/>
          </a:p>
        </p:txBody>
      </p:sp>
      <p:sp>
        <p:nvSpPr>
          <p:cNvPr id="22" name="Shape 20"/>
          <p:cNvSpPr/>
          <p:nvPr/>
        </p:nvSpPr>
        <p:spPr>
          <a:xfrm>
            <a:off x="5248144" y="3224231"/>
            <a:ext cx="6130772" cy="579026"/>
          </a:xfrm>
          <a:prstGeom prst="roundRect">
            <a:avLst>
              <a:gd name="adj" fmla="val 8773"/>
            </a:avLst>
          </a:prstGeom>
          <a:solidFill>
            <a:srgbClr val="E7EEFA"/>
          </a:solidFill>
          <a:ln/>
        </p:spPr>
      </p:sp>
      <p:sp>
        <p:nvSpPr>
          <p:cNvPr id="23" name="Shape 21"/>
          <p:cNvSpPr/>
          <p:nvPr/>
        </p:nvSpPr>
        <p:spPr>
          <a:xfrm>
            <a:off x="5248144" y="3224231"/>
            <a:ext cx="38099" cy="579026"/>
          </a:xfrm>
          <a:prstGeom prst="roundRect">
            <a:avLst>
              <a:gd name="adj" fmla="val 50000"/>
            </a:avLst>
          </a:prstGeom>
          <a:solidFill>
            <a:srgbClr val="2454C5"/>
          </a:solidFill>
          <a:ln/>
        </p:spPr>
      </p:sp>
      <p:sp>
        <p:nvSpPr>
          <p:cNvPr id="24" name="Text 22"/>
          <p:cNvSpPr txBox="1"/>
          <p:nvPr/>
        </p:nvSpPr>
        <p:spPr>
          <a:xfrm>
            <a:off x="5413240" y="3300429"/>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helm upgrade --install homefix-&lt;deployable&gt;</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helm/homefix-service --atomic --wait</a:t>
            </a:r>
            <a:endParaRPr lang="en-US" sz="1200" dirty="0"/>
          </a:p>
        </p:txBody>
      </p:sp>
      <p:sp>
        <p:nvSpPr>
          <p:cNvPr id="25" name="Shape 23"/>
          <p:cNvSpPr/>
          <p:nvPr/>
        </p:nvSpPr>
        <p:spPr>
          <a:xfrm>
            <a:off x="812780" y="3879455"/>
            <a:ext cx="10566136" cy="63"/>
          </a:xfrm>
          <a:prstGeom prst="line">
            <a:avLst/>
          </a:prstGeom>
          <a:noFill/>
          <a:ln w="6350">
            <a:solidFill>
              <a:srgbClr val="D5DEEC"/>
            </a:solidFill>
            <a:prstDash val="solid"/>
          </a:ln>
        </p:spPr>
      </p:sp>
      <p:sp>
        <p:nvSpPr>
          <p:cNvPr id="26" name="Text 24"/>
          <p:cNvSpPr txBox="1"/>
          <p:nvPr/>
        </p:nvSpPr>
        <p:spPr>
          <a:xfrm>
            <a:off x="812780" y="4109240"/>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10</a:t>
            </a:r>
            <a:endParaRPr lang="en-US" sz="1600" dirty="0"/>
          </a:p>
        </p:txBody>
      </p:sp>
      <p:sp>
        <p:nvSpPr>
          <p:cNvPr id="27" name="Text 25"/>
          <p:cNvSpPr txBox="1"/>
          <p:nvPr/>
        </p:nvSpPr>
        <p:spPr>
          <a:xfrm>
            <a:off x="1203295" y="4016572"/>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Set the app URLs</a:t>
            </a:r>
            <a:endParaRPr lang="en-US" sz="1300" dirty="0"/>
          </a:p>
        </p:txBody>
      </p:sp>
      <p:sp>
        <p:nvSpPr>
          <p:cNvPr id="28" name="Text 26"/>
          <p:cNvSpPr txBox="1"/>
          <p:nvPr/>
        </p:nvSpPr>
        <p:spPr>
          <a:xfrm>
            <a:off x="1203295" y="4273046"/>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Once per environment, in config.app_config</a:t>
            </a:r>
            <a:endParaRPr lang="en-US" sz="1200" dirty="0"/>
          </a:p>
        </p:txBody>
      </p:sp>
      <p:sp>
        <p:nvSpPr>
          <p:cNvPr id="29" name="Shape 27"/>
          <p:cNvSpPr/>
          <p:nvPr/>
        </p:nvSpPr>
        <p:spPr>
          <a:xfrm>
            <a:off x="5248144" y="3962003"/>
            <a:ext cx="6130772" cy="579026"/>
          </a:xfrm>
          <a:prstGeom prst="roundRect">
            <a:avLst>
              <a:gd name="adj" fmla="val 8773"/>
            </a:avLst>
          </a:prstGeom>
          <a:solidFill>
            <a:srgbClr val="E7EEFA"/>
          </a:solidFill>
          <a:ln/>
        </p:spPr>
      </p:sp>
      <p:sp>
        <p:nvSpPr>
          <p:cNvPr id="30" name="Shape 28"/>
          <p:cNvSpPr/>
          <p:nvPr/>
        </p:nvSpPr>
        <p:spPr>
          <a:xfrm>
            <a:off x="5248144" y="3962003"/>
            <a:ext cx="38099" cy="579026"/>
          </a:xfrm>
          <a:prstGeom prst="roundRect">
            <a:avLst>
              <a:gd name="adj" fmla="val 50000"/>
            </a:avLst>
          </a:prstGeom>
          <a:solidFill>
            <a:srgbClr val="2454C5"/>
          </a:solidFill>
          <a:ln/>
        </p:spPr>
      </p:sp>
      <p:sp>
        <p:nvSpPr>
          <p:cNvPr id="31" name="Text 29"/>
          <p:cNvSpPr txBox="1"/>
          <p:nvPr/>
        </p:nvSpPr>
        <p:spPr>
          <a:xfrm>
            <a:off x="5413240" y="4038201"/>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UPDATE config.app_config SET config_value = …</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WHERE config_key = 'homefix.apps.…-url';</a:t>
            </a:r>
            <a:endParaRPr lang="en-US" sz="1200" dirty="0"/>
          </a:p>
        </p:txBody>
      </p:sp>
      <p:sp>
        <p:nvSpPr>
          <p:cNvPr id="32" name="Text 3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33" name="Text 3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 · STEPS 11–14</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Promote by approval, publish the apps, watch</a:t>
            </a:r>
            <a:endParaRPr lang="en-US" sz="3000" dirty="0"/>
          </a:p>
        </p:txBody>
      </p:sp>
      <p:sp>
        <p:nvSpPr>
          <p:cNvPr id="4" name="Shape 2"/>
          <p:cNvSpPr/>
          <p:nvPr/>
        </p:nvSpPr>
        <p:spPr>
          <a:xfrm>
            <a:off x="812780" y="1775376"/>
            <a:ext cx="10566136" cy="63"/>
          </a:xfrm>
          <a:prstGeom prst="line">
            <a:avLst/>
          </a:prstGeom>
          <a:noFill/>
          <a:ln w="6350">
            <a:solidFill>
              <a:srgbClr val="D5DEEC"/>
            </a:solidFill>
            <a:prstDash val="solid"/>
          </a:ln>
        </p:spPr>
      </p:sp>
      <p:sp>
        <p:nvSpPr>
          <p:cNvPr id="5" name="Text 3"/>
          <p:cNvSpPr txBox="1"/>
          <p:nvPr/>
        </p:nvSpPr>
        <p:spPr>
          <a:xfrm>
            <a:off x="812780" y="2005161"/>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11</a:t>
            </a:r>
            <a:endParaRPr lang="en-US" sz="1600" dirty="0"/>
          </a:p>
        </p:txBody>
      </p:sp>
      <p:sp>
        <p:nvSpPr>
          <p:cNvPr id="6" name="Text 4"/>
          <p:cNvSpPr txBox="1"/>
          <p:nvPr/>
        </p:nvSpPr>
        <p:spPr>
          <a:xfrm>
            <a:off x="1203295" y="1912493"/>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Promote to production</a:t>
            </a:r>
            <a:endParaRPr lang="en-US" sz="1300" dirty="0"/>
          </a:p>
        </p:txBody>
      </p:sp>
      <p:sp>
        <p:nvSpPr>
          <p:cNvPr id="7" name="Text 5"/>
          <p:cNvSpPr txBox="1"/>
          <p:nvPr/>
        </p:nvSpPr>
        <p:spPr>
          <a:xfrm>
            <a:off x="1203295" y="2168967"/>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The same SHA that passed staging; reviewers approve</a:t>
            </a:r>
            <a:endParaRPr lang="en-US" sz="1200" dirty="0"/>
          </a:p>
        </p:txBody>
      </p:sp>
      <p:sp>
        <p:nvSpPr>
          <p:cNvPr id="8" name="Shape 6"/>
          <p:cNvSpPr/>
          <p:nvPr/>
        </p:nvSpPr>
        <p:spPr>
          <a:xfrm>
            <a:off x="5248144" y="1857924"/>
            <a:ext cx="6130772" cy="579026"/>
          </a:xfrm>
          <a:prstGeom prst="roundRect">
            <a:avLst>
              <a:gd name="adj" fmla="val 8773"/>
            </a:avLst>
          </a:prstGeom>
          <a:solidFill>
            <a:srgbClr val="E7EEFA"/>
          </a:solidFill>
          <a:ln/>
        </p:spPr>
      </p:sp>
      <p:sp>
        <p:nvSpPr>
          <p:cNvPr id="9" name="Shape 7"/>
          <p:cNvSpPr/>
          <p:nvPr/>
        </p:nvSpPr>
        <p:spPr>
          <a:xfrm>
            <a:off x="5248144" y="1857924"/>
            <a:ext cx="38099" cy="579026"/>
          </a:xfrm>
          <a:prstGeom prst="roundRect">
            <a:avLst>
              <a:gd name="adj" fmla="val 50000"/>
            </a:avLst>
          </a:prstGeom>
          <a:solidFill>
            <a:srgbClr val="2454C5"/>
          </a:solidFill>
          <a:ln/>
        </p:spPr>
      </p:sp>
      <p:sp>
        <p:nvSpPr>
          <p:cNvPr id="10" name="Text 8"/>
          <p:cNvSpPr txBox="1"/>
          <p:nvPr/>
        </p:nvSpPr>
        <p:spPr>
          <a:xfrm>
            <a:off x="5413240" y="1934122"/>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gh workflow run cd-production.yml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-f image_tag=&lt;sha&gt; -f services=all</a:t>
            </a:r>
            <a:endParaRPr lang="en-US" sz="1200" dirty="0"/>
          </a:p>
        </p:txBody>
      </p:sp>
      <p:sp>
        <p:nvSpPr>
          <p:cNvPr id="11" name="Shape 9"/>
          <p:cNvSpPr/>
          <p:nvPr/>
        </p:nvSpPr>
        <p:spPr>
          <a:xfrm>
            <a:off x="812780" y="2513148"/>
            <a:ext cx="10566136" cy="63"/>
          </a:xfrm>
          <a:prstGeom prst="line">
            <a:avLst/>
          </a:prstGeom>
          <a:noFill/>
          <a:ln w="6350">
            <a:solidFill>
              <a:srgbClr val="D5DEEC"/>
            </a:solidFill>
            <a:prstDash val="solid"/>
          </a:ln>
        </p:spPr>
      </p:sp>
      <p:sp>
        <p:nvSpPr>
          <p:cNvPr id="12" name="Text 10"/>
          <p:cNvSpPr txBox="1"/>
          <p:nvPr/>
        </p:nvSpPr>
        <p:spPr>
          <a:xfrm>
            <a:off x="812780" y="2742933"/>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12</a:t>
            </a:r>
            <a:endParaRPr lang="en-US" sz="1600" dirty="0"/>
          </a:p>
        </p:txBody>
      </p:sp>
      <p:sp>
        <p:nvSpPr>
          <p:cNvPr id="13" name="Text 11"/>
          <p:cNvSpPr txBox="1"/>
          <p:nvPr/>
        </p:nvSpPr>
        <p:spPr>
          <a:xfrm>
            <a:off x="1203295" y="2650265"/>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Publish the web apps</a:t>
            </a:r>
            <a:endParaRPr lang="en-US" sz="1300" dirty="0"/>
          </a:p>
        </p:txBody>
      </p:sp>
      <p:sp>
        <p:nvSpPr>
          <p:cNvPr id="14" name="Text 12"/>
          <p:cNvSpPr txBox="1"/>
          <p:nvPr/>
        </p:nvSpPr>
        <p:spPr>
          <a:xfrm>
            <a:off x="1203295" y="2906739"/>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Node 24 build with absolute VITE_* URLs</a:t>
            </a:r>
            <a:endParaRPr lang="en-US" sz="1200" dirty="0"/>
          </a:p>
        </p:txBody>
      </p:sp>
      <p:sp>
        <p:nvSpPr>
          <p:cNvPr id="15" name="Shape 13"/>
          <p:cNvSpPr/>
          <p:nvPr/>
        </p:nvSpPr>
        <p:spPr>
          <a:xfrm>
            <a:off x="5248144" y="2595696"/>
            <a:ext cx="6130772" cy="579026"/>
          </a:xfrm>
          <a:prstGeom prst="roundRect">
            <a:avLst>
              <a:gd name="adj" fmla="val 8773"/>
            </a:avLst>
          </a:prstGeom>
          <a:solidFill>
            <a:srgbClr val="E7EEFA"/>
          </a:solidFill>
          <a:ln/>
        </p:spPr>
      </p:sp>
      <p:sp>
        <p:nvSpPr>
          <p:cNvPr id="16" name="Shape 14"/>
          <p:cNvSpPr/>
          <p:nvPr/>
        </p:nvSpPr>
        <p:spPr>
          <a:xfrm>
            <a:off x="5248144" y="2595696"/>
            <a:ext cx="38099" cy="579026"/>
          </a:xfrm>
          <a:prstGeom prst="roundRect">
            <a:avLst>
              <a:gd name="adj" fmla="val 50000"/>
            </a:avLst>
          </a:prstGeom>
          <a:solidFill>
            <a:srgbClr val="2454C5"/>
          </a:solidFill>
          <a:ln/>
        </p:spPr>
      </p:sp>
      <p:sp>
        <p:nvSpPr>
          <p:cNvPr id="17" name="Text 15"/>
          <p:cNvSpPr txBox="1"/>
          <p:nvPr/>
        </p:nvSpPr>
        <p:spPr>
          <a:xfrm>
            <a:off x="5413240" y="2671894"/>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npm ci &amp;&amp; npm run build</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aws s3 sync dist s3://&lt;bucket&gt;</a:t>
            </a:r>
            <a:endParaRPr lang="en-US" sz="1200" dirty="0"/>
          </a:p>
        </p:txBody>
      </p:sp>
      <p:sp>
        <p:nvSpPr>
          <p:cNvPr id="18" name="Shape 16"/>
          <p:cNvSpPr/>
          <p:nvPr/>
        </p:nvSpPr>
        <p:spPr>
          <a:xfrm>
            <a:off x="812780" y="3250920"/>
            <a:ext cx="10566136" cy="63"/>
          </a:xfrm>
          <a:prstGeom prst="line">
            <a:avLst/>
          </a:prstGeom>
          <a:noFill/>
          <a:ln w="6350">
            <a:solidFill>
              <a:srgbClr val="D5DEEC"/>
            </a:solidFill>
            <a:prstDash val="solid"/>
          </a:ln>
        </p:spPr>
      </p:sp>
      <p:sp>
        <p:nvSpPr>
          <p:cNvPr id="19" name="Text 17"/>
          <p:cNvSpPr txBox="1"/>
          <p:nvPr/>
        </p:nvSpPr>
        <p:spPr>
          <a:xfrm>
            <a:off x="812780" y="3480705"/>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13</a:t>
            </a:r>
            <a:endParaRPr lang="en-US" sz="1600" dirty="0"/>
          </a:p>
        </p:txBody>
      </p:sp>
      <p:sp>
        <p:nvSpPr>
          <p:cNvPr id="20" name="Text 18"/>
          <p:cNvSpPr txBox="1"/>
          <p:nvPr/>
        </p:nvSpPr>
        <p:spPr>
          <a:xfrm>
            <a:off x="1203295" y="3388037"/>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Smoke production</a:t>
            </a:r>
            <a:endParaRPr lang="en-US" sz="1300" dirty="0"/>
          </a:p>
        </p:txBody>
      </p:sp>
      <p:sp>
        <p:nvSpPr>
          <p:cNvPr id="21" name="Text 19"/>
          <p:cNvSpPr txBox="1"/>
          <p:nvPr/>
        </p:nvSpPr>
        <p:spPr>
          <a:xfrm>
            <a:off x="1203295" y="3644511"/>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Sign-in, catalog, a test booking, /config/client</a:t>
            </a:r>
            <a:endParaRPr lang="en-US" sz="1200" dirty="0"/>
          </a:p>
        </p:txBody>
      </p:sp>
      <p:sp>
        <p:nvSpPr>
          <p:cNvPr id="22" name="Shape 20"/>
          <p:cNvSpPr/>
          <p:nvPr/>
        </p:nvSpPr>
        <p:spPr>
          <a:xfrm>
            <a:off x="5248144" y="3333468"/>
            <a:ext cx="6130772" cy="579026"/>
          </a:xfrm>
          <a:prstGeom prst="roundRect">
            <a:avLst>
              <a:gd name="adj" fmla="val 8773"/>
            </a:avLst>
          </a:prstGeom>
          <a:solidFill>
            <a:srgbClr val="E7EEFA"/>
          </a:solidFill>
          <a:ln/>
        </p:spPr>
      </p:sp>
      <p:sp>
        <p:nvSpPr>
          <p:cNvPr id="23" name="Shape 21"/>
          <p:cNvSpPr/>
          <p:nvPr/>
        </p:nvSpPr>
        <p:spPr>
          <a:xfrm>
            <a:off x="5248144" y="3333468"/>
            <a:ext cx="38099" cy="579026"/>
          </a:xfrm>
          <a:prstGeom prst="roundRect">
            <a:avLst>
              <a:gd name="adj" fmla="val 50000"/>
            </a:avLst>
          </a:prstGeom>
          <a:solidFill>
            <a:srgbClr val="2454C5"/>
          </a:solidFill>
          <a:ln/>
        </p:spPr>
      </p:sp>
      <p:sp>
        <p:nvSpPr>
          <p:cNvPr id="24" name="Text 22"/>
          <p:cNvSpPr txBox="1"/>
          <p:nvPr/>
        </p:nvSpPr>
        <p:spPr>
          <a:xfrm>
            <a:off x="5413240" y="3409666"/>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curl https://&lt;api&gt;/config/client</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book with a test account</a:t>
            </a:r>
            <a:endParaRPr lang="en-US" sz="1200" dirty="0"/>
          </a:p>
        </p:txBody>
      </p:sp>
      <p:sp>
        <p:nvSpPr>
          <p:cNvPr id="25" name="Shape 23"/>
          <p:cNvSpPr/>
          <p:nvPr/>
        </p:nvSpPr>
        <p:spPr>
          <a:xfrm>
            <a:off x="812780" y="3988692"/>
            <a:ext cx="10566136" cy="63"/>
          </a:xfrm>
          <a:prstGeom prst="line">
            <a:avLst/>
          </a:prstGeom>
          <a:noFill/>
          <a:ln w="6350">
            <a:solidFill>
              <a:srgbClr val="D5DEEC"/>
            </a:solidFill>
            <a:prstDash val="solid"/>
          </a:ln>
        </p:spPr>
      </p:sp>
      <p:sp>
        <p:nvSpPr>
          <p:cNvPr id="26" name="Text 24"/>
          <p:cNvSpPr txBox="1"/>
          <p:nvPr/>
        </p:nvSpPr>
        <p:spPr>
          <a:xfrm>
            <a:off x="812780" y="4218477"/>
            <a:ext cx="314317" cy="284473"/>
          </a:xfrm>
          <a:prstGeom prst="rect">
            <a:avLst/>
          </a:prstGeom>
          <a:noFill/>
          <a:ln/>
        </p:spPr>
        <p:txBody>
          <a:bodyPr wrap="square" lIns="0" tIns="0" rIns="0" bIns="0" rtlCol="0" anchor="t"/>
          <a:lstStyle/>
          <a:p>
            <a:pPr algn="l" indent="0" marL="0">
              <a:lnSpc>
                <a:spcPct val="116667"/>
              </a:lnSpc>
              <a:buNone/>
            </a:pPr>
            <a:r>
              <a:rPr lang="en-US" sz="1600" b="1" dirty="0">
                <a:solidFill>
                  <a:srgbClr val="0B7F74"/>
                </a:solidFill>
                <a:latin typeface="Calibri" pitchFamily="34" charset="0"/>
                <a:ea typeface="Calibri" pitchFamily="34" charset="-122"/>
                <a:cs typeface="Calibri" pitchFamily="34" charset="-120"/>
              </a:rPr>
              <a:t>14</a:t>
            </a:r>
            <a:endParaRPr lang="en-US" sz="1600" dirty="0"/>
          </a:p>
        </p:txBody>
      </p:sp>
      <p:sp>
        <p:nvSpPr>
          <p:cNvPr id="27" name="Text 25"/>
          <p:cNvSpPr txBox="1"/>
          <p:nvPr/>
        </p:nvSpPr>
        <p:spPr>
          <a:xfrm>
            <a:off x="1203295" y="4125809"/>
            <a:ext cx="4359547" cy="231134"/>
          </a:xfrm>
          <a:prstGeom prst="rect">
            <a:avLst/>
          </a:prstGeom>
          <a:noFill/>
          <a:ln/>
        </p:spPr>
        <p:txBody>
          <a:bodyPr wrap="square" lIns="0" tIns="0" rIns="0" bIns="0" rtlCol="0" anchor="t"/>
          <a:lstStyle/>
          <a:p>
            <a:pPr algn="l" indent="0" marL="0">
              <a:lnSpc>
                <a:spcPct val="116667"/>
              </a:lnSpc>
              <a:buNone/>
            </a:pPr>
            <a:r>
              <a:rPr lang="en-US" sz="1300" b="1" dirty="0">
                <a:solidFill>
                  <a:srgbClr val="1F3A70"/>
                </a:solidFill>
                <a:latin typeface="Calibri" pitchFamily="34" charset="0"/>
                <a:ea typeface="Calibri" pitchFamily="34" charset="-122"/>
                <a:cs typeface="Calibri" pitchFamily="34" charset="-120"/>
              </a:rPr>
              <a:t>Watch, then roll back</a:t>
            </a:r>
            <a:endParaRPr lang="en-US" sz="1300" dirty="0"/>
          </a:p>
        </p:txBody>
      </p:sp>
      <p:sp>
        <p:nvSpPr>
          <p:cNvPr id="28" name="Text 26"/>
          <p:cNvSpPr txBox="1"/>
          <p:nvPr/>
        </p:nvSpPr>
        <p:spPr>
          <a:xfrm>
            <a:off x="1203295" y="4382283"/>
            <a:ext cx="4359547"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Alarms, .DLT topics, error rates</a:t>
            </a:r>
            <a:endParaRPr lang="en-US" sz="1200" dirty="0"/>
          </a:p>
        </p:txBody>
      </p:sp>
      <p:sp>
        <p:nvSpPr>
          <p:cNvPr id="29" name="Shape 27"/>
          <p:cNvSpPr/>
          <p:nvPr/>
        </p:nvSpPr>
        <p:spPr>
          <a:xfrm>
            <a:off x="5248144" y="4071240"/>
            <a:ext cx="6130772" cy="579026"/>
          </a:xfrm>
          <a:prstGeom prst="roundRect">
            <a:avLst>
              <a:gd name="adj" fmla="val 8773"/>
            </a:avLst>
          </a:prstGeom>
          <a:solidFill>
            <a:srgbClr val="E7EEFA"/>
          </a:solidFill>
          <a:ln/>
        </p:spPr>
      </p:sp>
      <p:sp>
        <p:nvSpPr>
          <p:cNvPr id="30" name="Shape 28"/>
          <p:cNvSpPr/>
          <p:nvPr/>
        </p:nvSpPr>
        <p:spPr>
          <a:xfrm>
            <a:off x="5248144" y="4071240"/>
            <a:ext cx="38099" cy="579026"/>
          </a:xfrm>
          <a:prstGeom prst="roundRect">
            <a:avLst>
              <a:gd name="adj" fmla="val 50000"/>
            </a:avLst>
          </a:prstGeom>
          <a:solidFill>
            <a:srgbClr val="2454C5"/>
          </a:solidFill>
          <a:ln/>
        </p:spPr>
      </p:sp>
      <p:sp>
        <p:nvSpPr>
          <p:cNvPr id="31" name="Text 29"/>
          <p:cNvSpPr txBox="1"/>
          <p:nvPr/>
        </p:nvSpPr>
        <p:spPr>
          <a:xfrm>
            <a:off x="5413240" y="4147438"/>
            <a:ext cx="6539321" cy="426630"/>
          </a:xfrm>
          <a:prstGeom prst="rect">
            <a:avLst/>
          </a:prstGeom>
          <a:noFill/>
          <a:ln/>
        </p:spPr>
        <p:txBody>
          <a:bodyPr wrap="square" lIns="0" tIns="0" rIns="0" bIns="0" rtlCol="0" anchor="t"/>
          <a:lstStyle/>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re-run cd-production.yml</a:t>
            </a:r>
            <a:endParaRPr lang="en-US" sz="1200" dirty="0"/>
          </a:p>
          <a:p>
            <a:pPr algn="l" indent="0" marL="0">
              <a:lnSpc>
                <a:spcPct val="116667"/>
              </a:lnSpc>
              <a:buNone/>
            </a:pPr>
            <a:r>
              <a:rPr lang="en-US" sz="1200" dirty="0">
                <a:solidFill>
                  <a:srgbClr val="1F3A70"/>
                </a:solidFill>
                <a:latin typeface="Courier New" pitchFamily="34" charset="0"/>
                <a:ea typeface="Courier New" pitchFamily="34" charset="-122"/>
                <a:cs typeface="Courier New" pitchFamily="34" charset="-120"/>
              </a:rPr>
              <a:t>with the previous SHA</a:t>
            </a:r>
            <a:endParaRPr lang="en-US" sz="1200" dirty="0"/>
          </a:p>
        </p:txBody>
      </p:sp>
      <p:sp>
        <p:nvSpPr>
          <p:cNvPr id="32" name="Text 3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33" name="Text 3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DELIVERY PIPELINE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GitHub Actions carries a commit from PR to release</a:t>
            </a:r>
            <a:endParaRPr lang="en-US" sz="3000" dirty="0"/>
          </a:p>
        </p:txBody>
      </p:sp>
      <p:sp>
        <p:nvSpPr>
          <p:cNvPr id="4" name="Shape 2"/>
          <p:cNvSpPr/>
          <p:nvPr/>
        </p:nvSpPr>
        <p:spPr>
          <a:xfrm>
            <a:off x="812780" y="1775376"/>
            <a:ext cx="1788076" cy="2025302"/>
          </a:xfrm>
          <a:prstGeom prst="roundRect">
            <a:avLst>
              <a:gd name="adj" fmla="val 5682"/>
            </a:avLst>
          </a:prstGeom>
          <a:solidFill>
            <a:srgbClr val="FCFDFF"/>
          </a:solidFill>
          <a:ln w="6350">
            <a:solidFill>
              <a:srgbClr val="D5DEEC"/>
            </a:solidFill>
            <a:prstDash val="solid"/>
          </a:ln>
        </p:spPr>
      </p:sp>
      <p:sp>
        <p:nvSpPr>
          <p:cNvPr id="5" name="Shape 3"/>
          <p:cNvSpPr/>
          <p:nvPr/>
        </p:nvSpPr>
        <p:spPr>
          <a:xfrm>
            <a:off x="812780" y="1775376"/>
            <a:ext cx="1788076" cy="50799"/>
          </a:xfrm>
          <a:prstGeom prst="roundRect">
            <a:avLst>
              <a:gd name="adj" fmla="val 50000"/>
            </a:avLst>
          </a:prstGeom>
          <a:solidFill>
            <a:srgbClr val="2454C5"/>
          </a:solidFill>
          <a:ln/>
        </p:spPr>
      </p:sp>
      <p:sp>
        <p:nvSpPr>
          <p:cNvPr id="6" name="Shape 4"/>
          <p:cNvSpPr/>
          <p:nvPr/>
        </p:nvSpPr>
        <p:spPr>
          <a:xfrm>
            <a:off x="1478223" y="1978571"/>
            <a:ext cx="457189" cy="457189"/>
          </a:xfrm>
          <a:prstGeom prst="ellipse">
            <a:avLst/>
          </a:prstGeom>
          <a:solidFill>
            <a:srgbClr val="E3EBFA"/>
          </a:solidFill>
          <a:ln/>
        </p:spPr>
      </p:sp>
      <p:pic>
        <p:nvPicPr>
          <p:cNvPr id="7" name="Image 0" descr="preencoded.png">    </p:cNvPr>
          <p:cNvPicPr>
            <a:picLocks noChangeAspect="1"/>
          </p:cNvPicPr>
          <p:nvPr/>
        </p:nvPicPr>
        <p:blipFill>
          <a:blip r:embed="rId1"/>
          <a:stretch>
            <a:fillRect/>
          </a:stretch>
        </p:blipFill>
        <p:spPr>
          <a:xfrm>
            <a:off x="1586171" y="2086518"/>
            <a:ext cx="241294" cy="241294"/>
          </a:xfrm>
          <a:prstGeom prst="rect">
            <a:avLst/>
          </a:prstGeom>
        </p:spPr>
      </p:pic>
      <p:sp>
        <p:nvSpPr>
          <p:cNvPr id="8" name="Text 5"/>
          <p:cNvSpPr txBox="1"/>
          <p:nvPr/>
        </p:nvSpPr>
        <p:spPr>
          <a:xfrm>
            <a:off x="1184654" y="2511958"/>
            <a:ext cx="1044327"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Pull request</a:t>
            </a:r>
            <a:endParaRPr lang="en-US" sz="1300" dirty="0"/>
          </a:p>
        </p:txBody>
      </p:sp>
      <p:sp>
        <p:nvSpPr>
          <p:cNvPr id="9" name="Text 6"/>
          <p:cNvSpPr txBox="1"/>
          <p:nvPr/>
        </p:nvSpPr>
        <p:spPr>
          <a:xfrm>
            <a:off x="883291" y="2819230"/>
            <a:ext cx="1647054"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Affected deployables: lint, Helm, build</a:t>
            </a:r>
            <a:endParaRPr lang="en-US" sz="1200" dirty="0"/>
          </a:p>
        </p:txBody>
      </p:sp>
      <p:sp>
        <p:nvSpPr>
          <p:cNvPr id="10" name="Shape 7"/>
          <p:cNvSpPr/>
          <p:nvPr/>
        </p:nvSpPr>
        <p:spPr>
          <a:xfrm>
            <a:off x="2677053" y="2724479"/>
            <a:ext cx="253994" cy="126997"/>
          </a:xfrm>
          <a:prstGeom prst="rightArrow">
            <a:avLst/>
          </a:prstGeom>
          <a:solidFill>
            <a:srgbClr val="5C6B8A"/>
          </a:solidFill>
          <a:ln/>
        </p:spPr>
      </p:sp>
      <p:sp>
        <p:nvSpPr>
          <p:cNvPr id="11" name="Shape 8"/>
          <p:cNvSpPr/>
          <p:nvPr/>
        </p:nvSpPr>
        <p:spPr>
          <a:xfrm>
            <a:off x="3007245" y="1775376"/>
            <a:ext cx="1788175" cy="2025302"/>
          </a:xfrm>
          <a:prstGeom prst="roundRect">
            <a:avLst>
              <a:gd name="adj" fmla="val 5682"/>
            </a:avLst>
          </a:prstGeom>
          <a:solidFill>
            <a:srgbClr val="FCFDFF"/>
          </a:solidFill>
          <a:ln w="6350">
            <a:solidFill>
              <a:srgbClr val="D5DEEC"/>
            </a:solidFill>
            <a:prstDash val="solid"/>
          </a:ln>
        </p:spPr>
      </p:sp>
      <p:sp>
        <p:nvSpPr>
          <p:cNvPr id="12" name="Shape 9"/>
          <p:cNvSpPr/>
          <p:nvPr/>
        </p:nvSpPr>
        <p:spPr>
          <a:xfrm>
            <a:off x="3007245" y="1775376"/>
            <a:ext cx="1788175" cy="50799"/>
          </a:xfrm>
          <a:prstGeom prst="roundRect">
            <a:avLst>
              <a:gd name="adj" fmla="val 50000"/>
            </a:avLst>
          </a:prstGeom>
          <a:solidFill>
            <a:srgbClr val="0B7F74"/>
          </a:solidFill>
          <a:ln/>
        </p:spPr>
      </p:sp>
      <p:sp>
        <p:nvSpPr>
          <p:cNvPr id="13" name="Shape 10"/>
          <p:cNvSpPr/>
          <p:nvPr/>
        </p:nvSpPr>
        <p:spPr>
          <a:xfrm>
            <a:off x="3672689" y="1978571"/>
            <a:ext cx="457189" cy="457189"/>
          </a:xfrm>
          <a:prstGeom prst="ellipse">
            <a:avLst/>
          </a:prstGeom>
          <a:solidFill>
            <a:srgbClr val="DDF2EF"/>
          </a:solidFill>
          <a:ln/>
        </p:spPr>
      </p:sp>
      <p:pic>
        <p:nvPicPr>
          <p:cNvPr id="14" name="Image 1" descr="preencoded.png">    </p:cNvPr>
          <p:cNvPicPr>
            <a:picLocks noChangeAspect="1"/>
          </p:cNvPicPr>
          <p:nvPr/>
        </p:nvPicPr>
        <p:blipFill>
          <a:blip r:embed="rId2"/>
          <a:stretch>
            <a:fillRect/>
          </a:stretch>
        </p:blipFill>
        <p:spPr>
          <a:xfrm>
            <a:off x="3780636" y="2086518"/>
            <a:ext cx="241294" cy="241294"/>
          </a:xfrm>
          <a:prstGeom prst="rect">
            <a:avLst/>
          </a:prstGeom>
        </p:spPr>
      </p:pic>
      <p:sp>
        <p:nvSpPr>
          <p:cNvPr id="15" name="Text 11"/>
          <p:cNvSpPr txBox="1"/>
          <p:nvPr/>
        </p:nvSpPr>
        <p:spPr>
          <a:xfrm>
            <a:off x="3445565" y="2511958"/>
            <a:ext cx="911536"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CI on main</a:t>
            </a:r>
            <a:endParaRPr lang="en-US" sz="1300" dirty="0"/>
          </a:p>
        </p:txBody>
      </p:sp>
      <p:sp>
        <p:nvSpPr>
          <p:cNvPr id="16" name="Text 12"/>
          <p:cNvSpPr txBox="1"/>
          <p:nvPr/>
        </p:nvSpPr>
        <p:spPr>
          <a:xfrm>
            <a:off x="3077750" y="2819230"/>
            <a:ext cx="1647165" cy="82270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Reactor tests, an image per deployable, Trivy, ECR</a:t>
            </a:r>
            <a:endParaRPr lang="en-US" sz="1200" dirty="0"/>
          </a:p>
        </p:txBody>
      </p:sp>
      <p:sp>
        <p:nvSpPr>
          <p:cNvPr id="17" name="Shape 13"/>
          <p:cNvSpPr/>
          <p:nvPr/>
        </p:nvSpPr>
        <p:spPr>
          <a:xfrm>
            <a:off x="4871618" y="2724479"/>
            <a:ext cx="253994" cy="126997"/>
          </a:xfrm>
          <a:prstGeom prst="rightArrow">
            <a:avLst/>
          </a:prstGeom>
          <a:solidFill>
            <a:srgbClr val="5C6B8A"/>
          </a:solidFill>
          <a:ln/>
        </p:spPr>
      </p:sp>
      <p:sp>
        <p:nvSpPr>
          <p:cNvPr id="18" name="Shape 14"/>
          <p:cNvSpPr/>
          <p:nvPr/>
        </p:nvSpPr>
        <p:spPr>
          <a:xfrm>
            <a:off x="5201810" y="1775376"/>
            <a:ext cx="1788076" cy="2025302"/>
          </a:xfrm>
          <a:prstGeom prst="roundRect">
            <a:avLst>
              <a:gd name="adj" fmla="val 5682"/>
            </a:avLst>
          </a:prstGeom>
          <a:solidFill>
            <a:srgbClr val="FCFDFF"/>
          </a:solidFill>
          <a:ln w="6350">
            <a:solidFill>
              <a:srgbClr val="D5DEEC"/>
            </a:solidFill>
            <a:prstDash val="solid"/>
          </a:ln>
        </p:spPr>
      </p:sp>
      <p:sp>
        <p:nvSpPr>
          <p:cNvPr id="19" name="Shape 15"/>
          <p:cNvSpPr/>
          <p:nvPr/>
        </p:nvSpPr>
        <p:spPr>
          <a:xfrm>
            <a:off x="5201810" y="1775376"/>
            <a:ext cx="1788076" cy="50799"/>
          </a:xfrm>
          <a:prstGeom prst="roundRect">
            <a:avLst>
              <a:gd name="adj" fmla="val 50000"/>
            </a:avLst>
          </a:prstGeom>
          <a:solidFill>
            <a:srgbClr val="6A3FC0"/>
          </a:solidFill>
          <a:ln/>
        </p:spPr>
      </p:sp>
      <p:sp>
        <p:nvSpPr>
          <p:cNvPr id="20" name="Shape 16"/>
          <p:cNvSpPr/>
          <p:nvPr/>
        </p:nvSpPr>
        <p:spPr>
          <a:xfrm>
            <a:off x="5867253" y="1978571"/>
            <a:ext cx="457189" cy="457189"/>
          </a:xfrm>
          <a:prstGeom prst="ellipse">
            <a:avLst/>
          </a:prstGeom>
          <a:solidFill>
            <a:srgbClr val="ECE5FA"/>
          </a:solidFill>
          <a:ln/>
        </p:spPr>
      </p:sp>
      <p:pic>
        <p:nvPicPr>
          <p:cNvPr id="21" name="Image 2" descr="preencoded.png">    </p:cNvPr>
          <p:cNvPicPr>
            <a:picLocks noChangeAspect="1"/>
          </p:cNvPicPr>
          <p:nvPr/>
        </p:nvPicPr>
        <p:blipFill>
          <a:blip r:embed="rId3"/>
          <a:stretch>
            <a:fillRect/>
          </a:stretch>
        </p:blipFill>
        <p:spPr>
          <a:xfrm>
            <a:off x="5975201" y="2086518"/>
            <a:ext cx="241294" cy="241294"/>
          </a:xfrm>
          <a:prstGeom prst="rect">
            <a:avLst/>
          </a:prstGeom>
        </p:spPr>
      </p:pic>
      <p:sp>
        <p:nvSpPr>
          <p:cNvPr id="22" name="Text 17"/>
          <p:cNvSpPr txBox="1"/>
          <p:nvPr/>
        </p:nvSpPr>
        <p:spPr>
          <a:xfrm>
            <a:off x="5782523" y="2511958"/>
            <a:ext cx="62655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Staging</a:t>
            </a:r>
            <a:endParaRPr lang="en-US" sz="1300" dirty="0"/>
          </a:p>
        </p:txBody>
      </p:sp>
      <p:sp>
        <p:nvSpPr>
          <p:cNvPr id="23" name="Text 18"/>
          <p:cNvSpPr txBox="1"/>
          <p:nvPr/>
        </p:nvSpPr>
        <p:spPr>
          <a:xfrm>
            <a:off x="5272321" y="2819230"/>
            <a:ext cx="1647054"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Preflight, Helm --atomic, health</a:t>
            </a:r>
            <a:endParaRPr lang="en-US" sz="1200" dirty="0"/>
          </a:p>
        </p:txBody>
      </p:sp>
      <p:sp>
        <p:nvSpPr>
          <p:cNvPr id="24" name="Shape 19"/>
          <p:cNvSpPr/>
          <p:nvPr/>
        </p:nvSpPr>
        <p:spPr>
          <a:xfrm>
            <a:off x="7066083" y="2724479"/>
            <a:ext cx="253994" cy="126997"/>
          </a:xfrm>
          <a:prstGeom prst="rightArrow">
            <a:avLst/>
          </a:prstGeom>
          <a:solidFill>
            <a:srgbClr val="5C6B8A"/>
          </a:solidFill>
          <a:ln/>
        </p:spPr>
      </p:sp>
      <p:sp>
        <p:nvSpPr>
          <p:cNvPr id="25" name="Shape 20"/>
          <p:cNvSpPr/>
          <p:nvPr/>
        </p:nvSpPr>
        <p:spPr>
          <a:xfrm>
            <a:off x="7396275" y="1775376"/>
            <a:ext cx="1788175" cy="2025302"/>
          </a:xfrm>
          <a:prstGeom prst="roundRect">
            <a:avLst>
              <a:gd name="adj" fmla="val 5682"/>
            </a:avLst>
          </a:prstGeom>
          <a:solidFill>
            <a:srgbClr val="FCFDFF"/>
          </a:solidFill>
          <a:ln w="6350">
            <a:solidFill>
              <a:srgbClr val="D5DEEC"/>
            </a:solidFill>
            <a:prstDash val="solid"/>
          </a:ln>
        </p:spPr>
      </p:sp>
      <p:sp>
        <p:nvSpPr>
          <p:cNvPr id="26" name="Shape 21"/>
          <p:cNvSpPr/>
          <p:nvPr/>
        </p:nvSpPr>
        <p:spPr>
          <a:xfrm>
            <a:off x="7396275" y="1775376"/>
            <a:ext cx="1788175" cy="50799"/>
          </a:xfrm>
          <a:prstGeom prst="roundRect">
            <a:avLst>
              <a:gd name="adj" fmla="val 50000"/>
            </a:avLst>
          </a:prstGeom>
          <a:solidFill>
            <a:srgbClr val="B4530F"/>
          </a:solidFill>
          <a:ln/>
        </p:spPr>
      </p:sp>
      <p:sp>
        <p:nvSpPr>
          <p:cNvPr id="27" name="Shape 22"/>
          <p:cNvSpPr/>
          <p:nvPr/>
        </p:nvSpPr>
        <p:spPr>
          <a:xfrm>
            <a:off x="8061719" y="1978571"/>
            <a:ext cx="457189" cy="457189"/>
          </a:xfrm>
          <a:prstGeom prst="ellipse">
            <a:avLst/>
          </a:prstGeom>
          <a:solidFill>
            <a:srgbClr val="FCEBDD"/>
          </a:solidFill>
          <a:ln/>
        </p:spPr>
      </p:sp>
      <p:pic>
        <p:nvPicPr>
          <p:cNvPr id="28" name="Image 3" descr="preencoded.png">    </p:cNvPr>
          <p:cNvPicPr>
            <a:picLocks noChangeAspect="1"/>
          </p:cNvPicPr>
          <p:nvPr/>
        </p:nvPicPr>
        <p:blipFill>
          <a:blip r:embed="rId4"/>
          <a:stretch>
            <a:fillRect/>
          </a:stretch>
        </p:blipFill>
        <p:spPr>
          <a:xfrm>
            <a:off x="8169666" y="2086518"/>
            <a:ext cx="241294" cy="241294"/>
          </a:xfrm>
          <a:prstGeom prst="rect">
            <a:avLst/>
          </a:prstGeom>
        </p:spPr>
      </p:pic>
      <p:sp>
        <p:nvSpPr>
          <p:cNvPr id="29" name="Text 23"/>
          <p:cNvSpPr txBox="1"/>
          <p:nvPr/>
        </p:nvSpPr>
        <p:spPr>
          <a:xfrm>
            <a:off x="7817482" y="2511958"/>
            <a:ext cx="94576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Production</a:t>
            </a:r>
            <a:endParaRPr lang="en-US" sz="1300" dirty="0"/>
          </a:p>
        </p:txBody>
      </p:sp>
      <p:sp>
        <p:nvSpPr>
          <p:cNvPr id="30" name="Text 24"/>
          <p:cNvSpPr txBox="1"/>
          <p:nvPr/>
        </p:nvSpPr>
        <p:spPr>
          <a:xfrm>
            <a:off x="7466780" y="2819230"/>
            <a:ext cx="1647165" cy="411351"/>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Manual run, reviewers approve</a:t>
            </a:r>
            <a:endParaRPr lang="en-US" sz="1200" dirty="0"/>
          </a:p>
        </p:txBody>
      </p:sp>
      <p:sp>
        <p:nvSpPr>
          <p:cNvPr id="31" name="Shape 25"/>
          <p:cNvSpPr/>
          <p:nvPr/>
        </p:nvSpPr>
        <p:spPr>
          <a:xfrm>
            <a:off x="9260648" y="2724479"/>
            <a:ext cx="253994" cy="126997"/>
          </a:xfrm>
          <a:prstGeom prst="rightArrow">
            <a:avLst/>
          </a:prstGeom>
          <a:solidFill>
            <a:srgbClr val="5C6B8A"/>
          </a:solidFill>
          <a:ln/>
        </p:spPr>
      </p:sp>
      <p:sp>
        <p:nvSpPr>
          <p:cNvPr id="32" name="Shape 26"/>
          <p:cNvSpPr/>
          <p:nvPr/>
        </p:nvSpPr>
        <p:spPr>
          <a:xfrm>
            <a:off x="9590840" y="1775376"/>
            <a:ext cx="1788076" cy="2025302"/>
          </a:xfrm>
          <a:prstGeom prst="roundRect">
            <a:avLst>
              <a:gd name="adj" fmla="val 5682"/>
            </a:avLst>
          </a:prstGeom>
          <a:solidFill>
            <a:srgbClr val="FCFDFF"/>
          </a:solidFill>
          <a:ln w="6350">
            <a:solidFill>
              <a:srgbClr val="D5DEEC"/>
            </a:solidFill>
            <a:prstDash val="solid"/>
          </a:ln>
        </p:spPr>
      </p:sp>
      <p:sp>
        <p:nvSpPr>
          <p:cNvPr id="33" name="Shape 27"/>
          <p:cNvSpPr/>
          <p:nvPr/>
        </p:nvSpPr>
        <p:spPr>
          <a:xfrm>
            <a:off x="9590840" y="1775376"/>
            <a:ext cx="1788076" cy="50799"/>
          </a:xfrm>
          <a:prstGeom prst="roundRect">
            <a:avLst>
              <a:gd name="adj" fmla="val 50000"/>
            </a:avLst>
          </a:prstGeom>
          <a:solidFill>
            <a:srgbClr val="2E7D4F"/>
          </a:solidFill>
          <a:ln/>
        </p:spPr>
      </p:sp>
      <p:sp>
        <p:nvSpPr>
          <p:cNvPr id="34" name="Shape 28"/>
          <p:cNvSpPr/>
          <p:nvPr/>
        </p:nvSpPr>
        <p:spPr>
          <a:xfrm>
            <a:off x="10256283" y="1978571"/>
            <a:ext cx="457189" cy="457189"/>
          </a:xfrm>
          <a:prstGeom prst="ellipse">
            <a:avLst/>
          </a:prstGeom>
          <a:solidFill>
            <a:srgbClr val="E0F2E8"/>
          </a:solidFill>
          <a:ln/>
        </p:spPr>
      </p:sp>
      <p:pic>
        <p:nvPicPr>
          <p:cNvPr id="35" name="Image 4" descr="preencoded.png">    </p:cNvPr>
          <p:cNvPicPr>
            <a:picLocks noChangeAspect="1"/>
          </p:cNvPicPr>
          <p:nvPr/>
        </p:nvPicPr>
        <p:blipFill>
          <a:blip r:embed="rId5"/>
          <a:stretch>
            <a:fillRect/>
          </a:stretch>
        </p:blipFill>
        <p:spPr>
          <a:xfrm>
            <a:off x="10364231" y="2086518"/>
            <a:ext cx="241294" cy="241294"/>
          </a:xfrm>
          <a:prstGeom prst="rect">
            <a:avLst/>
          </a:prstGeom>
        </p:spPr>
      </p:pic>
      <p:sp>
        <p:nvSpPr>
          <p:cNvPr id="36" name="Text 29"/>
          <p:cNvSpPr txBox="1"/>
          <p:nvPr/>
        </p:nvSpPr>
        <p:spPr>
          <a:xfrm>
            <a:off x="10150122" y="2511958"/>
            <a:ext cx="669511" cy="231134"/>
          </a:xfrm>
          <a:prstGeom prst="rect">
            <a:avLst/>
          </a:prstGeom>
          <a:noFill/>
          <a:ln/>
        </p:spPr>
        <p:txBody>
          <a:bodyPr wrap="square" lIns="0" tIns="0" rIns="0" bIns="0" rtlCol="0" anchor="t"/>
          <a:lstStyle/>
          <a:p>
            <a:pPr algn="ctr" indent="0" marL="0">
              <a:lnSpc>
                <a:spcPct val="116667"/>
              </a:lnSpc>
              <a:buNone/>
            </a:pPr>
            <a:r>
              <a:rPr lang="en-US" sz="1300" b="1" dirty="0">
                <a:solidFill>
                  <a:srgbClr val="1F3A70"/>
                </a:solidFill>
                <a:latin typeface="Calibri" pitchFamily="34" charset="0"/>
                <a:ea typeface="Calibri" pitchFamily="34" charset="-122"/>
                <a:cs typeface="Calibri" pitchFamily="34" charset="-120"/>
              </a:rPr>
              <a:t>Release</a:t>
            </a:r>
            <a:endParaRPr lang="en-US" sz="1300" dirty="0"/>
          </a:p>
        </p:txBody>
      </p:sp>
      <p:sp>
        <p:nvSpPr>
          <p:cNvPr id="37" name="Text 30"/>
          <p:cNvSpPr txBox="1"/>
          <p:nvPr/>
        </p:nvSpPr>
        <p:spPr>
          <a:xfrm>
            <a:off x="9692576" y="2819230"/>
            <a:ext cx="1584603" cy="205735"/>
          </a:xfrm>
          <a:prstGeom prst="rect">
            <a:avLst/>
          </a:prstGeom>
          <a:noFill/>
          <a:ln/>
        </p:spPr>
        <p:txBody>
          <a:bodyPr wrap="square" lIns="0" tIns="0" rIns="0" bIns="0" rtlCol="0" anchor="t"/>
          <a:lstStyle/>
          <a:p>
            <a:pPr algn="ctr" indent="0" marL="0">
              <a:lnSpc>
                <a:spcPct val="112500"/>
              </a:lnSpc>
              <a:buNone/>
            </a:pPr>
            <a:r>
              <a:rPr lang="en-US" sz="1200" dirty="0">
                <a:solidFill>
                  <a:srgbClr val="4A5878"/>
                </a:solidFill>
                <a:latin typeface="Calibri" pitchFamily="34" charset="0"/>
                <a:ea typeface="Calibri" pitchFamily="34" charset="-122"/>
                <a:cs typeface="Calibri" pitchFamily="34" charset="-120"/>
              </a:rPr>
              <a:t>Tagged production-N</a:t>
            </a:r>
            <a:endParaRPr lang="en-US" sz="1200" dirty="0"/>
          </a:p>
        </p:txBody>
      </p:sp>
      <p:sp>
        <p:nvSpPr>
          <p:cNvPr id="38" name="Text 31"/>
          <p:cNvSpPr txBox="1"/>
          <p:nvPr/>
        </p:nvSpPr>
        <p:spPr>
          <a:xfrm>
            <a:off x="812780" y="4054671"/>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B4530F"/>
                </a:solidFill>
                <a:latin typeface="Courier New" pitchFamily="34" charset="0"/>
                <a:ea typeface="Courier New" pitchFamily="34" charset="-122"/>
                <a:cs typeface="Courier New" pitchFamily="34" charset="-120"/>
              </a:rPr>
              <a:t>NOT AUTOMATED YET</a:t>
            </a:r>
            <a:endParaRPr lang="en-US" sz="1200" dirty="0"/>
          </a:p>
        </p:txBody>
      </p:sp>
      <p:sp>
        <p:nvSpPr>
          <p:cNvPr id="39" name="Shape 32"/>
          <p:cNvSpPr/>
          <p:nvPr/>
        </p:nvSpPr>
        <p:spPr>
          <a:xfrm>
            <a:off x="812780" y="4356884"/>
            <a:ext cx="2565336" cy="459669"/>
          </a:xfrm>
          <a:prstGeom prst="roundRect">
            <a:avLst>
              <a:gd name="adj" fmla="val 16577"/>
            </a:avLst>
          </a:prstGeom>
          <a:solidFill>
            <a:srgbClr val="FCEBDD"/>
          </a:solidFill>
          <a:ln w="12700">
            <a:solidFill>
              <a:srgbClr val="B4530F"/>
            </a:solidFill>
            <a:prstDash val="dash"/>
          </a:ln>
        </p:spPr>
      </p:sp>
      <p:sp>
        <p:nvSpPr>
          <p:cNvPr id="40" name="Text 33"/>
          <p:cNvSpPr txBox="1"/>
          <p:nvPr/>
        </p:nvSpPr>
        <p:spPr>
          <a:xfrm>
            <a:off x="939777" y="4483881"/>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Terraform plan and apply</a:t>
            </a:r>
            <a:endParaRPr lang="en-US" sz="1200" dirty="0"/>
          </a:p>
        </p:txBody>
      </p:sp>
      <p:sp>
        <p:nvSpPr>
          <p:cNvPr id="41" name="Shape 34"/>
          <p:cNvSpPr/>
          <p:nvPr/>
        </p:nvSpPr>
        <p:spPr>
          <a:xfrm>
            <a:off x="3479713" y="4356884"/>
            <a:ext cx="2565336" cy="459669"/>
          </a:xfrm>
          <a:prstGeom prst="roundRect">
            <a:avLst>
              <a:gd name="adj" fmla="val 16577"/>
            </a:avLst>
          </a:prstGeom>
          <a:solidFill>
            <a:srgbClr val="FCEBDD"/>
          </a:solidFill>
          <a:ln w="12700">
            <a:solidFill>
              <a:srgbClr val="B4530F"/>
            </a:solidFill>
            <a:prstDash val="dash"/>
          </a:ln>
        </p:spPr>
      </p:sp>
      <p:sp>
        <p:nvSpPr>
          <p:cNvPr id="42" name="Text 35"/>
          <p:cNvSpPr txBox="1"/>
          <p:nvPr/>
        </p:nvSpPr>
        <p:spPr>
          <a:xfrm>
            <a:off x="3606710" y="4483881"/>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Web app deploy</a:t>
            </a:r>
            <a:endParaRPr lang="en-US" sz="1200" dirty="0"/>
          </a:p>
        </p:txBody>
      </p:sp>
      <p:sp>
        <p:nvSpPr>
          <p:cNvPr id="43" name="Shape 36"/>
          <p:cNvSpPr/>
          <p:nvPr/>
        </p:nvSpPr>
        <p:spPr>
          <a:xfrm>
            <a:off x="6146646" y="4356884"/>
            <a:ext cx="2565336" cy="459669"/>
          </a:xfrm>
          <a:prstGeom prst="roundRect">
            <a:avLst>
              <a:gd name="adj" fmla="val 16577"/>
            </a:avLst>
          </a:prstGeom>
          <a:solidFill>
            <a:srgbClr val="FCEBDD"/>
          </a:solidFill>
          <a:ln w="12700">
            <a:solidFill>
              <a:srgbClr val="B4530F"/>
            </a:solidFill>
            <a:prstDash val="dash"/>
          </a:ln>
        </p:spPr>
      </p:sp>
      <p:sp>
        <p:nvSpPr>
          <p:cNvPr id="44" name="Text 37"/>
          <p:cNvSpPr txBox="1"/>
          <p:nvPr/>
        </p:nvSpPr>
        <p:spPr>
          <a:xfrm>
            <a:off x="6273643" y="4483881"/>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Migrations as a Job</a:t>
            </a:r>
            <a:endParaRPr lang="en-US" sz="1200" dirty="0"/>
          </a:p>
        </p:txBody>
      </p:sp>
      <p:sp>
        <p:nvSpPr>
          <p:cNvPr id="45" name="Shape 38"/>
          <p:cNvSpPr/>
          <p:nvPr/>
        </p:nvSpPr>
        <p:spPr>
          <a:xfrm>
            <a:off x="8813580" y="4356884"/>
            <a:ext cx="2565336" cy="459669"/>
          </a:xfrm>
          <a:prstGeom prst="roundRect">
            <a:avLst>
              <a:gd name="adj" fmla="val 16577"/>
            </a:avLst>
          </a:prstGeom>
          <a:solidFill>
            <a:srgbClr val="FCEBDD"/>
          </a:solidFill>
          <a:ln w="12700">
            <a:solidFill>
              <a:srgbClr val="B4530F"/>
            </a:solidFill>
            <a:prstDash val="dash"/>
          </a:ln>
        </p:spPr>
      </p:sp>
      <p:sp>
        <p:nvSpPr>
          <p:cNvPr id="46" name="Text 39"/>
          <p:cNvSpPr txBox="1"/>
          <p:nvPr/>
        </p:nvSpPr>
        <p:spPr>
          <a:xfrm>
            <a:off x="8940576" y="4483881"/>
            <a:ext cx="2588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IaC, secret, npm scans</a:t>
            </a:r>
            <a:endParaRPr lang="en-US" sz="1200" dirty="0"/>
          </a:p>
        </p:txBody>
      </p:sp>
      <p:sp>
        <p:nvSpPr>
          <p:cNvPr id="47" name="Text 4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48" name="Text 4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PRODUCTION DEPLOYMENT</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Eleven blockers stand between Terraform and live traffic</a:t>
            </a:r>
            <a:endParaRPr lang="en-US" sz="3000" dirty="0"/>
          </a:p>
        </p:txBody>
      </p:sp>
      <p:sp>
        <p:nvSpPr>
          <p:cNvPr id="4" name="Shape 2"/>
          <p:cNvSpPr/>
          <p:nvPr/>
        </p:nvSpPr>
        <p:spPr>
          <a:xfrm>
            <a:off x="812780" y="1775376"/>
            <a:ext cx="10566136" cy="287529"/>
          </a:xfrm>
          <a:prstGeom prst="rect">
            <a:avLst/>
          </a:prstGeom>
          <a:solidFill>
            <a:srgbClr val="2454C5"/>
          </a:solidFill>
          <a:ln/>
        </p:spPr>
      </p:sp>
      <p:sp>
        <p:nvSpPr>
          <p:cNvPr id="5" name="Shape 3"/>
          <p:cNvSpPr/>
          <p:nvPr/>
        </p:nvSpPr>
        <p:spPr>
          <a:xfrm>
            <a:off x="812780" y="2059730"/>
            <a:ext cx="528227" cy="63"/>
          </a:xfrm>
          <a:prstGeom prst="line">
            <a:avLst/>
          </a:prstGeom>
          <a:noFill/>
          <a:ln w="6350">
            <a:solidFill>
              <a:srgbClr val="D5DEEC"/>
            </a:solidFill>
            <a:prstDash val="solid"/>
          </a:ln>
        </p:spPr>
      </p:sp>
      <p:sp>
        <p:nvSpPr>
          <p:cNvPr id="6" name="Text 4"/>
          <p:cNvSpPr txBox="1"/>
          <p:nvPr/>
        </p:nvSpPr>
        <p:spPr>
          <a:xfrm>
            <a:off x="904217" y="1828715"/>
            <a:ext cx="42155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a:t>
            </a:r>
            <a:endParaRPr lang="en-US" sz="1200" dirty="0"/>
          </a:p>
        </p:txBody>
      </p:sp>
      <p:sp>
        <p:nvSpPr>
          <p:cNvPr id="7" name="Shape 5"/>
          <p:cNvSpPr/>
          <p:nvPr/>
        </p:nvSpPr>
        <p:spPr>
          <a:xfrm>
            <a:off x="1341007" y="2059730"/>
            <a:ext cx="5600064" cy="63"/>
          </a:xfrm>
          <a:prstGeom prst="line">
            <a:avLst/>
          </a:prstGeom>
          <a:noFill/>
          <a:ln w="6350">
            <a:solidFill>
              <a:srgbClr val="D5DEEC"/>
            </a:solidFill>
            <a:prstDash val="solid"/>
          </a:ln>
        </p:spPr>
      </p:sp>
      <p:sp>
        <p:nvSpPr>
          <p:cNvPr id="8" name="Text 6"/>
          <p:cNvSpPr txBox="1"/>
          <p:nvPr/>
        </p:nvSpPr>
        <p:spPr>
          <a:xfrm>
            <a:off x="1432445" y="1828715"/>
            <a:ext cx="6067251"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Blocker</a:t>
            </a:r>
            <a:endParaRPr lang="en-US" sz="1200" dirty="0"/>
          </a:p>
        </p:txBody>
      </p:sp>
      <p:sp>
        <p:nvSpPr>
          <p:cNvPr id="9" name="Shape 7"/>
          <p:cNvSpPr/>
          <p:nvPr/>
        </p:nvSpPr>
        <p:spPr>
          <a:xfrm>
            <a:off x="6941071" y="2059730"/>
            <a:ext cx="4437845" cy="63"/>
          </a:xfrm>
          <a:prstGeom prst="line">
            <a:avLst/>
          </a:prstGeom>
          <a:noFill/>
          <a:ln w="6350">
            <a:solidFill>
              <a:srgbClr val="D5DEEC"/>
            </a:solidFill>
            <a:prstDash val="solid"/>
          </a:ln>
        </p:spPr>
      </p:sp>
      <p:sp>
        <p:nvSpPr>
          <p:cNvPr id="10" name="Text 8"/>
          <p:cNvSpPr txBox="1"/>
          <p:nvPr/>
        </p:nvSpPr>
        <p:spPr>
          <a:xfrm>
            <a:off x="7032509" y="1828715"/>
            <a:ext cx="4765565"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528227" cy="63"/>
          </a:xfrm>
          <a:prstGeom prst="line">
            <a:avLst/>
          </a:prstGeom>
          <a:noFill/>
          <a:ln w="6350">
            <a:solidFill>
              <a:srgbClr val="D5DEEC"/>
            </a:solidFill>
            <a:prstDash val="solid"/>
          </a:ln>
        </p:spPr>
      </p:sp>
      <p:sp>
        <p:nvSpPr>
          <p:cNvPr id="12" name="Text 10"/>
          <p:cNvSpPr txBox="1"/>
          <p:nvPr/>
        </p:nvSpPr>
        <p:spPr>
          <a:xfrm>
            <a:off x="904217" y="2116243"/>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1</a:t>
            </a:r>
            <a:endParaRPr lang="en-US" sz="1200" dirty="0"/>
          </a:p>
        </p:txBody>
      </p:sp>
      <p:sp>
        <p:nvSpPr>
          <p:cNvPr id="13" name="Shape 11"/>
          <p:cNvSpPr/>
          <p:nvPr/>
        </p:nvSpPr>
        <p:spPr>
          <a:xfrm>
            <a:off x="1341007" y="2350433"/>
            <a:ext cx="5600064" cy="63"/>
          </a:xfrm>
          <a:prstGeom prst="line">
            <a:avLst/>
          </a:prstGeom>
          <a:noFill/>
          <a:ln w="6350">
            <a:solidFill>
              <a:srgbClr val="D5DEEC"/>
            </a:solidFill>
            <a:prstDash val="solid"/>
          </a:ln>
        </p:spPr>
      </p:sp>
      <p:sp>
        <p:nvSpPr>
          <p:cNvPr id="14" name="Text 12"/>
          <p:cNvSpPr txBox="1"/>
          <p:nvPr/>
        </p:nvSpPr>
        <p:spPr>
          <a:xfrm>
            <a:off x="1432445" y="2116243"/>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Stray "32wqa" in api_gateway/main.tf breaks plan</a:t>
            </a:r>
            <a:endParaRPr lang="en-US" sz="1200" dirty="0"/>
          </a:p>
        </p:txBody>
      </p:sp>
      <p:sp>
        <p:nvSpPr>
          <p:cNvPr id="15" name="Shape 13"/>
          <p:cNvSpPr/>
          <p:nvPr/>
        </p:nvSpPr>
        <p:spPr>
          <a:xfrm>
            <a:off x="6941071" y="2350433"/>
            <a:ext cx="4437845" cy="63"/>
          </a:xfrm>
          <a:prstGeom prst="line">
            <a:avLst/>
          </a:prstGeom>
          <a:noFill/>
          <a:ln w="6350">
            <a:solidFill>
              <a:srgbClr val="D5DEEC"/>
            </a:solidFill>
            <a:prstDash val="solid"/>
          </a:ln>
        </p:spPr>
      </p:sp>
      <p:sp>
        <p:nvSpPr>
          <p:cNvPr id="16" name="Text 14"/>
          <p:cNvSpPr txBox="1"/>
          <p:nvPr/>
        </p:nvSpPr>
        <p:spPr>
          <a:xfrm>
            <a:off x="7032509" y="2116243"/>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git checkout the file</a:t>
            </a:r>
            <a:endParaRPr lang="en-US" sz="1200" dirty="0"/>
          </a:p>
        </p:txBody>
      </p:sp>
      <p:sp>
        <p:nvSpPr>
          <p:cNvPr id="17" name="Shape 15"/>
          <p:cNvSpPr/>
          <p:nvPr/>
        </p:nvSpPr>
        <p:spPr>
          <a:xfrm>
            <a:off x="812780" y="2353608"/>
            <a:ext cx="10566136" cy="290704"/>
          </a:xfrm>
          <a:prstGeom prst="rect">
            <a:avLst/>
          </a:prstGeom>
          <a:solidFill>
            <a:srgbClr val="EEF2F9"/>
          </a:solidFill>
          <a:ln/>
        </p:spPr>
      </p:sp>
      <p:sp>
        <p:nvSpPr>
          <p:cNvPr id="18" name="Shape 16"/>
          <p:cNvSpPr/>
          <p:nvPr/>
        </p:nvSpPr>
        <p:spPr>
          <a:xfrm>
            <a:off x="812780" y="2641137"/>
            <a:ext cx="528227" cy="63"/>
          </a:xfrm>
          <a:prstGeom prst="line">
            <a:avLst/>
          </a:prstGeom>
          <a:noFill/>
          <a:ln w="6350">
            <a:solidFill>
              <a:srgbClr val="D5DEEC"/>
            </a:solidFill>
            <a:prstDash val="solid"/>
          </a:ln>
        </p:spPr>
      </p:sp>
      <p:sp>
        <p:nvSpPr>
          <p:cNvPr id="19" name="Text 17"/>
          <p:cNvSpPr txBox="1"/>
          <p:nvPr/>
        </p:nvSpPr>
        <p:spPr>
          <a:xfrm>
            <a:off x="904217" y="2406947"/>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2</a:t>
            </a:r>
            <a:endParaRPr lang="en-US" sz="1200" dirty="0"/>
          </a:p>
        </p:txBody>
      </p:sp>
      <p:sp>
        <p:nvSpPr>
          <p:cNvPr id="20" name="Shape 18"/>
          <p:cNvSpPr/>
          <p:nvPr/>
        </p:nvSpPr>
        <p:spPr>
          <a:xfrm>
            <a:off x="1341007" y="2641137"/>
            <a:ext cx="5600064" cy="63"/>
          </a:xfrm>
          <a:prstGeom prst="line">
            <a:avLst/>
          </a:prstGeom>
          <a:noFill/>
          <a:ln w="6350">
            <a:solidFill>
              <a:srgbClr val="D5DEEC"/>
            </a:solidFill>
            <a:prstDash val="solid"/>
          </a:ln>
        </p:spPr>
      </p:sp>
      <p:sp>
        <p:nvSpPr>
          <p:cNvPr id="21" name="Text 19"/>
          <p:cNvSpPr txBox="1"/>
          <p:nvPr/>
        </p:nvSpPr>
        <p:spPr>
          <a:xfrm>
            <a:off x="1432445" y="2406947"/>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HTTP API has no routes, integrations or VPC Link</a:t>
            </a:r>
            <a:endParaRPr lang="en-US" sz="1200" dirty="0"/>
          </a:p>
        </p:txBody>
      </p:sp>
      <p:sp>
        <p:nvSpPr>
          <p:cNvPr id="22" name="Shape 20"/>
          <p:cNvSpPr/>
          <p:nvPr/>
        </p:nvSpPr>
        <p:spPr>
          <a:xfrm>
            <a:off x="6941071" y="2641137"/>
            <a:ext cx="4437845" cy="63"/>
          </a:xfrm>
          <a:prstGeom prst="line">
            <a:avLst/>
          </a:prstGeom>
          <a:noFill/>
          <a:ln w="6350">
            <a:solidFill>
              <a:srgbClr val="D5DEEC"/>
            </a:solidFill>
            <a:prstDash val="solid"/>
          </a:ln>
        </p:spPr>
      </p:sp>
      <p:sp>
        <p:nvSpPr>
          <p:cNvPr id="23" name="Text 21"/>
          <p:cNvSpPr txBox="1"/>
          <p:nvPr/>
        </p:nvSpPr>
        <p:spPr>
          <a:xfrm>
            <a:off x="7032509" y="2406947"/>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ALB ingress, or VPC Link + NLB</a:t>
            </a:r>
            <a:endParaRPr lang="en-US" sz="1200" dirty="0"/>
          </a:p>
        </p:txBody>
      </p:sp>
      <p:sp>
        <p:nvSpPr>
          <p:cNvPr id="24" name="Shape 22"/>
          <p:cNvSpPr/>
          <p:nvPr/>
        </p:nvSpPr>
        <p:spPr>
          <a:xfrm>
            <a:off x="812780" y="2931841"/>
            <a:ext cx="528227" cy="63"/>
          </a:xfrm>
          <a:prstGeom prst="line">
            <a:avLst/>
          </a:prstGeom>
          <a:noFill/>
          <a:ln w="6350">
            <a:solidFill>
              <a:srgbClr val="D5DEEC"/>
            </a:solidFill>
            <a:prstDash val="solid"/>
          </a:ln>
        </p:spPr>
      </p:sp>
      <p:sp>
        <p:nvSpPr>
          <p:cNvPr id="25" name="Text 23"/>
          <p:cNvSpPr txBox="1"/>
          <p:nvPr/>
        </p:nvSpPr>
        <p:spPr>
          <a:xfrm>
            <a:off x="904217" y="2697651"/>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3</a:t>
            </a:r>
            <a:endParaRPr lang="en-US" sz="1200" dirty="0"/>
          </a:p>
        </p:txBody>
      </p:sp>
      <p:sp>
        <p:nvSpPr>
          <p:cNvPr id="26" name="Shape 24"/>
          <p:cNvSpPr/>
          <p:nvPr/>
        </p:nvSpPr>
        <p:spPr>
          <a:xfrm>
            <a:off x="1341007" y="2931841"/>
            <a:ext cx="5600064" cy="63"/>
          </a:xfrm>
          <a:prstGeom prst="line">
            <a:avLst/>
          </a:prstGeom>
          <a:noFill/>
          <a:ln w="6350">
            <a:solidFill>
              <a:srgbClr val="D5DEEC"/>
            </a:solidFill>
            <a:prstDash val="solid"/>
          </a:ln>
        </p:spPr>
      </p:sp>
      <p:sp>
        <p:nvSpPr>
          <p:cNvPr id="27" name="Text 25"/>
          <p:cNvSpPr txBox="1"/>
          <p:nvPr/>
        </p:nvSpPr>
        <p:spPr>
          <a:xfrm>
            <a:off x="1432445" y="2697651"/>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WAFv2 cannot attach to an HTTP API stage</a:t>
            </a:r>
            <a:endParaRPr lang="en-US" sz="1200" dirty="0"/>
          </a:p>
        </p:txBody>
      </p:sp>
      <p:sp>
        <p:nvSpPr>
          <p:cNvPr id="28" name="Shape 26"/>
          <p:cNvSpPr/>
          <p:nvPr/>
        </p:nvSpPr>
        <p:spPr>
          <a:xfrm>
            <a:off x="6941071" y="2931841"/>
            <a:ext cx="4437845" cy="63"/>
          </a:xfrm>
          <a:prstGeom prst="line">
            <a:avLst/>
          </a:prstGeom>
          <a:noFill/>
          <a:ln w="6350">
            <a:solidFill>
              <a:srgbClr val="D5DEEC"/>
            </a:solidFill>
            <a:prstDash val="solid"/>
          </a:ln>
        </p:spPr>
      </p:sp>
      <p:sp>
        <p:nvSpPr>
          <p:cNvPr id="29" name="Text 27"/>
          <p:cNvSpPr txBox="1"/>
          <p:nvPr/>
        </p:nvSpPr>
        <p:spPr>
          <a:xfrm>
            <a:off x="7032509" y="2697651"/>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Move WAF to the ALB or CloudFront</a:t>
            </a:r>
            <a:endParaRPr lang="en-US" sz="1200" dirty="0"/>
          </a:p>
        </p:txBody>
      </p:sp>
      <p:sp>
        <p:nvSpPr>
          <p:cNvPr id="30" name="Shape 28"/>
          <p:cNvSpPr/>
          <p:nvPr/>
        </p:nvSpPr>
        <p:spPr>
          <a:xfrm>
            <a:off x="812780" y="2935016"/>
            <a:ext cx="10566136" cy="290704"/>
          </a:xfrm>
          <a:prstGeom prst="rect">
            <a:avLst/>
          </a:prstGeom>
          <a:solidFill>
            <a:srgbClr val="EEF2F9"/>
          </a:solidFill>
          <a:ln/>
        </p:spPr>
      </p:sp>
      <p:sp>
        <p:nvSpPr>
          <p:cNvPr id="31" name="Shape 29"/>
          <p:cNvSpPr/>
          <p:nvPr/>
        </p:nvSpPr>
        <p:spPr>
          <a:xfrm>
            <a:off x="812780" y="3222544"/>
            <a:ext cx="528227" cy="63"/>
          </a:xfrm>
          <a:prstGeom prst="line">
            <a:avLst/>
          </a:prstGeom>
          <a:noFill/>
          <a:ln w="6350">
            <a:solidFill>
              <a:srgbClr val="D5DEEC"/>
            </a:solidFill>
            <a:prstDash val="solid"/>
          </a:ln>
        </p:spPr>
      </p:sp>
      <p:sp>
        <p:nvSpPr>
          <p:cNvPr id="32" name="Text 30"/>
          <p:cNvSpPr txBox="1"/>
          <p:nvPr/>
        </p:nvSpPr>
        <p:spPr>
          <a:xfrm>
            <a:off x="904217" y="2988354"/>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4</a:t>
            </a:r>
            <a:endParaRPr lang="en-US" sz="1200" dirty="0"/>
          </a:p>
        </p:txBody>
      </p:sp>
      <p:sp>
        <p:nvSpPr>
          <p:cNvPr id="33" name="Shape 31"/>
          <p:cNvSpPr/>
          <p:nvPr/>
        </p:nvSpPr>
        <p:spPr>
          <a:xfrm>
            <a:off x="1341007" y="3222544"/>
            <a:ext cx="5600064" cy="63"/>
          </a:xfrm>
          <a:prstGeom prst="line">
            <a:avLst/>
          </a:prstGeom>
          <a:noFill/>
          <a:ln w="6350">
            <a:solidFill>
              <a:srgbClr val="D5DEEC"/>
            </a:solidFill>
            <a:prstDash val="solid"/>
          </a:ln>
        </p:spPr>
      </p:sp>
      <p:sp>
        <p:nvSpPr>
          <p:cNvPr id="34" name="Text 32"/>
          <p:cNvSpPr txBox="1"/>
          <p:nvPr/>
        </p:nvSpPr>
        <p:spPr>
          <a:xfrm>
            <a:off x="1432445" y="2988354"/>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JWT authorizer needs JWKS; tokens are HMAC</a:t>
            </a:r>
            <a:endParaRPr lang="en-US" sz="1200" dirty="0"/>
          </a:p>
        </p:txBody>
      </p:sp>
      <p:sp>
        <p:nvSpPr>
          <p:cNvPr id="35" name="Shape 33"/>
          <p:cNvSpPr/>
          <p:nvPr/>
        </p:nvSpPr>
        <p:spPr>
          <a:xfrm>
            <a:off x="6941071" y="3222544"/>
            <a:ext cx="4437845" cy="63"/>
          </a:xfrm>
          <a:prstGeom prst="line">
            <a:avLst/>
          </a:prstGeom>
          <a:noFill/>
          <a:ln w="6350">
            <a:solidFill>
              <a:srgbClr val="D5DEEC"/>
            </a:solidFill>
            <a:prstDash val="solid"/>
          </a:ln>
        </p:spPr>
      </p:sp>
      <p:sp>
        <p:nvSpPr>
          <p:cNvPr id="36" name="Text 34"/>
          <p:cNvSpPr txBox="1"/>
          <p:nvPr/>
        </p:nvSpPr>
        <p:spPr>
          <a:xfrm>
            <a:off x="7032509" y="2988354"/>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Drop it, or move auth to RS256</a:t>
            </a:r>
            <a:endParaRPr lang="en-US" sz="1200" dirty="0"/>
          </a:p>
        </p:txBody>
      </p:sp>
      <p:sp>
        <p:nvSpPr>
          <p:cNvPr id="37" name="Shape 35"/>
          <p:cNvSpPr/>
          <p:nvPr/>
        </p:nvSpPr>
        <p:spPr>
          <a:xfrm>
            <a:off x="812780" y="3513248"/>
            <a:ext cx="528227" cy="63"/>
          </a:xfrm>
          <a:prstGeom prst="line">
            <a:avLst/>
          </a:prstGeom>
          <a:noFill/>
          <a:ln w="6350">
            <a:solidFill>
              <a:srgbClr val="D5DEEC"/>
            </a:solidFill>
            <a:prstDash val="solid"/>
          </a:ln>
        </p:spPr>
      </p:sp>
      <p:sp>
        <p:nvSpPr>
          <p:cNvPr id="38" name="Text 36"/>
          <p:cNvSpPr txBox="1"/>
          <p:nvPr/>
        </p:nvSpPr>
        <p:spPr>
          <a:xfrm>
            <a:off x="904217" y="3279058"/>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5</a:t>
            </a:r>
            <a:endParaRPr lang="en-US" sz="1200" dirty="0"/>
          </a:p>
        </p:txBody>
      </p:sp>
      <p:sp>
        <p:nvSpPr>
          <p:cNvPr id="39" name="Shape 37"/>
          <p:cNvSpPr/>
          <p:nvPr/>
        </p:nvSpPr>
        <p:spPr>
          <a:xfrm>
            <a:off x="1341007" y="3513248"/>
            <a:ext cx="5600064" cy="63"/>
          </a:xfrm>
          <a:prstGeom prst="line">
            <a:avLst/>
          </a:prstGeom>
          <a:noFill/>
          <a:ln w="6350">
            <a:solidFill>
              <a:srgbClr val="D5DEEC"/>
            </a:solidFill>
            <a:prstDash val="solid"/>
          </a:ln>
        </p:spPr>
      </p:sp>
      <p:sp>
        <p:nvSpPr>
          <p:cNvPr id="40" name="Text 38"/>
          <p:cNvSpPr txBox="1"/>
          <p:nvPr/>
        </p:nvSpPr>
        <p:spPr>
          <a:xfrm>
            <a:off x="1432445" y="3279058"/>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ECR, OIDC roles, state bucket or lock table</a:t>
            </a:r>
            <a:endParaRPr lang="en-US" sz="1200" dirty="0"/>
          </a:p>
        </p:txBody>
      </p:sp>
      <p:sp>
        <p:nvSpPr>
          <p:cNvPr id="41" name="Shape 39"/>
          <p:cNvSpPr/>
          <p:nvPr/>
        </p:nvSpPr>
        <p:spPr>
          <a:xfrm>
            <a:off x="6941071" y="3513248"/>
            <a:ext cx="4437845" cy="63"/>
          </a:xfrm>
          <a:prstGeom prst="line">
            <a:avLst/>
          </a:prstGeom>
          <a:noFill/>
          <a:ln w="6350">
            <a:solidFill>
              <a:srgbClr val="D5DEEC"/>
            </a:solidFill>
            <a:prstDash val="solid"/>
          </a:ln>
        </p:spPr>
      </p:sp>
      <p:sp>
        <p:nvSpPr>
          <p:cNvPr id="42" name="Text 40"/>
          <p:cNvSpPr txBox="1"/>
          <p:nvPr/>
        </p:nvSpPr>
        <p:spPr>
          <a:xfrm>
            <a:off x="7032509" y="3279058"/>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Add a bootstrap Terraform stack</a:t>
            </a:r>
            <a:endParaRPr lang="en-US" sz="1200" dirty="0"/>
          </a:p>
        </p:txBody>
      </p:sp>
      <p:sp>
        <p:nvSpPr>
          <p:cNvPr id="43" name="Shape 41"/>
          <p:cNvSpPr/>
          <p:nvPr/>
        </p:nvSpPr>
        <p:spPr>
          <a:xfrm>
            <a:off x="812780" y="3516423"/>
            <a:ext cx="10566136" cy="290704"/>
          </a:xfrm>
          <a:prstGeom prst="rect">
            <a:avLst/>
          </a:prstGeom>
          <a:solidFill>
            <a:srgbClr val="EEF2F9"/>
          </a:solidFill>
          <a:ln/>
        </p:spPr>
      </p:sp>
      <p:sp>
        <p:nvSpPr>
          <p:cNvPr id="44" name="Shape 42"/>
          <p:cNvSpPr/>
          <p:nvPr/>
        </p:nvSpPr>
        <p:spPr>
          <a:xfrm>
            <a:off x="812780" y="3803952"/>
            <a:ext cx="528227" cy="63"/>
          </a:xfrm>
          <a:prstGeom prst="line">
            <a:avLst/>
          </a:prstGeom>
          <a:noFill/>
          <a:ln w="6350">
            <a:solidFill>
              <a:srgbClr val="D5DEEC"/>
            </a:solidFill>
            <a:prstDash val="solid"/>
          </a:ln>
        </p:spPr>
      </p:sp>
      <p:sp>
        <p:nvSpPr>
          <p:cNvPr id="45" name="Text 43"/>
          <p:cNvSpPr txBox="1"/>
          <p:nvPr/>
        </p:nvSpPr>
        <p:spPr>
          <a:xfrm>
            <a:off x="904217" y="3569762"/>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6</a:t>
            </a:r>
            <a:endParaRPr lang="en-US" sz="1200" dirty="0"/>
          </a:p>
        </p:txBody>
      </p:sp>
      <p:sp>
        <p:nvSpPr>
          <p:cNvPr id="46" name="Shape 44"/>
          <p:cNvSpPr/>
          <p:nvPr/>
        </p:nvSpPr>
        <p:spPr>
          <a:xfrm>
            <a:off x="1341007" y="3803952"/>
            <a:ext cx="5600064" cy="63"/>
          </a:xfrm>
          <a:prstGeom prst="line">
            <a:avLst/>
          </a:prstGeom>
          <a:noFill/>
          <a:ln w="6350">
            <a:solidFill>
              <a:srgbClr val="D5DEEC"/>
            </a:solidFill>
            <a:prstDash val="solid"/>
          </a:ln>
        </p:spPr>
      </p:sp>
      <p:sp>
        <p:nvSpPr>
          <p:cNvPr id="47" name="Text 45"/>
          <p:cNvSpPr txBox="1"/>
          <p:nvPr/>
        </p:nvSpPr>
        <p:spPr>
          <a:xfrm>
            <a:off x="1432445" y="3569762"/>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Secrets are placeholders, never synced to K8s</a:t>
            </a:r>
            <a:endParaRPr lang="en-US" sz="1200" dirty="0"/>
          </a:p>
        </p:txBody>
      </p:sp>
      <p:sp>
        <p:nvSpPr>
          <p:cNvPr id="48" name="Shape 46"/>
          <p:cNvSpPr/>
          <p:nvPr/>
        </p:nvSpPr>
        <p:spPr>
          <a:xfrm>
            <a:off x="6941071" y="3803952"/>
            <a:ext cx="4437845" cy="63"/>
          </a:xfrm>
          <a:prstGeom prst="line">
            <a:avLst/>
          </a:prstGeom>
          <a:noFill/>
          <a:ln w="6350">
            <a:solidFill>
              <a:srgbClr val="D5DEEC"/>
            </a:solidFill>
            <a:prstDash val="solid"/>
          </a:ln>
        </p:spPr>
      </p:sp>
      <p:sp>
        <p:nvSpPr>
          <p:cNvPr id="49" name="Text 47"/>
          <p:cNvSpPr txBox="1"/>
          <p:nvPr/>
        </p:nvSpPr>
        <p:spPr>
          <a:xfrm>
            <a:off x="7032509" y="3569762"/>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External Secrets; align key names</a:t>
            </a:r>
            <a:endParaRPr lang="en-US" sz="1200" dirty="0"/>
          </a:p>
        </p:txBody>
      </p:sp>
      <p:sp>
        <p:nvSpPr>
          <p:cNvPr id="50" name="Shape 48"/>
          <p:cNvSpPr/>
          <p:nvPr/>
        </p:nvSpPr>
        <p:spPr>
          <a:xfrm>
            <a:off x="812780" y="4094655"/>
            <a:ext cx="528227" cy="63"/>
          </a:xfrm>
          <a:prstGeom prst="line">
            <a:avLst/>
          </a:prstGeom>
          <a:noFill/>
          <a:ln w="6350">
            <a:solidFill>
              <a:srgbClr val="D5DEEC"/>
            </a:solidFill>
            <a:prstDash val="solid"/>
          </a:ln>
        </p:spPr>
      </p:sp>
      <p:sp>
        <p:nvSpPr>
          <p:cNvPr id="51" name="Text 49"/>
          <p:cNvSpPr txBox="1"/>
          <p:nvPr/>
        </p:nvSpPr>
        <p:spPr>
          <a:xfrm>
            <a:off x="904217" y="3860465"/>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7</a:t>
            </a:r>
            <a:endParaRPr lang="en-US" sz="1200" dirty="0"/>
          </a:p>
        </p:txBody>
      </p:sp>
      <p:sp>
        <p:nvSpPr>
          <p:cNvPr id="52" name="Shape 50"/>
          <p:cNvSpPr/>
          <p:nvPr/>
        </p:nvSpPr>
        <p:spPr>
          <a:xfrm>
            <a:off x="1341007" y="4094655"/>
            <a:ext cx="5600064" cy="63"/>
          </a:xfrm>
          <a:prstGeom prst="line">
            <a:avLst/>
          </a:prstGeom>
          <a:noFill/>
          <a:ln w="6350">
            <a:solidFill>
              <a:srgbClr val="D5DEEC"/>
            </a:solidFill>
            <a:prstDash val="solid"/>
          </a:ln>
        </p:spPr>
      </p:sp>
      <p:sp>
        <p:nvSpPr>
          <p:cNvPr id="53" name="Text 51"/>
          <p:cNvSpPr txBox="1"/>
          <p:nvPr/>
        </p:nvSpPr>
        <p:spPr>
          <a:xfrm>
            <a:off x="1432445" y="3860465"/>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Helm passes no Kafka SASL or Redis TLS settings</a:t>
            </a:r>
            <a:endParaRPr lang="en-US" sz="1200" dirty="0"/>
          </a:p>
        </p:txBody>
      </p:sp>
      <p:sp>
        <p:nvSpPr>
          <p:cNvPr id="54" name="Shape 52"/>
          <p:cNvSpPr/>
          <p:nvPr/>
        </p:nvSpPr>
        <p:spPr>
          <a:xfrm>
            <a:off x="6941071" y="4094655"/>
            <a:ext cx="4437845" cy="63"/>
          </a:xfrm>
          <a:prstGeom prst="line">
            <a:avLst/>
          </a:prstGeom>
          <a:noFill/>
          <a:ln w="6350">
            <a:solidFill>
              <a:srgbClr val="D5DEEC"/>
            </a:solidFill>
            <a:prstDash val="solid"/>
          </a:ln>
        </p:spPr>
      </p:sp>
      <p:sp>
        <p:nvSpPr>
          <p:cNvPr id="55" name="Text 53"/>
          <p:cNvSpPr txBox="1"/>
          <p:nvPr/>
        </p:nvSpPr>
        <p:spPr>
          <a:xfrm>
            <a:off x="7032509" y="3860465"/>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Wire SCRAM, TLS and auth tokens</a:t>
            </a:r>
            <a:endParaRPr lang="en-US" sz="1200" dirty="0"/>
          </a:p>
        </p:txBody>
      </p:sp>
      <p:sp>
        <p:nvSpPr>
          <p:cNvPr id="56" name="Shape 54"/>
          <p:cNvSpPr/>
          <p:nvPr/>
        </p:nvSpPr>
        <p:spPr>
          <a:xfrm>
            <a:off x="812780" y="4097830"/>
            <a:ext cx="10566136" cy="290704"/>
          </a:xfrm>
          <a:prstGeom prst="rect">
            <a:avLst/>
          </a:prstGeom>
          <a:solidFill>
            <a:srgbClr val="EEF2F9"/>
          </a:solidFill>
          <a:ln/>
        </p:spPr>
      </p:sp>
      <p:sp>
        <p:nvSpPr>
          <p:cNvPr id="57" name="Shape 55"/>
          <p:cNvSpPr/>
          <p:nvPr/>
        </p:nvSpPr>
        <p:spPr>
          <a:xfrm>
            <a:off x="812780" y="4385359"/>
            <a:ext cx="528227" cy="63"/>
          </a:xfrm>
          <a:prstGeom prst="line">
            <a:avLst/>
          </a:prstGeom>
          <a:noFill/>
          <a:ln w="6350">
            <a:solidFill>
              <a:srgbClr val="D5DEEC"/>
            </a:solidFill>
            <a:prstDash val="solid"/>
          </a:ln>
        </p:spPr>
      </p:sp>
      <p:sp>
        <p:nvSpPr>
          <p:cNvPr id="58" name="Text 56"/>
          <p:cNvSpPr txBox="1"/>
          <p:nvPr/>
        </p:nvSpPr>
        <p:spPr>
          <a:xfrm>
            <a:off x="904217" y="4151169"/>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8</a:t>
            </a:r>
            <a:endParaRPr lang="en-US" sz="1200" dirty="0"/>
          </a:p>
        </p:txBody>
      </p:sp>
      <p:sp>
        <p:nvSpPr>
          <p:cNvPr id="59" name="Shape 57"/>
          <p:cNvSpPr/>
          <p:nvPr/>
        </p:nvSpPr>
        <p:spPr>
          <a:xfrm>
            <a:off x="1341007" y="4385359"/>
            <a:ext cx="5600064" cy="63"/>
          </a:xfrm>
          <a:prstGeom prst="line">
            <a:avLst/>
          </a:prstGeom>
          <a:noFill/>
          <a:ln w="6350">
            <a:solidFill>
              <a:srgbClr val="D5DEEC"/>
            </a:solidFill>
            <a:prstDash val="solid"/>
          </a:ln>
        </p:spPr>
      </p:sp>
      <p:sp>
        <p:nvSpPr>
          <p:cNvPr id="60" name="Text 58"/>
          <p:cNvSpPr txBox="1"/>
          <p:nvPr/>
        </p:nvSpPr>
        <p:spPr>
          <a:xfrm>
            <a:off x="1432445" y="4151169"/>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Flyway runs in every replica at startup</a:t>
            </a:r>
            <a:endParaRPr lang="en-US" sz="1200" dirty="0"/>
          </a:p>
        </p:txBody>
      </p:sp>
      <p:sp>
        <p:nvSpPr>
          <p:cNvPr id="61" name="Shape 59"/>
          <p:cNvSpPr/>
          <p:nvPr/>
        </p:nvSpPr>
        <p:spPr>
          <a:xfrm>
            <a:off x="6941071" y="4385359"/>
            <a:ext cx="4437845" cy="63"/>
          </a:xfrm>
          <a:prstGeom prst="line">
            <a:avLst/>
          </a:prstGeom>
          <a:noFill/>
          <a:ln w="6350">
            <a:solidFill>
              <a:srgbClr val="D5DEEC"/>
            </a:solidFill>
            <a:prstDash val="solid"/>
          </a:ln>
        </p:spPr>
      </p:sp>
      <p:sp>
        <p:nvSpPr>
          <p:cNvPr id="62" name="Text 60"/>
          <p:cNvSpPr txBox="1"/>
          <p:nvPr/>
        </p:nvSpPr>
        <p:spPr>
          <a:xfrm>
            <a:off x="7032509" y="4151169"/>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Run migrations as a pre-deploy Job</a:t>
            </a:r>
            <a:endParaRPr lang="en-US" sz="1200" dirty="0"/>
          </a:p>
        </p:txBody>
      </p:sp>
      <p:sp>
        <p:nvSpPr>
          <p:cNvPr id="63" name="Shape 61"/>
          <p:cNvSpPr/>
          <p:nvPr/>
        </p:nvSpPr>
        <p:spPr>
          <a:xfrm>
            <a:off x="812780" y="4676063"/>
            <a:ext cx="528227" cy="63"/>
          </a:xfrm>
          <a:prstGeom prst="line">
            <a:avLst/>
          </a:prstGeom>
          <a:noFill/>
          <a:ln w="6350">
            <a:solidFill>
              <a:srgbClr val="D5DEEC"/>
            </a:solidFill>
            <a:prstDash val="solid"/>
          </a:ln>
        </p:spPr>
      </p:sp>
      <p:sp>
        <p:nvSpPr>
          <p:cNvPr id="64" name="Text 62"/>
          <p:cNvSpPr txBox="1"/>
          <p:nvPr/>
        </p:nvSpPr>
        <p:spPr>
          <a:xfrm>
            <a:off x="904217" y="4441873"/>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9</a:t>
            </a:r>
            <a:endParaRPr lang="en-US" sz="1200" dirty="0"/>
          </a:p>
        </p:txBody>
      </p:sp>
      <p:sp>
        <p:nvSpPr>
          <p:cNvPr id="65" name="Shape 63"/>
          <p:cNvSpPr/>
          <p:nvPr/>
        </p:nvSpPr>
        <p:spPr>
          <a:xfrm>
            <a:off x="1341007" y="4676063"/>
            <a:ext cx="5600064" cy="63"/>
          </a:xfrm>
          <a:prstGeom prst="line">
            <a:avLst/>
          </a:prstGeom>
          <a:noFill/>
          <a:ln w="6350">
            <a:solidFill>
              <a:srgbClr val="D5DEEC"/>
            </a:solidFill>
            <a:prstDash val="solid"/>
          </a:ln>
        </p:spPr>
      </p:sp>
      <p:sp>
        <p:nvSpPr>
          <p:cNvPr id="66" name="Text 64"/>
          <p:cNvSpPr txBox="1"/>
          <p:nvPr/>
        </p:nvSpPr>
        <p:spPr>
          <a:xfrm>
            <a:off x="1432445" y="4441873"/>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hosting or deploy for the web apps</a:t>
            </a:r>
            <a:endParaRPr lang="en-US" sz="1200" dirty="0"/>
          </a:p>
        </p:txBody>
      </p:sp>
      <p:sp>
        <p:nvSpPr>
          <p:cNvPr id="67" name="Shape 65"/>
          <p:cNvSpPr/>
          <p:nvPr/>
        </p:nvSpPr>
        <p:spPr>
          <a:xfrm>
            <a:off x="6941071" y="4676063"/>
            <a:ext cx="4437845" cy="63"/>
          </a:xfrm>
          <a:prstGeom prst="line">
            <a:avLst/>
          </a:prstGeom>
          <a:noFill/>
          <a:ln w="6350">
            <a:solidFill>
              <a:srgbClr val="D5DEEC"/>
            </a:solidFill>
            <a:prstDash val="solid"/>
          </a:ln>
        </p:spPr>
      </p:sp>
      <p:sp>
        <p:nvSpPr>
          <p:cNvPr id="68" name="Text 66"/>
          <p:cNvSpPr txBox="1"/>
          <p:nvPr/>
        </p:nvSpPr>
        <p:spPr>
          <a:xfrm>
            <a:off x="7032509" y="4441873"/>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S3 + CloudFront + a workflow</a:t>
            </a:r>
            <a:endParaRPr lang="en-US" sz="1200" dirty="0"/>
          </a:p>
        </p:txBody>
      </p:sp>
      <p:sp>
        <p:nvSpPr>
          <p:cNvPr id="69" name="Shape 67"/>
          <p:cNvSpPr/>
          <p:nvPr/>
        </p:nvSpPr>
        <p:spPr>
          <a:xfrm>
            <a:off x="812780" y="4679238"/>
            <a:ext cx="10566136" cy="290704"/>
          </a:xfrm>
          <a:prstGeom prst="rect">
            <a:avLst/>
          </a:prstGeom>
          <a:solidFill>
            <a:srgbClr val="EEF2F9"/>
          </a:solidFill>
          <a:ln/>
        </p:spPr>
      </p:sp>
      <p:sp>
        <p:nvSpPr>
          <p:cNvPr id="70" name="Shape 68"/>
          <p:cNvSpPr/>
          <p:nvPr/>
        </p:nvSpPr>
        <p:spPr>
          <a:xfrm>
            <a:off x="812780" y="4966766"/>
            <a:ext cx="528227" cy="63"/>
          </a:xfrm>
          <a:prstGeom prst="line">
            <a:avLst/>
          </a:prstGeom>
          <a:noFill/>
          <a:ln w="6350">
            <a:solidFill>
              <a:srgbClr val="D5DEEC"/>
            </a:solidFill>
            <a:prstDash val="solid"/>
          </a:ln>
        </p:spPr>
      </p:sp>
      <p:sp>
        <p:nvSpPr>
          <p:cNvPr id="71" name="Text 69"/>
          <p:cNvSpPr txBox="1"/>
          <p:nvPr/>
        </p:nvSpPr>
        <p:spPr>
          <a:xfrm>
            <a:off x="904217" y="4732576"/>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10</a:t>
            </a:r>
            <a:endParaRPr lang="en-US" sz="1200" dirty="0"/>
          </a:p>
        </p:txBody>
      </p:sp>
      <p:sp>
        <p:nvSpPr>
          <p:cNvPr id="72" name="Shape 70"/>
          <p:cNvSpPr/>
          <p:nvPr/>
        </p:nvSpPr>
        <p:spPr>
          <a:xfrm>
            <a:off x="1341007" y="4966766"/>
            <a:ext cx="5600064" cy="63"/>
          </a:xfrm>
          <a:prstGeom prst="line">
            <a:avLst/>
          </a:prstGeom>
          <a:noFill/>
          <a:ln w="6350">
            <a:solidFill>
              <a:srgbClr val="D5DEEC"/>
            </a:solidFill>
            <a:prstDash val="solid"/>
          </a:ln>
        </p:spPr>
      </p:sp>
      <p:sp>
        <p:nvSpPr>
          <p:cNvPr id="73" name="Text 71"/>
          <p:cNvSpPr txBox="1"/>
          <p:nvPr/>
        </p:nvSpPr>
        <p:spPr>
          <a:xfrm>
            <a:off x="1432445" y="4732576"/>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NetworkPolicies are not enforced by vpc-cni</a:t>
            </a:r>
            <a:endParaRPr lang="en-US" sz="1200" dirty="0"/>
          </a:p>
        </p:txBody>
      </p:sp>
      <p:sp>
        <p:nvSpPr>
          <p:cNvPr id="74" name="Shape 72"/>
          <p:cNvSpPr/>
          <p:nvPr/>
        </p:nvSpPr>
        <p:spPr>
          <a:xfrm>
            <a:off x="6941071" y="4966766"/>
            <a:ext cx="4437845" cy="63"/>
          </a:xfrm>
          <a:prstGeom prst="line">
            <a:avLst/>
          </a:prstGeom>
          <a:noFill/>
          <a:ln w="6350">
            <a:solidFill>
              <a:srgbClr val="D5DEEC"/>
            </a:solidFill>
            <a:prstDash val="solid"/>
          </a:ln>
        </p:spPr>
      </p:sp>
      <p:sp>
        <p:nvSpPr>
          <p:cNvPr id="75" name="Text 73"/>
          <p:cNvSpPr txBox="1"/>
          <p:nvPr/>
        </p:nvSpPr>
        <p:spPr>
          <a:xfrm>
            <a:off x="7032509" y="4732576"/>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Set enableNetworkPolicy</a:t>
            </a:r>
            <a:endParaRPr lang="en-US" sz="1200" dirty="0"/>
          </a:p>
        </p:txBody>
      </p:sp>
      <p:sp>
        <p:nvSpPr>
          <p:cNvPr id="76" name="Shape 74"/>
          <p:cNvSpPr/>
          <p:nvPr/>
        </p:nvSpPr>
        <p:spPr>
          <a:xfrm>
            <a:off x="812780" y="5257470"/>
            <a:ext cx="528227" cy="63"/>
          </a:xfrm>
          <a:prstGeom prst="line">
            <a:avLst/>
          </a:prstGeom>
          <a:noFill/>
          <a:ln w="6350">
            <a:solidFill>
              <a:srgbClr val="D5DEEC"/>
            </a:solidFill>
            <a:prstDash val="solid"/>
          </a:ln>
        </p:spPr>
      </p:sp>
      <p:sp>
        <p:nvSpPr>
          <p:cNvPr id="77" name="Text 75"/>
          <p:cNvSpPr txBox="1"/>
          <p:nvPr/>
        </p:nvSpPr>
        <p:spPr>
          <a:xfrm>
            <a:off x="904217" y="5023280"/>
            <a:ext cx="421550"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11</a:t>
            </a:r>
            <a:endParaRPr lang="en-US" sz="1200" dirty="0"/>
          </a:p>
        </p:txBody>
      </p:sp>
      <p:sp>
        <p:nvSpPr>
          <p:cNvPr id="78" name="Shape 76"/>
          <p:cNvSpPr/>
          <p:nvPr/>
        </p:nvSpPr>
        <p:spPr>
          <a:xfrm>
            <a:off x="1341007" y="5257470"/>
            <a:ext cx="5600064" cy="63"/>
          </a:xfrm>
          <a:prstGeom prst="line">
            <a:avLst/>
          </a:prstGeom>
          <a:noFill/>
          <a:ln w="6350">
            <a:solidFill>
              <a:srgbClr val="D5DEEC"/>
            </a:solidFill>
            <a:prstDash val="solid"/>
          </a:ln>
        </p:spPr>
      </p:sp>
      <p:sp>
        <p:nvSpPr>
          <p:cNvPr id="79" name="Text 77"/>
          <p:cNvSpPr txBox="1"/>
          <p:nvPr/>
        </p:nvSpPr>
        <p:spPr>
          <a:xfrm>
            <a:off x="1432445" y="5023280"/>
            <a:ext cx="6067251"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IRSA roles and secrets still name the 19 old services</a:t>
            </a:r>
            <a:endParaRPr lang="en-US" sz="1200" dirty="0"/>
          </a:p>
        </p:txBody>
      </p:sp>
      <p:sp>
        <p:nvSpPr>
          <p:cNvPr id="80" name="Shape 78"/>
          <p:cNvSpPr/>
          <p:nvPr/>
        </p:nvSpPr>
        <p:spPr>
          <a:xfrm>
            <a:off x="6941071" y="5257470"/>
            <a:ext cx="4437845" cy="63"/>
          </a:xfrm>
          <a:prstGeom prst="line">
            <a:avLst/>
          </a:prstGeom>
          <a:noFill/>
          <a:ln w="6350">
            <a:solidFill>
              <a:srgbClr val="D5DEEC"/>
            </a:solidFill>
            <a:prstDash val="solid"/>
          </a:ln>
        </p:spPr>
      </p:sp>
      <p:sp>
        <p:nvSpPr>
          <p:cNvPr id="81" name="Text 79"/>
          <p:cNvSpPr txBox="1"/>
          <p:nvPr/>
        </p:nvSpPr>
        <p:spPr>
          <a:xfrm>
            <a:off x="7032509" y="5023280"/>
            <a:ext cx="4765565"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One role, namespace, secret per deployable</a:t>
            </a:r>
            <a:endParaRPr lang="en-US" sz="1200" dirty="0"/>
          </a:p>
        </p:txBody>
      </p:sp>
      <p:sp>
        <p:nvSpPr>
          <p:cNvPr id="82" name="Text 8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Production deployment</a:t>
            </a:r>
            <a:endParaRPr lang="en-US" sz="1200" dirty="0"/>
          </a:p>
        </p:txBody>
      </p:sp>
      <p:sp>
        <p:nvSpPr>
          <p:cNvPr id="83" name="Text 8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78756" y="634984"/>
            <a:ext cx="1396965" cy="1396965"/>
          </a:xfrm>
          <a:prstGeom prst="ellipse">
            <a:avLst/>
          </a:prstGeom>
          <a:solidFill>
            <a:srgbClr val="FFFFFF">
              <a:alpha val="14000"/>
            </a:srgbClr>
          </a:solidFill>
          <a:ln/>
        </p:spPr>
      </p:sp>
      <p:pic>
        <p:nvPicPr>
          <p:cNvPr id="3" name="Image 0" descr="preencoded.png">    </p:cNvPr>
          <p:cNvPicPr>
            <a:picLocks noChangeAspect="1"/>
          </p:cNvPicPr>
          <p:nvPr/>
        </p:nvPicPr>
        <p:blipFill>
          <a:blip r:embed="rId2"/>
          <a:stretch>
            <a:fillRect/>
          </a:stretch>
        </p:blipFill>
        <p:spPr>
          <a:xfrm>
            <a:off x="10127997" y="984225"/>
            <a:ext cx="698483" cy="698483"/>
          </a:xfrm>
          <a:prstGeom prst="rect">
            <a:avLst/>
          </a:prstGeom>
        </p:spPr>
      </p:pic>
      <p:sp>
        <p:nvSpPr>
          <p:cNvPr id="4" name="Text 1"/>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50" kern="0" dirty="0">
                <a:solidFill>
                  <a:srgbClr val="F8FAFF"/>
                </a:solidFill>
                <a:latin typeface="Courier New" pitchFamily="34" charset="0"/>
                <a:ea typeface="Courier New" pitchFamily="34" charset="-122"/>
                <a:cs typeface="Courier New" pitchFamily="34" charset="-120"/>
              </a:rPr>
              <a:t>SECURITY · FIX TODAY</a:t>
            </a:r>
            <a:endParaRPr lang="en-US" sz="1200" dirty="0"/>
          </a:p>
        </p:txBody>
      </p:sp>
      <p:sp>
        <p:nvSpPr>
          <p:cNvPr id="5" name="Text 2"/>
          <p:cNvSpPr txBox="1"/>
          <p:nvPr/>
        </p:nvSpPr>
        <p:spPr>
          <a:xfrm>
            <a:off x="812780" y="2245363"/>
            <a:ext cx="9600960" cy="2011511"/>
          </a:xfrm>
          <a:prstGeom prst="rect">
            <a:avLst/>
          </a:prstGeom>
          <a:noFill/>
          <a:ln/>
        </p:spPr>
        <p:txBody>
          <a:bodyPr wrap="square" lIns="0" tIns="0" rIns="0" bIns="0" rtlCol="0" anchor="t"/>
          <a:lstStyle/>
          <a:p>
            <a:pPr algn="l" indent="0" marL="0">
              <a:lnSpc>
                <a:spcPct val="91667"/>
              </a:lnSpc>
              <a:buNone/>
            </a:pPr>
            <a:r>
              <a:rPr lang="en-US" sz="4800" b="1" dirty="0">
                <a:solidFill>
                  <a:srgbClr val="F8FAFF"/>
                </a:solidFill>
                <a:latin typeface="Calibri" pitchFamily="34" charset="0"/>
                <a:ea typeface="Calibri" pitchFamily="34" charset="-122"/>
                <a:cs typeface="Calibri" pitchFamily="34" charset="-120"/>
              </a:rPr>
              <a:t>The secret that signed the leaked token is still the committed default</a:t>
            </a:r>
            <a:endParaRPr lang="en-US" sz="4800" dirty="0"/>
          </a:p>
        </p:txBody>
      </p:sp>
      <p:sp>
        <p:nvSpPr>
          <p:cNvPr id="6" name="Text 3"/>
          <p:cNvSpPr txBox="1"/>
          <p:nvPr/>
        </p:nvSpPr>
        <p:spPr>
          <a:xfrm>
            <a:off x="812780" y="5476143"/>
            <a:ext cx="10667733" cy="568906"/>
          </a:xfrm>
          <a:prstGeom prst="rect">
            <a:avLst/>
          </a:prstGeom>
          <a:noFill/>
          <a:ln/>
        </p:spPr>
        <p:txBody>
          <a:bodyPr wrap="square" lIns="0" tIns="0" rIns="0" bIns="0" rtlCol="0" anchor="t"/>
          <a:lstStyle/>
          <a:p>
            <a:pPr algn="l" indent="0" marL="0">
              <a:lnSpc>
                <a:spcPct val="116667"/>
              </a:lnSpc>
              <a:buNone/>
            </a:pPr>
            <a:r>
              <a:rPr lang="en-US" sz="1600" dirty="0">
                <a:solidFill>
                  <a:srgbClr val="F8FAFF"/>
                </a:solidFill>
                <a:latin typeface="Calibri" pitchFamily="34" charset="0"/>
                <a:ea typeface="Calibri" pitchFamily="34" charset="-122"/>
                <a:cs typeface="Calibri" pitchFamily="34" charset="-120"/>
              </a:rPr>
              <a:t>Commit 1b5656d is public on GitHub, and JWT_SECRET in .env.example has not changed since. Any environment that reuses it accepts a SUPER_ADMIN token anyone can mint.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ARCHITECTURE · ONE REQUEST</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A request crosses six checkpoints before it touches data</a:t>
            </a:r>
            <a:endParaRPr lang="en-US" sz="3000" dirty="0"/>
          </a:p>
        </p:txBody>
      </p:sp>
      <p:sp>
        <p:nvSpPr>
          <p:cNvPr id="4" name="Shape 2"/>
          <p:cNvSpPr/>
          <p:nvPr/>
        </p:nvSpPr>
        <p:spPr>
          <a:xfrm>
            <a:off x="812780" y="1841454"/>
            <a:ext cx="1587460" cy="609585"/>
          </a:xfrm>
          <a:prstGeom prst="roundRect">
            <a:avLst>
              <a:gd name="adj" fmla="val 14583"/>
            </a:avLst>
          </a:prstGeom>
          <a:solidFill>
            <a:srgbClr val="3F5F95"/>
          </a:solidFill>
          <a:ln/>
        </p:spPr>
      </p:sp>
      <p:pic>
        <p:nvPicPr>
          <p:cNvPr id="5" name="Image 0" descr="preencoded.png">    </p:cNvPr>
          <p:cNvPicPr>
            <a:picLocks noChangeAspect="1"/>
          </p:cNvPicPr>
          <p:nvPr/>
        </p:nvPicPr>
        <p:blipFill>
          <a:blip r:embed="rId1"/>
          <a:stretch>
            <a:fillRect/>
          </a:stretch>
        </p:blipFill>
        <p:spPr>
          <a:xfrm>
            <a:off x="1220856" y="2044649"/>
            <a:ext cx="203195" cy="203195"/>
          </a:xfrm>
          <a:prstGeom prst="rect">
            <a:avLst/>
          </a:prstGeom>
        </p:spPr>
      </p:pic>
      <p:sp>
        <p:nvSpPr>
          <p:cNvPr id="6" name="Text 3"/>
          <p:cNvSpPr txBox="1"/>
          <p:nvPr/>
        </p:nvSpPr>
        <p:spPr>
          <a:xfrm>
            <a:off x="1500249" y="2021829"/>
            <a:ext cx="568112"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Client</a:t>
            </a:r>
            <a:endParaRPr lang="en-US" sz="1400" dirty="0"/>
          </a:p>
        </p:txBody>
      </p:sp>
      <p:sp>
        <p:nvSpPr>
          <p:cNvPr id="7" name="Shape 4"/>
          <p:cNvSpPr/>
          <p:nvPr/>
        </p:nvSpPr>
        <p:spPr>
          <a:xfrm>
            <a:off x="812780" y="2603435"/>
            <a:ext cx="1587460" cy="2095448"/>
          </a:xfrm>
          <a:prstGeom prst="roundRect">
            <a:avLst>
              <a:gd name="adj" fmla="val 5600"/>
            </a:avLst>
          </a:prstGeom>
          <a:solidFill>
            <a:srgbClr val="E6EBF3"/>
          </a:solidFill>
          <a:ln/>
        </p:spPr>
      </p:sp>
      <p:pic>
        <p:nvPicPr>
          <p:cNvPr id="8" name="Image 1" descr="preencoded.png">    </p:cNvPr>
          <p:cNvPicPr>
            <a:picLocks noChangeAspect="1"/>
          </p:cNvPicPr>
          <p:nvPr/>
        </p:nvPicPr>
        <p:blipFill>
          <a:blip r:embed="rId2"/>
          <a:stretch>
            <a:fillRect/>
          </a:stretch>
        </p:blipFill>
        <p:spPr>
          <a:xfrm>
            <a:off x="914377" y="2705032"/>
            <a:ext cx="165096" cy="165096"/>
          </a:xfrm>
          <a:prstGeom prst="rect">
            <a:avLst/>
          </a:prstGeom>
        </p:spPr>
      </p:pic>
      <p:sp>
        <p:nvSpPr>
          <p:cNvPr id="9" name="Text 5"/>
          <p:cNvSpPr txBox="1"/>
          <p:nvPr/>
        </p:nvSpPr>
        <p:spPr>
          <a:xfrm>
            <a:off x="1142971" y="2705032"/>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Access JWT, 15 min, in memory</a:t>
            </a:r>
            <a:endParaRPr lang="en-US" sz="1200" dirty="0"/>
          </a:p>
        </p:txBody>
      </p:sp>
      <p:pic>
        <p:nvPicPr>
          <p:cNvPr id="10" name="Image 2" descr="preencoded.png">    </p:cNvPr>
          <p:cNvPicPr>
            <a:picLocks noChangeAspect="1"/>
          </p:cNvPicPr>
          <p:nvPr/>
        </p:nvPicPr>
        <p:blipFill>
          <a:blip r:embed="rId3"/>
          <a:stretch>
            <a:fillRect/>
          </a:stretch>
        </p:blipFill>
        <p:spPr>
          <a:xfrm>
            <a:off x="914377" y="3177302"/>
            <a:ext cx="165096" cy="165096"/>
          </a:xfrm>
          <a:prstGeom prst="rect">
            <a:avLst/>
          </a:prstGeom>
        </p:spPr>
      </p:pic>
      <p:sp>
        <p:nvSpPr>
          <p:cNvPr id="11" name="Text 6"/>
          <p:cNvSpPr txBox="1"/>
          <p:nvPr/>
        </p:nvSpPr>
        <p:spPr>
          <a:xfrm>
            <a:off x="1142971" y="3177302"/>
            <a:ext cx="1294352" cy="594107"/>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Refresh rotated; replay kills the family</a:t>
            </a:r>
            <a:endParaRPr lang="en-US" sz="1200" dirty="0"/>
          </a:p>
        </p:txBody>
      </p:sp>
      <p:sp>
        <p:nvSpPr>
          <p:cNvPr id="12" name="Shape 7"/>
          <p:cNvSpPr/>
          <p:nvPr/>
        </p:nvSpPr>
        <p:spPr>
          <a:xfrm>
            <a:off x="2609785" y="1841454"/>
            <a:ext cx="1587460" cy="609585"/>
          </a:xfrm>
          <a:prstGeom prst="roundRect">
            <a:avLst>
              <a:gd name="adj" fmla="val 14583"/>
            </a:avLst>
          </a:prstGeom>
          <a:solidFill>
            <a:srgbClr val="2454C5"/>
          </a:solidFill>
          <a:ln/>
        </p:spPr>
      </p:sp>
      <p:pic>
        <p:nvPicPr>
          <p:cNvPr id="13" name="Image 3" descr="preencoded.png">    </p:cNvPr>
          <p:cNvPicPr>
            <a:picLocks noChangeAspect="1"/>
          </p:cNvPicPr>
          <p:nvPr/>
        </p:nvPicPr>
        <p:blipFill>
          <a:blip r:embed="rId4"/>
          <a:stretch>
            <a:fillRect/>
          </a:stretch>
        </p:blipFill>
        <p:spPr>
          <a:xfrm>
            <a:off x="2863084" y="2044649"/>
            <a:ext cx="203195" cy="203195"/>
          </a:xfrm>
          <a:prstGeom prst="rect">
            <a:avLst/>
          </a:prstGeom>
        </p:spPr>
      </p:pic>
      <p:sp>
        <p:nvSpPr>
          <p:cNvPr id="14" name="Text 8"/>
          <p:cNvSpPr txBox="1"/>
          <p:nvPr/>
        </p:nvSpPr>
        <p:spPr>
          <a:xfrm>
            <a:off x="3142477" y="2021829"/>
            <a:ext cx="897645"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AWS edge</a:t>
            </a:r>
            <a:endParaRPr lang="en-US" sz="1400" dirty="0"/>
          </a:p>
        </p:txBody>
      </p:sp>
      <p:sp>
        <p:nvSpPr>
          <p:cNvPr id="15" name="Shape 9"/>
          <p:cNvSpPr/>
          <p:nvPr/>
        </p:nvSpPr>
        <p:spPr>
          <a:xfrm>
            <a:off x="2609785" y="2603435"/>
            <a:ext cx="1587460" cy="2095448"/>
          </a:xfrm>
          <a:prstGeom prst="roundRect">
            <a:avLst>
              <a:gd name="adj" fmla="val 5600"/>
            </a:avLst>
          </a:prstGeom>
          <a:solidFill>
            <a:srgbClr val="E3EBFA"/>
          </a:solidFill>
          <a:ln/>
        </p:spPr>
      </p:sp>
      <p:pic>
        <p:nvPicPr>
          <p:cNvPr id="16" name="Image 4" descr="preencoded.png">    </p:cNvPr>
          <p:cNvPicPr>
            <a:picLocks noChangeAspect="1"/>
          </p:cNvPicPr>
          <p:nvPr/>
        </p:nvPicPr>
        <p:blipFill>
          <a:blip r:embed="rId5"/>
          <a:stretch>
            <a:fillRect/>
          </a:stretch>
        </p:blipFill>
        <p:spPr>
          <a:xfrm>
            <a:off x="2711382" y="2705032"/>
            <a:ext cx="165096" cy="165096"/>
          </a:xfrm>
          <a:prstGeom prst="rect">
            <a:avLst/>
          </a:prstGeom>
        </p:spPr>
      </p:pic>
      <p:sp>
        <p:nvSpPr>
          <p:cNvPr id="17" name="Text 10"/>
          <p:cNvSpPr txBox="1"/>
          <p:nvPr/>
        </p:nvSpPr>
        <p:spPr>
          <a:xfrm>
            <a:off x="2939976" y="2705032"/>
            <a:ext cx="1294352" cy="594107"/>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TLS at CloudFront or ALB</a:t>
            </a:r>
            <a:endParaRPr lang="en-US" sz="1200" dirty="0"/>
          </a:p>
        </p:txBody>
      </p:sp>
      <p:pic>
        <p:nvPicPr>
          <p:cNvPr id="18" name="Image 5" descr="preencoded.png">    </p:cNvPr>
          <p:cNvPicPr>
            <a:picLocks noChangeAspect="1"/>
          </p:cNvPicPr>
          <p:nvPr/>
        </p:nvPicPr>
        <p:blipFill>
          <a:blip r:embed="rId6"/>
          <a:stretch>
            <a:fillRect/>
          </a:stretch>
        </p:blipFill>
        <p:spPr>
          <a:xfrm>
            <a:off x="2711382" y="3375337"/>
            <a:ext cx="165096" cy="165096"/>
          </a:xfrm>
          <a:prstGeom prst="rect">
            <a:avLst/>
          </a:prstGeom>
        </p:spPr>
      </p:pic>
      <p:sp>
        <p:nvSpPr>
          <p:cNvPr id="19" name="Text 11"/>
          <p:cNvSpPr txBox="1"/>
          <p:nvPr/>
        </p:nvSpPr>
        <p:spPr>
          <a:xfrm>
            <a:off x="2939976" y="3375337"/>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WAF managed rules</a:t>
            </a:r>
            <a:endParaRPr lang="en-US" sz="1200" dirty="0"/>
          </a:p>
        </p:txBody>
      </p:sp>
      <p:pic>
        <p:nvPicPr>
          <p:cNvPr id="20" name="Image 6" descr="preencoded.png">    </p:cNvPr>
          <p:cNvPicPr>
            <a:picLocks noChangeAspect="1"/>
          </p:cNvPicPr>
          <p:nvPr/>
        </p:nvPicPr>
        <p:blipFill>
          <a:blip r:embed="rId7"/>
          <a:stretch>
            <a:fillRect/>
          </a:stretch>
        </p:blipFill>
        <p:spPr>
          <a:xfrm>
            <a:off x="2711382" y="3847607"/>
            <a:ext cx="165096" cy="165096"/>
          </a:xfrm>
          <a:prstGeom prst="rect">
            <a:avLst/>
          </a:prstGeom>
        </p:spPr>
      </p:pic>
      <p:sp>
        <p:nvSpPr>
          <p:cNvPr id="21" name="Text 12"/>
          <p:cNvSpPr txBox="1"/>
          <p:nvPr/>
        </p:nvSpPr>
        <p:spPr>
          <a:xfrm>
            <a:off x="2939976" y="3847607"/>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Only 443 and 80 open</a:t>
            </a:r>
            <a:endParaRPr lang="en-US" sz="1200" dirty="0"/>
          </a:p>
        </p:txBody>
      </p:sp>
      <p:sp>
        <p:nvSpPr>
          <p:cNvPr id="22" name="Shape 13"/>
          <p:cNvSpPr/>
          <p:nvPr/>
        </p:nvSpPr>
        <p:spPr>
          <a:xfrm>
            <a:off x="2400240" y="2146246"/>
            <a:ext cx="209545" cy="63"/>
          </a:xfrm>
          <a:prstGeom prst="line">
            <a:avLst/>
          </a:prstGeom>
          <a:noFill/>
          <a:ln w="19050">
            <a:solidFill>
              <a:srgbClr val="5C6B8A"/>
            </a:solidFill>
            <a:prstDash val="solid"/>
            <a:tailEnd type="triangle"/>
          </a:ln>
        </p:spPr>
      </p:sp>
      <p:sp>
        <p:nvSpPr>
          <p:cNvPr id="23" name="Shape 14"/>
          <p:cNvSpPr/>
          <p:nvPr/>
        </p:nvSpPr>
        <p:spPr>
          <a:xfrm>
            <a:off x="4406790" y="1841454"/>
            <a:ext cx="1587460" cy="609585"/>
          </a:xfrm>
          <a:prstGeom prst="roundRect">
            <a:avLst>
              <a:gd name="adj" fmla="val 14583"/>
            </a:avLst>
          </a:prstGeom>
          <a:solidFill>
            <a:srgbClr val="B8306E"/>
          </a:solidFill>
          <a:ln/>
        </p:spPr>
      </p:sp>
      <p:pic>
        <p:nvPicPr>
          <p:cNvPr id="24" name="Image 7" descr="preencoded.png">    </p:cNvPr>
          <p:cNvPicPr>
            <a:picLocks noChangeAspect="1"/>
          </p:cNvPicPr>
          <p:nvPr/>
        </p:nvPicPr>
        <p:blipFill>
          <a:blip r:embed="rId8"/>
          <a:stretch>
            <a:fillRect/>
          </a:stretch>
        </p:blipFill>
        <p:spPr>
          <a:xfrm>
            <a:off x="4835603" y="2044649"/>
            <a:ext cx="203195" cy="203195"/>
          </a:xfrm>
          <a:prstGeom prst="rect">
            <a:avLst/>
          </a:prstGeom>
        </p:spPr>
      </p:pic>
      <p:sp>
        <p:nvSpPr>
          <p:cNvPr id="25" name="Text 15"/>
          <p:cNvSpPr txBox="1"/>
          <p:nvPr/>
        </p:nvSpPr>
        <p:spPr>
          <a:xfrm>
            <a:off x="5114996" y="2021829"/>
            <a:ext cx="526640"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nginx</a:t>
            </a:r>
            <a:endParaRPr lang="en-US" sz="1400" dirty="0"/>
          </a:p>
        </p:txBody>
      </p:sp>
      <p:sp>
        <p:nvSpPr>
          <p:cNvPr id="26" name="Shape 16"/>
          <p:cNvSpPr/>
          <p:nvPr/>
        </p:nvSpPr>
        <p:spPr>
          <a:xfrm>
            <a:off x="4406790" y="2603435"/>
            <a:ext cx="1587460" cy="2095448"/>
          </a:xfrm>
          <a:prstGeom prst="roundRect">
            <a:avLst>
              <a:gd name="adj" fmla="val 5600"/>
            </a:avLst>
          </a:prstGeom>
          <a:solidFill>
            <a:srgbClr val="FAE3ED"/>
          </a:solidFill>
          <a:ln/>
        </p:spPr>
      </p:sp>
      <p:pic>
        <p:nvPicPr>
          <p:cNvPr id="27" name="Image 8" descr="preencoded.png">    </p:cNvPr>
          <p:cNvPicPr>
            <a:picLocks noChangeAspect="1"/>
          </p:cNvPicPr>
          <p:nvPr/>
        </p:nvPicPr>
        <p:blipFill>
          <a:blip r:embed="rId9"/>
          <a:stretch>
            <a:fillRect/>
          </a:stretch>
        </p:blipFill>
        <p:spPr>
          <a:xfrm>
            <a:off x="4508387" y="2705032"/>
            <a:ext cx="165096" cy="165096"/>
          </a:xfrm>
          <a:prstGeom prst="rect">
            <a:avLst/>
          </a:prstGeom>
        </p:spPr>
      </p:pic>
      <p:sp>
        <p:nvSpPr>
          <p:cNvPr id="28" name="Text 17"/>
          <p:cNvSpPr txBox="1"/>
          <p:nvPr/>
        </p:nvSpPr>
        <p:spPr>
          <a:xfrm>
            <a:off x="4736982" y="2705032"/>
            <a:ext cx="1154338"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Static SPA only</a:t>
            </a:r>
            <a:endParaRPr lang="en-US" sz="1200" dirty="0"/>
          </a:p>
        </p:txBody>
      </p:sp>
      <p:pic>
        <p:nvPicPr>
          <p:cNvPr id="29" name="Image 9" descr="preencoded.png">    </p:cNvPr>
          <p:cNvPicPr>
            <a:picLocks noChangeAspect="1"/>
          </p:cNvPicPr>
          <p:nvPr/>
        </p:nvPicPr>
        <p:blipFill>
          <a:blip r:embed="rId10"/>
          <a:stretch>
            <a:fillRect/>
          </a:stretch>
        </p:blipFill>
        <p:spPr>
          <a:xfrm>
            <a:off x="4508387" y="2979266"/>
            <a:ext cx="165096" cy="165096"/>
          </a:xfrm>
          <a:prstGeom prst="rect">
            <a:avLst/>
          </a:prstGeom>
        </p:spPr>
      </p:pic>
      <p:sp>
        <p:nvSpPr>
          <p:cNvPr id="30" name="Text 18"/>
          <p:cNvSpPr txBox="1"/>
          <p:nvPr/>
        </p:nvSpPr>
        <p:spPr>
          <a:xfrm>
            <a:off x="4736982" y="2979266"/>
            <a:ext cx="1252570"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/api/auth → auth</a:t>
            </a:r>
            <a:endParaRPr lang="en-US" sz="1200" dirty="0"/>
          </a:p>
        </p:txBody>
      </p:sp>
      <p:pic>
        <p:nvPicPr>
          <p:cNvPr id="31" name="Image 10" descr="preencoded.png">    </p:cNvPr>
          <p:cNvPicPr>
            <a:picLocks noChangeAspect="1"/>
          </p:cNvPicPr>
          <p:nvPr/>
        </p:nvPicPr>
        <p:blipFill>
          <a:blip r:embed="rId11"/>
          <a:stretch>
            <a:fillRect/>
          </a:stretch>
        </p:blipFill>
        <p:spPr>
          <a:xfrm>
            <a:off x="4508387" y="3253500"/>
            <a:ext cx="165096" cy="165096"/>
          </a:xfrm>
          <a:prstGeom prst="rect">
            <a:avLst/>
          </a:prstGeom>
        </p:spPr>
      </p:pic>
      <p:sp>
        <p:nvSpPr>
          <p:cNvPr id="32" name="Text 19"/>
          <p:cNvSpPr txBox="1"/>
          <p:nvPr/>
        </p:nvSpPr>
        <p:spPr>
          <a:xfrm>
            <a:off x="4736982" y="3253500"/>
            <a:ext cx="1176451"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/api → gateway</a:t>
            </a:r>
            <a:endParaRPr lang="en-US" sz="1200" dirty="0"/>
          </a:p>
        </p:txBody>
      </p:sp>
      <p:sp>
        <p:nvSpPr>
          <p:cNvPr id="33" name="Shape 20"/>
          <p:cNvSpPr/>
          <p:nvPr/>
        </p:nvSpPr>
        <p:spPr>
          <a:xfrm>
            <a:off x="4197245" y="2146246"/>
            <a:ext cx="209545" cy="63"/>
          </a:xfrm>
          <a:prstGeom prst="line">
            <a:avLst/>
          </a:prstGeom>
          <a:noFill/>
          <a:ln w="19050">
            <a:solidFill>
              <a:srgbClr val="5C6B8A"/>
            </a:solidFill>
            <a:prstDash val="solid"/>
            <a:tailEnd type="triangle"/>
          </a:ln>
        </p:spPr>
      </p:sp>
      <p:sp>
        <p:nvSpPr>
          <p:cNvPr id="34" name="Shape 21"/>
          <p:cNvSpPr/>
          <p:nvPr/>
        </p:nvSpPr>
        <p:spPr>
          <a:xfrm>
            <a:off x="6203795" y="1841454"/>
            <a:ext cx="1587460" cy="609585"/>
          </a:xfrm>
          <a:prstGeom prst="roundRect">
            <a:avLst>
              <a:gd name="adj" fmla="val 14583"/>
            </a:avLst>
          </a:prstGeom>
          <a:solidFill>
            <a:srgbClr val="3F5F95"/>
          </a:solidFill>
          <a:ln/>
        </p:spPr>
      </p:sp>
      <p:pic>
        <p:nvPicPr>
          <p:cNvPr id="35" name="Image 11" descr="preencoded.png">    </p:cNvPr>
          <p:cNvPicPr>
            <a:picLocks noChangeAspect="1"/>
          </p:cNvPicPr>
          <p:nvPr/>
        </p:nvPicPr>
        <p:blipFill>
          <a:blip r:embed="rId12"/>
          <a:stretch>
            <a:fillRect/>
          </a:stretch>
        </p:blipFill>
        <p:spPr>
          <a:xfrm>
            <a:off x="6355000" y="2044649"/>
            <a:ext cx="203195" cy="203195"/>
          </a:xfrm>
          <a:prstGeom prst="rect">
            <a:avLst/>
          </a:prstGeom>
        </p:spPr>
      </p:pic>
      <p:sp>
        <p:nvSpPr>
          <p:cNvPr id="36" name="Text 22"/>
          <p:cNvSpPr txBox="1"/>
          <p:nvPr/>
        </p:nvSpPr>
        <p:spPr>
          <a:xfrm>
            <a:off x="6634394" y="2021829"/>
            <a:ext cx="1126335"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API gateway</a:t>
            </a:r>
            <a:endParaRPr lang="en-US" sz="1400" dirty="0"/>
          </a:p>
        </p:txBody>
      </p:sp>
      <p:sp>
        <p:nvSpPr>
          <p:cNvPr id="37" name="Shape 23"/>
          <p:cNvSpPr/>
          <p:nvPr/>
        </p:nvSpPr>
        <p:spPr>
          <a:xfrm>
            <a:off x="6203795" y="2603435"/>
            <a:ext cx="1587460" cy="2095448"/>
          </a:xfrm>
          <a:prstGeom prst="roundRect">
            <a:avLst>
              <a:gd name="adj" fmla="val 5600"/>
            </a:avLst>
          </a:prstGeom>
          <a:solidFill>
            <a:srgbClr val="E6EBF3"/>
          </a:solidFill>
          <a:ln/>
        </p:spPr>
      </p:sp>
      <p:pic>
        <p:nvPicPr>
          <p:cNvPr id="38" name="Image 12" descr="preencoded.png">    </p:cNvPr>
          <p:cNvPicPr>
            <a:picLocks noChangeAspect="1"/>
          </p:cNvPicPr>
          <p:nvPr/>
        </p:nvPicPr>
        <p:blipFill>
          <a:blip r:embed="rId13"/>
          <a:stretch>
            <a:fillRect/>
          </a:stretch>
        </p:blipFill>
        <p:spPr>
          <a:xfrm>
            <a:off x="6305392" y="2705032"/>
            <a:ext cx="165096" cy="165096"/>
          </a:xfrm>
          <a:prstGeom prst="rect">
            <a:avLst/>
          </a:prstGeom>
        </p:spPr>
      </p:pic>
      <p:sp>
        <p:nvSpPr>
          <p:cNvPr id="39" name="Text 24"/>
          <p:cNvSpPr txBox="1"/>
          <p:nvPr/>
        </p:nvSpPr>
        <p:spPr>
          <a:xfrm>
            <a:off x="6533987" y="2705032"/>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Token introspection</a:t>
            </a:r>
            <a:endParaRPr lang="en-US" sz="1200" dirty="0"/>
          </a:p>
        </p:txBody>
      </p:sp>
      <p:pic>
        <p:nvPicPr>
          <p:cNvPr id="40" name="Image 13" descr="preencoded.png">    </p:cNvPr>
          <p:cNvPicPr>
            <a:picLocks noChangeAspect="1"/>
          </p:cNvPicPr>
          <p:nvPr/>
        </p:nvPicPr>
        <p:blipFill>
          <a:blip r:embed="rId14"/>
          <a:stretch>
            <a:fillRect/>
          </a:stretch>
        </p:blipFill>
        <p:spPr>
          <a:xfrm>
            <a:off x="6305392" y="3177302"/>
            <a:ext cx="165096" cy="165096"/>
          </a:xfrm>
          <a:prstGeom prst="rect">
            <a:avLst/>
          </a:prstGeom>
        </p:spPr>
      </p:pic>
      <p:sp>
        <p:nvSpPr>
          <p:cNvPr id="41" name="Text 25"/>
          <p:cNvSpPr txBox="1"/>
          <p:nvPr/>
        </p:nvSpPr>
        <p:spPr>
          <a:xfrm>
            <a:off x="6533987" y="3177302"/>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Per-user rate limits</a:t>
            </a:r>
            <a:endParaRPr lang="en-US" sz="1200" dirty="0"/>
          </a:p>
        </p:txBody>
      </p:sp>
      <p:pic>
        <p:nvPicPr>
          <p:cNvPr id="42" name="Image 14" descr="preencoded.png">    </p:cNvPr>
          <p:cNvPicPr>
            <a:picLocks noChangeAspect="1"/>
          </p:cNvPicPr>
          <p:nvPr/>
        </p:nvPicPr>
        <p:blipFill>
          <a:blip r:embed="rId15"/>
          <a:stretch>
            <a:fillRect/>
          </a:stretch>
        </p:blipFill>
        <p:spPr>
          <a:xfrm>
            <a:off x="6305392" y="3649571"/>
            <a:ext cx="165096" cy="165096"/>
          </a:xfrm>
          <a:prstGeom prst="rect">
            <a:avLst/>
          </a:prstGeom>
        </p:spPr>
      </p:pic>
      <p:sp>
        <p:nvSpPr>
          <p:cNvPr id="43" name="Text 26"/>
          <p:cNvSpPr txBox="1"/>
          <p:nvPr/>
        </p:nvSpPr>
        <p:spPr>
          <a:xfrm>
            <a:off x="6533987" y="3649571"/>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WAF regex, HTTPS</a:t>
            </a:r>
            <a:endParaRPr lang="en-US" sz="1200" dirty="0"/>
          </a:p>
        </p:txBody>
      </p:sp>
      <p:pic>
        <p:nvPicPr>
          <p:cNvPr id="44" name="Image 15" descr="preencoded.png">    </p:cNvPr>
          <p:cNvPicPr>
            <a:picLocks noChangeAspect="1"/>
          </p:cNvPicPr>
          <p:nvPr/>
        </p:nvPicPr>
        <p:blipFill>
          <a:blip r:embed="rId16"/>
          <a:stretch>
            <a:fillRect/>
          </a:stretch>
        </p:blipFill>
        <p:spPr>
          <a:xfrm>
            <a:off x="6305392" y="4121841"/>
            <a:ext cx="165096" cy="165096"/>
          </a:xfrm>
          <a:prstGeom prst="rect">
            <a:avLst/>
          </a:prstGeom>
        </p:spPr>
      </p:pic>
      <p:sp>
        <p:nvSpPr>
          <p:cNvPr id="45" name="Text 27"/>
          <p:cNvSpPr txBox="1"/>
          <p:nvPr/>
        </p:nvSpPr>
        <p:spPr>
          <a:xfrm>
            <a:off x="6533987" y="4121841"/>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Public-path allow-list</a:t>
            </a:r>
            <a:endParaRPr lang="en-US" sz="1200" dirty="0"/>
          </a:p>
        </p:txBody>
      </p:sp>
      <p:sp>
        <p:nvSpPr>
          <p:cNvPr id="46" name="Shape 28"/>
          <p:cNvSpPr/>
          <p:nvPr/>
        </p:nvSpPr>
        <p:spPr>
          <a:xfrm>
            <a:off x="5994250" y="2146246"/>
            <a:ext cx="209545" cy="63"/>
          </a:xfrm>
          <a:prstGeom prst="line">
            <a:avLst/>
          </a:prstGeom>
          <a:noFill/>
          <a:ln w="19050">
            <a:solidFill>
              <a:srgbClr val="5C6B8A"/>
            </a:solidFill>
            <a:prstDash val="solid"/>
            <a:tailEnd type="triangle"/>
          </a:ln>
        </p:spPr>
      </p:sp>
      <p:sp>
        <p:nvSpPr>
          <p:cNvPr id="47" name="Shape 29"/>
          <p:cNvSpPr/>
          <p:nvPr/>
        </p:nvSpPr>
        <p:spPr>
          <a:xfrm>
            <a:off x="8000800" y="1841454"/>
            <a:ext cx="1587460" cy="609585"/>
          </a:xfrm>
          <a:prstGeom prst="roundRect">
            <a:avLst>
              <a:gd name="adj" fmla="val 14583"/>
            </a:avLst>
          </a:prstGeom>
          <a:solidFill>
            <a:srgbClr val="0B7F74"/>
          </a:solidFill>
          <a:ln/>
        </p:spPr>
      </p:sp>
      <p:pic>
        <p:nvPicPr>
          <p:cNvPr id="48" name="Image 16" descr="preencoded.png">    </p:cNvPr>
          <p:cNvPicPr>
            <a:picLocks noChangeAspect="1"/>
          </p:cNvPicPr>
          <p:nvPr/>
        </p:nvPicPr>
        <p:blipFill>
          <a:blip r:embed="rId17"/>
          <a:stretch>
            <a:fillRect/>
          </a:stretch>
        </p:blipFill>
        <p:spPr>
          <a:xfrm>
            <a:off x="8347462" y="2044649"/>
            <a:ext cx="203195" cy="203195"/>
          </a:xfrm>
          <a:prstGeom prst="rect">
            <a:avLst/>
          </a:prstGeom>
        </p:spPr>
      </p:pic>
      <p:sp>
        <p:nvSpPr>
          <p:cNvPr id="49" name="Text 30"/>
          <p:cNvSpPr txBox="1"/>
          <p:nvPr/>
        </p:nvSpPr>
        <p:spPr>
          <a:xfrm>
            <a:off x="8626855" y="2021829"/>
            <a:ext cx="690843"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Service</a:t>
            </a:r>
            <a:endParaRPr lang="en-US" sz="1400" dirty="0"/>
          </a:p>
        </p:txBody>
      </p:sp>
      <p:sp>
        <p:nvSpPr>
          <p:cNvPr id="50" name="Shape 31"/>
          <p:cNvSpPr/>
          <p:nvPr/>
        </p:nvSpPr>
        <p:spPr>
          <a:xfrm>
            <a:off x="8000800" y="2603435"/>
            <a:ext cx="1587460" cy="2095448"/>
          </a:xfrm>
          <a:prstGeom prst="roundRect">
            <a:avLst>
              <a:gd name="adj" fmla="val 5600"/>
            </a:avLst>
          </a:prstGeom>
          <a:solidFill>
            <a:srgbClr val="DDF2EF"/>
          </a:solidFill>
          <a:ln/>
        </p:spPr>
      </p:sp>
      <p:pic>
        <p:nvPicPr>
          <p:cNvPr id="51" name="Image 17" descr="preencoded.png">    </p:cNvPr>
          <p:cNvPicPr>
            <a:picLocks noChangeAspect="1"/>
          </p:cNvPicPr>
          <p:nvPr/>
        </p:nvPicPr>
        <p:blipFill>
          <a:blip r:embed="rId18"/>
          <a:stretch>
            <a:fillRect/>
          </a:stretch>
        </p:blipFill>
        <p:spPr>
          <a:xfrm>
            <a:off x="8102397" y="2705032"/>
            <a:ext cx="165096" cy="165096"/>
          </a:xfrm>
          <a:prstGeom prst="rect">
            <a:avLst/>
          </a:prstGeom>
        </p:spPr>
      </p:pic>
      <p:sp>
        <p:nvSpPr>
          <p:cNvPr id="52" name="Text 32"/>
          <p:cNvSpPr txBox="1"/>
          <p:nvPr/>
        </p:nvSpPr>
        <p:spPr>
          <a:xfrm>
            <a:off x="8330992" y="2705032"/>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JWT filter, RBAC rules</a:t>
            </a:r>
            <a:endParaRPr lang="en-US" sz="1200" dirty="0"/>
          </a:p>
        </p:txBody>
      </p:sp>
      <p:pic>
        <p:nvPicPr>
          <p:cNvPr id="53" name="Image 18" descr="preencoded.png">    </p:cNvPr>
          <p:cNvPicPr>
            <a:picLocks noChangeAspect="1"/>
          </p:cNvPicPr>
          <p:nvPr/>
        </p:nvPicPr>
        <p:blipFill>
          <a:blip r:embed="rId19"/>
          <a:stretch>
            <a:fillRect/>
          </a:stretch>
        </p:blipFill>
        <p:spPr>
          <a:xfrm>
            <a:off x="8102397" y="3177302"/>
            <a:ext cx="165096" cy="165096"/>
          </a:xfrm>
          <a:prstGeom prst="rect">
            <a:avLst/>
          </a:prstGeom>
        </p:spPr>
      </p:pic>
      <p:sp>
        <p:nvSpPr>
          <p:cNvPr id="54" name="Text 33"/>
          <p:cNvSpPr txBox="1"/>
          <p:nvPr/>
        </p:nvSpPr>
        <p:spPr>
          <a:xfrm>
            <a:off x="8330992" y="3177302"/>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Ownership → 404</a:t>
            </a:r>
            <a:endParaRPr lang="en-US" sz="1200" dirty="0"/>
          </a:p>
        </p:txBody>
      </p:sp>
      <p:pic>
        <p:nvPicPr>
          <p:cNvPr id="55" name="Image 19" descr="preencoded.png">    </p:cNvPr>
          <p:cNvPicPr>
            <a:picLocks noChangeAspect="1"/>
          </p:cNvPicPr>
          <p:nvPr/>
        </p:nvPicPr>
        <p:blipFill>
          <a:blip r:embed="rId20"/>
          <a:stretch>
            <a:fillRect/>
          </a:stretch>
        </p:blipFill>
        <p:spPr>
          <a:xfrm>
            <a:off x="8102397" y="3649571"/>
            <a:ext cx="165096" cy="165096"/>
          </a:xfrm>
          <a:prstGeom prst="rect">
            <a:avLst/>
          </a:prstGeom>
        </p:spPr>
      </p:pic>
      <p:sp>
        <p:nvSpPr>
          <p:cNvPr id="56" name="Text 34"/>
          <p:cNvSpPr txBox="1"/>
          <p:nvPr/>
        </p:nvSpPr>
        <p:spPr>
          <a:xfrm>
            <a:off x="8330992" y="3649571"/>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/internal/** needs a key</a:t>
            </a:r>
            <a:endParaRPr lang="en-US" sz="1200" dirty="0"/>
          </a:p>
        </p:txBody>
      </p:sp>
      <p:sp>
        <p:nvSpPr>
          <p:cNvPr id="57" name="Shape 35"/>
          <p:cNvSpPr/>
          <p:nvPr/>
        </p:nvSpPr>
        <p:spPr>
          <a:xfrm>
            <a:off x="7791255" y="2146246"/>
            <a:ext cx="209545" cy="63"/>
          </a:xfrm>
          <a:prstGeom prst="line">
            <a:avLst/>
          </a:prstGeom>
          <a:noFill/>
          <a:ln w="19050">
            <a:solidFill>
              <a:srgbClr val="5C6B8A"/>
            </a:solidFill>
            <a:prstDash val="solid"/>
            <a:tailEnd type="triangle"/>
          </a:ln>
        </p:spPr>
      </p:sp>
      <p:sp>
        <p:nvSpPr>
          <p:cNvPr id="58" name="Shape 36"/>
          <p:cNvSpPr/>
          <p:nvPr/>
        </p:nvSpPr>
        <p:spPr>
          <a:xfrm>
            <a:off x="9797805" y="1841454"/>
            <a:ext cx="1587460" cy="609585"/>
          </a:xfrm>
          <a:prstGeom prst="roundRect">
            <a:avLst>
              <a:gd name="adj" fmla="val 14583"/>
            </a:avLst>
          </a:prstGeom>
          <a:solidFill>
            <a:srgbClr val="2F5C9A"/>
          </a:solidFill>
          <a:ln/>
        </p:spPr>
      </p:sp>
      <p:pic>
        <p:nvPicPr>
          <p:cNvPr id="59" name="Image 20" descr="preencoded.png">    </p:cNvPr>
          <p:cNvPicPr>
            <a:picLocks noChangeAspect="1"/>
          </p:cNvPicPr>
          <p:nvPr/>
        </p:nvPicPr>
        <p:blipFill>
          <a:blip r:embed="rId21"/>
          <a:stretch>
            <a:fillRect/>
          </a:stretch>
        </p:blipFill>
        <p:spPr>
          <a:xfrm>
            <a:off x="10264717" y="2044649"/>
            <a:ext cx="203195" cy="203195"/>
          </a:xfrm>
          <a:prstGeom prst="rect">
            <a:avLst/>
          </a:prstGeom>
        </p:spPr>
      </p:pic>
      <p:sp>
        <p:nvSpPr>
          <p:cNvPr id="60" name="Text 37"/>
          <p:cNvSpPr txBox="1"/>
          <p:nvPr/>
        </p:nvSpPr>
        <p:spPr>
          <a:xfrm>
            <a:off x="10544110" y="2021829"/>
            <a:ext cx="450442"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Data</a:t>
            </a:r>
            <a:endParaRPr lang="en-US" sz="1400" dirty="0"/>
          </a:p>
        </p:txBody>
      </p:sp>
      <p:sp>
        <p:nvSpPr>
          <p:cNvPr id="61" name="Shape 38"/>
          <p:cNvSpPr/>
          <p:nvPr/>
        </p:nvSpPr>
        <p:spPr>
          <a:xfrm>
            <a:off x="9797805" y="2603435"/>
            <a:ext cx="1587460" cy="2095448"/>
          </a:xfrm>
          <a:prstGeom prst="roundRect">
            <a:avLst>
              <a:gd name="adj" fmla="val 5600"/>
            </a:avLst>
          </a:prstGeom>
          <a:solidFill>
            <a:srgbClr val="E2EAF6"/>
          </a:solidFill>
          <a:ln/>
        </p:spPr>
      </p:sp>
      <p:pic>
        <p:nvPicPr>
          <p:cNvPr id="62" name="Image 21" descr="preencoded.png">    </p:cNvPr>
          <p:cNvPicPr>
            <a:picLocks noChangeAspect="1"/>
          </p:cNvPicPr>
          <p:nvPr/>
        </p:nvPicPr>
        <p:blipFill>
          <a:blip r:embed="rId22"/>
          <a:stretch>
            <a:fillRect/>
          </a:stretch>
        </p:blipFill>
        <p:spPr>
          <a:xfrm>
            <a:off x="9899403" y="2705032"/>
            <a:ext cx="165096" cy="165096"/>
          </a:xfrm>
          <a:prstGeom prst="rect">
            <a:avLst/>
          </a:prstGeom>
        </p:spPr>
      </p:pic>
      <p:sp>
        <p:nvSpPr>
          <p:cNvPr id="63" name="Text 39"/>
          <p:cNvSpPr txBox="1"/>
          <p:nvPr/>
        </p:nvSpPr>
        <p:spPr>
          <a:xfrm>
            <a:off x="10127997" y="2705032"/>
            <a:ext cx="891645" cy="198115"/>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KMS at rest</a:t>
            </a:r>
            <a:endParaRPr lang="en-US" sz="1200" dirty="0"/>
          </a:p>
        </p:txBody>
      </p:sp>
      <p:pic>
        <p:nvPicPr>
          <p:cNvPr id="64" name="Image 22" descr="preencoded.png">    </p:cNvPr>
          <p:cNvPicPr>
            <a:picLocks noChangeAspect="1"/>
          </p:cNvPicPr>
          <p:nvPr/>
        </p:nvPicPr>
        <p:blipFill>
          <a:blip r:embed="rId23"/>
          <a:stretch>
            <a:fillRect/>
          </a:stretch>
        </p:blipFill>
        <p:spPr>
          <a:xfrm>
            <a:off x="9899403" y="2979266"/>
            <a:ext cx="165096" cy="165096"/>
          </a:xfrm>
          <a:prstGeom prst="rect">
            <a:avLst/>
          </a:prstGeom>
        </p:spPr>
      </p:pic>
      <p:sp>
        <p:nvSpPr>
          <p:cNvPr id="65" name="Text 40"/>
          <p:cNvSpPr txBox="1"/>
          <p:nvPr/>
        </p:nvSpPr>
        <p:spPr>
          <a:xfrm>
            <a:off x="10127997" y="2979266"/>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PII fields encrypted</a:t>
            </a:r>
            <a:endParaRPr lang="en-US" sz="1200" dirty="0"/>
          </a:p>
        </p:txBody>
      </p:sp>
      <p:pic>
        <p:nvPicPr>
          <p:cNvPr id="66" name="Image 23" descr="preencoded.png">    </p:cNvPr>
          <p:cNvPicPr>
            <a:picLocks noChangeAspect="1"/>
          </p:cNvPicPr>
          <p:nvPr/>
        </p:nvPicPr>
        <p:blipFill>
          <a:blip r:embed="rId24"/>
          <a:stretch>
            <a:fillRect/>
          </a:stretch>
        </p:blipFill>
        <p:spPr>
          <a:xfrm>
            <a:off x="9899403" y="3451536"/>
            <a:ext cx="165096" cy="165096"/>
          </a:xfrm>
          <a:prstGeom prst="rect">
            <a:avLst/>
          </a:prstGeom>
        </p:spPr>
      </p:pic>
      <p:sp>
        <p:nvSpPr>
          <p:cNvPr id="67" name="Text 41"/>
          <p:cNvSpPr txBox="1"/>
          <p:nvPr/>
        </p:nvSpPr>
        <p:spPr>
          <a:xfrm>
            <a:off x="10127997" y="3451536"/>
            <a:ext cx="1294352" cy="396071"/>
          </a:xfrm>
          <a:prstGeom prst="rect">
            <a:avLst/>
          </a:prstGeom>
          <a:noFill/>
          <a:ln/>
        </p:spPr>
        <p:txBody>
          <a:bodyPr wrap="square" lIns="0" tIns="0" rIns="0" bIns="0" rtlCol="0" anchor="t"/>
          <a:lstStyle/>
          <a:p>
            <a:pPr algn="l" indent="0" marL="0">
              <a:lnSpc>
                <a:spcPct val="108333"/>
              </a:lnSpc>
              <a:buNone/>
            </a:pPr>
            <a:r>
              <a:rPr lang="en-US" sz="1200" dirty="0">
                <a:solidFill>
                  <a:srgbClr val="1F3A70"/>
                </a:solidFill>
                <a:latin typeface="Calibri" pitchFamily="34" charset="0"/>
                <a:ea typeface="Calibri" pitchFamily="34" charset="-122"/>
                <a:cs typeface="Calibri" pitchFamily="34" charset="-120"/>
              </a:rPr>
              <a:t>TLS to Redis and MSK</a:t>
            </a:r>
            <a:endParaRPr lang="en-US" sz="1200" dirty="0"/>
          </a:p>
        </p:txBody>
      </p:sp>
      <p:sp>
        <p:nvSpPr>
          <p:cNvPr id="68" name="Shape 42"/>
          <p:cNvSpPr/>
          <p:nvPr/>
        </p:nvSpPr>
        <p:spPr>
          <a:xfrm>
            <a:off x="9588260" y="2146246"/>
            <a:ext cx="209545" cy="63"/>
          </a:xfrm>
          <a:prstGeom prst="line">
            <a:avLst/>
          </a:prstGeom>
          <a:noFill/>
          <a:ln w="19050">
            <a:solidFill>
              <a:srgbClr val="5C6B8A"/>
            </a:solidFill>
            <a:prstDash val="solid"/>
            <a:tailEnd type="triangle"/>
          </a:ln>
        </p:spPr>
      </p:sp>
      <p:sp>
        <p:nvSpPr>
          <p:cNvPr id="69" name="Shape 43"/>
          <p:cNvSpPr/>
          <p:nvPr/>
        </p:nvSpPr>
        <p:spPr>
          <a:xfrm>
            <a:off x="812780" y="4889378"/>
            <a:ext cx="10566136" cy="761981"/>
          </a:xfrm>
          <a:prstGeom prst="roundRect">
            <a:avLst>
              <a:gd name="adj" fmla="val 11667"/>
            </a:avLst>
          </a:prstGeom>
          <a:solidFill>
            <a:srgbClr val="E0F2E8"/>
          </a:solidFill>
          <a:ln/>
        </p:spPr>
      </p:sp>
      <p:pic>
        <p:nvPicPr>
          <p:cNvPr id="70" name="Image 24" descr="preencoded.png">    </p:cNvPr>
          <p:cNvPicPr>
            <a:picLocks noChangeAspect="1"/>
          </p:cNvPicPr>
          <p:nvPr/>
        </p:nvPicPr>
        <p:blipFill>
          <a:blip r:embed="rId25"/>
          <a:stretch>
            <a:fillRect/>
          </a:stretch>
        </p:blipFill>
        <p:spPr>
          <a:xfrm>
            <a:off x="977876" y="5143371"/>
            <a:ext cx="253994" cy="253994"/>
          </a:xfrm>
          <a:prstGeom prst="rect">
            <a:avLst/>
          </a:prstGeom>
        </p:spPr>
      </p:pic>
      <p:sp>
        <p:nvSpPr>
          <p:cNvPr id="71" name="Text 44"/>
          <p:cNvSpPr txBox="1"/>
          <p:nvPr/>
        </p:nvSpPr>
        <p:spPr>
          <a:xfrm>
            <a:off x="1346166" y="5163711"/>
            <a:ext cx="9469725"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Around every hop:</a:t>
            </a:r>
            <a:pPr algn="l" indent="0" marL="0">
              <a:lnSpc>
                <a:spcPct val="116667"/>
              </a:lnSpc>
              <a:buNone/>
            </a:pPr>
            <a:r>
              <a:rPr lang="en-US" sz="1200" dirty="0">
                <a:solidFill>
                  <a:srgbClr val="1F3A70"/>
                </a:solidFill>
                <a:latin typeface="Calibri" pitchFamily="34" charset="0"/>
                <a:ea typeface="Calibri" pitchFamily="34" charset="-122"/>
                <a:cs typeface="Calibri" pitchFamily="34" charset="-120"/>
              </a:rPr>
              <a:t> non-root containers (UID 999), a Trivy image gate, OIDC from CI to AWS, secrets from Secrets Manager.</a:t>
            </a:r>
            <a:endParaRPr lang="en-US" sz="1200" dirty="0"/>
          </a:p>
        </p:txBody>
      </p:sp>
      <p:sp>
        <p:nvSpPr>
          <p:cNvPr id="72" name="Text 45"/>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73" name="Text 46"/>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ARCHITECTURE · TRUST BOUNDARIES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Each boundary has controls and at least one gap</a:t>
            </a:r>
            <a:endParaRPr lang="en-US" sz="3000" dirty="0"/>
          </a:p>
        </p:txBody>
      </p:sp>
      <p:sp>
        <p:nvSpPr>
          <p:cNvPr id="4" name="Shape 2"/>
          <p:cNvSpPr/>
          <p:nvPr/>
        </p:nvSpPr>
        <p:spPr>
          <a:xfrm>
            <a:off x="812780" y="1775376"/>
            <a:ext cx="2374841" cy="2298246"/>
          </a:xfrm>
          <a:prstGeom prst="roundRect">
            <a:avLst>
              <a:gd name="adj" fmla="val 4421"/>
            </a:avLst>
          </a:prstGeom>
          <a:solidFill>
            <a:srgbClr val="FCFDFF"/>
          </a:solidFill>
          <a:ln w="6350">
            <a:solidFill>
              <a:srgbClr val="D5DEEC"/>
            </a:solidFill>
            <a:prstDash val="solid"/>
          </a:ln>
        </p:spPr>
      </p:sp>
      <p:sp>
        <p:nvSpPr>
          <p:cNvPr id="5" name="Shape 3"/>
          <p:cNvSpPr/>
          <p:nvPr/>
        </p:nvSpPr>
        <p:spPr>
          <a:xfrm>
            <a:off x="819130" y="1781726"/>
            <a:ext cx="2362141" cy="426630"/>
          </a:xfrm>
          <a:prstGeom prst="roundRect">
            <a:avLst>
              <a:gd name="adj" fmla="val 22326"/>
            </a:avLst>
          </a:prstGeom>
          <a:solidFill>
            <a:srgbClr val="3F5F95"/>
          </a:solidFill>
          <a:ln/>
        </p:spPr>
      </p:sp>
      <p:pic>
        <p:nvPicPr>
          <p:cNvPr id="6" name="Image 0" descr="preencoded.png">    </p:cNvPr>
          <p:cNvPicPr>
            <a:picLocks noChangeAspect="1"/>
          </p:cNvPicPr>
          <p:nvPr/>
        </p:nvPicPr>
        <p:blipFill>
          <a:blip r:embed="rId1"/>
          <a:stretch>
            <a:fillRect/>
          </a:stretch>
        </p:blipFill>
        <p:spPr>
          <a:xfrm>
            <a:off x="946126" y="1893443"/>
            <a:ext cx="203195" cy="203195"/>
          </a:xfrm>
          <a:prstGeom prst="rect">
            <a:avLst/>
          </a:prstGeom>
        </p:spPr>
      </p:pic>
      <p:sp>
        <p:nvSpPr>
          <p:cNvPr id="7" name="Text 4"/>
          <p:cNvSpPr txBox="1"/>
          <p:nvPr/>
        </p:nvSpPr>
        <p:spPr>
          <a:xfrm>
            <a:off x="1225519" y="1870624"/>
            <a:ext cx="644707"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Clients</a:t>
            </a:r>
            <a:endParaRPr lang="en-US" sz="1400" dirty="0"/>
          </a:p>
        </p:txBody>
      </p:sp>
      <p:sp>
        <p:nvSpPr>
          <p:cNvPr id="8" name="Text 5"/>
          <p:cNvSpPr txBox="1"/>
          <p:nvPr/>
        </p:nvSpPr>
        <p:spPr>
          <a:xfrm>
            <a:off x="946126"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9" name="Image 1" descr="preencoded.png">    </p:cNvPr>
          <p:cNvPicPr>
            <a:picLocks noChangeAspect="1"/>
          </p:cNvPicPr>
          <p:nvPr/>
        </p:nvPicPr>
        <p:blipFill>
          <a:blip r:embed="rId2"/>
          <a:stretch>
            <a:fillRect/>
          </a:stretch>
        </p:blipFill>
        <p:spPr>
          <a:xfrm>
            <a:off x="946126" y="2594307"/>
            <a:ext cx="190495" cy="190495"/>
          </a:xfrm>
          <a:prstGeom prst="rect">
            <a:avLst/>
          </a:prstGeom>
        </p:spPr>
      </p:pic>
      <p:sp>
        <p:nvSpPr>
          <p:cNvPr id="10" name="Text 6"/>
          <p:cNvSpPr txBox="1"/>
          <p:nvPr/>
        </p:nvSpPr>
        <p:spPr>
          <a:xfrm>
            <a:off x="1225519" y="2586767"/>
            <a:ext cx="1650721"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15-min access tokens</a:t>
            </a:r>
            <a:endParaRPr lang="en-US" sz="1200" dirty="0"/>
          </a:p>
        </p:txBody>
      </p:sp>
      <p:pic>
        <p:nvPicPr>
          <p:cNvPr id="11" name="Image 2" descr="preencoded.png">    </p:cNvPr>
          <p:cNvPicPr>
            <a:picLocks noChangeAspect="1"/>
          </p:cNvPicPr>
          <p:nvPr/>
        </p:nvPicPr>
        <p:blipFill>
          <a:blip r:embed="rId3"/>
          <a:stretch>
            <a:fillRect/>
          </a:stretch>
        </p:blipFill>
        <p:spPr>
          <a:xfrm>
            <a:off x="946126" y="2876180"/>
            <a:ext cx="190495" cy="190495"/>
          </a:xfrm>
          <a:prstGeom prst="rect">
            <a:avLst/>
          </a:prstGeom>
        </p:spPr>
      </p:pic>
      <p:sp>
        <p:nvSpPr>
          <p:cNvPr id="12" name="Text 7"/>
          <p:cNvSpPr txBox="1"/>
          <p:nvPr/>
        </p:nvSpPr>
        <p:spPr>
          <a:xfrm>
            <a:off x="1225519" y="2868640"/>
            <a:ext cx="1214455"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rotation</a:t>
            </a:r>
            <a:endParaRPr lang="en-US" sz="1200" dirty="0"/>
          </a:p>
        </p:txBody>
      </p:sp>
      <p:sp>
        <p:nvSpPr>
          <p:cNvPr id="13" name="Text 8"/>
          <p:cNvSpPr txBox="1"/>
          <p:nvPr/>
        </p:nvSpPr>
        <p:spPr>
          <a:xfrm>
            <a:off x="946126"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14" name="Image 3" descr="preencoded.png">    </p:cNvPr>
          <p:cNvPicPr>
            <a:picLocks noChangeAspect="1"/>
          </p:cNvPicPr>
          <p:nvPr/>
        </p:nvPicPr>
        <p:blipFill>
          <a:blip r:embed="rId4"/>
          <a:stretch>
            <a:fillRect/>
          </a:stretch>
        </p:blipFill>
        <p:spPr>
          <a:xfrm>
            <a:off x="946126" y="3447567"/>
            <a:ext cx="190495" cy="190495"/>
          </a:xfrm>
          <a:prstGeom prst="rect">
            <a:avLst/>
          </a:prstGeom>
        </p:spPr>
      </p:pic>
      <p:sp>
        <p:nvSpPr>
          <p:cNvPr id="15" name="Text 9"/>
          <p:cNvSpPr txBox="1"/>
          <p:nvPr/>
        </p:nvSpPr>
        <p:spPr>
          <a:xfrm>
            <a:off x="1225519" y="3440026"/>
            <a:ext cx="177417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Refresh in localStorage</a:t>
            </a:r>
            <a:endParaRPr lang="en-US" sz="1200" dirty="0"/>
          </a:p>
        </p:txBody>
      </p:sp>
      <p:pic>
        <p:nvPicPr>
          <p:cNvPr id="16" name="Image 4" descr="preencoded.png">    </p:cNvPr>
          <p:cNvPicPr>
            <a:picLocks noChangeAspect="1"/>
          </p:cNvPicPr>
          <p:nvPr/>
        </p:nvPicPr>
        <p:blipFill>
          <a:blip r:embed="rId5"/>
          <a:stretch>
            <a:fillRect/>
          </a:stretch>
        </p:blipFill>
        <p:spPr>
          <a:xfrm>
            <a:off x="946126" y="3729440"/>
            <a:ext cx="190495" cy="190495"/>
          </a:xfrm>
          <a:prstGeom prst="rect">
            <a:avLst/>
          </a:prstGeom>
        </p:spPr>
      </p:pic>
      <p:sp>
        <p:nvSpPr>
          <p:cNvPr id="17" name="Text 10"/>
          <p:cNvSpPr txBox="1"/>
          <p:nvPr/>
        </p:nvSpPr>
        <p:spPr>
          <a:xfrm>
            <a:off x="1225519" y="3721900"/>
            <a:ext cx="131535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 CSP or HSTS</a:t>
            </a:r>
            <a:endParaRPr lang="en-US" sz="1200" dirty="0"/>
          </a:p>
        </p:txBody>
      </p:sp>
      <p:sp>
        <p:nvSpPr>
          <p:cNvPr id="18" name="Shape 11"/>
          <p:cNvSpPr/>
          <p:nvPr/>
        </p:nvSpPr>
        <p:spPr>
          <a:xfrm>
            <a:off x="3251119" y="2867350"/>
            <a:ext cx="228594" cy="114297"/>
          </a:xfrm>
          <a:prstGeom prst="rightArrow">
            <a:avLst/>
          </a:prstGeom>
          <a:solidFill>
            <a:srgbClr val="5C6B8A"/>
          </a:solidFill>
          <a:ln/>
        </p:spPr>
      </p:sp>
      <p:sp>
        <p:nvSpPr>
          <p:cNvPr id="19" name="Shape 12"/>
          <p:cNvSpPr/>
          <p:nvPr/>
        </p:nvSpPr>
        <p:spPr>
          <a:xfrm>
            <a:off x="3543211" y="1775376"/>
            <a:ext cx="2374841" cy="2298246"/>
          </a:xfrm>
          <a:prstGeom prst="roundRect">
            <a:avLst>
              <a:gd name="adj" fmla="val 4421"/>
            </a:avLst>
          </a:prstGeom>
          <a:solidFill>
            <a:srgbClr val="FCFDFF"/>
          </a:solidFill>
          <a:ln w="6350">
            <a:solidFill>
              <a:srgbClr val="D5DEEC"/>
            </a:solidFill>
            <a:prstDash val="solid"/>
          </a:ln>
        </p:spPr>
      </p:sp>
      <p:sp>
        <p:nvSpPr>
          <p:cNvPr id="20" name="Shape 13"/>
          <p:cNvSpPr/>
          <p:nvPr/>
        </p:nvSpPr>
        <p:spPr>
          <a:xfrm>
            <a:off x="3549561" y="1781726"/>
            <a:ext cx="2362141" cy="426630"/>
          </a:xfrm>
          <a:prstGeom prst="roundRect">
            <a:avLst>
              <a:gd name="adj" fmla="val 22326"/>
            </a:avLst>
          </a:prstGeom>
          <a:solidFill>
            <a:srgbClr val="2454C5"/>
          </a:solidFill>
          <a:ln/>
        </p:spPr>
      </p:sp>
      <p:pic>
        <p:nvPicPr>
          <p:cNvPr id="21" name="Image 5" descr="preencoded.png">    </p:cNvPr>
          <p:cNvPicPr>
            <a:picLocks noChangeAspect="1"/>
          </p:cNvPicPr>
          <p:nvPr/>
        </p:nvPicPr>
        <p:blipFill>
          <a:blip r:embed="rId6"/>
          <a:stretch>
            <a:fillRect/>
          </a:stretch>
        </p:blipFill>
        <p:spPr>
          <a:xfrm>
            <a:off x="3676558" y="1893443"/>
            <a:ext cx="203195" cy="203195"/>
          </a:xfrm>
          <a:prstGeom prst="rect">
            <a:avLst/>
          </a:prstGeom>
        </p:spPr>
      </p:pic>
      <p:sp>
        <p:nvSpPr>
          <p:cNvPr id="22" name="Text 14"/>
          <p:cNvSpPr txBox="1"/>
          <p:nvPr/>
        </p:nvSpPr>
        <p:spPr>
          <a:xfrm>
            <a:off x="3955951" y="1870624"/>
            <a:ext cx="472071"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Edge</a:t>
            </a:r>
            <a:endParaRPr lang="en-US" sz="1400" dirty="0"/>
          </a:p>
        </p:txBody>
      </p:sp>
      <p:sp>
        <p:nvSpPr>
          <p:cNvPr id="23" name="Text 15"/>
          <p:cNvSpPr txBox="1"/>
          <p:nvPr/>
        </p:nvSpPr>
        <p:spPr>
          <a:xfrm>
            <a:off x="3676558"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24" name="Image 6" descr="preencoded.png">    </p:cNvPr>
          <p:cNvPicPr>
            <a:picLocks noChangeAspect="1"/>
          </p:cNvPicPr>
          <p:nvPr/>
        </p:nvPicPr>
        <p:blipFill>
          <a:blip r:embed="rId7"/>
          <a:stretch>
            <a:fillRect/>
          </a:stretch>
        </p:blipFill>
        <p:spPr>
          <a:xfrm>
            <a:off x="3676558" y="2594307"/>
            <a:ext cx="190495" cy="190495"/>
          </a:xfrm>
          <a:prstGeom prst="rect">
            <a:avLst/>
          </a:prstGeom>
        </p:spPr>
      </p:pic>
      <p:sp>
        <p:nvSpPr>
          <p:cNvPr id="25" name="Text 16"/>
          <p:cNvSpPr txBox="1"/>
          <p:nvPr/>
        </p:nvSpPr>
        <p:spPr>
          <a:xfrm>
            <a:off x="3955951" y="2586767"/>
            <a:ext cx="1470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Token introspection</a:t>
            </a:r>
            <a:endParaRPr lang="en-US" sz="1200" dirty="0"/>
          </a:p>
        </p:txBody>
      </p:sp>
      <p:pic>
        <p:nvPicPr>
          <p:cNvPr id="26" name="Image 7" descr="preencoded.png">    </p:cNvPr>
          <p:cNvPicPr>
            <a:picLocks noChangeAspect="1"/>
          </p:cNvPicPr>
          <p:nvPr/>
        </p:nvPicPr>
        <p:blipFill>
          <a:blip r:embed="rId8"/>
          <a:stretch>
            <a:fillRect/>
          </a:stretch>
        </p:blipFill>
        <p:spPr>
          <a:xfrm>
            <a:off x="3676558" y="2876180"/>
            <a:ext cx="190495" cy="190495"/>
          </a:xfrm>
          <a:prstGeom prst="rect">
            <a:avLst/>
          </a:prstGeom>
        </p:spPr>
      </p:pic>
      <p:sp>
        <p:nvSpPr>
          <p:cNvPr id="27" name="Text 17"/>
          <p:cNvSpPr txBox="1"/>
          <p:nvPr/>
        </p:nvSpPr>
        <p:spPr>
          <a:xfrm>
            <a:off x="3955951" y="2868640"/>
            <a:ext cx="143214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Per-user rate limits</a:t>
            </a:r>
            <a:endParaRPr lang="en-US" sz="1200" dirty="0"/>
          </a:p>
        </p:txBody>
      </p:sp>
      <p:sp>
        <p:nvSpPr>
          <p:cNvPr id="28" name="Text 18"/>
          <p:cNvSpPr txBox="1"/>
          <p:nvPr/>
        </p:nvSpPr>
        <p:spPr>
          <a:xfrm>
            <a:off x="3676558"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29" name="Image 8" descr="preencoded.png">    </p:cNvPr>
          <p:cNvPicPr>
            <a:picLocks noChangeAspect="1"/>
          </p:cNvPicPr>
          <p:nvPr/>
        </p:nvPicPr>
        <p:blipFill>
          <a:blip r:embed="rId9"/>
          <a:stretch>
            <a:fillRect/>
          </a:stretch>
        </p:blipFill>
        <p:spPr>
          <a:xfrm>
            <a:off x="3676558" y="3447567"/>
            <a:ext cx="190495" cy="190495"/>
          </a:xfrm>
          <a:prstGeom prst="rect">
            <a:avLst/>
          </a:prstGeom>
        </p:spPr>
      </p:pic>
      <p:sp>
        <p:nvSpPr>
          <p:cNvPr id="30" name="Text 19"/>
          <p:cNvSpPr txBox="1"/>
          <p:nvPr/>
        </p:nvSpPr>
        <p:spPr>
          <a:xfrm>
            <a:off x="3955951" y="3440026"/>
            <a:ext cx="1457812"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No per-IP auth limit</a:t>
            </a:r>
            <a:endParaRPr lang="en-US" sz="1200" dirty="0"/>
          </a:p>
        </p:txBody>
      </p:sp>
      <p:pic>
        <p:nvPicPr>
          <p:cNvPr id="31" name="Image 9" descr="preencoded.png">    </p:cNvPr>
          <p:cNvPicPr>
            <a:picLocks noChangeAspect="1"/>
          </p:cNvPicPr>
          <p:nvPr/>
        </p:nvPicPr>
        <p:blipFill>
          <a:blip r:embed="rId10"/>
          <a:stretch>
            <a:fillRect/>
          </a:stretch>
        </p:blipFill>
        <p:spPr>
          <a:xfrm>
            <a:off x="3676558" y="3729440"/>
            <a:ext cx="190495" cy="190495"/>
          </a:xfrm>
          <a:prstGeom prst="rect">
            <a:avLst/>
          </a:prstGeom>
        </p:spPr>
      </p:pic>
      <p:sp>
        <p:nvSpPr>
          <p:cNvPr id="32" name="Text 20"/>
          <p:cNvSpPr txBox="1"/>
          <p:nvPr/>
        </p:nvSpPr>
        <p:spPr>
          <a:xfrm>
            <a:off x="3955951" y="3721900"/>
            <a:ext cx="128790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WAF can't attach</a:t>
            </a:r>
            <a:endParaRPr lang="en-US" sz="1200" dirty="0"/>
          </a:p>
        </p:txBody>
      </p:sp>
      <p:sp>
        <p:nvSpPr>
          <p:cNvPr id="33" name="Shape 21"/>
          <p:cNvSpPr/>
          <p:nvPr/>
        </p:nvSpPr>
        <p:spPr>
          <a:xfrm>
            <a:off x="5981550" y="2867350"/>
            <a:ext cx="228594" cy="114297"/>
          </a:xfrm>
          <a:prstGeom prst="rightArrow">
            <a:avLst/>
          </a:prstGeom>
          <a:solidFill>
            <a:srgbClr val="5C6B8A"/>
          </a:solidFill>
          <a:ln/>
        </p:spPr>
      </p:sp>
      <p:sp>
        <p:nvSpPr>
          <p:cNvPr id="34" name="Shape 22"/>
          <p:cNvSpPr/>
          <p:nvPr/>
        </p:nvSpPr>
        <p:spPr>
          <a:xfrm>
            <a:off x="6273643" y="1775376"/>
            <a:ext cx="2374841" cy="2298246"/>
          </a:xfrm>
          <a:prstGeom prst="roundRect">
            <a:avLst>
              <a:gd name="adj" fmla="val 4421"/>
            </a:avLst>
          </a:prstGeom>
          <a:solidFill>
            <a:srgbClr val="FCFDFF"/>
          </a:solidFill>
          <a:ln w="6350">
            <a:solidFill>
              <a:srgbClr val="D5DEEC"/>
            </a:solidFill>
            <a:prstDash val="solid"/>
          </a:ln>
        </p:spPr>
      </p:sp>
      <p:sp>
        <p:nvSpPr>
          <p:cNvPr id="35" name="Shape 23"/>
          <p:cNvSpPr/>
          <p:nvPr/>
        </p:nvSpPr>
        <p:spPr>
          <a:xfrm>
            <a:off x="6279993" y="1781726"/>
            <a:ext cx="2362141" cy="426630"/>
          </a:xfrm>
          <a:prstGeom prst="roundRect">
            <a:avLst>
              <a:gd name="adj" fmla="val 22326"/>
            </a:avLst>
          </a:prstGeom>
          <a:solidFill>
            <a:srgbClr val="0B7F74"/>
          </a:solidFill>
          <a:ln/>
        </p:spPr>
      </p:sp>
      <p:pic>
        <p:nvPicPr>
          <p:cNvPr id="36" name="Image 10" descr="preencoded.png">    </p:cNvPr>
          <p:cNvPicPr>
            <a:picLocks noChangeAspect="1"/>
          </p:cNvPicPr>
          <p:nvPr/>
        </p:nvPicPr>
        <p:blipFill>
          <a:blip r:embed="rId11"/>
          <a:stretch>
            <a:fillRect/>
          </a:stretch>
        </p:blipFill>
        <p:spPr>
          <a:xfrm>
            <a:off x="6406990" y="1893443"/>
            <a:ext cx="203195" cy="203195"/>
          </a:xfrm>
          <a:prstGeom prst="rect">
            <a:avLst/>
          </a:prstGeom>
        </p:spPr>
      </p:pic>
      <p:sp>
        <p:nvSpPr>
          <p:cNvPr id="37" name="Text 24"/>
          <p:cNvSpPr txBox="1"/>
          <p:nvPr/>
        </p:nvSpPr>
        <p:spPr>
          <a:xfrm>
            <a:off x="6686383" y="1870624"/>
            <a:ext cx="774077"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Services</a:t>
            </a:r>
            <a:endParaRPr lang="en-US" sz="1400" dirty="0"/>
          </a:p>
        </p:txBody>
      </p:sp>
      <p:sp>
        <p:nvSpPr>
          <p:cNvPr id="38" name="Text 25"/>
          <p:cNvSpPr txBox="1"/>
          <p:nvPr/>
        </p:nvSpPr>
        <p:spPr>
          <a:xfrm>
            <a:off x="6406990"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39" name="Image 11" descr="preencoded.png">    </p:cNvPr>
          <p:cNvPicPr>
            <a:picLocks noChangeAspect="1"/>
          </p:cNvPicPr>
          <p:nvPr/>
        </p:nvPicPr>
        <p:blipFill>
          <a:blip r:embed="rId12"/>
          <a:stretch>
            <a:fillRect/>
          </a:stretch>
        </p:blipFill>
        <p:spPr>
          <a:xfrm>
            <a:off x="6406990" y="2594307"/>
            <a:ext cx="190495" cy="190495"/>
          </a:xfrm>
          <a:prstGeom prst="rect">
            <a:avLst/>
          </a:prstGeom>
        </p:spPr>
      </p:pic>
      <p:sp>
        <p:nvSpPr>
          <p:cNvPr id="40" name="Text 26"/>
          <p:cNvSpPr txBox="1"/>
          <p:nvPr/>
        </p:nvSpPr>
        <p:spPr>
          <a:xfrm>
            <a:off x="6686383" y="2586767"/>
            <a:ext cx="1631830"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RBAC and ownership</a:t>
            </a:r>
            <a:endParaRPr lang="en-US" sz="1200" dirty="0"/>
          </a:p>
        </p:txBody>
      </p:sp>
      <p:pic>
        <p:nvPicPr>
          <p:cNvPr id="41" name="Image 12" descr="preencoded.png">    </p:cNvPr>
          <p:cNvPicPr>
            <a:picLocks noChangeAspect="1"/>
          </p:cNvPicPr>
          <p:nvPr/>
        </p:nvPicPr>
        <p:blipFill>
          <a:blip r:embed="rId13"/>
          <a:stretch>
            <a:fillRect/>
          </a:stretch>
        </p:blipFill>
        <p:spPr>
          <a:xfrm>
            <a:off x="6406990" y="2876180"/>
            <a:ext cx="190495" cy="190495"/>
          </a:xfrm>
          <a:prstGeom prst="rect">
            <a:avLst/>
          </a:prstGeom>
        </p:spPr>
      </p:pic>
      <p:sp>
        <p:nvSpPr>
          <p:cNvPr id="42" name="Text 27"/>
          <p:cNvSpPr txBox="1"/>
          <p:nvPr/>
        </p:nvSpPr>
        <p:spPr>
          <a:xfrm>
            <a:off x="6686383" y="2868640"/>
            <a:ext cx="153715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Keyed /internal APIs</a:t>
            </a:r>
            <a:endParaRPr lang="en-US" sz="1200" dirty="0"/>
          </a:p>
        </p:txBody>
      </p:sp>
      <p:sp>
        <p:nvSpPr>
          <p:cNvPr id="43" name="Text 28"/>
          <p:cNvSpPr txBox="1"/>
          <p:nvPr/>
        </p:nvSpPr>
        <p:spPr>
          <a:xfrm>
            <a:off x="6406990"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44" name="Image 13" descr="preencoded.png">    </p:cNvPr>
          <p:cNvPicPr>
            <a:picLocks noChangeAspect="1"/>
          </p:cNvPicPr>
          <p:nvPr/>
        </p:nvPicPr>
        <p:blipFill>
          <a:blip r:embed="rId14"/>
          <a:stretch>
            <a:fillRect/>
          </a:stretch>
        </p:blipFill>
        <p:spPr>
          <a:xfrm>
            <a:off x="6406990" y="3447567"/>
            <a:ext cx="190495" cy="190495"/>
          </a:xfrm>
          <a:prstGeom prst="rect">
            <a:avLst/>
          </a:prstGeom>
        </p:spPr>
      </p:pic>
      <p:sp>
        <p:nvSpPr>
          <p:cNvPr id="45" name="Text 29"/>
          <p:cNvSpPr txBox="1"/>
          <p:nvPr/>
        </p:nvSpPr>
        <p:spPr>
          <a:xfrm>
            <a:off x="6686383" y="3440026"/>
            <a:ext cx="175495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One shared HMAC key</a:t>
            </a:r>
            <a:endParaRPr lang="en-US" sz="1200" dirty="0"/>
          </a:p>
        </p:txBody>
      </p:sp>
      <p:pic>
        <p:nvPicPr>
          <p:cNvPr id="46" name="Image 14" descr="preencoded.png">    </p:cNvPr>
          <p:cNvPicPr>
            <a:picLocks noChangeAspect="1"/>
          </p:cNvPicPr>
          <p:nvPr/>
        </p:nvPicPr>
        <p:blipFill>
          <a:blip r:embed="rId15"/>
          <a:stretch>
            <a:fillRect/>
          </a:stretch>
        </p:blipFill>
        <p:spPr>
          <a:xfrm>
            <a:off x="6406990" y="3729440"/>
            <a:ext cx="190495" cy="190495"/>
          </a:xfrm>
          <a:prstGeom prst="rect">
            <a:avLst/>
          </a:prstGeom>
        </p:spPr>
      </p:pic>
      <p:sp>
        <p:nvSpPr>
          <p:cNvPr id="47" name="Text 30"/>
          <p:cNvSpPr txBox="1"/>
          <p:nvPr/>
        </p:nvSpPr>
        <p:spPr>
          <a:xfrm>
            <a:off x="6686383" y="3721900"/>
            <a:ext cx="1470703"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Shared internal key</a:t>
            </a:r>
            <a:endParaRPr lang="en-US" sz="1200" dirty="0"/>
          </a:p>
        </p:txBody>
      </p:sp>
      <p:sp>
        <p:nvSpPr>
          <p:cNvPr id="48" name="Shape 31"/>
          <p:cNvSpPr/>
          <p:nvPr/>
        </p:nvSpPr>
        <p:spPr>
          <a:xfrm>
            <a:off x="8711982" y="2867350"/>
            <a:ext cx="228594" cy="114297"/>
          </a:xfrm>
          <a:prstGeom prst="rightArrow">
            <a:avLst/>
          </a:prstGeom>
          <a:solidFill>
            <a:srgbClr val="5C6B8A"/>
          </a:solidFill>
          <a:ln/>
        </p:spPr>
      </p:sp>
      <p:sp>
        <p:nvSpPr>
          <p:cNvPr id="49" name="Shape 32"/>
          <p:cNvSpPr/>
          <p:nvPr/>
        </p:nvSpPr>
        <p:spPr>
          <a:xfrm>
            <a:off x="9004075" y="1775376"/>
            <a:ext cx="2374841" cy="2298246"/>
          </a:xfrm>
          <a:prstGeom prst="roundRect">
            <a:avLst>
              <a:gd name="adj" fmla="val 4421"/>
            </a:avLst>
          </a:prstGeom>
          <a:solidFill>
            <a:srgbClr val="FCFDFF"/>
          </a:solidFill>
          <a:ln w="6350">
            <a:solidFill>
              <a:srgbClr val="D5DEEC"/>
            </a:solidFill>
            <a:prstDash val="solid"/>
          </a:ln>
        </p:spPr>
      </p:sp>
      <p:sp>
        <p:nvSpPr>
          <p:cNvPr id="50" name="Shape 33"/>
          <p:cNvSpPr/>
          <p:nvPr/>
        </p:nvSpPr>
        <p:spPr>
          <a:xfrm>
            <a:off x="9010425" y="1781726"/>
            <a:ext cx="2362141" cy="426630"/>
          </a:xfrm>
          <a:prstGeom prst="roundRect">
            <a:avLst>
              <a:gd name="adj" fmla="val 22326"/>
            </a:avLst>
          </a:prstGeom>
          <a:solidFill>
            <a:srgbClr val="6A3FC0"/>
          </a:solidFill>
          <a:ln/>
        </p:spPr>
      </p:sp>
      <p:pic>
        <p:nvPicPr>
          <p:cNvPr id="51" name="Image 15" descr="preencoded.png">    </p:cNvPr>
          <p:cNvPicPr>
            <a:picLocks noChangeAspect="1"/>
          </p:cNvPicPr>
          <p:nvPr/>
        </p:nvPicPr>
        <p:blipFill>
          <a:blip r:embed="rId16"/>
          <a:stretch>
            <a:fillRect/>
          </a:stretch>
        </p:blipFill>
        <p:spPr>
          <a:xfrm>
            <a:off x="9137422" y="1893443"/>
            <a:ext cx="203195" cy="203195"/>
          </a:xfrm>
          <a:prstGeom prst="rect">
            <a:avLst/>
          </a:prstGeom>
        </p:spPr>
      </p:pic>
      <p:sp>
        <p:nvSpPr>
          <p:cNvPr id="52" name="Text 34"/>
          <p:cNvSpPr txBox="1"/>
          <p:nvPr/>
        </p:nvSpPr>
        <p:spPr>
          <a:xfrm>
            <a:off x="9416815" y="1870624"/>
            <a:ext cx="450442" cy="248914"/>
          </a:xfrm>
          <a:prstGeom prst="rect">
            <a:avLst/>
          </a:prstGeom>
          <a:noFill/>
          <a:ln/>
        </p:spPr>
        <p:txBody>
          <a:bodyPr wrap="square" lIns="0" tIns="0" rIns="0" bIns="0" rtlCol="0" anchor="t"/>
          <a:lstStyle/>
          <a:p>
            <a:pPr algn="l" indent="0" marL="0">
              <a:lnSpc>
                <a:spcPct val="116667"/>
              </a:lnSpc>
              <a:buNone/>
            </a:pPr>
            <a:r>
              <a:rPr lang="en-US" sz="1400" b="1" dirty="0">
                <a:solidFill>
                  <a:srgbClr val="F8FAFF"/>
                </a:solidFill>
                <a:latin typeface="Calibri" pitchFamily="34" charset="0"/>
                <a:ea typeface="Calibri" pitchFamily="34" charset="-122"/>
                <a:cs typeface="Calibri" pitchFamily="34" charset="-120"/>
              </a:rPr>
              <a:t>Data</a:t>
            </a:r>
            <a:endParaRPr lang="en-US" sz="1400" dirty="0"/>
          </a:p>
        </p:txBody>
      </p:sp>
      <p:sp>
        <p:nvSpPr>
          <p:cNvPr id="53" name="Text 35"/>
          <p:cNvSpPr txBox="1"/>
          <p:nvPr/>
        </p:nvSpPr>
        <p:spPr>
          <a:xfrm>
            <a:off x="9137422" y="2297254"/>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Controls</a:t>
            </a:r>
            <a:endParaRPr lang="en-US" sz="1200" dirty="0"/>
          </a:p>
        </p:txBody>
      </p:sp>
      <p:pic>
        <p:nvPicPr>
          <p:cNvPr id="54" name="Image 16" descr="preencoded.png">    </p:cNvPr>
          <p:cNvPicPr>
            <a:picLocks noChangeAspect="1"/>
          </p:cNvPicPr>
          <p:nvPr/>
        </p:nvPicPr>
        <p:blipFill>
          <a:blip r:embed="rId17"/>
          <a:stretch>
            <a:fillRect/>
          </a:stretch>
        </p:blipFill>
        <p:spPr>
          <a:xfrm>
            <a:off x="9137422" y="2594307"/>
            <a:ext cx="190495" cy="190495"/>
          </a:xfrm>
          <a:prstGeom prst="rect">
            <a:avLst/>
          </a:prstGeom>
        </p:spPr>
      </p:pic>
      <p:sp>
        <p:nvSpPr>
          <p:cNvPr id="55" name="Text 36"/>
          <p:cNvSpPr txBox="1"/>
          <p:nvPr/>
        </p:nvSpPr>
        <p:spPr>
          <a:xfrm>
            <a:off x="9416815" y="2586767"/>
            <a:ext cx="891645"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KMS at rest</a:t>
            </a:r>
            <a:endParaRPr lang="en-US" sz="1200" dirty="0"/>
          </a:p>
        </p:txBody>
      </p:sp>
      <p:pic>
        <p:nvPicPr>
          <p:cNvPr id="56" name="Image 17" descr="preencoded.png">    </p:cNvPr>
          <p:cNvPicPr>
            <a:picLocks noChangeAspect="1"/>
          </p:cNvPicPr>
          <p:nvPr/>
        </p:nvPicPr>
        <p:blipFill>
          <a:blip r:embed="rId18"/>
          <a:stretch>
            <a:fillRect/>
          </a:stretch>
        </p:blipFill>
        <p:spPr>
          <a:xfrm>
            <a:off x="9137422" y="2876180"/>
            <a:ext cx="190495" cy="190495"/>
          </a:xfrm>
          <a:prstGeom prst="rect">
            <a:avLst/>
          </a:prstGeom>
        </p:spPr>
      </p:pic>
      <p:sp>
        <p:nvSpPr>
          <p:cNvPr id="57" name="Text 37"/>
          <p:cNvSpPr txBox="1"/>
          <p:nvPr/>
        </p:nvSpPr>
        <p:spPr>
          <a:xfrm>
            <a:off x="9416815" y="2868640"/>
            <a:ext cx="1546377"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TLS Redis and MSK</a:t>
            </a:r>
            <a:endParaRPr lang="en-US" sz="1200" dirty="0"/>
          </a:p>
        </p:txBody>
      </p:sp>
      <p:sp>
        <p:nvSpPr>
          <p:cNvPr id="58" name="Text 38"/>
          <p:cNvSpPr txBox="1"/>
          <p:nvPr/>
        </p:nvSpPr>
        <p:spPr>
          <a:xfrm>
            <a:off x="9137422" y="3150513"/>
            <a:ext cx="23611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Gaps</a:t>
            </a:r>
            <a:endParaRPr lang="en-US" sz="1200" dirty="0"/>
          </a:p>
        </p:txBody>
      </p:sp>
      <p:pic>
        <p:nvPicPr>
          <p:cNvPr id="59" name="Image 18" descr="preencoded.png">    </p:cNvPr>
          <p:cNvPicPr>
            <a:picLocks noChangeAspect="1"/>
          </p:cNvPicPr>
          <p:nvPr/>
        </p:nvPicPr>
        <p:blipFill>
          <a:blip r:embed="rId19"/>
          <a:stretch>
            <a:fillRect/>
          </a:stretch>
        </p:blipFill>
        <p:spPr>
          <a:xfrm>
            <a:off x="9137422" y="3447567"/>
            <a:ext cx="190495" cy="190495"/>
          </a:xfrm>
          <a:prstGeom prst="rect">
            <a:avLst/>
          </a:prstGeom>
        </p:spPr>
      </p:pic>
      <p:sp>
        <p:nvSpPr>
          <p:cNvPr id="60" name="Text 39"/>
          <p:cNvSpPr txBox="1"/>
          <p:nvPr/>
        </p:nvSpPr>
        <p:spPr>
          <a:xfrm>
            <a:off x="9416815" y="3440026"/>
            <a:ext cx="1524264"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RDS TLS not forced</a:t>
            </a:r>
            <a:endParaRPr lang="en-US" sz="1200" dirty="0"/>
          </a:p>
        </p:txBody>
      </p:sp>
      <p:pic>
        <p:nvPicPr>
          <p:cNvPr id="61" name="Image 19" descr="preencoded.png">    </p:cNvPr>
          <p:cNvPicPr>
            <a:picLocks noChangeAspect="1"/>
          </p:cNvPicPr>
          <p:nvPr/>
        </p:nvPicPr>
        <p:blipFill>
          <a:blip r:embed="rId20"/>
          <a:stretch>
            <a:fillRect/>
          </a:stretch>
        </p:blipFill>
        <p:spPr>
          <a:xfrm>
            <a:off x="9137422" y="3729440"/>
            <a:ext cx="190495" cy="190495"/>
          </a:xfrm>
          <a:prstGeom prst="rect">
            <a:avLst/>
          </a:prstGeom>
        </p:spPr>
      </p:pic>
      <p:sp>
        <p:nvSpPr>
          <p:cNvPr id="62" name="Text 40"/>
          <p:cNvSpPr txBox="1"/>
          <p:nvPr/>
        </p:nvSpPr>
        <p:spPr>
          <a:xfrm>
            <a:off x="9416815" y="3721900"/>
            <a:ext cx="1593826" cy="205735"/>
          </a:xfrm>
          <a:prstGeom prst="rect">
            <a:avLst/>
          </a:prstGeom>
          <a:noFill/>
          <a:ln/>
        </p:spPr>
        <p:txBody>
          <a:bodyPr wrap="square" lIns="0" tIns="0" rIns="0" bIns="0" rtlCol="0" anchor="t"/>
          <a:lstStyle/>
          <a:p>
            <a:pPr algn="l" indent="0" marL="0">
              <a:lnSpc>
                <a:spcPct val="112500"/>
              </a:lnSpc>
              <a:buNone/>
            </a:pPr>
            <a:r>
              <a:rPr lang="en-US" sz="1200" dirty="0">
                <a:solidFill>
                  <a:srgbClr val="1F3A70"/>
                </a:solidFill>
                <a:latin typeface="Calibri" pitchFamily="34" charset="0"/>
                <a:ea typeface="Calibri" pitchFamily="34" charset="-122"/>
                <a:cs typeface="Calibri" pitchFamily="34" charset="-120"/>
              </a:rPr>
              <a:t>Pods read all secrets</a:t>
            </a:r>
            <a:endParaRPr lang="en-US" sz="1200" dirty="0"/>
          </a:p>
        </p:txBody>
      </p:sp>
      <p:sp>
        <p:nvSpPr>
          <p:cNvPr id="63" name="Shape 41"/>
          <p:cNvSpPr/>
          <p:nvPr/>
        </p:nvSpPr>
        <p:spPr>
          <a:xfrm>
            <a:off x="812780" y="4327615"/>
            <a:ext cx="10566136" cy="482588"/>
          </a:xfrm>
          <a:prstGeom prst="roundRect">
            <a:avLst>
              <a:gd name="adj" fmla="val 18421"/>
            </a:avLst>
          </a:prstGeom>
          <a:solidFill>
            <a:srgbClr val="FBE4E2"/>
          </a:solidFill>
          <a:ln/>
        </p:spPr>
      </p:sp>
      <p:pic>
        <p:nvPicPr>
          <p:cNvPr id="64" name="Image 20" descr="preencoded.png">    </p:cNvPr>
          <p:cNvPicPr>
            <a:picLocks noChangeAspect="1"/>
          </p:cNvPicPr>
          <p:nvPr/>
        </p:nvPicPr>
        <p:blipFill>
          <a:blip r:embed="rId21"/>
          <a:stretch>
            <a:fillRect/>
          </a:stretch>
        </p:blipFill>
        <p:spPr>
          <a:xfrm>
            <a:off x="977876" y="4454612"/>
            <a:ext cx="228594" cy="228594"/>
          </a:xfrm>
          <a:prstGeom prst="rect">
            <a:avLst/>
          </a:prstGeom>
        </p:spPr>
      </p:pic>
      <p:sp>
        <p:nvSpPr>
          <p:cNvPr id="65" name="Text 42"/>
          <p:cNvSpPr txBox="1"/>
          <p:nvPr/>
        </p:nvSpPr>
        <p:spPr>
          <a:xfrm>
            <a:off x="1320767" y="4462252"/>
            <a:ext cx="6391306" cy="213355"/>
          </a:xfrm>
          <a:prstGeom prst="rect">
            <a:avLst/>
          </a:prstGeom>
          <a:noFill/>
          <a:ln/>
        </p:spPr>
        <p:txBody>
          <a:bodyPr wrap="square" lIns="0" tIns="0" rIns="0" bIns="0" rtlCol="0" anchor="t"/>
          <a:lstStyle/>
          <a:p>
            <a:pPr algn="l" indent="0" marL="0">
              <a:lnSpc>
                <a:spcPct val="116667"/>
              </a:lnSpc>
              <a:buNone/>
            </a:pPr>
            <a:r>
              <a:rPr lang="en-US" sz="1200" b="1" dirty="0">
                <a:solidFill>
                  <a:srgbClr val="1F3A70"/>
                </a:solidFill>
                <a:latin typeface="Calibri" pitchFamily="34" charset="0"/>
                <a:ea typeface="Calibri" pitchFamily="34" charset="-122"/>
                <a:cs typeface="Calibri" pitchFamily="34" charset="-120"/>
              </a:rPr>
              <a:t>Operations:</a:t>
            </a:r>
            <a:pPr algn="l" indent="0" marL="0">
              <a:lnSpc>
                <a:spcPct val="116667"/>
              </a:lnSpc>
              <a:buNone/>
            </a:pPr>
            <a:r>
              <a:rPr lang="en-US" sz="1200" dirty="0">
                <a:solidFill>
                  <a:srgbClr val="1F3A70"/>
                </a:solidFill>
                <a:latin typeface="Calibri" pitchFamily="34" charset="0"/>
                <a:ea typeface="Calibri" pitchFamily="34" charset="-122"/>
                <a:cs typeface="Calibri" pitchFamily="34" charset="-120"/>
              </a:rPr>
              <a:t> EKS API open to 0.0.0.0/0, and the leaked JWT secret is still unrotated.</a:t>
            </a:r>
            <a:endParaRPr lang="en-US" sz="1200" dirty="0"/>
          </a:p>
        </p:txBody>
      </p:sp>
      <p:sp>
        <p:nvSpPr>
          <p:cNvPr id="66" name="Text 4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67" name="Text 4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 STRENGTHS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foundations are solid</a:t>
            </a:r>
            <a:endParaRPr lang="en-US" sz="3000" dirty="0"/>
          </a:p>
        </p:txBody>
      </p:sp>
      <p:sp>
        <p:nvSpPr>
          <p:cNvPr id="4" name="Shape 2"/>
          <p:cNvSpPr/>
          <p:nvPr/>
        </p:nvSpPr>
        <p:spPr>
          <a:xfrm>
            <a:off x="812780" y="1775376"/>
            <a:ext cx="3420382" cy="1233060"/>
          </a:xfrm>
          <a:prstGeom prst="roundRect">
            <a:avLst>
              <a:gd name="adj" fmla="val 8239"/>
            </a:avLst>
          </a:prstGeom>
          <a:solidFill>
            <a:srgbClr val="FCFDFF"/>
          </a:solidFill>
          <a:ln w="6350">
            <a:solidFill>
              <a:srgbClr val="D5DEEC"/>
            </a:solidFill>
            <a:prstDash val="solid"/>
          </a:ln>
        </p:spPr>
      </p:sp>
      <p:sp>
        <p:nvSpPr>
          <p:cNvPr id="5" name="Shape 3"/>
          <p:cNvSpPr/>
          <p:nvPr/>
        </p:nvSpPr>
        <p:spPr>
          <a:xfrm>
            <a:off x="812780" y="1775376"/>
            <a:ext cx="3420382" cy="38099"/>
          </a:xfrm>
          <a:prstGeom prst="roundRect">
            <a:avLst>
              <a:gd name="adj" fmla="val 50000"/>
            </a:avLst>
          </a:prstGeom>
          <a:solidFill>
            <a:srgbClr val="2454C5"/>
          </a:solidFill>
          <a:ln/>
        </p:spPr>
      </p:sp>
      <p:sp>
        <p:nvSpPr>
          <p:cNvPr id="6" name="Shape 4"/>
          <p:cNvSpPr/>
          <p:nvPr/>
        </p:nvSpPr>
        <p:spPr>
          <a:xfrm>
            <a:off x="984225" y="1978571"/>
            <a:ext cx="355591" cy="355591"/>
          </a:xfrm>
          <a:prstGeom prst="ellipse">
            <a:avLst/>
          </a:prstGeom>
          <a:solidFill>
            <a:srgbClr val="E3EBFA"/>
          </a:solidFill>
          <a:ln/>
        </p:spPr>
      </p:sp>
      <p:pic>
        <p:nvPicPr>
          <p:cNvPr id="7" name="Image 0" descr="preencoded.png">    </p:cNvPr>
          <p:cNvPicPr>
            <a:picLocks noChangeAspect="1"/>
          </p:cNvPicPr>
          <p:nvPr/>
        </p:nvPicPr>
        <p:blipFill>
          <a:blip r:embed="rId1"/>
          <a:stretch>
            <a:fillRect/>
          </a:stretch>
        </p:blipFill>
        <p:spPr>
          <a:xfrm>
            <a:off x="1066773" y="2061119"/>
            <a:ext cx="190495" cy="190495"/>
          </a:xfrm>
          <a:prstGeom prst="rect">
            <a:avLst/>
          </a:prstGeom>
        </p:spPr>
      </p:pic>
      <p:sp>
        <p:nvSpPr>
          <p:cNvPr id="8" name="Text 5"/>
          <p:cNvSpPr txBox="1"/>
          <p:nvPr/>
        </p:nvSpPr>
        <p:spPr>
          <a:xfrm>
            <a:off x="1428714" y="2034430"/>
            <a:ext cx="872198"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Sessions</a:t>
            </a:r>
            <a:endParaRPr lang="en-US" sz="1600" dirty="0"/>
          </a:p>
        </p:txBody>
      </p:sp>
      <p:sp>
        <p:nvSpPr>
          <p:cNvPr id="9" name="Text 6"/>
          <p:cNvSpPr txBox="1"/>
          <p:nvPr/>
        </p:nvSpPr>
        <p:spPr>
          <a:xfrm>
            <a:off x="984225" y="2410360"/>
            <a:ext cx="3446789"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bcrypt 12, timing-safe login, rotating refresh tokens with replay detection</a:t>
            </a:r>
            <a:endParaRPr lang="en-US" sz="1200" dirty="0"/>
          </a:p>
        </p:txBody>
      </p:sp>
      <p:sp>
        <p:nvSpPr>
          <p:cNvPr id="10" name="Shape 7"/>
          <p:cNvSpPr/>
          <p:nvPr/>
        </p:nvSpPr>
        <p:spPr>
          <a:xfrm>
            <a:off x="4385558" y="1775376"/>
            <a:ext cx="3420481" cy="1233060"/>
          </a:xfrm>
          <a:prstGeom prst="roundRect">
            <a:avLst>
              <a:gd name="adj" fmla="val 8239"/>
            </a:avLst>
          </a:prstGeom>
          <a:solidFill>
            <a:srgbClr val="FCFDFF"/>
          </a:solidFill>
          <a:ln w="6350">
            <a:solidFill>
              <a:srgbClr val="D5DEEC"/>
            </a:solidFill>
            <a:prstDash val="solid"/>
          </a:ln>
        </p:spPr>
      </p:sp>
      <p:sp>
        <p:nvSpPr>
          <p:cNvPr id="11" name="Shape 8"/>
          <p:cNvSpPr/>
          <p:nvPr/>
        </p:nvSpPr>
        <p:spPr>
          <a:xfrm>
            <a:off x="4385558" y="1775376"/>
            <a:ext cx="3420481" cy="38099"/>
          </a:xfrm>
          <a:prstGeom prst="roundRect">
            <a:avLst>
              <a:gd name="adj" fmla="val 50000"/>
            </a:avLst>
          </a:prstGeom>
          <a:solidFill>
            <a:srgbClr val="0B7F74"/>
          </a:solidFill>
          <a:ln/>
        </p:spPr>
      </p:sp>
      <p:sp>
        <p:nvSpPr>
          <p:cNvPr id="12" name="Shape 9"/>
          <p:cNvSpPr/>
          <p:nvPr/>
        </p:nvSpPr>
        <p:spPr>
          <a:xfrm>
            <a:off x="4557003" y="1978571"/>
            <a:ext cx="355591" cy="355591"/>
          </a:xfrm>
          <a:prstGeom prst="ellipse">
            <a:avLst/>
          </a:prstGeom>
          <a:solidFill>
            <a:srgbClr val="DDF2EF"/>
          </a:solidFill>
          <a:ln/>
        </p:spPr>
      </p:sp>
      <p:pic>
        <p:nvPicPr>
          <p:cNvPr id="13" name="Image 1" descr="preencoded.png">    </p:cNvPr>
          <p:cNvPicPr>
            <a:picLocks noChangeAspect="1"/>
          </p:cNvPicPr>
          <p:nvPr/>
        </p:nvPicPr>
        <p:blipFill>
          <a:blip r:embed="rId2"/>
          <a:stretch>
            <a:fillRect/>
          </a:stretch>
        </p:blipFill>
        <p:spPr>
          <a:xfrm>
            <a:off x="4639551" y="2061119"/>
            <a:ext cx="190495" cy="190495"/>
          </a:xfrm>
          <a:prstGeom prst="rect">
            <a:avLst/>
          </a:prstGeom>
        </p:spPr>
      </p:pic>
      <p:sp>
        <p:nvSpPr>
          <p:cNvPr id="14" name="Text 10"/>
          <p:cNvSpPr txBox="1"/>
          <p:nvPr/>
        </p:nvSpPr>
        <p:spPr>
          <a:xfrm>
            <a:off x="5001492" y="2034430"/>
            <a:ext cx="704634"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Access</a:t>
            </a:r>
            <a:endParaRPr lang="en-US" sz="1600" dirty="0"/>
          </a:p>
        </p:txBody>
      </p:sp>
      <p:sp>
        <p:nvSpPr>
          <p:cNvPr id="15" name="Text 11"/>
          <p:cNvSpPr txBox="1"/>
          <p:nvPr/>
        </p:nvSpPr>
        <p:spPr>
          <a:xfrm>
            <a:off x="4557003" y="2410360"/>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Strict firewall closes path tricks; ownership checks answer 404</a:t>
            </a:r>
            <a:endParaRPr lang="en-US" sz="1200" dirty="0"/>
          </a:p>
        </p:txBody>
      </p:sp>
      <p:sp>
        <p:nvSpPr>
          <p:cNvPr id="16" name="Shape 12"/>
          <p:cNvSpPr/>
          <p:nvPr/>
        </p:nvSpPr>
        <p:spPr>
          <a:xfrm>
            <a:off x="7958435" y="1775376"/>
            <a:ext cx="3420481" cy="1233060"/>
          </a:xfrm>
          <a:prstGeom prst="roundRect">
            <a:avLst>
              <a:gd name="adj" fmla="val 8239"/>
            </a:avLst>
          </a:prstGeom>
          <a:solidFill>
            <a:srgbClr val="FCFDFF"/>
          </a:solidFill>
          <a:ln w="6350">
            <a:solidFill>
              <a:srgbClr val="D5DEEC"/>
            </a:solidFill>
            <a:prstDash val="solid"/>
          </a:ln>
        </p:spPr>
      </p:sp>
      <p:sp>
        <p:nvSpPr>
          <p:cNvPr id="17" name="Shape 13"/>
          <p:cNvSpPr/>
          <p:nvPr/>
        </p:nvSpPr>
        <p:spPr>
          <a:xfrm>
            <a:off x="7958435" y="1775376"/>
            <a:ext cx="3420481" cy="38099"/>
          </a:xfrm>
          <a:prstGeom prst="roundRect">
            <a:avLst>
              <a:gd name="adj" fmla="val 50000"/>
            </a:avLst>
          </a:prstGeom>
          <a:solidFill>
            <a:srgbClr val="B4530F"/>
          </a:solidFill>
          <a:ln/>
        </p:spPr>
      </p:sp>
      <p:sp>
        <p:nvSpPr>
          <p:cNvPr id="18" name="Shape 14"/>
          <p:cNvSpPr/>
          <p:nvPr/>
        </p:nvSpPr>
        <p:spPr>
          <a:xfrm>
            <a:off x="8129880" y="1978571"/>
            <a:ext cx="355591" cy="355591"/>
          </a:xfrm>
          <a:prstGeom prst="ellipse">
            <a:avLst/>
          </a:prstGeom>
          <a:solidFill>
            <a:srgbClr val="FCEBDD"/>
          </a:solidFill>
          <a:ln/>
        </p:spPr>
      </p:sp>
      <p:pic>
        <p:nvPicPr>
          <p:cNvPr id="19" name="Image 2" descr="preencoded.png">    </p:cNvPr>
          <p:cNvPicPr>
            <a:picLocks noChangeAspect="1"/>
          </p:cNvPicPr>
          <p:nvPr/>
        </p:nvPicPr>
        <p:blipFill>
          <a:blip r:embed="rId3"/>
          <a:stretch>
            <a:fillRect/>
          </a:stretch>
        </p:blipFill>
        <p:spPr>
          <a:xfrm>
            <a:off x="8212428" y="2061119"/>
            <a:ext cx="190495" cy="190495"/>
          </a:xfrm>
          <a:prstGeom prst="rect">
            <a:avLst/>
          </a:prstGeom>
        </p:spPr>
      </p:pic>
      <p:sp>
        <p:nvSpPr>
          <p:cNvPr id="20" name="Text 15"/>
          <p:cNvSpPr txBox="1"/>
          <p:nvPr/>
        </p:nvSpPr>
        <p:spPr>
          <a:xfrm>
            <a:off x="8574369" y="2034430"/>
            <a:ext cx="1014546"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Payments</a:t>
            </a:r>
            <a:endParaRPr lang="en-US" sz="1600" dirty="0"/>
          </a:p>
        </p:txBody>
      </p:sp>
      <p:sp>
        <p:nvSpPr>
          <p:cNvPr id="21" name="Text 16"/>
          <p:cNvSpPr txBox="1"/>
          <p:nvPr/>
        </p:nvSpPr>
        <p:spPr>
          <a:xfrm>
            <a:off x="8129880" y="2410360"/>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Razorpay HMAC plus read-back, signed webhook, server-side amounts</a:t>
            </a:r>
            <a:endParaRPr lang="en-US" sz="1200" dirty="0"/>
          </a:p>
        </p:txBody>
      </p:sp>
      <p:sp>
        <p:nvSpPr>
          <p:cNvPr id="22" name="Shape 17"/>
          <p:cNvSpPr/>
          <p:nvPr/>
        </p:nvSpPr>
        <p:spPr>
          <a:xfrm>
            <a:off x="812780" y="3160832"/>
            <a:ext cx="3420382" cy="1233060"/>
          </a:xfrm>
          <a:prstGeom prst="roundRect">
            <a:avLst>
              <a:gd name="adj" fmla="val 8239"/>
            </a:avLst>
          </a:prstGeom>
          <a:solidFill>
            <a:srgbClr val="FCFDFF"/>
          </a:solidFill>
          <a:ln w="6350">
            <a:solidFill>
              <a:srgbClr val="D5DEEC"/>
            </a:solidFill>
            <a:prstDash val="solid"/>
          </a:ln>
        </p:spPr>
      </p:sp>
      <p:sp>
        <p:nvSpPr>
          <p:cNvPr id="23" name="Shape 18"/>
          <p:cNvSpPr/>
          <p:nvPr/>
        </p:nvSpPr>
        <p:spPr>
          <a:xfrm>
            <a:off x="812780" y="3160832"/>
            <a:ext cx="3420382" cy="38099"/>
          </a:xfrm>
          <a:prstGeom prst="roundRect">
            <a:avLst>
              <a:gd name="adj" fmla="val 50000"/>
            </a:avLst>
          </a:prstGeom>
          <a:solidFill>
            <a:srgbClr val="6A3FC0"/>
          </a:solidFill>
          <a:ln/>
        </p:spPr>
      </p:sp>
      <p:sp>
        <p:nvSpPr>
          <p:cNvPr id="24" name="Shape 19"/>
          <p:cNvSpPr/>
          <p:nvPr/>
        </p:nvSpPr>
        <p:spPr>
          <a:xfrm>
            <a:off x="984225" y="3364027"/>
            <a:ext cx="355591" cy="355591"/>
          </a:xfrm>
          <a:prstGeom prst="ellipse">
            <a:avLst/>
          </a:prstGeom>
          <a:solidFill>
            <a:srgbClr val="ECE5FA"/>
          </a:solidFill>
          <a:ln/>
        </p:spPr>
      </p:sp>
      <p:pic>
        <p:nvPicPr>
          <p:cNvPr id="25" name="Image 3" descr="preencoded.png">    </p:cNvPr>
          <p:cNvPicPr>
            <a:picLocks noChangeAspect="1"/>
          </p:cNvPicPr>
          <p:nvPr/>
        </p:nvPicPr>
        <p:blipFill>
          <a:blip r:embed="rId4"/>
          <a:stretch>
            <a:fillRect/>
          </a:stretch>
        </p:blipFill>
        <p:spPr>
          <a:xfrm>
            <a:off x="1066773" y="3446575"/>
            <a:ext cx="190495" cy="190495"/>
          </a:xfrm>
          <a:prstGeom prst="rect">
            <a:avLst/>
          </a:prstGeom>
        </p:spPr>
      </p:pic>
      <p:sp>
        <p:nvSpPr>
          <p:cNvPr id="26" name="Text 20"/>
          <p:cNvSpPr txBox="1"/>
          <p:nvPr/>
        </p:nvSpPr>
        <p:spPr>
          <a:xfrm>
            <a:off x="1428714" y="3419886"/>
            <a:ext cx="1333689"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Internal APIs</a:t>
            </a:r>
            <a:endParaRPr lang="en-US" sz="1600" dirty="0"/>
          </a:p>
        </p:txBody>
      </p:sp>
      <p:sp>
        <p:nvSpPr>
          <p:cNvPr id="27" name="Text 21"/>
          <p:cNvSpPr txBox="1"/>
          <p:nvPr/>
        </p:nvSpPr>
        <p:spPr>
          <a:xfrm>
            <a:off x="984225" y="3795816"/>
            <a:ext cx="3446789"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Constant-time key check that fails closed; never routed at the edge</a:t>
            </a:r>
            <a:endParaRPr lang="en-US" sz="1200" dirty="0"/>
          </a:p>
        </p:txBody>
      </p:sp>
      <p:sp>
        <p:nvSpPr>
          <p:cNvPr id="28" name="Shape 22"/>
          <p:cNvSpPr/>
          <p:nvPr/>
        </p:nvSpPr>
        <p:spPr>
          <a:xfrm>
            <a:off x="4385558" y="3160832"/>
            <a:ext cx="3420481" cy="1233060"/>
          </a:xfrm>
          <a:prstGeom prst="roundRect">
            <a:avLst>
              <a:gd name="adj" fmla="val 8239"/>
            </a:avLst>
          </a:prstGeom>
          <a:solidFill>
            <a:srgbClr val="FCFDFF"/>
          </a:solidFill>
          <a:ln w="6350">
            <a:solidFill>
              <a:srgbClr val="D5DEEC"/>
            </a:solidFill>
            <a:prstDash val="solid"/>
          </a:ln>
        </p:spPr>
      </p:sp>
      <p:sp>
        <p:nvSpPr>
          <p:cNvPr id="29" name="Shape 23"/>
          <p:cNvSpPr/>
          <p:nvPr/>
        </p:nvSpPr>
        <p:spPr>
          <a:xfrm>
            <a:off x="4385558" y="3160832"/>
            <a:ext cx="3420481" cy="38099"/>
          </a:xfrm>
          <a:prstGeom prst="roundRect">
            <a:avLst>
              <a:gd name="adj" fmla="val 50000"/>
            </a:avLst>
          </a:prstGeom>
          <a:solidFill>
            <a:srgbClr val="2F5C9A"/>
          </a:solidFill>
          <a:ln/>
        </p:spPr>
      </p:sp>
      <p:sp>
        <p:nvSpPr>
          <p:cNvPr id="30" name="Shape 24"/>
          <p:cNvSpPr/>
          <p:nvPr/>
        </p:nvSpPr>
        <p:spPr>
          <a:xfrm>
            <a:off x="4557003" y="3364027"/>
            <a:ext cx="355591" cy="355591"/>
          </a:xfrm>
          <a:prstGeom prst="ellipse">
            <a:avLst/>
          </a:prstGeom>
          <a:solidFill>
            <a:srgbClr val="E2EAF6"/>
          </a:solidFill>
          <a:ln/>
        </p:spPr>
      </p:sp>
      <p:pic>
        <p:nvPicPr>
          <p:cNvPr id="31" name="Image 4" descr="preencoded.png">    </p:cNvPr>
          <p:cNvPicPr>
            <a:picLocks noChangeAspect="1"/>
          </p:cNvPicPr>
          <p:nvPr/>
        </p:nvPicPr>
        <p:blipFill>
          <a:blip r:embed="rId5"/>
          <a:stretch>
            <a:fillRect/>
          </a:stretch>
        </p:blipFill>
        <p:spPr>
          <a:xfrm>
            <a:off x="4639551" y="3446575"/>
            <a:ext cx="190495" cy="190495"/>
          </a:xfrm>
          <a:prstGeom prst="rect">
            <a:avLst/>
          </a:prstGeom>
        </p:spPr>
      </p:pic>
      <p:sp>
        <p:nvSpPr>
          <p:cNvPr id="32" name="Text 25"/>
          <p:cNvSpPr txBox="1"/>
          <p:nvPr/>
        </p:nvSpPr>
        <p:spPr>
          <a:xfrm>
            <a:off x="5001492" y="3419886"/>
            <a:ext cx="1243791"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Data at rest</a:t>
            </a:r>
            <a:endParaRPr lang="en-US" sz="1600" dirty="0"/>
          </a:p>
        </p:txBody>
      </p:sp>
      <p:sp>
        <p:nvSpPr>
          <p:cNvPr id="33" name="Text 26"/>
          <p:cNvSpPr txBox="1"/>
          <p:nvPr/>
        </p:nvSpPr>
        <p:spPr>
          <a:xfrm>
            <a:off x="4557003" y="3795816"/>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Private KMS-encrypted RDS, TLS Redis and MSK, locked-down S3</a:t>
            </a:r>
            <a:endParaRPr lang="en-US" sz="1200" dirty="0"/>
          </a:p>
        </p:txBody>
      </p:sp>
      <p:sp>
        <p:nvSpPr>
          <p:cNvPr id="34" name="Shape 27"/>
          <p:cNvSpPr/>
          <p:nvPr/>
        </p:nvSpPr>
        <p:spPr>
          <a:xfrm>
            <a:off x="7958435" y="3160832"/>
            <a:ext cx="3420481" cy="1233060"/>
          </a:xfrm>
          <a:prstGeom prst="roundRect">
            <a:avLst>
              <a:gd name="adj" fmla="val 8239"/>
            </a:avLst>
          </a:prstGeom>
          <a:solidFill>
            <a:srgbClr val="FCFDFF"/>
          </a:solidFill>
          <a:ln w="6350">
            <a:solidFill>
              <a:srgbClr val="D5DEEC"/>
            </a:solidFill>
            <a:prstDash val="solid"/>
          </a:ln>
        </p:spPr>
      </p:sp>
      <p:sp>
        <p:nvSpPr>
          <p:cNvPr id="35" name="Shape 28"/>
          <p:cNvSpPr/>
          <p:nvPr/>
        </p:nvSpPr>
        <p:spPr>
          <a:xfrm>
            <a:off x="7958435" y="3160832"/>
            <a:ext cx="3420481" cy="38099"/>
          </a:xfrm>
          <a:prstGeom prst="roundRect">
            <a:avLst>
              <a:gd name="adj" fmla="val 50000"/>
            </a:avLst>
          </a:prstGeom>
          <a:solidFill>
            <a:srgbClr val="2E7D4F"/>
          </a:solidFill>
          <a:ln/>
        </p:spPr>
      </p:sp>
      <p:sp>
        <p:nvSpPr>
          <p:cNvPr id="36" name="Shape 29"/>
          <p:cNvSpPr/>
          <p:nvPr/>
        </p:nvSpPr>
        <p:spPr>
          <a:xfrm>
            <a:off x="8129880" y="3364027"/>
            <a:ext cx="355591" cy="355591"/>
          </a:xfrm>
          <a:prstGeom prst="ellipse">
            <a:avLst/>
          </a:prstGeom>
          <a:solidFill>
            <a:srgbClr val="E0F2E8"/>
          </a:solidFill>
          <a:ln/>
        </p:spPr>
      </p:sp>
      <p:pic>
        <p:nvPicPr>
          <p:cNvPr id="37" name="Image 5" descr="preencoded.png">    </p:cNvPr>
          <p:cNvPicPr>
            <a:picLocks noChangeAspect="1"/>
          </p:cNvPicPr>
          <p:nvPr/>
        </p:nvPicPr>
        <p:blipFill>
          <a:blip r:embed="rId6"/>
          <a:stretch>
            <a:fillRect/>
          </a:stretch>
        </p:blipFill>
        <p:spPr>
          <a:xfrm>
            <a:off x="8212428" y="3446575"/>
            <a:ext cx="190495" cy="190495"/>
          </a:xfrm>
          <a:prstGeom prst="rect">
            <a:avLst/>
          </a:prstGeom>
        </p:spPr>
      </p:pic>
      <p:sp>
        <p:nvSpPr>
          <p:cNvPr id="38" name="Text 30"/>
          <p:cNvSpPr txBox="1"/>
          <p:nvPr/>
        </p:nvSpPr>
        <p:spPr>
          <a:xfrm>
            <a:off x="8574369" y="3419886"/>
            <a:ext cx="881533" cy="243834"/>
          </a:xfrm>
          <a:prstGeom prst="rect">
            <a:avLst/>
          </a:prstGeom>
          <a:noFill/>
          <a:ln/>
        </p:spPr>
        <p:txBody>
          <a:bodyPr wrap="square" lIns="0" tIns="0" rIns="0" bIns="0" rtlCol="0" anchor="t"/>
          <a:lstStyle/>
          <a:p>
            <a:pPr algn="l" indent="0" marL="0">
              <a:lnSpc>
                <a:spcPct val="100000"/>
              </a:lnSpc>
              <a:buNone/>
            </a:pPr>
            <a:r>
              <a:rPr lang="en-US" sz="1600" b="1" dirty="0">
                <a:solidFill>
                  <a:srgbClr val="1F3A70"/>
                </a:solidFill>
                <a:latin typeface="Calibri" pitchFamily="34" charset="0"/>
                <a:ea typeface="Calibri" pitchFamily="34" charset="-122"/>
                <a:cs typeface="Calibri" pitchFamily="34" charset="-120"/>
              </a:rPr>
              <a:t>Delivery</a:t>
            </a:r>
            <a:endParaRPr lang="en-US" sz="1600" dirty="0"/>
          </a:p>
        </p:txBody>
      </p:sp>
      <p:sp>
        <p:nvSpPr>
          <p:cNvPr id="39" name="Text 31"/>
          <p:cNvSpPr txBox="1"/>
          <p:nvPr/>
        </p:nvSpPr>
        <p:spPr>
          <a:xfrm>
            <a:off x="8129880" y="3795816"/>
            <a:ext cx="3446900"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Non-root read-only pods, Trivy gate, OIDC to AWS, no secret defaults</a:t>
            </a:r>
            <a:endParaRPr lang="en-US" sz="1200" dirty="0"/>
          </a:p>
        </p:txBody>
      </p:sp>
      <p:sp>
        <p:nvSpPr>
          <p:cNvPr id="40" name="Text 32"/>
          <p:cNvSpPr txBox="1"/>
          <p:nvPr/>
        </p:nvSpPr>
        <p:spPr>
          <a:xfrm>
            <a:off x="812780" y="4647885"/>
            <a:ext cx="11834072" cy="426630"/>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Fixed since the last review: payment callback binding, location ownership, self-registration as ADMIN, and the unsupported Spring Boot 3.2 (now Boot 4.1 on Java 25).</a:t>
            </a:r>
            <a:endParaRPr lang="en-US" sz="1200" dirty="0"/>
          </a:p>
        </p:txBody>
      </p:sp>
      <p:sp>
        <p:nvSpPr>
          <p:cNvPr id="41" name="Text 33"/>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42" name="Text 34"/>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IDENTITY AND ACCESS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One Critical and three High findings sit in identity</a:t>
            </a:r>
            <a:endParaRPr lang="en-US" sz="3000" dirty="0"/>
          </a:p>
        </p:txBody>
      </p:sp>
      <p:sp>
        <p:nvSpPr>
          <p:cNvPr id="4" name="Shape 2"/>
          <p:cNvSpPr/>
          <p:nvPr/>
        </p:nvSpPr>
        <p:spPr>
          <a:xfrm>
            <a:off x="812780" y="1775376"/>
            <a:ext cx="10566136" cy="287529"/>
          </a:xfrm>
          <a:prstGeom prst="rect">
            <a:avLst/>
          </a:prstGeom>
          <a:solidFill>
            <a:srgbClr val="2454C5"/>
          </a:solidFill>
          <a:ln/>
        </p:spPr>
      </p:sp>
      <p:sp>
        <p:nvSpPr>
          <p:cNvPr id="5" name="Shape 3"/>
          <p:cNvSpPr/>
          <p:nvPr/>
        </p:nvSpPr>
        <p:spPr>
          <a:xfrm>
            <a:off x="812780" y="2059730"/>
            <a:ext cx="1267885" cy="63"/>
          </a:xfrm>
          <a:prstGeom prst="line">
            <a:avLst/>
          </a:prstGeom>
          <a:noFill/>
          <a:ln w="6350">
            <a:solidFill>
              <a:srgbClr val="D5DEEC"/>
            </a:solidFill>
            <a:prstDash val="solid"/>
          </a:ln>
        </p:spPr>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C0352B"/>
                </a:solidFill>
                <a:latin typeface="Calibri" pitchFamily="34" charset="0"/>
                <a:ea typeface="Calibri" pitchFamily="34" charset="-122"/>
                <a:cs typeface="Calibri" pitchFamily="34" charset="-120"/>
              </a:rPr>
              <a:t>Critical</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JWT secret from the leaked commit is still the default</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Rotate per env; refuse dev values</a:t>
            </a:r>
            <a:endParaRPr lang="en-US" sz="1200" dirty="0"/>
          </a:p>
        </p:txBody>
      </p:sp>
      <p:sp>
        <p:nvSpPr>
          <p:cNvPr id="17" name="Shape 15"/>
          <p:cNvSpPr/>
          <p:nvPr/>
        </p:nvSpPr>
        <p:spPr>
          <a:xfrm>
            <a:off x="812780" y="2353608"/>
            <a:ext cx="10566136" cy="290704"/>
          </a:xfrm>
          <a:prstGeom prst="rect">
            <a:avLst/>
          </a:prstGeom>
          <a:solidFill>
            <a:srgbClr val="EEF2F9"/>
          </a:solidFill>
          <a:ln/>
        </p:spPr>
      </p:sp>
      <p:sp>
        <p:nvSpPr>
          <p:cNvPr id="18" name="Shape 16"/>
          <p:cNvSpPr/>
          <p:nvPr/>
        </p:nvSpPr>
        <p:spPr>
          <a:xfrm>
            <a:off x="812780" y="2641137"/>
            <a:ext cx="1267885" cy="63"/>
          </a:xfrm>
          <a:prstGeom prst="line">
            <a:avLst/>
          </a:prstGeom>
          <a:noFill/>
          <a:ln w="6350">
            <a:solidFill>
              <a:srgbClr val="D5DEEC"/>
            </a:solidFill>
            <a:prstDash val="solid"/>
          </a:ln>
        </p:spPr>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One HMAC signing key is shared by all services</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RS256 + JWKS; verify iss and aud</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Services skip revocation; ports reachable directly</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Gateway-only network; deny-list</a:t>
            </a:r>
            <a:endParaRPr lang="en-US" sz="1200" dirty="0"/>
          </a:p>
        </p:txBody>
      </p:sp>
      <p:sp>
        <p:nvSpPr>
          <p:cNvPr id="30" name="Shape 28"/>
          <p:cNvSpPr/>
          <p:nvPr/>
        </p:nvSpPr>
        <p:spPr>
          <a:xfrm>
            <a:off x="812780" y="2935016"/>
            <a:ext cx="10566136" cy="290704"/>
          </a:xfrm>
          <a:prstGeom prst="rect">
            <a:avLst/>
          </a:prstGeom>
          <a:solidFill>
            <a:srgbClr val="EEF2F9"/>
          </a:solidFill>
          <a:ln/>
        </p:spPr>
      </p:sp>
      <p:sp>
        <p:nvSpPr>
          <p:cNvPr id="31" name="Shape 29"/>
          <p:cNvSpPr/>
          <p:nvPr/>
        </p:nvSpPr>
        <p:spPr>
          <a:xfrm>
            <a:off x="812780" y="3222544"/>
            <a:ext cx="1267885" cy="63"/>
          </a:xfrm>
          <a:prstGeom prst="line">
            <a:avLst/>
          </a:prstGeom>
          <a:noFill/>
          <a:ln w="6350">
            <a:solidFill>
              <a:srgbClr val="D5DEEC"/>
            </a:solidFill>
            <a:prstDash val="solid"/>
          </a:ln>
        </p:spPr>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per-IP limit on password login or OTP requests</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WAF rate rule on /auth; CAPTCHA</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One INTERNAL_API_KEY opens every /internal API</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Per-caller keys or mTLS</a:t>
            </a:r>
            <a:endParaRPr lang="en-US" sz="1200" dirty="0"/>
          </a:p>
        </p:txBody>
      </p:sp>
      <p:sp>
        <p:nvSpPr>
          <p:cNvPr id="43" name="Text 41"/>
          <p:cNvSpPr txBox="1"/>
          <p:nvPr/>
        </p:nvSpPr>
        <p:spPr>
          <a:xfrm>
            <a:off x="812780" y="3773592"/>
            <a:ext cx="11834072" cy="213355"/>
          </a:xfrm>
          <a:prstGeom prst="rect">
            <a:avLst/>
          </a:prstGeom>
          <a:noFill/>
          <a:ln/>
        </p:spPr>
        <p:txBody>
          <a:bodyPr wrap="square" lIns="0" tIns="0" rIns="0" bIns="0" rtlCol="0" anchor="t"/>
          <a:lstStyle/>
          <a:p>
            <a:pPr algn="l" indent="0" marL="0">
              <a:lnSpc>
                <a:spcPct val="116667"/>
              </a:lnSpc>
              <a:buNone/>
            </a:pPr>
            <a:r>
              <a:rPr lang="en-US" sz="1200" dirty="0">
                <a:solidFill>
                  <a:srgbClr val="4A5878"/>
                </a:solidFill>
                <a:latin typeface="Calibri" pitchFamily="34" charset="0"/>
                <a:ea typeface="Calibri" pitchFamily="34" charset="-122"/>
                <a:cs typeface="Calibri" pitchFamily="34" charset="-120"/>
              </a:rPr>
              <a:t>Together, the top three mean a leak from any one service, pod or log gives platform-wide SUPER_ADMIN.</a:t>
            </a:r>
            <a:endParaRPr lang="en-US" sz="1200" dirty="0"/>
          </a:p>
        </p:txBody>
      </p:sp>
      <p:sp>
        <p:nvSpPr>
          <p:cNvPr id="44" name="Text 42"/>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45" name="Text 43"/>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MONEY AND OWNERSHIP</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Razorpay is sound; the logic around it leaks money</a:t>
            </a:r>
            <a:endParaRPr lang="en-US" sz="3000" dirty="0"/>
          </a:p>
        </p:txBody>
      </p:sp>
      <p:sp>
        <p:nvSpPr>
          <p:cNvPr id="4" name="Shape 2"/>
          <p:cNvSpPr/>
          <p:nvPr/>
        </p:nvSpPr>
        <p:spPr>
          <a:xfrm>
            <a:off x="812780" y="1775376"/>
            <a:ext cx="10566136" cy="287529"/>
          </a:xfrm>
          <a:prstGeom prst="rect">
            <a:avLst/>
          </a:prstGeom>
          <a:solidFill>
            <a:srgbClr val="2454C5"/>
          </a:solidFill>
          <a:ln/>
        </p:spPr>
      </p:sp>
      <p:sp>
        <p:nvSpPr>
          <p:cNvPr id="5" name="Shape 3"/>
          <p:cNvSpPr/>
          <p:nvPr/>
        </p:nvSpPr>
        <p:spPr>
          <a:xfrm>
            <a:off x="812780" y="2059730"/>
            <a:ext cx="1267885" cy="63"/>
          </a:xfrm>
          <a:prstGeom prst="line">
            <a:avLst/>
          </a:prstGeom>
          <a:noFill/>
          <a:ln w="6350">
            <a:solidFill>
              <a:srgbClr val="D5DEEC"/>
            </a:solidFill>
            <a:prstDash val="solid"/>
          </a:ln>
        </p:spPr>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Coupon caps never enforced; customers reset counts</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Redeem server-side per booking</a:t>
            </a:r>
            <a:endParaRPr lang="en-US" sz="1200" dirty="0"/>
          </a:p>
        </p:txBody>
      </p:sp>
      <p:sp>
        <p:nvSpPr>
          <p:cNvPr id="17" name="Shape 15"/>
          <p:cNvSpPr/>
          <p:nvPr/>
        </p:nvSpPr>
        <p:spPr>
          <a:xfrm>
            <a:off x="812780" y="2353608"/>
            <a:ext cx="10566136" cy="290704"/>
          </a:xfrm>
          <a:prstGeom prst="rect">
            <a:avLst/>
          </a:prstGeom>
          <a:solidFill>
            <a:srgbClr val="EEF2F9"/>
          </a:solidFill>
          <a:ln/>
        </p:spPr>
      </p:sp>
      <p:sp>
        <p:nvSpPr>
          <p:cNvPr id="18" name="Shape 16"/>
          <p:cNvSpPr/>
          <p:nvPr/>
        </p:nvSpPr>
        <p:spPr>
          <a:xfrm>
            <a:off x="812780" y="2641137"/>
            <a:ext cx="1267885" cy="63"/>
          </a:xfrm>
          <a:prstGeom prst="line">
            <a:avLst/>
          </a:prstGeom>
          <a:noFill/>
          <a:ln w="6350">
            <a:solidFill>
              <a:srgbClr val="D5DEEC"/>
            </a:solidFill>
            <a:prstDash val="solid"/>
          </a:ln>
        </p:spPr>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Complaint refunds report success, move no money</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Call payment refunds; finance only</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Stub "stripe" gateway is live and selectable</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Remove it; allow-list razorpay</a:t>
            </a:r>
            <a:endParaRPr lang="en-US" sz="1200" dirty="0"/>
          </a:p>
        </p:txBody>
      </p:sp>
      <p:sp>
        <p:nvSpPr>
          <p:cNvPr id="30" name="Shape 28"/>
          <p:cNvSpPr/>
          <p:nvPr/>
        </p:nvSpPr>
        <p:spPr>
          <a:xfrm>
            <a:off x="812780" y="2935016"/>
            <a:ext cx="10566136" cy="290704"/>
          </a:xfrm>
          <a:prstGeom prst="rect">
            <a:avLst/>
          </a:prstGeom>
          <a:solidFill>
            <a:srgbClr val="EEF2F9"/>
          </a:solidFill>
          <a:ln/>
        </p:spPr>
      </p:sp>
      <p:sp>
        <p:nvSpPr>
          <p:cNvPr id="31" name="Shape 29"/>
          <p:cNvSpPr/>
          <p:nvPr/>
        </p:nvSpPr>
        <p:spPr>
          <a:xfrm>
            <a:off x="812780" y="3222544"/>
            <a:ext cx="1267885" cy="63"/>
          </a:xfrm>
          <a:prstGeom prst="line">
            <a:avLst/>
          </a:prstGeom>
          <a:noFill/>
          <a:ln w="6350">
            <a:solidFill>
              <a:srgbClr val="D5DEEC"/>
            </a:solidFill>
            <a:prstDash val="solid"/>
          </a:ln>
        </p:spPr>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Payouts simulated, any amount, no idempotency</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RazorpayX; amount from the wallet</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Refunds leave the provider's earning in place</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Debit the wallet on refund</a:t>
            </a:r>
            <a:endParaRPr lang="en-US" sz="1200" dirty="0"/>
          </a:p>
        </p:txBody>
      </p:sp>
      <p:sp>
        <p:nvSpPr>
          <p:cNvPr id="43" name="Shape 41"/>
          <p:cNvSpPr/>
          <p:nvPr/>
        </p:nvSpPr>
        <p:spPr>
          <a:xfrm>
            <a:off x="812780" y="3516423"/>
            <a:ext cx="10566136" cy="290704"/>
          </a:xfrm>
          <a:prstGeom prst="rect">
            <a:avLst/>
          </a:prstGeom>
          <a:solidFill>
            <a:srgbClr val="EEF2F9"/>
          </a:solidFill>
          <a:ln/>
        </p:spPr>
      </p:sp>
      <p:sp>
        <p:nvSpPr>
          <p:cNvPr id="44" name="Shape 42"/>
          <p:cNvSpPr/>
          <p:nvPr/>
        </p:nvSpPr>
        <p:spPr>
          <a:xfrm>
            <a:off x="812780" y="3803952"/>
            <a:ext cx="1267885" cy="63"/>
          </a:xfrm>
          <a:prstGeom prst="line">
            <a:avLst/>
          </a:prstGeom>
          <a:noFill/>
          <a:ln w="6350">
            <a:solidFill>
              <a:srgbClr val="D5DEEC"/>
            </a:solidFill>
            <a:prstDash val="solid"/>
          </a:ln>
        </p:spPr>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Complaints accept any bookingId and providerId</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Check the booking's participants</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Booking accepts another customer's addressId</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Verify the address owner</a:t>
            </a:r>
            <a:endParaRPr lang="en-US" sz="1200" dirty="0"/>
          </a:p>
        </p:txBody>
      </p:sp>
      <p:sp>
        <p:nvSpPr>
          <p:cNvPr id="56" name="Shape 54"/>
          <p:cNvSpPr/>
          <p:nvPr/>
        </p:nvSpPr>
        <p:spPr>
          <a:xfrm>
            <a:off x="812780" y="4097830"/>
            <a:ext cx="10566136" cy="290704"/>
          </a:xfrm>
          <a:prstGeom prst="rect">
            <a:avLst/>
          </a:prstGeom>
          <a:solidFill>
            <a:srgbClr val="EEF2F9"/>
          </a:solidFill>
          <a:ln/>
        </p:spPr>
      </p:sp>
      <p:sp>
        <p:nvSpPr>
          <p:cNvPr id="57" name="Shape 55"/>
          <p:cNvSpPr/>
          <p:nvPr/>
        </p:nvSpPr>
        <p:spPr>
          <a:xfrm>
            <a:off x="812780" y="4385359"/>
            <a:ext cx="1267885" cy="63"/>
          </a:xfrm>
          <a:prstGeom prst="line">
            <a:avLst/>
          </a:prstGeom>
          <a:noFill/>
          <a:ln w="6350">
            <a:solidFill>
              <a:srgbClr val="D5DEEC"/>
            </a:solidFill>
            <a:prstDash val="solid"/>
          </a:ln>
        </p:spPr>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Agency admin can enlist any provider by mobile</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Provider accepts an invitation</a:t>
            </a:r>
            <a:endParaRPr lang="en-US" sz="1200" dirty="0"/>
          </a:p>
        </p:txBody>
      </p:sp>
      <p:sp>
        <p:nvSpPr>
          <p:cNvPr id="63" name="Text 61"/>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64" name="Text 62"/>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INFRASTRUCTURE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Infrastructure is too open in three places</a:t>
            </a:r>
            <a:endParaRPr lang="en-US" sz="3000" dirty="0"/>
          </a:p>
        </p:txBody>
      </p:sp>
      <p:sp>
        <p:nvSpPr>
          <p:cNvPr id="4" name="Shape 2"/>
          <p:cNvSpPr/>
          <p:nvPr/>
        </p:nvSpPr>
        <p:spPr>
          <a:xfrm>
            <a:off x="812780" y="1775376"/>
            <a:ext cx="10566136" cy="287529"/>
          </a:xfrm>
          <a:prstGeom prst="rect">
            <a:avLst/>
          </a:prstGeom>
          <a:solidFill>
            <a:srgbClr val="2454C5"/>
          </a:solidFill>
          <a:ln/>
        </p:spPr>
      </p:sp>
      <p:sp>
        <p:nvSpPr>
          <p:cNvPr id="5" name="Shape 3"/>
          <p:cNvSpPr/>
          <p:nvPr/>
        </p:nvSpPr>
        <p:spPr>
          <a:xfrm>
            <a:off x="812780" y="2059730"/>
            <a:ext cx="1267885" cy="63"/>
          </a:xfrm>
          <a:prstGeom prst="line">
            <a:avLst/>
          </a:prstGeom>
          <a:noFill/>
          <a:ln w="6350">
            <a:solidFill>
              <a:srgbClr val="D5DEEC"/>
            </a:solidFill>
            <a:prstDash val="solid"/>
          </a:ln>
        </p:spPr>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EKS API endpoint is open to 0.0.0.0/0</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Private, or VPN and CI ranges</a:t>
            </a:r>
            <a:endParaRPr lang="en-US" sz="1200" dirty="0"/>
          </a:p>
        </p:txBody>
      </p:sp>
      <p:sp>
        <p:nvSpPr>
          <p:cNvPr id="17" name="Shape 15"/>
          <p:cNvSpPr/>
          <p:nvPr/>
        </p:nvSpPr>
        <p:spPr>
          <a:xfrm>
            <a:off x="812780" y="2353608"/>
            <a:ext cx="10566136" cy="290704"/>
          </a:xfrm>
          <a:prstGeom prst="rect">
            <a:avLst/>
          </a:prstGeom>
          <a:solidFill>
            <a:srgbClr val="EEF2F9"/>
          </a:solidFill>
          <a:ln/>
        </p:spPr>
      </p:sp>
      <p:sp>
        <p:nvSpPr>
          <p:cNvPr id="18" name="Shape 16"/>
          <p:cNvSpPr/>
          <p:nvPr/>
        </p:nvSpPr>
        <p:spPr>
          <a:xfrm>
            <a:off x="812780" y="2641137"/>
            <a:ext cx="1267885" cy="63"/>
          </a:xfrm>
          <a:prstGeom prst="line">
            <a:avLst/>
          </a:prstGeom>
          <a:noFill/>
          <a:ln w="6350">
            <a:solidFill>
              <a:srgbClr val="D5DEEC"/>
            </a:solidFill>
            <a:prstDash val="solid"/>
          </a:ln>
        </p:spPr>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Every pod can read every secret, even the RDS master</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One secret policy per service</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B4530F"/>
                </a:solidFill>
                <a:latin typeface="Calibri" pitchFamily="34" charset="0"/>
                <a:ea typeface="Calibri" pitchFamily="34" charset="-122"/>
                <a:cs typeface="Calibri" pitchFamily="34" charset="-120"/>
              </a:rPr>
              <a:t>High</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Local stack on 0.0.0.0; Redis has no password</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Bind 127.0.0.1; set a password</a:t>
            </a:r>
            <a:endParaRPr lang="en-US" sz="1200" dirty="0"/>
          </a:p>
        </p:txBody>
      </p:sp>
      <p:sp>
        <p:nvSpPr>
          <p:cNvPr id="30" name="Shape 28"/>
          <p:cNvSpPr/>
          <p:nvPr/>
        </p:nvSpPr>
        <p:spPr>
          <a:xfrm>
            <a:off x="812780" y="2935016"/>
            <a:ext cx="10566136" cy="290704"/>
          </a:xfrm>
          <a:prstGeom prst="rect">
            <a:avLst/>
          </a:prstGeom>
          <a:solidFill>
            <a:srgbClr val="EEF2F9"/>
          </a:solidFill>
          <a:ln/>
        </p:spPr>
      </p:sp>
      <p:sp>
        <p:nvSpPr>
          <p:cNvPr id="31" name="Shape 29"/>
          <p:cNvSpPr/>
          <p:nvPr/>
        </p:nvSpPr>
        <p:spPr>
          <a:xfrm>
            <a:off x="812780" y="3222544"/>
            <a:ext cx="1267885" cy="63"/>
          </a:xfrm>
          <a:prstGeom prst="line">
            <a:avLst/>
          </a:prstGeom>
          <a:noFill/>
          <a:ln w="6350">
            <a:solidFill>
              <a:srgbClr val="D5DEEC"/>
            </a:solidFill>
            <a:prstDash val="solid"/>
          </a:ln>
        </p:spPr>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RDS does not force TLS connections</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rds.force_ssl = 1</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Nodes lack IMDSv2 and explicit EBS encryption</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Launch template with both</a:t>
            </a:r>
            <a:endParaRPr lang="en-US" sz="1200" dirty="0"/>
          </a:p>
        </p:txBody>
      </p:sp>
      <p:sp>
        <p:nvSpPr>
          <p:cNvPr id="43" name="Shape 41"/>
          <p:cNvSpPr/>
          <p:nvPr/>
        </p:nvSpPr>
        <p:spPr>
          <a:xfrm>
            <a:off x="812780" y="3516423"/>
            <a:ext cx="10566136" cy="290704"/>
          </a:xfrm>
          <a:prstGeom prst="rect">
            <a:avLst/>
          </a:prstGeom>
          <a:solidFill>
            <a:srgbClr val="EEF2F9"/>
          </a:solidFill>
          <a:ln/>
        </p:spPr>
      </p:sp>
      <p:sp>
        <p:nvSpPr>
          <p:cNvPr id="44" name="Shape 42"/>
          <p:cNvSpPr/>
          <p:nvPr/>
        </p:nvSpPr>
        <p:spPr>
          <a:xfrm>
            <a:off x="812780" y="3803952"/>
            <a:ext cx="1267885" cy="63"/>
          </a:xfrm>
          <a:prstGeom prst="line">
            <a:avLst/>
          </a:prstGeom>
          <a:noFill/>
          <a:ln w="6350">
            <a:solidFill>
              <a:srgbClr val="D5DEEC"/>
            </a:solidFill>
            <a:prstDash val="solid"/>
          </a:ln>
        </p:spPr>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Terraform state will hold DB passwords in clear</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KMS state bucket; ignore *.tfstate</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Grafana default password and embedding allowed</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existingSecret; embedding off</a:t>
            </a:r>
            <a:endParaRPr lang="en-US" sz="1200" dirty="0"/>
          </a:p>
        </p:txBody>
      </p:sp>
      <p:sp>
        <p:nvSpPr>
          <p:cNvPr id="56" name="Shape 54"/>
          <p:cNvSpPr/>
          <p:nvPr/>
        </p:nvSpPr>
        <p:spPr>
          <a:xfrm>
            <a:off x="812780" y="4097830"/>
            <a:ext cx="10566136" cy="290704"/>
          </a:xfrm>
          <a:prstGeom prst="rect">
            <a:avLst/>
          </a:prstGeom>
          <a:solidFill>
            <a:srgbClr val="EEF2F9"/>
          </a:solidFill>
          <a:ln/>
        </p:spPr>
      </p:sp>
      <p:sp>
        <p:nvSpPr>
          <p:cNvPr id="57" name="Shape 55"/>
          <p:cNvSpPr/>
          <p:nvPr/>
        </p:nvSpPr>
        <p:spPr>
          <a:xfrm>
            <a:off x="812780" y="4385359"/>
            <a:ext cx="1267885" cy="63"/>
          </a:xfrm>
          <a:prstGeom prst="line">
            <a:avLst/>
          </a:prstGeom>
          <a:noFill/>
          <a:ln w="6350">
            <a:solidFill>
              <a:srgbClr val="D5DEEC"/>
            </a:solidFill>
            <a:prstDash val="solid"/>
          </a:ln>
        </p:spPr>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Tag-pinned actions and images; EKS 1.29</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Pin by SHA or digest; upgrade</a:t>
            </a:r>
            <a:endParaRPr lang="en-US" sz="1200" dirty="0"/>
          </a:p>
        </p:txBody>
      </p:sp>
      <p:sp>
        <p:nvSpPr>
          <p:cNvPr id="63" name="Text 61"/>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64" name="Text 62"/>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FINDINGS · WEB, APPS AND HYGIENE</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The browser side needs defence in depth</a:t>
            </a:r>
            <a:endParaRPr lang="en-US" sz="3000" dirty="0"/>
          </a:p>
        </p:txBody>
      </p:sp>
      <p:sp>
        <p:nvSpPr>
          <p:cNvPr id="4" name="Shape 2"/>
          <p:cNvSpPr/>
          <p:nvPr/>
        </p:nvSpPr>
        <p:spPr>
          <a:xfrm>
            <a:off x="812780" y="1775376"/>
            <a:ext cx="10566136" cy="287529"/>
          </a:xfrm>
          <a:prstGeom prst="rect">
            <a:avLst/>
          </a:prstGeom>
          <a:solidFill>
            <a:srgbClr val="2454C5"/>
          </a:solidFill>
          <a:ln/>
        </p:spPr>
      </p:sp>
      <p:sp>
        <p:nvSpPr>
          <p:cNvPr id="5" name="Shape 3"/>
          <p:cNvSpPr/>
          <p:nvPr/>
        </p:nvSpPr>
        <p:spPr>
          <a:xfrm>
            <a:off x="812780" y="2059730"/>
            <a:ext cx="1267885" cy="63"/>
          </a:xfrm>
          <a:prstGeom prst="line">
            <a:avLst/>
          </a:prstGeom>
          <a:noFill/>
          <a:ln w="6350">
            <a:solidFill>
              <a:srgbClr val="D5DEEC"/>
            </a:solidFill>
            <a:prstDash val="solid"/>
          </a:ln>
        </p:spPr>
      </p:sp>
      <p:sp>
        <p:nvSpPr>
          <p:cNvPr id="6" name="Text 4"/>
          <p:cNvSpPr txBox="1"/>
          <p:nvPr/>
        </p:nvSpPr>
        <p:spPr>
          <a:xfrm>
            <a:off x="904217" y="1828715"/>
            <a:ext cx="1215210"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Severity</a:t>
            </a:r>
            <a:endParaRPr lang="en-US" sz="1200" dirty="0"/>
          </a:p>
        </p:txBody>
      </p:sp>
      <p:sp>
        <p:nvSpPr>
          <p:cNvPr id="7" name="Shape 5"/>
          <p:cNvSpPr/>
          <p:nvPr/>
        </p:nvSpPr>
        <p:spPr>
          <a:xfrm>
            <a:off x="2080664" y="2059730"/>
            <a:ext cx="5494399" cy="63"/>
          </a:xfrm>
          <a:prstGeom prst="line">
            <a:avLst/>
          </a:prstGeom>
          <a:noFill/>
          <a:ln w="6350">
            <a:solidFill>
              <a:srgbClr val="D5DEEC"/>
            </a:solidFill>
            <a:prstDash val="solid"/>
          </a:ln>
        </p:spPr>
      </p:sp>
      <p:sp>
        <p:nvSpPr>
          <p:cNvPr id="8" name="Text 6"/>
          <p:cNvSpPr txBox="1"/>
          <p:nvPr/>
        </p:nvSpPr>
        <p:spPr>
          <a:xfrm>
            <a:off x="2172102" y="1828715"/>
            <a:ext cx="5948906"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Finding</a:t>
            </a:r>
            <a:endParaRPr lang="en-US" sz="1200" dirty="0"/>
          </a:p>
        </p:txBody>
      </p:sp>
      <p:sp>
        <p:nvSpPr>
          <p:cNvPr id="9" name="Shape 7"/>
          <p:cNvSpPr/>
          <p:nvPr/>
        </p:nvSpPr>
        <p:spPr>
          <a:xfrm>
            <a:off x="7575063" y="2059730"/>
            <a:ext cx="3803853" cy="63"/>
          </a:xfrm>
          <a:prstGeom prst="line">
            <a:avLst/>
          </a:prstGeom>
          <a:noFill/>
          <a:ln w="6350">
            <a:solidFill>
              <a:srgbClr val="D5DEEC"/>
            </a:solidFill>
            <a:prstDash val="solid"/>
          </a:ln>
        </p:spPr>
      </p:sp>
      <p:sp>
        <p:nvSpPr>
          <p:cNvPr id="10" name="Text 8"/>
          <p:cNvSpPr txBox="1"/>
          <p:nvPr/>
        </p:nvSpPr>
        <p:spPr>
          <a:xfrm>
            <a:off x="7666501" y="1828715"/>
            <a:ext cx="4055494" cy="182875"/>
          </a:xfrm>
          <a:prstGeom prst="rect">
            <a:avLst/>
          </a:prstGeom>
          <a:noFill/>
          <a:ln/>
        </p:spPr>
        <p:txBody>
          <a:bodyPr wrap="square" lIns="0" tIns="0" rIns="0" bIns="0" rtlCol="0" anchor="t"/>
          <a:lstStyle/>
          <a:p>
            <a:pPr algn="l" indent="0" marL="0">
              <a:lnSpc>
                <a:spcPct val="100000"/>
              </a:lnSpc>
              <a:buNone/>
            </a:pPr>
            <a:r>
              <a:rPr lang="en-US" sz="1200" b="1" dirty="0">
                <a:solidFill>
                  <a:srgbClr val="F8FAFF"/>
                </a:solidFill>
                <a:latin typeface="Calibri" pitchFamily="34" charset="0"/>
                <a:ea typeface="Calibri" pitchFamily="34" charset="-122"/>
                <a:cs typeface="Calibri" pitchFamily="34" charset="-120"/>
              </a:rPr>
              <a:t>Fix</a:t>
            </a:r>
            <a:endParaRPr lang="en-US" sz="1200" dirty="0"/>
          </a:p>
        </p:txBody>
      </p:sp>
      <p:sp>
        <p:nvSpPr>
          <p:cNvPr id="11" name="Shape 9"/>
          <p:cNvSpPr/>
          <p:nvPr/>
        </p:nvSpPr>
        <p:spPr>
          <a:xfrm>
            <a:off x="812780" y="2350433"/>
            <a:ext cx="1267885" cy="63"/>
          </a:xfrm>
          <a:prstGeom prst="line">
            <a:avLst/>
          </a:prstGeom>
          <a:noFill/>
          <a:ln w="6350">
            <a:solidFill>
              <a:srgbClr val="D5DEEC"/>
            </a:solidFill>
            <a:prstDash val="solid"/>
          </a:ln>
        </p:spPr>
      </p:sp>
      <p:sp>
        <p:nvSpPr>
          <p:cNvPr id="12" name="Text 10"/>
          <p:cNvSpPr txBox="1"/>
          <p:nvPr/>
        </p:nvSpPr>
        <p:spPr>
          <a:xfrm>
            <a:off x="904217" y="211624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13" name="Shape 11"/>
          <p:cNvSpPr/>
          <p:nvPr/>
        </p:nvSpPr>
        <p:spPr>
          <a:xfrm>
            <a:off x="2080664" y="2350433"/>
            <a:ext cx="5494399" cy="63"/>
          </a:xfrm>
          <a:prstGeom prst="line">
            <a:avLst/>
          </a:prstGeom>
          <a:noFill/>
          <a:ln w="6350">
            <a:solidFill>
              <a:srgbClr val="D5DEEC"/>
            </a:solidFill>
            <a:prstDash val="solid"/>
          </a:ln>
        </p:spPr>
      </p:sp>
      <p:sp>
        <p:nvSpPr>
          <p:cNvPr id="14" name="Text 12"/>
          <p:cNvSpPr txBox="1"/>
          <p:nvPr/>
        </p:nvSpPr>
        <p:spPr>
          <a:xfrm>
            <a:off x="2172102" y="211624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30-day refresh token kept in localStorage</a:t>
            </a:r>
            <a:endParaRPr lang="en-US" sz="1200" dirty="0"/>
          </a:p>
        </p:txBody>
      </p:sp>
      <p:sp>
        <p:nvSpPr>
          <p:cNvPr id="15" name="Shape 13"/>
          <p:cNvSpPr/>
          <p:nvPr/>
        </p:nvSpPr>
        <p:spPr>
          <a:xfrm>
            <a:off x="7575063" y="2350433"/>
            <a:ext cx="3803853" cy="63"/>
          </a:xfrm>
          <a:prstGeom prst="line">
            <a:avLst/>
          </a:prstGeom>
          <a:noFill/>
          <a:ln w="6350">
            <a:solidFill>
              <a:srgbClr val="D5DEEC"/>
            </a:solidFill>
            <a:prstDash val="solid"/>
          </a:ln>
        </p:spPr>
      </p:sp>
      <p:sp>
        <p:nvSpPr>
          <p:cNvPr id="16" name="Text 14"/>
          <p:cNvSpPr txBox="1"/>
          <p:nvPr/>
        </p:nvSpPr>
        <p:spPr>
          <a:xfrm>
            <a:off x="7666501" y="211624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HttpOnly SameSite cookie</a:t>
            </a:r>
            <a:endParaRPr lang="en-US" sz="1200" dirty="0"/>
          </a:p>
        </p:txBody>
      </p:sp>
      <p:sp>
        <p:nvSpPr>
          <p:cNvPr id="17" name="Shape 15"/>
          <p:cNvSpPr/>
          <p:nvPr/>
        </p:nvSpPr>
        <p:spPr>
          <a:xfrm>
            <a:off x="812780" y="2353608"/>
            <a:ext cx="10566136" cy="290704"/>
          </a:xfrm>
          <a:prstGeom prst="rect">
            <a:avLst/>
          </a:prstGeom>
          <a:solidFill>
            <a:srgbClr val="EEF2F9"/>
          </a:solidFill>
          <a:ln/>
        </p:spPr>
      </p:sp>
      <p:sp>
        <p:nvSpPr>
          <p:cNvPr id="18" name="Shape 16"/>
          <p:cNvSpPr/>
          <p:nvPr/>
        </p:nvSpPr>
        <p:spPr>
          <a:xfrm>
            <a:off x="812780" y="2641137"/>
            <a:ext cx="1267885" cy="63"/>
          </a:xfrm>
          <a:prstGeom prst="line">
            <a:avLst/>
          </a:prstGeom>
          <a:noFill/>
          <a:ln w="6350">
            <a:solidFill>
              <a:srgbClr val="D5DEEC"/>
            </a:solidFill>
            <a:prstDash val="solid"/>
          </a:ln>
        </p:spPr>
      </p:sp>
      <p:sp>
        <p:nvSpPr>
          <p:cNvPr id="19" name="Text 17"/>
          <p:cNvSpPr txBox="1"/>
          <p:nvPr/>
        </p:nvSpPr>
        <p:spPr>
          <a:xfrm>
            <a:off x="904217" y="2406947"/>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0" name="Shape 18"/>
          <p:cNvSpPr/>
          <p:nvPr/>
        </p:nvSpPr>
        <p:spPr>
          <a:xfrm>
            <a:off x="2080664" y="2641137"/>
            <a:ext cx="5494399" cy="63"/>
          </a:xfrm>
          <a:prstGeom prst="line">
            <a:avLst/>
          </a:prstGeom>
          <a:noFill/>
          <a:ln w="6350">
            <a:solidFill>
              <a:srgbClr val="D5DEEC"/>
            </a:solidFill>
            <a:prstDash val="solid"/>
          </a:ln>
        </p:spPr>
      </p:sp>
      <p:sp>
        <p:nvSpPr>
          <p:cNvPr id="21" name="Text 19"/>
          <p:cNvSpPr txBox="1"/>
          <p:nvPr/>
        </p:nvSpPr>
        <p:spPr>
          <a:xfrm>
            <a:off x="2172102" y="2406947"/>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No CSP or HSTS; nginx containers run as root</a:t>
            </a:r>
            <a:endParaRPr lang="en-US" sz="1200" dirty="0"/>
          </a:p>
        </p:txBody>
      </p:sp>
      <p:sp>
        <p:nvSpPr>
          <p:cNvPr id="22" name="Shape 20"/>
          <p:cNvSpPr/>
          <p:nvPr/>
        </p:nvSpPr>
        <p:spPr>
          <a:xfrm>
            <a:off x="7575063" y="2641137"/>
            <a:ext cx="3803853" cy="63"/>
          </a:xfrm>
          <a:prstGeom prst="line">
            <a:avLst/>
          </a:prstGeom>
          <a:noFill/>
          <a:ln w="6350">
            <a:solidFill>
              <a:srgbClr val="D5DEEC"/>
            </a:solidFill>
            <a:prstDash val="solid"/>
          </a:ln>
        </p:spPr>
      </p:sp>
      <p:sp>
        <p:nvSpPr>
          <p:cNvPr id="23" name="Text 21"/>
          <p:cNvSpPr txBox="1"/>
          <p:nvPr/>
        </p:nvSpPr>
        <p:spPr>
          <a:xfrm>
            <a:off x="7666501" y="2406947"/>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Add headers; nginx-unprivileged</a:t>
            </a:r>
            <a:endParaRPr lang="en-US" sz="1200" dirty="0"/>
          </a:p>
        </p:txBody>
      </p:sp>
      <p:sp>
        <p:nvSpPr>
          <p:cNvPr id="24" name="Shape 22"/>
          <p:cNvSpPr/>
          <p:nvPr/>
        </p:nvSpPr>
        <p:spPr>
          <a:xfrm>
            <a:off x="812780" y="2931841"/>
            <a:ext cx="1267885" cy="63"/>
          </a:xfrm>
          <a:prstGeom prst="line">
            <a:avLst/>
          </a:prstGeom>
          <a:noFill/>
          <a:ln w="6350">
            <a:solidFill>
              <a:srgbClr val="D5DEEC"/>
            </a:solidFill>
            <a:prstDash val="solid"/>
          </a:ln>
        </p:spPr>
      </p:sp>
      <p:sp>
        <p:nvSpPr>
          <p:cNvPr id="25" name="Text 23"/>
          <p:cNvSpPr txBox="1"/>
          <p:nvPr/>
        </p:nvSpPr>
        <p:spPr>
          <a:xfrm>
            <a:off x="904217" y="2697651"/>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26" name="Shape 24"/>
          <p:cNvSpPr/>
          <p:nvPr/>
        </p:nvSpPr>
        <p:spPr>
          <a:xfrm>
            <a:off x="2080664" y="2931841"/>
            <a:ext cx="5494399" cy="63"/>
          </a:xfrm>
          <a:prstGeom prst="line">
            <a:avLst/>
          </a:prstGeom>
          <a:noFill/>
          <a:ln w="6350">
            <a:solidFill>
              <a:srgbClr val="D5DEEC"/>
            </a:solidFill>
            <a:prstDash val="solid"/>
          </a:ln>
        </p:spPr>
      </p:sp>
      <p:sp>
        <p:nvSpPr>
          <p:cNvPr id="27" name="Text 25"/>
          <p:cNvSpPr txBox="1"/>
          <p:nvPr/>
        </p:nvSpPr>
        <p:spPr>
          <a:xfrm>
            <a:off x="2172102" y="2697651"/>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/metrics and /prometheus are public</a:t>
            </a:r>
            <a:endParaRPr lang="en-US" sz="1200" dirty="0"/>
          </a:p>
        </p:txBody>
      </p:sp>
      <p:sp>
        <p:nvSpPr>
          <p:cNvPr id="28" name="Shape 26"/>
          <p:cNvSpPr/>
          <p:nvPr/>
        </p:nvSpPr>
        <p:spPr>
          <a:xfrm>
            <a:off x="7575063" y="2931841"/>
            <a:ext cx="3803853" cy="63"/>
          </a:xfrm>
          <a:prstGeom prst="line">
            <a:avLst/>
          </a:prstGeom>
          <a:noFill/>
          <a:ln w="6350">
            <a:solidFill>
              <a:srgbClr val="D5DEEC"/>
            </a:solidFill>
            <a:prstDash val="solid"/>
          </a:ln>
        </p:spPr>
      </p:sp>
      <p:sp>
        <p:nvSpPr>
          <p:cNvPr id="29" name="Text 27"/>
          <p:cNvSpPr txBox="1"/>
          <p:nvPr/>
        </p:nvSpPr>
        <p:spPr>
          <a:xfrm>
            <a:off x="7666501" y="2697651"/>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Separate management port</a:t>
            </a:r>
            <a:endParaRPr lang="en-US" sz="1200" dirty="0"/>
          </a:p>
        </p:txBody>
      </p:sp>
      <p:sp>
        <p:nvSpPr>
          <p:cNvPr id="30" name="Shape 28"/>
          <p:cNvSpPr/>
          <p:nvPr/>
        </p:nvSpPr>
        <p:spPr>
          <a:xfrm>
            <a:off x="812780" y="2935016"/>
            <a:ext cx="10566136" cy="290704"/>
          </a:xfrm>
          <a:prstGeom prst="rect">
            <a:avLst/>
          </a:prstGeom>
          <a:solidFill>
            <a:srgbClr val="EEF2F9"/>
          </a:solidFill>
          <a:ln/>
        </p:spPr>
      </p:sp>
      <p:sp>
        <p:nvSpPr>
          <p:cNvPr id="31" name="Shape 29"/>
          <p:cNvSpPr/>
          <p:nvPr/>
        </p:nvSpPr>
        <p:spPr>
          <a:xfrm>
            <a:off x="812780" y="3222544"/>
            <a:ext cx="1267885" cy="63"/>
          </a:xfrm>
          <a:prstGeom prst="line">
            <a:avLst/>
          </a:prstGeom>
          <a:noFill/>
          <a:ln w="6350">
            <a:solidFill>
              <a:srgbClr val="D5DEEC"/>
            </a:solidFill>
            <a:prstDash val="solid"/>
          </a:ln>
        </p:spPr>
      </p:sp>
      <p:sp>
        <p:nvSpPr>
          <p:cNvPr id="32" name="Text 30"/>
          <p:cNvSpPr txBox="1"/>
          <p:nvPr/>
        </p:nvSpPr>
        <p:spPr>
          <a:xfrm>
            <a:off x="904217" y="2988354"/>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3" name="Shape 31"/>
          <p:cNvSpPr/>
          <p:nvPr/>
        </p:nvSpPr>
        <p:spPr>
          <a:xfrm>
            <a:off x="2080664" y="3222544"/>
            <a:ext cx="5494399" cy="63"/>
          </a:xfrm>
          <a:prstGeom prst="line">
            <a:avLst/>
          </a:prstGeom>
          <a:noFill/>
          <a:ln w="6350">
            <a:solidFill>
              <a:srgbClr val="D5DEEC"/>
            </a:solidFill>
            <a:prstDash val="solid"/>
          </a:ln>
        </p:spPr>
      </p:sp>
      <p:sp>
        <p:nvSpPr>
          <p:cNvPr id="34" name="Text 32"/>
          <p:cNvSpPr txBox="1"/>
          <p:nvPr/>
        </p:nvSpPr>
        <p:spPr>
          <a:xfrm>
            <a:off x="2172102" y="2988354"/>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Uploads trust the client's content type</a:t>
            </a:r>
            <a:endParaRPr lang="en-US" sz="1200" dirty="0"/>
          </a:p>
        </p:txBody>
      </p:sp>
      <p:sp>
        <p:nvSpPr>
          <p:cNvPr id="35" name="Shape 33"/>
          <p:cNvSpPr/>
          <p:nvPr/>
        </p:nvSpPr>
        <p:spPr>
          <a:xfrm>
            <a:off x="7575063" y="3222544"/>
            <a:ext cx="3803853" cy="63"/>
          </a:xfrm>
          <a:prstGeom prst="line">
            <a:avLst/>
          </a:prstGeom>
          <a:noFill/>
          <a:ln w="6350">
            <a:solidFill>
              <a:srgbClr val="D5DEEC"/>
            </a:solidFill>
            <a:prstDash val="solid"/>
          </a:ln>
        </p:spPr>
      </p:sp>
      <p:sp>
        <p:nvSpPr>
          <p:cNvPr id="36" name="Text 34"/>
          <p:cNvSpPr txBox="1"/>
          <p:nvPr/>
        </p:nvSpPr>
        <p:spPr>
          <a:xfrm>
            <a:off x="7666501" y="2988354"/>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Magic-byte allow-list</a:t>
            </a:r>
            <a:endParaRPr lang="en-US" sz="1200" dirty="0"/>
          </a:p>
        </p:txBody>
      </p:sp>
      <p:sp>
        <p:nvSpPr>
          <p:cNvPr id="37" name="Shape 35"/>
          <p:cNvSpPr/>
          <p:nvPr/>
        </p:nvSpPr>
        <p:spPr>
          <a:xfrm>
            <a:off x="812780" y="3513248"/>
            <a:ext cx="1267885" cy="63"/>
          </a:xfrm>
          <a:prstGeom prst="line">
            <a:avLst/>
          </a:prstGeom>
          <a:noFill/>
          <a:ln w="6350">
            <a:solidFill>
              <a:srgbClr val="D5DEEC"/>
            </a:solidFill>
            <a:prstDash val="solid"/>
          </a:ln>
        </p:spPr>
      </p:sp>
      <p:sp>
        <p:nvSpPr>
          <p:cNvPr id="38" name="Text 36"/>
          <p:cNvSpPr txBox="1"/>
          <p:nvPr/>
        </p:nvSpPr>
        <p:spPr>
          <a:xfrm>
            <a:off x="904217" y="3279058"/>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2454C5"/>
                </a:solidFill>
                <a:latin typeface="Calibri" pitchFamily="34" charset="0"/>
                <a:ea typeface="Calibri" pitchFamily="34" charset="-122"/>
                <a:cs typeface="Calibri" pitchFamily="34" charset="-120"/>
              </a:rPr>
              <a:t>Medium</a:t>
            </a:r>
            <a:endParaRPr lang="en-US" sz="1200" dirty="0"/>
          </a:p>
        </p:txBody>
      </p:sp>
      <p:sp>
        <p:nvSpPr>
          <p:cNvPr id="39" name="Shape 37"/>
          <p:cNvSpPr/>
          <p:nvPr/>
        </p:nvSpPr>
        <p:spPr>
          <a:xfrm>
            <a:off x="2080664" y="3513248"/>
            <a:ext cx="5494399" cy="63"/>
          </a:xfrm>
          <a:prstGeom prst="line">
            <a:avLst/>
          </a:prstGeom>
          <a:noFill/>
          <a:ln w="6350">
            <a:solidFill>
              <a:srgbClr val="D5DEEC"/>
            </a:solidFill>
            <a:prstDash val="solid"/>
          </a:ln>
        </p:spPr>
      </p:sp>
      <p:sp>
        <p:nvSpPr>
          <p:cNvPr id="40" name="Text 38"/>
          <p:cNvSpPr txBox="1"/>
          <p:nvPr/>
        </p:nvSpPr>
        <p:spPr>
          <a:xfrm>
            <a:off x="2172102" y="3279058"/>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OTP codes hashed with SHA-256, salted by phone</a:t>
            </a:r>
            <a:endParaRPr lang="en-US" sz="1200" dirty="0"/>
          </a:p>
        </p:txBody>
      </p:sp>
      <p:sp>
        <p:nvSpPr>
          <p:cNvPr id="41" name="Shape 39"/>
          <p:cNvSpPr/>
          <p:nvPr/>
        </p:nvSpPr>
        <p:spPr>
          <a:xfrm>
            <a:off x="7575063" y="3513248"/>
            <a:ext cx="3803853" cy="63"/>
          </a:xfrm>
          <a:prstGeom prst="line">
            <a:avLst/>
          </a:prstGeom>
          <a:noFill/>
          <a:ln w="6350">
            <a:solidFill>
              <a:srgbClr val="D5DEEC"/>
            </a:solidFill>
            <a:prstDash val="solid"/>
          </a:ln>
        </p:spPr>
      </p:sp>
      <p:sp>
        <p:nvSpPr>
          <p:cNvPr id="42" name="Text 40"/>
          <p:cNvSpPr txBox="1"/>
          <p:nvPr/>
        </p:nvSpPr>
        <p:spPr>
          <a:xfrm>
            <a:off x="7666501" y="3279058"/>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HMAC with a server key</a:t>
            </a:r>
            <a:endParaRPr lang="en-US" sz="1200" dirty="0"/>
          </a:p>
        </p:txBody>
      </p:sp>
      <p:sp>
        <p:nvSpPr>
          <p:cNvPr id="43" name="Shape 41"/>
          <p:cNvSpPr/>
          <p:nvPr/>
        </p:nvSpPr>
        <p:spPr>
          <a:xfrm>
            <a:off x="812780" y="3516423"/>
            <a:ext cx="10566136" cy="290704"/>
          </a:xfrm>
          <a:prstGeom prst="rect">
            <a:avLst/>
          </a:prstGeom>
          <a:solidFill>
            <a:srgbClr val="EEF2F9"/>
          </a:solidFill>
          <a:ln/>
        </p:spPr>
      </p:sp>
      <p:sp>
        <p:nvSpPr>
          <p:cNvPr id="44" name="Shape 42"/>
          <p:cNvSpPr/>
          <p:nvPr/>
        </p:nvSpPr>
        <p:spPr>
          <a:xfrm>
            <a:off x="812780" y="3803952"/>
            <a:ext cx="1267885" cy="63"/>
          </a:xfrm>
          <a:prstGeom prst="line">
            <a:avLst/>
          </a:prstGeom>
          <a:noFill/>
          <a:ln w="6350">
            <a:solidFill>
              <a:srgbClr val="D5DEEC"/>
            </a:solidFill>
            <a:prstDash val="solid"/>
          </a:ln>
        </p:spPr>
      </p:sp>
      <p:sp>
        <p:nvSpPr>
          <p:cNvPr id="45" name="Text 43"/>
          <p:cNvSpPr txBox="1"/>
          <p:nvPr/>
        </p:nvSpPr>
        <p:spPr>
          <a:xfrm>
            <a:off x="904217" y="3569762"/>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46" name="Shape 44"/>
          <p:cNvSpPr/>
          <p:nvPr/>
        </p:nvSpPr>
        <p:spPr>
          <a:xfrm>
            <a:off x="2080664" y="3803952"/>
            <a:ext cx="5494399" cy="63"/>
          </a:xfrm>
          <a:prstGeom prst="line">
            <a:avLst/>
          </a:prstGeom>
          <a:noFill/>
          <a:ln w="6350">
            <a:solidFill>
              <a:srgbClr val="D5DEEC"/>
            </a:solidFill>
            <a:prstDash val="solid"/>
          </a:ln>
        </p:spPr>
      </p:sp>
      <p:sp>
        <p:nvSpPr>
          <p:cNvPr id="47" name="Text 45"/>
          <p:cNvSpPr txBox="1"/>
          <p:nvPr/>
        </p:nvSpPr>
        <p:spPr>
          <a:xfrm>
            <a:off x="2172102" y="3569762"/>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Client IP parsed by hand from X-Forwarded-For</a:t>
            </a:r>
            <a:endParaRPr lang="en-US" sz="1200" dirty="0"/>
          </a:p>
        </p:txBody>
      </p:sp>
      <p:sp>
        <p:nvSpPr>
          <p:cNvPr id="48" name="Shape 46"/>
          <p:cNvSpPr/>
          <p:nvPr/>
        </p:nvSpPr>
        <p:spPr>
          <a:xfrm>
            <a:off x="7575063" y="3803952"/>
            <a:ext cx="3803853" cy="63"/>
          </a:xfrm>
          <a:prstGeom prst="line">
            <a:avLst/>
          </a:prstGeom>
          <a:noFill/>
          <a:ln w="6350">
            <a:solidFill>
              <a:srgbClr val="D5DEEC"/>
            </a:solidFill>
            <a:prstDash val="solid"/>
          </a:ln>
        </p:spPr>
      </p:sp>
      <p:sp>
        <p:nvSpPr>
          <p:cNvPr id="49" name="Text 47"/>
          <p:cNvSpPr txBox="1"/>
          <p:nvPr/>
        </p:nvSpPr>
        <p:spPr>
          <a:xfrm>
            <a:off x="7666501" y="3569762"/>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Trusted-proxy configuration</a:t>
            </a:r>
            <a:endParaRPr lang="en-US" sz="1200" dirty="0"/>
          </a:p>
        </p:txBody>
      </p:sp>
      <p:sp>
        <p:nvSpPr>
          <p:cNvPr id="50" name="Shape 48"/>
          <p:cNvSpPr/>
          <p:nvPr/>
        </p:nvSpPr>
        <p:spPr>
          <a:xfrm>
            <a:off x="812780" y="4094655"/>
            <a:ext cx="1267885" cy="63"/>
          </a:xfrm>
          <a:prstGeom prst="line">
            <a:avLst/>
          </a:prstGeom>
          <a:noFill/>
          <a:ln w="6350">
            <a:solidFill>
              <a:srgbClr val="D5DEEC"/>
            </a:solidFill>
            <a:prstDash val="solid"/>
          </a:ln>
        </p:spPr>
      </p:sp>
      <p:sp>
        <p:nvSpPr>
          <p:cNvPr id="51" name="Text 49"/>
          <p:cNvSpPr txBox="1"/>
          <p:nvPr/>
        </p:nvSpPr>
        <p:spPr>
          <a:xfrm>
            <a:off x="904217" y="3860465"/>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2" name="Shape 50"/>
          <p:cNvSpPr/>
          <p:nvPr/>
        </p:nvSpPr>
        <p:spPr>
          <a:xfrm>
            <a:off x="2080664" y="4094655"/>
            <a:ext cx="5494399" cy="63"/>
          </a:xfrm>
          <a:prstGeom prst="line">
            <a:avLst/>
          </a:prstGeom>
          <a:noFill/>
          <a:ln w="6350">
            <a:solidFill>
              <a:srgbClr val="D5DEEC"/>
            </a:solidFill>
            <a:prstDash val="solid"/>
          </a:ln>
        </p:spPr>
      </p:sp>
      <p:sp>
        <p:nvSpPr>
          <p:cNvPr id="53" name="Text 51"/>
          <p:cNvSpPr txBox="1"/>
          <p:nvPr/>
        </p:nvSpPr>
        <p:spPr>
          <a:xfrm>
            <a:off x="2172102" y="3860465"/>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Any role can create bookings; unmatched paths open</a:t>
            </a:r>
            <a:endParaRPr lang="en-US" sz="1200" dirty="0"/>
          </a:p>
        </p:txBody>
      </p:sp>
      <p:sp>
        <p:nvSpPr>
          <p:cNvPr id="54" name="Shape 52"/>
          <p:cNvSpPr/>
          <p:nvPr/>
        </p:nvSpPr>
        <p:spPr>
          <a:xfrm>
            <a:off x="7575063" y="4094655"/>
            <a:ext cx="3803853" cy="63"/>
          </a:xfrm>
          <a:prstGeom prst="line">
            <a:avLst/>
          </a:prstGeom>
          <a:noFill/>
          <a:ln w="6350">
            <a:solidFill>
              <a:srgbClr val="D5DEEC"/>
            </a:solidFill>
            <a:prstDash val="solid"/>
          </a:ln>
        </p:spPr>
      </p:sp>
      <p:sp>
        <p:nvSpPr>
          <p:cNvPr id="55" name="Text 53"/>
          <p:cNvSpPr txBox="1"/>
          <p:nvPr/>
        </p:nvSpPr>
        <p:spPr>
          <a:xfrm>
            <a:off x="7666501" y="3860465"/>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CUSTOMER rule; fail closed</a:t>
            </a:r>
            <a:endParaRPr lang="en-US" sz="1200" dirty="0"/>
          </a:p>
        </p:txBody>
      </p:sp>
      <p:sp>
        <p:nvSpPr>
          <p:cNvPr id="56" name="Shape 54"/>
          <p:cNvSpPr/>
          <p:nvPr/>
        </p:nvSpPr>
        <p:spPr>
          <a:xfrm>
            <a:off x="812780" y="4097830"/>
            <a:ext cx="10566136" cy="290704"/>
          </a:xfrm>
          <a:prstGeom prst="rect">
            <a:avLst/>
          </a:prstGeom>
          <a:solidFill>
            <a:srgbClr val="EEF2F9"/>
          </a:solidFill>
          <a:ln/>
        </p:spPr>
      </p:sp>
      <p:sp>
        <p:nvSpPr>
          <p:cNvPr id="57" name="Shape 55"/>
          <p:cNvSpPr/>
          <p:nvPr/>
        </p:nvSpPr>
        <p:spPr>
          <a:xfrm>
            <a:off x="812780" y="4385359"/>
            <a:ext cx="1267885" cy="63"/>
          </a:xfrm>
          <a:prstGeom prst="line">
            <a:avLst/>
          </a:prstGeom>
          <a:noFill/>
          <a:ln w="6350">
            <a:solidFill>
              <a:srgbClr val="D5DEEC"/>
            </a:solidFill>
            <a:prstDash val="solid"/>
          </a:ln>
        </p:spPr>
      </p:sp>
      <p:sp>
        <p:nvSpPr>
          <p:cNvPr id="58" name="Text 56"/>
          <p:cNvSpPr txBox="1"/>
          <p:nvPr/>
        </p:nvSpPr>
        <p:spPr>
          <a:xfrm>
            <a:off x="904217" y="4151169"/>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59" name="Shape 57"/>
          <p:cNvSpPr/>
          <p:nvPr/>
        </p:nvSpPr>
        <p:spPr>
          <a:xfrm>
            <a:off x="2080664" y="4385359"/>
            <a:ext cx="5494399" cy="63"/>
          </a:xfrm>
          <a:prstGeom prst="line">
            <a:avLst/>
          </a:prstGeom>
          <a:noFill/>
          <a:ln w="6350">
            <a:solidFill>
              <a:srgbClr val="D5DEEC"/>
            </a:solidFill>
            <a:prstDash val="solid"/>
          </a:ln>
        </p:spPr>
      </p:sp>
      <p:sp>
        <p:nvSpPr>
          <p:cNvPr id="60" name="Text 58"/>
          <p:cNvSpPr txBox="1"/>
          <p:nvPr/>
        </p:nvSpPr>
        <p:spPr>
          <a:xfrm>
            <a:off x="2172102" y="4151169"/>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Tracked bin/, crash logs and scratch files</a:t>
            </a:r>
            <a:endParaRPr lang="en-US" sz="1200" dirty="0"/>
          </a:p>
        </p:txBody>
      </p:sp>
      <p:sp>
        <p:nvSpPr>
          <p:cNvPr id="61" name="Shape 59"/>
          <p:cNvSpPr/>
          <p:nvPr/>
        </p:nvSpPr>
        <p:spPr>
          <a:xfrm>
            <a:off x="7575063" y="4385359"/>
            <a:ext cx="3803853" cy="63"/>
          </a:xfrm>
          <a:prstGeom prst="line">
            <a:avLst/>
          </a:prstGeom>
          <a:noFill/>
          <a:ln w="6350">
            <a:solidFill>
              <a:srgbClr val="D5DEEC"/>
            </a:solidFill>
            <a:prstDash val="solid"/>
          </a:ln>
        </p:spPr>
      </p:sp>
      <p:sp>
        <p:nvSpPr>
          <p:cNvPr id="62" name="Text 60"/>
          <p:cNvSpPr txBox="1"/>
          <p:nvPr/>
        </p:nvSpPr>
        <p:spPr>
          <a:xfrm>
            <a:off x="7666501" y="4151169"/>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git rm; extend .gitignore</a:t>
            </a:r>
            <a:endParaRPr lang="en-US" sz="1200" dirty="0"/>
          </a:p>
        </p:txBody>
      </p:sp>
      <p:sp>
        <p:nvSpPr>
          <p:cNvPr id="63" name="Shape 61"/>
          <p:cNvSpPr/>
          <p:nvPr/>
        </p:nvSpPr>
        <p:spPr>
          <a:xfrm>
            <a:off x="812780" y="4676063"/>
            <a:ext cx="1267885" cy="63"/>
          </a:xfrm>
          <a:prstGeom prst="line">
            <a:avLst/>
          </a:prstGeom>
          <a:noFill/>
          <a:ln w="6350">
            <a:solidFill>
              <a:srgbClr val="D5DEEC"/>
            </a:solidFill>
            <a:prstDash val="solid"/>
          </a:ln>
        </p:spPr>
      </p:sp>
      <p:sp>
        <p:nvSpPr>
          <p:cNvPr id="64" name="Text 62"/>
          <p:cNvSpPr txBox="1"/>
          <p:nvPr/>
        </p:nvSpPr>
        <p:spPr>
          <a:xfrm>
            <a:off x="904217" y="4441873"/>
            <a:ext cx="1215210" cy="182875"/>
          </a:xfrm>
          <a:prstGeom prst="rect">
            <a:avLst/>
          </a:prstGeom>
          <a:noFill/>
          <a:ln/>
        </p:spPr>
        <p:txBody>
          <a:bodyPr wrap="square" lIns="0" tIns="0" rIns="0" bIns="0" rtlCol="0" anchor="t"/>
          <a:lstStyle/>
          <a:p>
            <a:pPr algn="l" indent="0" marL="0">
              <a:lnSpc>
                <a:spcPct val="100000"/>
              </a:lnSpc>
              <a:buNone/>
            </a:pPr>
            <a:r>
              <a:rPr lang="en-US" sz="1200" dirty="0">
                <a:solidFill>
                  <a:srgbClr val="5C6B8A"/>
                </a:solidFill>
                <a:latin typeface="Calibri" pitchFamily="34" charset="0"/>
                <a:ea typeface="Calibri" pitchFamily="34" charset="-122"/>
                <a:cs typeface="Calibri" pitchFamily="34" charset="-120"/>
              </a:rPr>
              <a:t>Low</a:t>
            </a:r>
            <a:endParaRPr lang="en-US" sz="1200" dirty="0"/>
          </a:p>
        </p:txBody>
      </p:sp>
      <p:sp>
        <p:nvSpPr>
          <p:cNvPr id="65" name="Shape 63"/>
          <p:cNvSpPr/>
          <p:nvPr/>
        </p:nvSpPr>
        <p:spPr>
          <a:xfrm>
            <a:off x="2080664" y="4676063"/>
            <a:ext cx="5494399" cy="63"/>
          </a:xfrm>
          <a:prstGeom prst="line">
            <a:avLst/>
          </a:prstGeom>
          <a:noFill/>
          <a:ln w="6350">
            <a:solidFill>
              <a:srgbClr val="D5DEEC"/>
            </a:solidFill>
            <a:prstDash val="solid"/>
          </a:ln>
        </p:spPr>
      </p:sp>
      <p:sp>
        <p:nvSpPr>
          <p:cNvPr id="66" name="Text 64"/>
          <p:cNvSpPr txBox="1"/>
          <p:nvPr/>
        </p:nvSpPr>
        <p:spPr>
          <a:xfrm>
            <a:off x="2172102" y="4441873"/>
            <a:ext cx="5948906" cy="182875"/>
          </a:xfrm>
          <a:prstGeom prst="rect">
            <a:avLst/>
          </a:prstGeom>
          <a:noFill/>
          <a:ln/>
        </p:spPr>
        <p:txBody>
          <a:bodyPr wrap="square" lIns="0" tIns="0" rIns="0" bIns="0" rtlCol="0" anchor="t"/>
          <a:lstStyle/>
          <a:p>
            <a:pPr algn="l" indent="0" marL="0">
              <a:lnSpc>
                <a:spcPct val="100000"/>
              </a:lnSpc>
              <a:buNone/>
            </a:pPr>
            <a:r>
              <a:rPr lang="en-US" sz="1200" dirty="0">
                <a:solidFill>
                  <a:srgbClr val="1F3A70"/>
                </a:solidFill>
                <a:latin typeface="Calibri" pitchFamily="34" charset="0"/>
                <a:ea typeface="Calibri" pitchFamily="34" charset="-122"/>
                <a:cs typeface="Calibri" pitchFamily="34" charset="-120"/>
              </a:rPr>
              <a:t>Android allowBackup on, minify off</a:t>
            </a:r>
            <a:endParaRPr lang="en-US" sz="1200" dirty="0"/>
          </a:p>
        </p:txBody>
      </p:sp>
      <p:sp>
        <p:nvSpPr>
          <p:cNvPr id="67" name="Shape 65"/>
          <p:cNvSpPr/>
          <p:nvPr/>
        </p:nvSpPr>
        <p:spPr>
          <a:xfrm>
            <a:off x="7575063" y="4676063"/>
            <a:ext cx="3803853" cy="63"/>
          </a:xfrm>
          <a:prstGeom prst="line">
            <a:avLst/>
          </a:prstGeom>
          <a:noFill/>
          <a:ln w="6350">
            <a:solidFill>
              <a:srgbClr val="D5DEEC"/>
            </a:solidFill>
            <a:prstDash val="solid"/>
          </a:ln>
        </p:spPr>
      </p:sp>
      <p:sp>
        <p:nvSpPr>
          <p:cNvPr id="68" name="Text 66"/>
          <p:cNvSpPr txBox="1"/>
          <p:nvPr/>
        </p:nvSpPr>
        <p:spPr>
          <a:xfrm>
            <a:off x="7666501" y="4441873"/>
            <a:ext cx="4055494" cy="182875"/>
          </a:xfrm>
          <a:prstGeom prst="rect">
            <a:avLst/>
          </a:prstGeom>
          <a:noFill/>
          <a:ln/>
        </p:spPr>
        <p:txBody>
          <a:bodyPr wrap="square" lIns="0" tIns="0" rIns="0" bIns="0" rtlCol="0" anchor="t"/>
          <a:lstStyle/>
          <a:p>
            <a:pPr algn="l" indent="0" marL="0">
              <a:lnSpc>
                <a:spcPct val="100000"/>
              </a:lnSpc>
              <a:buNone/>
            </a:pPr>
            <a:r>
              <a:rPr lang="en-US" sz="1200" dirty="0">
                <a:solidFill>
                  <a:srgbClr val="4A5878"/>
                </a:solidFill>
                <a:latin typeface="Calibri" pitchFamily="34" charset="0"/>
                <a:ea typeface="Calibri" pitchFamily="34" charset="-122"/>
                <a:cs typeface="Calibri" pitchFamily="34" charset="-120"/>
              </a:rPr>
              <a:t>Disable backup; enable R8</a:t>
            </a:r>
            <a:endParaRPr lang="en-US" sz="1200" dirty="0"/>
          </a:p>
        </p:txBody>
      </p:sp>
      <p:sp>
        <p:nvSpPr>
          <p:cNvPr id="69" name="Text 67"/>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70" name="Text 68"/>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2454C5"/>
                </a:solidFill>
                <a:latin typeface="Courier New" pitchFamily="34" charset="0"/>
                <a:ea typeface="Courier New" pitchFamily="34" charset="-122"/>
                <a:cs typeface="Courier New" pitchFamily="34" charset="-120"/>
              </a:rPr>
              <a:t>SECURITY HARDENING · STEP BY STEP</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1F3A70"/>
                </a:solidFill>
                <a:latin typeface="Calibri" pitchFamily="34" charset="0"/>
                <a:ea typeface="Calibri" pitchFamily="34" charset="-122"/>
                <a:cs typeface="Calibri" pitchFamily="34" charset="-120"/>
              </a:rPr>
              <a:t>Eight steps to a launch-ready security posture</a:t>
            </a:r>
            <a:endParaRPr lang="en-US" sz="3000" dirty="0"/>
          </a:p>
        </p:txBody>
      </p:sp>
      <p:sp>
        <p:nvSpPr>
          <p:cNvPr id="4" name="Shape 2"/>
          <p:cNvSpPr/>
          <p:nvPr/>
        </p:nvSpPr>
        <p:spPr>
          <a:xfrm>
            <a:off x="812780" y="1775376"/>
            <a:ext cx="2536762" cy="1601251"/>
          </a:xfrm>
          <a:prstGeom prst="roundRect">
            <a:avLst>
              <a:gd name="adj" fmla="val 6345"/>
            </a:avLst>
          </a:prstGeom>
          <a:solidFill>
            <a:srgbClr val="FCFDFF"/>
          </a:solidFill>
          <a:ln w="6350">
            <a:solidFill>
              <a:srgbClr val="D5DEEC"/>
            </a:solidFill>
            <a:prstDash val="solid"/>
          </a:ln>
        </p:spPr>
      </p:sp>
      <p:sp>
        <p:nvSpPr>
          <p:cNvPr id="5" name="Shape 3"/>
          <p:cNvSpPr/>
          <p:nvPr/>
        </p:nvSpPr>
        <p:spPr>
          <a:xfrm>
            <a:off x="812780" y="1775376"/>
            <a:ext cx="2536762" cy="38099"/>
          </a:xfrm>
          <a:prstGeom prst="roundRect">
            <a:avLst>
              <a:gd name="adj" fmla="val 50000"/>
            </a:avLst>
          </a:prstGeom>
          <a:solidFill>
            <a:srgbClr val="C0352B"/>
          </a:solidFill>
          <a:ln/>
        </p:spPr>
      </p:sp>
      <p:sp>
        <p:nvSpPr>
          <p:cNvPr id="6" name="Shape 4"/>
          <p:cNvSpPr/>
          <p:nvPr/>
        </p:nvSpPr>
        <p:spPr>
          <a:xfrm>
            <a:off x="958826" y="1953171"/>
            <a:ext cx="304792" cy="304792"/>
          </a:xfrm>
          <a:prstGeom prst="ellipse">
            <a:avLst/>
          </a:prstGeom>
          <a:solidFill>
            <a:srgbClr val="FBE4E2"/>
          </a:solidFill>
          <a:ln/>
        </p:spPr>
      </p:sp>
      <p:pic>
        <p:nvPicPr>
          <p:cNvPr id="7" name="Image 0" descr="preencoded.png">    </p:cNvPr>
          <p:cNvPicPr>
            <a:picLocks noChangeAspect="1"/>
          </p:cNvPicPr>
          <p:nvPr/>
        </p:nvPicPr>
        <p:blipFill>
          <a:blip r:embed="rId1"/>
          <a:stretch>
            <a:fillRect/>
          </a:stretch>
        </p:blipFill>
        <p:spPr>
          <a:xfrm>
            <a:off x="1028674" y="2023020"/>
            <a:ext cx="165096" cy="165096"/>
          </a:xfrm>
          <a:prstGeom prst="rect">
            <a:avLst/>
          </a:prstGeom>
        </p:spPr>
      </p:pic>
      <p:sp>
        <p:nvSpPr>
          <p:cNvPr id="8" name="Text 5"/>
          <p:cNvSpPr txBox="1"/>
          <p:nvPr/>
        </p:nvSpPr>
        <p:spPr>
          <a:xfrm>
            <a:off x="1339817" y="1998910"/>
            <a:ext cx="1024325" cy="213355"/>
          </a:xfrm>
          <a:prstGeom prst="rect">
            <a:avLst/>
          </a:prstGeom>
          <a:noFill/>
          <a:ln/>
        </p:spPr>
        <p:txBody>
          <a:bodyPr wrap="square" lIns="0" tIns="0" rIns="0" bIns="0" rtlCol="0" anchor="t"/>
          <a:lstStyle/>
          <a:p>
            <a:pPr algn="l" indent="0" marL="0">
              <a:lnSpc>
                <a:spcPct val="116667"/>
              </a:lnSpc>
              <a:buNone/>
            </a:pPr>
            <a:r>
              <a:rPr lang="en-US" sz="1200" dirty="0">
                <a:solidFill>
                  <a:srgbClr val="C0352B"/>
                </a:solidFill>
                <a:latin typeface="Courier New" pitchFamily="34" charset="0"/>
                <a:ea typeface="Courier New" pitchFamily="34" charset="-122"/>
                <a:cs typeface="Courier New" pitchFamily="34" charset="-120"/>
              </a:rPr>
              <a:t>01 · today</a:t>
            </a:r>
            <a:endParaRPr lang="en-US" sz="1200" dirty="0"/>
          </a:p>
        </p:txBody>
      </p:sp>
      <p:sp>
        <p:nvSpPr>
          <p:cNvPr id="9" name="Text 6"/>
          <p:cNvSpPr txBox="1"/>
          <p:nvPr/>
        </p:nvSpPr>
        <p:spPr>
          <a:xfrm>
            <a:off x="958826"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Rotate</a:t>
            </a:r>
            <a:endParaRPr lang="en-US" sz="1500" dirty="0"/>
          </a:p>
        </p:txBody>
      </p:sp>
      <p:sp>
        <p:nvSpPr>
          <p:cNvPr id="10" name="Text 7"/>
          <p:cNvSpPr txBox="1"/>
          <p:nvPr/>
        </p:nvSpPr>
        <p:spPr>
          <a:xfrm>
            <a:off x="958826" y="2613555"/>
            <a:ext cx="2514029" cy="617026"/>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New JWT, internal, KMS and webhook secrets; purge 1b5656d</a:t>
            </a:r>
            <a:endParaRPr lang="en-US" sz="1200" dirty="0"/>
          </a:p>
        </p:txBody>
      </p:sp>
      <p:sp>
        <p:nvSpPr>
          <p:cNvPr id="11" name="Shape 8"/>
          <p:cNvSpPr/>
          <p:nvPr/>
        </p:nvSpPr>
        <p:spPr>
          <a:xfrm>
            <a:off x="3489238" y="1775376"/>
            <a:ext cx="2536762" cy="1601251"/>
          </a:xfrm>
          <a:prstGeom prst="roundRect">
            <a:avLst>
              <a:gd name="adj" fmla="val 6345"/>
            </a:avLst>
          </a:prstGeom>
          <a:solidFill>
            <a:srgbClr val="FCFDFF"/>
          </a:solidFill>
          <a:ln w="6350">
            <a:solidFill>
              <a:srgbClr val="D5DEEC"/>
            </a:solidFill>
            <a:prstDash val="solid"/>
          </a:ln>
        </p:spPr>
      </p:sp>
      <p:sp>
        <p:nvSpPr>
          <p:cNvPr id="12" name="Shape 9"/>
          <p:cNvSpPr/>
          <p:nvPr/>
        </p:nvSpPr>
        <p:spPr>
          <a:xfrm>
            <a:off x="3489238" y="1775376"/>
            <a:ext cx="2536762" cy="38099"/>
          </a:xfrm>
          <a:prstGeom prst="roundRect">
            <a:avLst>
              <a:gd name="adj" fmla="val 50000"/>
            </a:avLst>
          </a:prstGeom>
          <a:solidFill>
            <a:srgbClr val="B4530F"/>
          </a:solidFill>
          <a:ln/>
        </p:spPr>
      </p:sp>
      <p:sp>
        <p:nvSpPr>
          <p:cNvPr id="13" name="Shape 10"/>
          <p:cNvSpPr/>
          <p:nvPr/>
        </p:nvSpPr>
        <p:spPr>
          <a:xfrm>
            <a:off x="3635284" y="1953171"/>
            <a:ext cx="304792" cy="304792"/>
          </a:xfrm>
          <a:prstGeom prst="ellipse">
            <a:avLst/>
          </a:prstGeom>
          <a:solidFill>
            <a:srgbClr val="FCEBDD"/>
          </a:solidFill>
          <a:ln/>
        </p:spPr>
      </p:sp>
      <p:pic>
        <p:nvPicPr>
          <p:cNvPr id="14" name="Image 1" descr="preencoded.png">    </p:cNvPr>
          <p:cNvPicPr>
            <a:picLocks noChangeAspect="1"/>
          </p:cNvPicPr>
          <p:nvPr/>
        </p:nvPicPr>
        <p:blipFill>
          <a:blip r:embed="rId2"/>
          <a:stretch>
            <a:fillRect/>
          </a:stretch>
        </p:blipFill>
        <p:spPr>
          <a:xfrm>
            <a:off x="3705132" y="2023020"/>
            <a:ext cx="165096" cy="165096"/>
          </a:xfrm>
          <a:prstGeom prst="rect">
            <a:avLst/>
          </a:prstGeom>
        </p:spPr>
      </p:pic>
      <p:sp>
        <p:nvSpPr>
          <p:cNvPr id="15" name="Text 11"/>
          <p:cNvSpPr txBox="1"/>
          <p:nvPr/>
        </p:nvSpPr>
        <p:spPr>
          <a:xfrm>
            <a:off x="4016275"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02</a:t>
            </a:r>
            <a:endParaRPr lang="en-US" sz="1200" dirty="0"/>
          </a:p>
        </p:txBody>
      </p:sp>
      <p:sp>
        <p:nvSpPr>
          <p:cNvPr id="16" name="Text 12"/>
          <p:cNvSpPr txBox="1"/>
          <p:nvPr/>
        </p:nvSpPr>
        <p:spPr>
          <a:xfrm>
            <a:off x="3635284"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Identity</a:t>
            </a:r>
            <a:endParaRPr lang="en-US" sz="1500" dirty="0"/>
          </a:p>
        </p:txBody>
      </p:sp>
      <p:sp>
        <p:nvSpPr>
          <p:cNvPr id="17" name="Text 13"/>
          <p:cNvSpPr txBox="1"/>
          <p:nvPr/>
        </p:nvSpPr>
        <p:spPr>
          <a:xfrm>
            <a:off x="3635284"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RS256 with JWKS, iss and aud, refresh cookie, per-IP limits</a:t>
            </a:r>
            <a:endParaRPr lang="en-US" sz="1200" dirty="0"/>
          </a:p>
        </p:txBody>
      </p:sp>
      <p:sp>
        <p:nvSpPr>
          <p:cNvPr id="18" name="Shape 14"/>
          <p:cNvSpPr/>
          <p:nvPr/>
        </p:nvSpPr>
        <p:spPr>
          <a:xfrm>
            <a:off x="6165696" y="1775376"/>
            <a:ext cx="2536762" cy="1601251"/>
          </a:xfrm>
          <a:prstGeom prst="roundRect">
            <a:avLst>
              <a:gd name="adj" fmla="val 6345"/>
            </a:avLst>
          </a:prstGeom>
          <a:solidFill>
            <a:srgbClr val="FCFDFF"/>
          </a:solidFill>
          <a:ln w="6350">
            <a:solidFill>
              <a:srgbClr val="D5DEEC"/>
            </a:solidFill>
            <a:prstDash val="solid"/>
          </a:ln>
        </p:spPr>
      </p:sp>
      <p:sp>
        <p:nvSpPr>
          <p:cNvPr id="19" name="Shape 15"/>
          <p:cNvSpPr/>
          <p:nvPr/>
        </p:nvSpPr>
        <p:spPr>
          <a:xfrm>
            <a:off x="6165696" y="1775376"/>
            <a:ext cx="2536762" cy="38099"/>
          </a:xfrm>
          <a:prstGeom prst="roundRect">
            <a:avLst>
              <a:gd name="adj" fmla="val 50000"/>
            </a:avLst>
          </a:prstGeom>
          <a:solidFill>
            <a:srgbClr val="B4530F"/>
          </a:solidFill>
          <a:ln/>
        </p:spPr>
      </p:sp>
      <p:sp>
        <p:nvSpPr>
          <p:cNvPr id="20" name="Shape 16"/>
          <p:cNvSpPr/>
          <p:nvPr/>
        </p:nvSpPr>
        <p:spPr>
          <a:xfrm>
            <a:off x="6311742" y="1953171"/>
            <a:ext cx="304792" cy="304792"/>
          </a:xfrm>
          <a:prstGeom prst="ellipse">
            <a:avLst/>
          </a:prstGeom>
          <a:solidFill>
            <a:srgbClr val="FCEBDD"/>
          </a:solidFill>
          <a:ln/>
        </p:spPr>
      </p:sp>
      <p:pic>
        <p:nvPicPr>
          <p:cNvPr id="21" name="Image 2" descr="preencoded.png">    </p:cNvPr>
          <p:cNvPicPr>
            <a:picLocks noChangeAspect="1"/>
          </p:cNvPicPr>
          <p:nvPr/>
        </p:nvPicPr>
        <p:blipFill>
          <a:blip r:embed="rId3"/>
          <a:stretch>
            <a:fillRect/>
          </a:stretch>
        </p:blipFill>
        <p:spPr>
          <a:xfrm>
            <a:off x="6381590" y="2023020"/>
            <a:ext cx="165096" cy="165096"/>
          </a:xfrm>
          <a:prstGeom prst="rect">
            <a:avLst/>
          </a:prstGeom>
        </p:spPr>
      </p:pic>
      <p:sp>
        <p:nvSpPr>
          <p:cNvPr id="22" name="Text 17"/>
          <p:cNvSpPr txBox="1"/>
          <p:nvPr/>
        </p:nvSpPr>
        <p:spPr>
          <a:xfrm>
            <a:off x="6692733"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03</a:t>
            </a:r>
            <a:endParaRPr lang="en-US" sz="1200" dirty="0"/>
          </a:p>
        </p:txBody>
      </p:sp>
      <p:sp>
        <p:nvSpPr>
          <p:cNvPr id="23" name="Text 18"/>
          <p:cNvSpPr txBox="1"/>
          <p:nvPr/>
        </p:nvSpPr>
        <p:spPr>
          <a:xfrm>
            <a:off x="6311742"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Edge</a:t>
            </a:r>
            <a:endParaRPr lang="en-US" sz="1500" dirty="0"/>
          </a:p>
        </p:txBody>
      </p:sp>
      <p:sp>
        <p:nvSpPr>
          <p:cNvPr id="24" name="Text 19"/>
          <p:cNvSpPr txBox="1"/>
          <p:nvPr/>
        </p:nvSpPr>
        <p:spPr>
          <a:xfrm>
            <a:off x="6311742"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WAF on the ALB, CSP and HSTS, CORS to app origins</a:t>
            </a:r>
            <a:endParaRPr lang="en-US" sz="1200" dirty="0"/>
          </a:p>
        </p:txBody>
      </p:sp>
      <p:sp>
        <p:nvSpPr>
          <p:cNvPr id="25" name="Shape 20"/>
          <p:cNvSpPr/>
          <p:nvPr/>
        </p:nvSpPr>
        <p:spPr>
          <a:xfrm>
            <a:off x="8842154" y="1775376"/>
            <a:ext cx="2536762" cy="1601251"/>
          </a:xfrm>
          <a:prstGeom prst="roundRect">
            <a:avLst>
              <a:gd name="adj" fmla="val 6345"/>
            </a:avLst>
          </a:prstGeom>
          <a:solidFill>
            <a:srgbClr val="FCFDFF"/>
          </a:solidFill>
          <a:ln w="6350">
            <a:solidFill>
              <a:srgbClr val="D5DEEC"/>
            </a:solidFill>
            <a:prstDash val="solid"/>
          </a:ln>
        </p:spPr>
      </p:sp>
      <p:sp>
        <p:nvSpPr>
          <p:cNvPr id="26" name="Shape 21"/>
          <p:cNvSpPr/>
          <p:nvPr/>
        </p:nvSpPr>
        <p:spPr>
          <a:xfrm>
            <a:off x="8842154" y="1775376"/>
            <a:ext cx="2536762" cy="38099"/>
          </a:xfrm>
          <a:prstGeom prst="roundRect">
            <a:avLst>
              <a:gd name="adj" fmla="val 50000"/>
            </a:avLst>
          </a:prstGeom>
          <a:solidFill>
            <a:srgbClr val="B4530F"/>
          </a:solidFill>
          <a:ln/>
        </p:spPr>
      </p:sp>
      <p:sp>
        <p:nvSpPr>
          <p:cNvPr id="27" name="Shape 22"/>
          <p:cNvSpPr/>
          <p:nvPr/>
        </p:nvSpPr>
        <p:spPr>
          <a:xfrm>
            <a:off x="8988200" y="1953171"/>
            <a:ext cx="304792" cy="304792"/>
          </a:xfrm>
          <a:prstGeom prst="ellipse">
            <a:avLst/>
          </a:prstGeom>
          <a:solidFill>
            <a:srgbClr val="FCEBDD"/>
          </a:solidFill>
          <a:ln/>
        </p:spPr>
      </p:sp>
      <p:pic>
        <p:nvPicPr>
          <p:cNvPr id="28" name="Image 3" descr="preencoded.png">    </p:cNvPr>
          <p:cNvPicPr>
            <a:picLocks noChangeAspect="1"/>
          </p:cNvPicPr>
          <p:nvPr/>
        </p:nvPicPr>
        <p:blipFill>
          <a:blip r:embed="rId4"/>
          <a:stretch>
            <a:fillRect/>
          </a:stretch>
        </p:blipFill>
        <p:spPr>
          <a:xfrm>
            <a:off x="9058049" y="2023020"/>
            <a:ext cx="165096" cy="165096"/>
          </a:xfrm>
          <a:prstGeom prst="rect">
            <a:avLst/>
          </a:prstGeom>
        </p:spPr>
      </p:pic>
      <p:sp>
        <p:nvSpPr>
          <p:cNvPr id="29" name="Text 23"/>
          <p:cNvSpPr txBox="1"/>
          <p:nvPr/>
        </p:nvSpPr>
        <p:spPr>
          <a:xfrm>
            <a:off x="9369191" y="1998910"/>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B4530F"/>
                </a:solidFill>
                <a:latin typeface="Courier New" pitchFamily="34" charset="0"/>
                <a:ea typeface="Courier New" pitchFamily="34" charset="-122"/>
                <a:cs typeface="Courier New" pitchFamily="34" charset="-120"/>
              </a:rPr>
              <a:t>04</a:t>
            </a:r>
            <a:endParaRPr lang="en-US" sz="1200" dirty="0"/>
          </a:p>
        </p:txBody>
      </p:sp>
      <p:sp>
        <p:nvSpPr>
          <p:cNvPr id="30" name="Text 24"/>
          <p:cNvSpPr txBox="1"/>
          <p:nvPr/>
        </p:nvSpPr>
        <p:spPr>
          <a:xfrm>
            <a:off x="8988200" y="2321462"/>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Network</a:t>
            </a:r>
            <a:endParaRPr lang="en-US" sz="1500" dirty="0"/>
          </a:p>
        </p:txBody>
      </p:sp>
      <p:sp>
        <p:nvSpPr>
          <p:cNvPr id="31" name="Text 25"/>
          <p:cNvSpPr txBox="1"/>
          <p:nvPr/>
        </p:nvSpPr>
        <p:spPr>
          <a:xfrm>
            <a:off x="8988200" y="2613555"/>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Private EKS endpoint, enforced policies, RDS TLS</a:t>
            </a:r>
            <a:endParaRPr lang="en-US" sz="1200" dirty="0"/>
          </a:p>
        </p:txBody>
      </p:sp>
      <p:sp>
        <p:nvSpPr>
          <p:cNvPr id="32" name="Shape 26"/>
          <p:cNvSpPr/>
          <p:nvPr/>
        </p:nvSpPr>
        <p:spPr>
          <a:xfrm>
            <a:off x="812780" y="3516324"/>
            <a:ext cx="2536762" cy="1395576"/>
          </a:xfrm>
          <a:prstGeom prst="roundRect">
            <a:avLst>
              <a:gd name="adj" fmla="val 7280"/>
            </a:avLst>
          </a:prstGeom>
          <a:solidFill>
            <a:srgbClr val="FCFDFF"/>
          </a:solidFill>
          <a:ln w="6350">
            <a:solidFill>
              <a:srgbClr val="D5DEEC"/>
            </a:solidFill>
            <a:prstDash val="solid"/>
          </a:ln>
        </p:spPr>
      </p:sp>
      <p:sp>
        <p:nvSpPr>
          <p:cNvPr id="33" name="Shape 27"/>
          <p:cNvSpPr/>
          <p:nvPr/>
        </p:nvSpPr>
        <p:spPr>
          <a:xfrm>
            <a:off x="812780" y="3516324"/>
            <a:ext cx="2536762" cy="38099"/>
          </a:xfrm>
          <a:prstGeom prst="roundRect">
            <a:avLst>
              <a:gd name="adj" fmla="val 50000"/>
            </a:avLst>
          </a:prstGeom>
          <a:solidFill>
            <a:srgbClr val="2454C5"/>
          </a:solidFill>
          <a:ln/>
        </p:spPr>
      </p:sp>
      <p:sp>
        <p:nvSpPr>
          <p:cNvPr id="34" name="Shape 28"/>
          <p:cNvSpPr/>
          <p:nvPr/>
        </p:nvSpPr>
        <p:spPr>
          <a:xfrm>
            <a:off x="958826" y="3694119"/>
            <a:ext cx="304792" cy="304792"/>
          </a:xfrm>
          <a:prstGeom prst="ellipse">
            <a:avLst/>
          </a:prstGeom>
          <a:solidFill>
            <a:srgbClr val="E3EBFA"/>
          </a:solidFill>
          <a:ln/>
        </p:spPr>
      </p:sp>
      <p:pic>
        <p:nvPicPr>
          <p:cNvPr id="35" name="Image 4" descr="preencoded.png">    </p:cNvPr>
          <p:cNvPicPr>
            <a:picLocks noChangeAspect="1"/>
          </p:cNvPicPr>
          <p:nvPr/>
        </p:nvPicPr>
        <p:blipFill>
          <a:blip r:embed="rId5"/>
          <a:stretch>
            <a:fillRect/>
          </a:stretch>
        </p:blipFill>
        <p:spPr>
          <a:xfrm>
            <a:off x="1028674" y="3763968"/>
            <a:ext cx="165096" cy="165096"/>
          </a:xfrm>
          <a:prstGeom prst="rect">
            <a:avLst/>
          </a:prstGeom>
        </p:spPr>
      </p:pic>
      <p:sp>
        <p:nvSpPr>
          <p:cNvPr id="36" name="Text 29"/>
          <p:cNvSpPr txBox="1"/>
          <p:nvPr/>
        </p:nvSpPr>
        <p:spPr>
          <a:xfrm>
            <a:off x="1339817"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05</a:t>
            </a:r>
            <a:endParaRPr lang="en-US" sz="1200" dirty="0"/>
          </a:p>
        </p:txBody>
      </p:sp>
      <p:sp>
        <p:nvSpPr>
          <p:cNvPr id="37" name="Text 30"/>
          <p:cNvSpPr txBox="1"/>
          <p:nvPr/>
        </p:nvSpPr>
        <p:spPr>
          <a:xfrm>
            <a:off x="958826"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Privilege</a:t>
            </a:r>
            <a:endParaRPr lang="en-US" sz="1500" dirty="0"/>
          </a:p>
        </p:txBody>
      </p:sp>
      <p:sp>
        <p:nvSpPr>
          <p:cNvPr id="38" name="Text 31"/>
          <p:cNvSpPr txBox="1"/>
          <p:nvPr/>
        </p:nvSpPr>
        <p:spPr>
          <a:xfrm>
            <a:off x="958826"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Per-service secret policies and keys; IMDSv2</a:t>
            </a:r>
            <a:endParaRPr lang="en-US" sz="1200" dirty="0"/>
          </a:p>
        </p:txBody>
      </p:sp>
      <p:sp>
        <p:nvSpPr>
          <p:cNvPr id="39" name="Shape 32"/>
          <p:cNvSpPr/>
          <p:nvPr/>
        </p:nvSpPr>
        <p:spPr>
          <a:xfrm>
            <a:off x="3489238" y="3516324"/>
            <a:ext cx="2536762" cy="1395576"/>
          </a:xfrm>
          <a:prstGeom prst="roundRect">
            <a:avLst>
              <a:gd name="adj" fmla="val 7280"/>
            </a:avLst>
          </a:prstGeom>
          <a:solidFill>
            <a:srgbClr val="FCFDFF"/>
          </a:solidFill>
          <a:ln w="6350">
            <a:solidFill>
              <a:srgbClr val="D5DEEC"/>
            </a:solidFill>
            <a:prstDash val="solid"/>
          </a:ln>
        </p:spPr>
      </p:sp>
      <p:sp>
        <p:nvSpPr>
          <p:cNvPr id="40" name="Shape 33"/>
          <p:cNvSpPr/>
          <p:nvPr/>
        </p:nvSpPr>
        <p:spPr>
          <a:xfrm>
            <a:off x="3489238" y="3516324"/>
            <a:ext cx="2536762" cy="38099"/>
          </a:xfrm>
          <a:prstGeom prst="roundRect">
            <a:avLst>
              <a:gd name="adj" fmla="val 50000"/>
            </a:avLst>
          </a:prstGeom>
          <a:solidFill>
            <a:srgbClr val="2454C5"/>
          </a:solidFill>
          <a:ln/>
        </p:spPr>
      </p:sp>
      <p:sp>
        <p:nvSpPr>
          <p:cNvPr id="41" name="Shape 34"/>
          <p:cNvSpPr/>
          <p:nvPr/>
        </p:nvSpPr>
        <p:spPr>
          <a:xfrm>
            <a:off x="3635284" y="3694119"/>
            <a:ext cx="304792" cy="304792"/>
          </a:xfrm>
          <a:prstGeom prst="ellipse">
            <a:avLst/>
          </a:prstGeom>
          <a:solidFill>
            <a:srgbClr val="E3EBFA"/>
          </a:solidFill>
          <a:ln/>
        </p:spPr>
      </p:sp>
      <p:pic>
        <p:nvPicPr>
          <p:cNvPr id="42" name="Image 5" descr="preencoded.png">    </p:cNvPr>
          <p:cNvPicPr>
            <a:picLocks noChangeAspect="1"/>
          </p:cNvPicPr>
          <p:nvPr/>
        </p:nvPicPr>
        <p:blipFill>
          <a:blip r:embed="rId6"/>
          <a:stretch>
            <a:fillRect/>
          </a:stretch>
        </p:blipFill>
        <p:spPr>
          <a:xfrm>
            <a:off x="3705132" y="3763968"/>
            <a:ext cx="165096" cy="165096"/>
          </a:xfrm>
          <a:prstGeom prst="rect">
            <a:avLst/>
          </a:prstGeom>
        </p:spPr>
      </p:pic>
      <p:sp>
        <p:nvSpPr>
          <p:cNvPr id="43" name="Text 35"/>
          <p:cNvSpPr txBox="1"/>
          <p:nvPr/>
        </p:nvSpPr>
        <p:spPr>
          <a:xfrm>
            <a:off x="4016275"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06</a:t>
            </a:r>
            <a:endParaRPr lang="en-US" sz="1200" dirty="0"/>
          </a:p>
        </p:txBody>
      </p:sp>
      <p:sp>
        <p:nvSpPr>
          <p:cNvPr id="44" name="Text 36"/>
          <p:cNvSpPr txBox="1"/>
          <p:nvPr/>
        </p:nvSpPr>
        <p:spPr>
          <a:xfrm>
            <a:off x="3635284"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Money</a:t>
            </a:r>
            <a:endParaRPr lang="en-US" sz="1500" dirty="0"/>
          </a:p>
        </p:txBody>
      </p:sp>
      <p:sp>
        <p:nvSpPr>
          <p:cNvPr id="45" name="Text 37"/>
          <p:cNvSpPr txBox="1"/>
          <p:nvPr/>
        </p:nvSpPr>
        <p:spPr>
          <a:xfrm>
            <a:off x="3635284"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Coupons, refunds, payouts, stub gateway, ID ownership</a:t>
            </a:r>
            <a:endParaRPr lang="en-US" sz="1200" dirty="0"/>
          </a:p>
        </p:txBody>
      </p:sp>
      <p:sp>
        <p:nvSpPr>
          <p:cNvPr id="46" name="Shape 38"/>
          <p:cNvSpPr/>
          <p:nvPr/>
        </p:nvSpPr>
        <p:spPr>
          <a:xfrm>
            <a:off x="6165696" y="3516324"/>
            <a:ext cx="2536762" cy="1395576"/>
          </a:xfrm>
          <a:prstGeom prst="roundRect">
            <a:avLst>
              <a:gd name="adj" fmla="val 7280"/>
            </a:avLst>
          </a:prstGeom>
          <a:solidFill>
            <a:srgbClr val="FCFDFF"/>
          </a:solidFill>
          <a:ln w="6350">
            <a:solidFill>
              <a:srgbClr val="D5DEEC"/>
            </a:solidFill>
            <a:prstDash val="solid"/>
          </a:ln>
        </p:spPr>
      </p:sp>
      <p:sp>
        <p:nvSpPr>
          <p:cNvPr id="47" name="Shape 39"/>
          <p:cNvSpPr/>
          <p:nvPr/>
        </p:nvSpPr>
        <p:spPr>
          <a:xfrm>
            <a:off x="6165696" y="3516324"/>
            <a:ext cx="2536762" cy="38099"/>
          </a:xfrm>
          <a:prstGeom prst="roundRect">
            <a:avLst>
              <a:gd name="adj" fmla="val 50000"/>
            </a:avLst>
          </a:prstGeom>
          <a:solidFill>
            <a:srgbClr val="2454C5"/>
          </a:solidFill>
          <a:ln/>
        </p:spPr>
      </p:sp>
      <p:sp>
        <p:nvSpPr>
          <p:cNvPr id="48" name="Shape 40"/>
          <p:cNvSpPr/>
          <p:nvPr/>
        </p:nvSpPr>
        <p:spPr>
          <a:xfrm>
            <a:off x="6311742" y="3694119"/>
            <a:ext cx="304792" cy="304792"/>
          </a:xfrm>
          <a:prstGeom prst="ellipse">
            <a:avLst/>
          </a:prstGeom>
          <a:solidFill>
            <a:srgbClr val="E3EBFA"/>
          </a:solidFill>
          <a:ln/>
        </p:spPr>
      </p:sp>
      <p:pic>
        <p:nvPicPr>
          <p:cNvPr id="49" name="Image 6" descr="preencoded.png">    </p:cNvPr>
          <p:cNvPicPr>
            <a:picLocks noChangeAspect="1"/>
          </p:cNvPicPr>
          <p:nvPr/>
        </p:nvPicPr>
        <p:blipFill>
          <a:blip r:embed="rId7"/>
          <a:stretch>
            <a:fillRect/>
          </a:stretch>
        </p:blipFill>
        <p:spPr>
          <a:xfrm>
            <a:off x="6381590" y="3763968"/>
            <a:ext cx="165096" cy="165096"/>
          </a:xfrm>
          <a:prstGeom prst="rect">
            <a:avLst/>
          </a:prstGeom>
        </p:spPr>
      </p:pic>
      <p:sp>
        <p:nvSpPr>
          <p:cNvPr id="50" name="Text 41"/>
          <p:cNvSpPr txBox="1"/>
          <p:nvPr/>
        </p:nvSpPr>
        <p:spPr>
          <a:xfrm>
            <a:off x="6692733" y="3739858"/>
            <a:ext cx="259153" cy="213355"/>
          </a:xfrm>
          <a:prstGeom prst="rect">
            <a:avLst/>
          </a:prstGeom>
          <a:noFill/>
          <a:ln/>
        </p:spPr>
        <p:txBody>
          <a:bodyPr wrap="square" lIns="0" tIns="0" rIns="0" bIns="0" rtlCol="0" anchor="t"/>
          <a:lstStyle/>
          <a:p>
            <a:pPr algn="l" indent="0" marL="0">
              <a:lnSpc>
                <a:spcPct val="116667"/>
              </a:lnSpc>
              <a:buNone/>
            </a:pPr>
            <a:r>
              <a:rPr lang="en-US" sz="1200" dirty="0">
                <a:solidFill>
                  <a:srgbClr val="2454C5"/>
                </a:solidFill>
                <a:latin typeface="Courier New" pitchFamily="34" charset="0"/>
                <a:ea typeface="Courier New" pitchFamily="34" charset="-122"/>
                <a:cs typeface="Courier New" pitchFamily="34" charset="-120"/>
              </a:rPr>
              <a:t>07</a:t>
            </a:r>
            <a:endParaRPr lang="en-US" sz="1200" dirty="0"/>
          </a:p>
        </p:txBody>
      </p:sp>
      <p:sp>
        <p:nvSpPr>
          <p:cNvPr id="51" name="Text 42"/>
          <p:cNvSpPr txBox="1"/>
          <p:nvPr/>
        </p:nvSpPr>
        <p:spPr>
          <a:xfrm>
            <a:off x="6311742"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Pipeline</a:t>
            </a:r>
            <a:endParaRPr lang="en-US" sz="1500" dirty="0"/>
          </a:p>
        </p:txBody>
      </p:sp>
      <p:sp>
        <p:nvSpPr>
          <p:cNvPr id="52" name="Text 43"/>
          <p:cNvSpPr txBox="1"/>
          <p:nvPr/>
        </p:nvSpPr>
        <p:spPr>
          <a:xfrm>
            <a:off x="6311742"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SHA-pinned actions, IaC, secret and npm scans</a:t>
            </a:r>
            <a:endParaRPr lang="en-US" sz="1200" dirty="0"/>
          </a:p>
        </p:txBody>
      </p:sp>
      <p:sp>
        <p:nvSpPr>
          <p:cNvPr id="53" name="Shape 44"/>
          <p:cNvSpPr/>
          <p:nvPr/>
        </p:nvSpPr>
        <p:spPr>
          <a:xfrm>
            <a:off x="8842154" y="3516324"/>
            <a:ext cx="2536762" cy="1395576"/>
          </a:xfrm>
          <a:prstGeom prst="roundRect">
            <a:avLst>
              <a:gd name="adj" fmla="val 7280"/>
            </a:avLst>
          </a:prstGeom>
          <a:solidFill>
            <a:srgbClr val="FCFDFF"/>
          </a:solidFill>
          <a:ln w="6350">
            <a:solidFill>
              <a:srgbClr val="D5DEEC"/>
            </a:solidFill>
            <a:prstDash val="solid"/>
          </a:ln>
        </p:spPr>
      </p:sp>
      <p:sp>
        <p:nvSpPr>
          <p:cNvPr id="54" name="Shape 45"/>
          <p:cNvSpPr/>
          <p:nvPr/>
        </p:nvSpPr>
        <p:spPr>
          <a:xfrm>
            <a:off x="8842154" y="3516324"/>
            <a:ext cx="2536762" cy="38099"/>
          </a:xfrm>
          <a:prstGeom prst="roundRect">
            <a:avLst>
              <a:gd name="adj" fmla="val 50000"/>
            </a:avLst>
          </a:prstGeom>
          <a:solidFill>
            <a:srgbClr val="2E7D4F"/>
          </a:solidFill>
          <a:ln/>
        </p:spPr>
      </p:sp>
      <p:sp>
        <p:nvSpPr>
          <p:cNvPr id="55" name="Shape 46"/>
          <p:cNvSpPr/>
          <p:nvPr/>
        </p:nvSpPr>
        <p:spPr>
          <a:xfrm>
            <a:off x="8988200" y="3694119"/>
            <a:ext cx="304792" cy="304792"/>
          </a:xfrm>
          <a:prstGeom prst="ellipse">
            <a:avLst/>
          </a:prstGeom>
          <a:solidFill>
            <a:srgbClr val="E0F2E8"/>
          </a:solidFill>
          <a:ln/>
        </p:spPr>
      </p:sp>
      <p:pic>
        <p:nvPicPr>
          <p:cNvPr id="56" name="Image 7" descr="preencoded.png">    </p:cNvPr>
          <p:cNvPicPr>
            <a:picLocks noChangeAspect="1"/>
          </p:cNvPicPr>
          <p:nvPr/>
        </p:nvPicPr>
        <p:blipFill>
          <a:blip r:embed="rId8"/>
          <a:stretch>
            <a:fillRect/>
          </a:stretch>
        </p:blipFill>
        <p:spPr>
          <a:xfrm>
            <a:off x="9058049" y="3763968"/>
            <a:ext cx="165096" cy="165096"/>
          </a:xfrm>
          <a:prstGeom prst="rect">
            <a:avLst/>
          </a:prstGeom>
        </p:spPr>
      </p:pic>
      <p:sp>
        <p:nvSpPr>
          <p:cNvPr id="57" name="Text 47"/>
          <p:cNvSpPr txBox="1"/>
          <p:nvPr/>
        </p:nvSpPr>
        <p:spPr>
          <a:xfrm>
            <a:off x="9369191" y="3739858"/>
            <a:ext cx="921870" cy="213355"/>
          </a:xfrm>
          <a:prstGeom prst="rect">
            <a:avLst/>
          </a:prstGeom>
          <a:noFill/>
          <a:ln/>
        </p:spPr>
        <p:txBody>
          <a:bodyPr wrap="square" lIns="0" tIns="0" rIns="0" bIns="0" rtlCol="0" anchor="t"/>
          <a:lstStyle/>
          <a:p>
            <a:pPr algn="l" indent="0" marL="0">
              <a:lnSpc>
                <a:spcPct val="116667"/>
              </a:lnSpc>
              <a:buNone/>
            </a:pPr>
            <a:r>
              <a:rPr lang="en-US" sz="1200" dirty="0">
                <a:solidFill>
                  <a:srgbClr val="2E7D4F"/>
                </a:solidFill>
                <a:latin typeface="Courier New" pitchFamily="34" charset="0"/>
                <a:ea typeface="Courier New" pitchFamily="34" charset="-122"/>
                <a:cs typeface="Courier New" pitchFamily="34" charset="-120"/>
              </a:rPr>
              <a:t>08 · gate</a:t>
            </a:r>
            <a:endParaRPr lang="en-US" sz="1200" dirty="0"/>
          </a:p>
        </p:txBody>
      </p:sp>
      <p:sp>
        <p:nvSpPr>
          <p:cNvPr id="58" name="Text 48"/>
          <p:cNvSpPr txBox="1"/>
          <p:nvPr/>
        </p:nvSpPr>
        <p:spPr>
          <a:xfrm>
            <a:off x="8988200" y="4062410"/>
            <a:ext cx="2514029" cy="228594"/>
          </a:xfrm>
          <a:prstGeom prst="rect">
            <a:avLst/>
          </a:prstGeom>
          <a:noFill/>
          <a:ln/>
        </p:spPr>
        <p:txBody>
          <a:bodyPr wrap="square" lIns="0" tIns="0" rIns="0" bIns="0" rtlCol="0" anchor="t"/>
          <a:lstStyle/>
          <a:p>
            <a:pPr algn="l" indent="0" marL="0">
              <a:lnSpc>
                <a:spcPct val="100000"/>
              </a:lnSpc>
              <a:buNone/>
            </a:pPr>
            <a:r>
              <a:rPr lang="en-US" sz="1500" b="1" dirty="0">
                <a:solidFill>
                  <a:srgbClr val="1F3A70"/>
                </a:solidFill>
                <a:latin typeface="Calibri" pitchFamily="34" charset="0"/>
                <a:ea typeface="Calibri" pitchFamily="34" charset="-122"/>
                <a:cs typeface="Calibri" pitchFamily="34" charset="-120"/>
              </a:rPr>
              <a:t>Verify</a:t>
            </a:r>
            <a:endParaRPr lang="en-US" sz="1500" dirty="0"/>
          </a:p>
        </p:txBody>
      </p:sp>
      <p:sp>
        <p:nvSpPr>
          <p:cNvPr id="59" name="Text 49"/>
          <p:cNvSpPr txBox="1"/>
          <p:nvPr/>
        </p:nvSpPr>
        <p:spPr>
          <a:xfrm>
            <a:off x="8988200" y="4354503"/>
            <a:ext cx="2514029" cy="411351"/>
          </a:xfrm>
          <a:prstGeom prst="rect">
            <a:avLst/>
          </a:prstGeom>
          <a:noFill/>
          <a:ln/>
        </p:spPr>
        <p:txBody>
          <a:bodyPr wrap="square" lIns="0" tIns="0" rIns="0" bIns="0" rtlCol="0" anchor="t"/>
          <a:lstStyle/>
          <a:p>
            <a:pPr algn="l" indent="0" marL="0">
              <a:lnSpc>
                <a:spcPct val="112500"/>
              </a:lnSpc>
              <a:buNone/>
            </a:pPr>
            <a:r>
              <a:rPr lang="en-US" sz="1200" dirty="0">
                <a:solidFill>
                  <a:srgbClr val="4A5878"/>
                </a:solidFill>
                <a:latin typeface="Calibri" pitchFamily="34" charset="0"/>
                <a:ea typeface="Calibri" pitchFamily="34" charset="-122"/>
                <a:cs typeface="Calibri" pitchFamily="34" charset="-120"/>
              </a:rPr>
              <a:t>Pen-test staging before the first real payment</a:t>
            </a:r>
            <a:endParaRPr lang="en-US" sz="1200" dirty="0"/>
          </a:p>
        </p:txBody>
      </p:sp>
      <p:sp>
        <p:nvSpPr>
          <p:cNvPr id="60" name="Text 50"/>
          <p:cNvSpPr txBox="1"/>
          <p:nvPr/>
        </p:nvSpPr>
        <p:spPr>
          <a:xfrm>
            <a:off x="812780" y="6238124"/>
            <a:ext cx="8534187" cy="213355"/>
          </a:xfrm>
          <a:prstGeom prst="rect">
            <a:avLst/>
          </a:prstGeom>
          <a:noFill/>
          <a:ln/>
        </p:spPr>
        <p:txBody>
          <a:bodyPr wrap="square" lIns="0" tIns="0" rIns="0" bIns="0" rtlCol="0" anchor="t"/>
          <a:lstStyle/>
          <a:p>
            <a:pPr algn="l" indent="0" marL="0">
              <a:lnSpc>
                <a:spcPct val="116667"/>
              </a:lnSpc>
              <a:buNone/>
            </a:pPr>
            <a:r>
              <a:rPr lang="en-US" sz="1200" dirty="0">
                <a:solidFill>
                  <a:srgbClr val="5C6B8A"/>
                </a:solidFill>
                <a:latin typeface="Calibri" pitchFamily="34" charset="0"/>
                <a:ea typeface="Calibri" pitchFamily="34" charset="-122"/>
                <a:cs typeface="Calibri" pitchFamily="34" charset="-120"/>
              </a:rPr>
              <a:t>HomeFix platform review · Security</a:t>
            </a:r>
            <a:endParaRPr lang="en-US" sz="1200" dirty="0"/>
          </a:p>
        </p:txBody>
      </p:sp>
      <p:sp>
        <p:nvSpPr>
          <p:cNvPr id="61" name="Text 51"/>
          <p:cNvSpPr txBox="1"/>
          <p:nvPr/>
        </p:nvSpPr>
        <p:spPr>
          <a:xfrm>
            <a:off x="9956551" y="6238124"/>
            <a:ext cx="1422364" cy="213355"/>
          </a:xfrm>
          <a:prstGeom prst="rect">
            <a:avLst/>
          </a:prstGeom>
          <a:noFill/>
          <a:ln/>
        </p:spPr>
        <p:txBody>
          <a:bodyPr wrap="square" lIns="0" tIns="0" rIns="0" bIns="0" rtlCol="0" anchor="t"/>
          <a:lstStyle/>
          <a:p>
            <a:pPr algn="r" indent="0" marL="0">
              <a:lnSpc>
                <a:spcPct val="116667"/>
              </a:lnSpc>
              <a:buNone/>
            </a:pPr>
            <a:r>
              <a:rPr lang="en-US" sz="1200" dirty="0">
                <a:solidFill>
                  <a:srgbClr val="5C6B8A"/>
                </a:solidFill>
                <a:latin typeface="Calibri" pitchFamily="34" charset="0"/>
                <a:ea typeface="Calibri" pitchFamily="34" charset="-122"/>
                <a:cs typeface="Calibri"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12780" y="812780"/>
            <a:ext cx="11834072" cy="213355"/>
          </a:xfrm>
          <a:prstGeom prst="rect">
            <a:avLst/>
          </a:prstGeom>
          <a:noFill/>
          <a:ln/>
        </p:spPr>
        <p:txBody>
          <a:bodyPr wrap="square" lIns="0" tIns="0" rIns="0" bIns="0" rtlCol="0" anchor="t"/>
          <a:lstStyle/>
          <a:p>
            <a:pPr algn="l" indent="0" marL="0">
              <a:lnSpc>
                <a:spcPct val="116667"/>
              </a:lnSpc>
              <a:buNone/>
            </a:pPr>
            <a:r>
              <a:rPr lang="en-US" sz="1200" spc="100" kern="0" dirty="0">
                <a:solidFill>
                  <a:srgbClr val="F8FAFF"/>
                </a:solidFill>
                <a:latin typeface="Courier New" pitchFamily="34" charset="0"/>
                <a:ea typeface="Courier New" pitchFamily="34" charset="-122"/>
                <a:cs typeface="Courier New" pitchFamily="34" charset="-120"/>
              </a:rPr>
              <a:t>NEXT STEPS</a:t>
            </a:r>
            <a:endParaRPr lang="en-US" sz="1200" dirty="0"/>
          </a:p>
        </p:txBody>
      </p:sp>
      <p:sp>
        <p:nvSpPr>
          <p:cNvPr id="3" name="Text 1"/>
          <p:cNvSpPr txBox="1"/>
          <p:nvPr/>
        </p:nvSpPr>
        <p:spPr>
          <a:xfrm>
            <a:off x="812780" y="1102293"/>
            <a:ext cx="11834072" cy="419090"/>
          </a:xfrm>
          <a:prstGeom prst="rect">
            <a:avLst/>
          </a:prstGeom>
          <a:noFill/>
          <a:ln/>
        </p:spPr>
        <p:txBody>
          <a:bodyPr wrap="square" lIns="0" tIns="0" rIns="0" bIns="0" rtlCol="0" anchor="t"/>
          <a:lstStyle/>
          <a:p>
            <a:pPr algn="l" indent="0" marL="0">
              <a:lnSpc>
                <a:spcPct val="91667"/>
              </a:lnSpc>
              <a:buNone/>
            </a:pPr>
            <a:r>
              <a:rPr lang="en-US" sz="3000" b="1" dirty="0">
                <a:solidFill>
                  <a:srgbClr val="F8FAFF"/>
                </a:solidFill>
                <a:latin typeface="Calibri" pitchFamily="34" charset="0"/>
                <a:ea typeface="Calibri" pitchFamily="34" charset="-122"/>
                <a:cs typeface="Calibri" pitchFamily="34" charset="-120"/>
              </a:rPr>
              <a:t>Platform upgraded; next, the secrets, then the edge</a:t>
            </a:r>
            <a:endParaRPr lang="en-US" sz="3000" dirty="0"/>
          </a:p>
        </p:txBody>
      </p:sp>
      <p:sp>
        <p:nvSpPr>
          <p:cNvPr id="4" name="Shape 2"/>
          <p:cNvSpPr/>
          <p:nvPr/>
        </p:nvSpPr>
        <p:spPr>
          <a:xfrm>
            <a:off x="812780" y="1876973"/>
            <a:ext cx="2527237" cy="2818833"/>
          </a:xfrm>
          <a:prstGeom prst="roundRect">
            <a:avLst>
              <a:gd name="adj" fmla="val 5025"/>
            </a:avLst>
          </a:prstGeom>
          <a:solidFill>
            <a:srgbClr val="FFFFFF">
              <a:alpha val="12000"/>
            </a:srgbClr>
          </a:solidFill>
          <a:ln/>
        </p:spPr>
      </p:sp>
      <p:pic>
        <p:nvPicPr>
          <p:cNvPr id="5" name="Image 0" descr="preencoded.png">    </p:cNvPr>
          <p:cNvPicPr>
            <a:picLocks noChangeAspect="1"/>
          </p:cNvPicPr>
          <p:nvPr/>
        </p:nvPicPr>
        <p:blipFill>
          <a:blip r:embed="rId2"/>
          <a:stretch>
            <a:fillRect/>
          </a:stretch>
        </p:blipFill>
        <p:spPr>
          <a:xfrm>
            <a:off x="990575" y="2057249"/>
            <a:ext cx="253994" cy="253994"/>
          </a:xfrm>
          <a:prstGeom prst="rect">
            <a:avLst/>
          </a:prstGeom>
        </p:spPr>
      </p:pic>
      <p:sp>
        <p:nvSpPr>
          <p:cNvPr id="6" name="Text 3"/>
          <p:cNvSpPr txBox="1"/>
          <p:nvPr/>
        </p:nvSpPr>
        <p:spPr>
          <a:xfrm>
            <a:off x="1333467" y="2054769"/>
            <a:ext cx="588650"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Done</a:t>
            </a:r>
            <a:endParaRPr lang="en-US" sz="1700" dirty="0"/>
          </a:p>
        </p:txBody>
      </p:sp>
      <p:sp>
        <p:nvSpPr>
          <p:cNvPr id="7" name="Text 4"/>
          <p:cNvSpPr txBox="1"/>
          <p:nvPr/>
        </p:nvSpPr>
        <p:spPr>
          <a:xfrm>
            <a:off x="1014685" y="2415420"/>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Java 25, Spring Boot 4</a:t>
            </a:r>
            <a:endParaRPr lang="en-US" sz="1300" dirty="0"/>
          </a:p>
        </p:txBody>
      </p:sp>
      <p:sp>
        <p:nvSpPr>
          <p:cNvPr id="8" name="Text 5"/>
          <p:cNvSpPr txBox="1"/>
          <p:nvPr/>
        </p:nvSpPr>
        <p:spPr>
          <a:xfrm>
            <a:off x="1014685" y="2709993"/>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20 services in 5 JVMs</a:t>
            </a:r>
            <a:endParaRPr lang="en-US" sz="1300" dirty="0"/>
          </a:p>
        </p:txBody>
      </p:sp>
      <p:sp>
        <p:nvSpPr>
          <p:cNvPr id="9" name="Text 6"/>
          <p:cNvSpPr txBox="1"/>
          <p:nvPr/>
        </p:nvSpPr>
        <p:spPr>
          <a:xfrm>
            <a:off x="1014685" y="3004566"/>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Multi-provider offers</a:t>
            </a:r>
            <a:endParaRPr lang="en-US" sz="1300" dirty="0"/>
          </a:p>
        </p:txBody>
      </p:sp>
      <p:sp>
        <p:nvSpPr>
          <p:cNvPr id="10" name="Text 7"/>
          <p:cNvSpPr txBox="1"/>
          <p:nvPr/>
        </p:nvSpPr>
        <p:spPr>
          <a:xfrm>
            <a:off x="1014685" y="3299139"/>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Settings table</a:t>
            </a:r>
            <a:endParaRPr lang="en-US" sz="1300" dirty="0"/>
          </a:p>
        </p:txBody>
      </p:sp>
      <p:sp>
        <p:nvSpPr>
          <p:cNvPr id="11" name="Text 8"/>
          <p:cNvSpPr txBox="1"/>
          <p:nvPr/>
        </p:nvSpPr>
        <p:spPr>
          <a:xfrm>
            <a:off x="1014685" y="3593712"/>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React 19, Vite 8</a:t>
            </a:r>
            <a:endParaRPr lang="en-US" sz="1300" dirty="0"/>
          </a:p>
        </p:txBody>
      </p:sp>
      <p:sp>
        <p:nvSpPr>
          <p:cNvPr id="12" name="Shape 9"/>
          <p:cNvSpPr/>
          <p:nvPr/>
        </p:nvSpPr>
        <p:spPr>
          <a:xfrm>
            <a:off x="3492413" y="1876973"/>
            <a:ext cx="2527237" cy="2818833"/>
          </a:xfrm>
          <a:prstGeom prst="roundRect">
            <a:avLst>
              <a:gd name="adj" fmla="val 5025"/>
            </a:avLst>
          </a:prstGeom>
          <a:solidFill>
            <a:srgbClr val="FFFFFF">
              <a:alpha val="12000"/>
            </a:srgbClr>
          </a:solidFill>
          <a:ln/>
        </p:spPr>
      </p:sp>
      <p:pic>
        <p:nvPicPr>
          <p:cNvPr id="13" name="Image 1" descr="preencoded.png">    </p:cNvPr>
          <p:cNvPicPr>
            <a:picLocks noChangeAspect="1"/>
          </p:cNvPicPr>
          <p:nvPr/>
        </p:nvPicPr>
        <p:blipFill>
          <a:blip r:embed="rId3"/>
          <a:stretch>
            <a:fillRect/>
          </a:stretch>
        </p:blipFill>
        <p:spPr>
          <a:xfrm>
            <a:off x="3670208" y="2057249"/>
            <a:ext cx="253994" cy="253994"/>
          </a:xfrm>
          <a:prstGeom prst="rect">
            <a:avLst/>
          </a:prstGeom>
        </p:spPr>
      </p:pic>
      <p:sp>
        <p:nvSpPr>
          <p:cNvPr id="14" name="Text 10"/>
          <p:cNvSpPr txBox="1"/>
          <p:nvPr/>
        </p:nvSpPr>
        <p:spPr>
          <a:xfrm>
            <a:off x="4013100" y="2054769"/>
            <a:ext cx="1140336"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This week</a:t>
            </a:r>
            <a:endParaRPr lang="en-US" sz="1700" dirty="0"/>
          </a:p>
        </p:txBody>
      </p:sp>
      <p:sp>
        <p:nvSpPr>
          <p:cNvPr id="15" name="Text 11"/>
          <p:cNvSpPr txBox="1"/>
          <p:nvPr/>
        </p:nvSpPr>
        <p:spPr>
          <a:xfrm>
            <a:off x="3694318" y="2415420"/>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Commit the api_gateway revert</a:t>
            </a:r>
            <a:endParaRPr lang="en-US" sz="1300" dirty="0"/>
          </a:p>
        </p:txBody>
      </p:sp>
      <p:sp>
        <p:nvSpPr>
          <p:cNvPr id="16" name="Text 12"/>
          <p:cNvSpPr txBox="1"/>
          <p:nvPr/>
        </p:nvSpPr>
        <p:spPr>
          <a:xfrm>
            <a:off x="3694318" y="2941068"/>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Rotate secrets; purge 1b5656d</a:t>
            </a:r>
            <a:endParaRPr lang="en-US" sz="1300" dirty="0"/>
          </a:p>
        </p:txBody>
      </p:sp>
      <p:sp>
        <p:nvSpPr>
          <p:cNvPr id="17" name="Text 13"/>
          <p:cNvSpPr txBox="1"/>
          <p:nvPr/>
        </p:nvSpPr>
        <p:spPr>
          <a:xfrm>
            <a:off x="3694318" y="3466716"/>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Bind local ports to 127.0.0.1</a:t>
            </a:r>
            <a:endParaRPr lang="en-US" sz="1300" dirty="0"/>
          </a:p>
        </p:txBody>
      </p:sp>
      <p:sp>
        <p:nvSpPr>
          <p:cNvPr id="18" name="Text 14"/>
          <p:cNvSpPr txBox="1"/>
          <p:nvPr/>
        </p:nvSpPr>
        <p:spPr>
          <a:xfrm>
            <a:off x="3694318" y="3992363"/>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Set app URLs per environment</a:t>
            </a:r>
            <a:endParaRPr lang="en-US" sz="1300" dirty="0"/>
          </a:p>
        </p:txBody>
      </p:sp>
      <p:sp>
        <p:nvSpPr>
          <p:cNvPr id="19" name="Shape 15"/>
          <p:cNvSpPr/>
          <p:nvPr/>
        </p:nvSpPr>
        <p:spPr>
          <a:xfrm>
            <a:off x="6172046" y="1876973"/>
            <a:ext cx="2527237" cy="2818833"/>
          </a:xfrm>
          <a:prstGeom prst="roundRect">
            <a:avLst>
              <a:gd name="adj" fmla="val 5025"/>
            </a:avLst>
          </a:prstGeom>
          <a:solidFill>
            <a:srgbClr val="FFFFFF">
              <a:alpha val="12000"/>
            </a:srgbClr>
          </a:solidFill>
          <a:ln/>
        </p:spPr>
      </p:sp>
      <p:pic>
        <p:nvPicPr>
          <p:cNvPr id="20" name="Image 2" descr="preencoded.png">    </p:cNvPr>
          <p:cNvPicPr>
            <a:picLocks noChangeAspect="1"/>
          </p:cNvPicPr>
          <p:nvPr/>
        </p:nvPicPr>
        <p:blipFill>
          <a:blip r:embed="rId4"/>
          <a:stretch>
            <a:fillRect/>
          </a:stretch>
        </p:blipFill>
        <p:spPr>
          <a:xfrm>
            <a:off x="6349841" y="2057249"/>
            <a:ext cx="253994" cy="253994"/>
          </a:xfrm>
          <a:prstGeom prst="rect">
            <a:avLst/>
          </a:prstGeom>
        </p:spPr>
      </p:pic>
      <p:sp>
        <p:nvSpPr>
          <p:cNvPr id="21" name="Text 16"/>
          <p:cNvSpPr txBox="1"/>
          <p:nvPr/>
        </p:nvSpPr>
        <p:spPr>
          <a:xfrm>
            <a:off x="6692733" y="2054769"/>
            <a:ext cx="1577047"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Before launch</a:t>
            </a:r>
            <a:endParaRPr lang="en-US" sz="1700" dirty="0"/>
          </a:p>
        </p:txBody>
      </p:sp>
      <p:sp>
        <p:nvSpPr>
          <p:cNvPr id="22" name="Text 17"/>
          <p:cNvSpPr txBox="1"/>
          <p:nvPr/>
        </p:nvSpPr>
        <p:spPr>
          <a:xfrm>
            <a:off x="6373951" y="2415420"/>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Ingress, ECR, OIDC, state</a:t>
            </a:r>
            <a:endParaRPr lang="en-US" sz="1300" dirty="0"/>
          </a:p>
        </p:txBody>
      </p:sp>
      <p:sp>
        <p:nvSpPr>
          <p:cNvPr id="23" name="Text 18"/>
          <p:cNvSpPr txBox="1"/>
          <p:nvPr/>
        </p:nvSpPr>
        <p:spPr>
          <a:xfrm>
            <a:off x="6373951" y="2709993"/>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Secret sync, Kafka/Redis TLS</a:t>
            </a:r>
            <a:endParaRPr lang="en-US" sz="1300" dirty="0"/>
          </a:p>
        </p:txBody>
      </p:sp>
      <p:sp>
        <p:nvSpPr>
          <p:cNvPr id="24" name="Text 19"/>
          <p:cNvSpPr txBox="1"/>
          <p:nvPr/>
        </p:nvSpPr>
        <p:spPr>
          <a:xfrm>
            <a:off x="6373951" y="3235641"/>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RS256, per-IP auth limits</a:t>
            </a:r>
            <a:endParaRPr lang="en-US" sz="1300" dirty="0"/>
          </a:p>
        </p:txBody>
      </p:sp>
      <p:sp>
        <p:nvSpPr>
          <p:cNvPr id="25" name="Text 20"/>
          <p:cNvSpPr txBox="1"/>
          <p:nvPr/>
        </p:nvSpPr>
        <p:spPr>
          <a:xfrm>
            <a:off x="6373951" y="3530214"/>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Coupon, refund, payout fixes</a:t>
            </a:r>
            <a:endParaRPr lang="en-US" sz="1300" dirty="0"/>
          </a:p>
        </p:txBody>
      </p:sp>
      <p:sp>
        <p:nvSpPr>
          <p:cNvPr id="26" name="Text 21"/>
          <p:cNvSpPr txBox="1"/>
          <p:nvPr/>
        </p:nvSpPr>
        <p:spPr>
          <a:xfrm>
            <a:off x="6373951" y="4055862"/>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Migration Job, web hosting</a:t>
            </a:r>
            <a:endParaRPr lang="en-US" sz="1300" dirty="0"/>
          </a:p>
        </p:txBody>
      </p:sp>
      <p:sp>
        <p:nvSpPr>
          <p:cNvPr id="27" name="Shape 22"/>
          <p:cNvSpPr/>
          <p:nvPr/>
        </p:nvSpPr>
        <p:spPr>
          <a:xfrm>
            <a:off x="8851679" y="1876973"/>
            <a:ext cx="2527237" cy="2818833"/>
          </a:xfrm>
          <a:prstGeom prst="roundRect">
            <a:avLst>
              <a:gd name="adj" fmla="val 5025"/>
            </a:avLst>
          </a:prstGeom>
          <a:solidFill>
            <a:srgbClr val="FFFFFF">
              <a:alpha val="12000"/>
            </a:srgbClr>
          </a:solidFill>
          <a:ln/>
        </p:spPr>
      </p:sp>
      <p:pic>
        <p:nvPicPr>
          <p:cNvPr id="28" name="Image 3" descr="preencoded.png">    </p:cNvPr>
          <p:cNvPicPr>
            <a:picLocks noChangeAspect="1"/>
          </p:cNvPicPr>
          <p:nvPr/>
        </p:nvPicPr>
        <p:blipFill>
          <a:blip r:embed="rId5"/>
          <a:stretch>
            <a:fillRect/>
          </a:stretch>
        </p:blipFill>
        <p:spPr>
          <a:xfrm>
            <a:off x="9029474" y="2057249"/>
            <a:ext cx="253994" cy="253994"/>
          </a:xfrm>
          <a:prstGeom prst="rect">
            <a:avLst/>
          </a:prstGeom>
        </p:spPr>
      </p:pic>
      <p:sp>
        <p:nvSpPr>
          <p:cNvPr id="29" name="Text 23"/>
          <p:cNvSpPr txBox="1"/>
          <p:nvPr/>
        </p:nvSpPr>
        <p:spPr>
          <a:xfrm>
            <a:off x="9372366" y="2054769"/>
            <a:ext cx="1406363" cy="259074"/>
          </a:xfrm>
          <a:prstGeom prst="rect">
            <a:avLst/>
          </a:prstGeom>
          <a:noFill/>
          <a:ln/>
        </p:spPr>
        <p:txBody>
          <a:bodyPr wrap="square" lIns="0" tIns="0" rIns="0" bIns="0" rtlCol="0" anchor="t"/>
          <a:lstStyle/>
          <a:p>
            <a:pPr algn="l" indent="0" marL="0">
              <a:lnSpc>
                <a:spcPct val="100000"/>
              </a:lnSpc>
              <a:buNone/>
            </a:pPr>
            <a:r>
              <a:rPr lang="en-US" sz="1700" b="1" dirty="0">
                <a:solidFill>
                  <a:srgbClr val="F8FAFF"/>
                </a:solidFill>
                <a:latin typeface="Calibri" pitchFamily="34" charset="0"/>
                <a:ea typeface="Calibri" pitchFamily="34" charset="-122"/>
                <a:cs typeface="Calibri" pitchFamily="34" charset="-120"/>
              </a:rPr>
              <a:t>After launch</a:t>
            </a:r>
            <a:endParaRPr lang="en-US" sz="1700" dirty="0"/>
          </a:p>
        </p:txBody>
      </p:sp>
      <p:sp>
        <p:nvSpPr>
          <p:cNvPr id="30" name="Text 24"/>
          <p:cNvSpPr txBox="1"/>
          <p:nvPr/>
        </p:nvSpPr>
        <p:spPr>
          <a:xfrm>
            <a:off x="9053584" y="2415420"/>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Real SMS, email, S3, KYC</a:t>
            </a:r>
            <a:endParaRPr lang="en-US" sz="1300" dirty="0"/>
          </a:p>
        </p:txBody>
      </p:sp>
      <p:sp>
        <p:nvSpPr>
          <p:cNvPr id="31" name="Text 25"/>
          <p:cNvSpPr txBox="1"/>
          <p:nvPr/>
        </p:nvSpPr>
        <p:spPr>
          <a:xfrm>
            <a:off x="9053584" y="2709993"/>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Ratings, booking sweeper</a:t>
            </a:r>
            <a:endParaRPr lang="en-US" sz="1300" dirty="0"/>
          </a:p>
        </p:txBody>
      </p:sp>
      <p:sp>
        <p:nvSpPr>
          <p:cNvPr id="32" name="Text 26"/>
          <p:cNvSpPr txBox="1"/>
          <p:nvPr/>
        </p:nvSpPr>
        <p:spPr>
          <a:xfrm>
            <a:off x="9053584" y="3004566"/>
            <a:ext cx="2382381" cy="231134"/>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Terraform in CI with scans</a:t>
            </a:r>
            <a:endParaRPr lang="en-US" sz="1300" dirty="0"/>
          </a:p>
        </p:txBody>
      </p:sp>
      <p:sp>
        <p:nvSpPr>
          <p:cNvPr id="33" name="Text 27"/>
          <p:cNvSpPr txBox="1"/>
          <p:nvPr/>
        </p:nvSpPr>
        <p:spPr>
          <a:xfrm>
            <a:off x="9053584" y="3299139"/>
            <a:ext cx="2382381" cy="462149"/>
          </a:xfrm>
          <a:prstGeom prst="rect">
            <a:avLst/>
          </a:prstGeom>
          <a:noFill/>
          <a:ln/>
        </p:spPr>
        <p:txBody>
          <a:bodyPr wrap="square" lIns="0" tIns="0" rIns="0" bIns="0" rtlCol="0" anchor="t"/>
          <a:lstStyle/>
          <a:p>
            <a:pPr algn="l" marL="190500" indent="-190500">
              <a:lnSpc>
                <a:spcPct val="116667"/>
              </a:lnSpc>
              <a:buSzPct val="100000"/>
              <a:buChar char="•"/>
            </a:pPr>
            <a:r>
              <a:rPr lang="en-US" sz="1300" dirty="0">
                <a:solidFill>
                  <a:srgbClr val="F8FAFF"/>
                </a:solidFill>
                <a:latin typeface="Calibri" pitchFamily="34" charset="0"/>
                <a:ea typeface="Calibri" pitchFamily="34" charset="-122"/>
                <a:cs typeface="Calibri" pitchFamily="34" charset="-120"/>
              </a:rPr>
              <a:t>Observability applied by CI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HomeFix Design Deck</dc:title>
  <dc:subject>Architecture, data, deployment and security review</dc:subject>
  <dc:creator>PptxGenJS</dc:creator>
  <cp:lastModifiedBy>PptxGenJS</cp:lastModifiedBy>
  <cp:revision>1</cp:revision>
  <dcterms:created xsi:type="dcterms:W3CDTF">2026-10-12T15:34:21Z</dcterms:created>
  <dcterms:modified xsi:type="dcterms:W3CDTF">2026-10-12T15:34:21Z</dcterms:modified>
</cp:coreProperties>
</file>