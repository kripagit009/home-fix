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the repository as it stands on 11 October 2026. Architecture (unified and per area), sequence diagrams for the three key flows, the booking state machine, the logical data model, local and production deployment diagrams with step-by-step runbooks, and a security review with a prioritised fix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Region ap-south-1 (Mumbai). Users: customers, service providers, agencies (tenants) and five staff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to bottom: four client surfaces; the edge (nginx sends /api/auth straight to auth-service, everything else goes through the Spring Cloud Gateway); twenty services grouped by domain; the shared data and event plane; external partners on the right. Service-to-service calls use /internal/** with X-Internal-Api-Key and are never routed by the 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services are Java 21 / Spring Boot 3 with one Postgres schema each and Flyway migrations at startup. Shared Maven libraries: homefix-shared-observability, -security, -resilience,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endpoints: POST /auth/register/otp and /auth/register/verify, POST /auth/login/password, POST /auth/login/social, POST /auth/token/refresh, POST /auth/logout. The gateway calls GET /auth/introspect with the bearer token and caches positive results briefly. Redis keys: auth:otp:session:{phone} (5-minute TTL), auth:otp:lock:{phone}, auth:refresh:{sha256}, auth:family:{id}, auth:pwd:fail and lock keys. Logout revokes the refresh family; access JWTs stay valid until they expire.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booking-service validates the subcategory with catalog-service and prices it with pricing-engine (coupons via promotion-service), then writes BookingCreated to the outbox in the same transaction. dispatch-engine consumes it, fetches eligible APPROVED providers and the address coordinates, scores them and offers the job to one provider at a time through Redis (dispatch:offer:booking:{id}, dispatch:lock:provider:{id}). On accept it calls POST /internal/bookings/{id}/provider-accepted. If nobody accepts, booking-service routes to an ACTIVE agency (AWAITING_ASSIGNMENT) or ends in SEARCHING_FAILED.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 /payments takes only bookingId and method; amount, customer and provider come from booking-service. payment-service creates a Razorpay order in paise, the app opens Checkout, then POST /payments/{id}/razorpay/verify checks the HMAC of order_id|payment_id and re-fetches the payment (order, paise amount, INR). The webhook POST /payments/webhooks/razorpay is verified over the raw body; events older than 72 h are rejected and replays are idempotent. PaymentCompleted is consumed by booking, invoice, rating-review, chat and notification.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Topics are named after event types: BookingCreated, ProviderAssigned, ProviderAccepted, ProviderRejected, ProviderArriving, ProviderArrived, JobStarted, JobCompleted, PaymentCompleted, BookingCancelled, ReviewSubmitted, ComplaintCreated, ComplaintStatusChanged; fallback topic domain-events. The relay holds a 2-minute lease per batch and adds an eventId header. Consumers record (consumer_group, event_id) in outbox.processed_event to deduplicate, retry 3 times 5 s apart, then publish to topic.DLT.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OTP: the code is hashed in auth:otp:session:{phone} with a 5-minute TTL; 5 wrong tries lock the phone for 30 minutes. Verify returns a 15-minute access JWT and a 30-day opaque refresh token. Every API call carries the bearer token; the gateway introspects it with auth-service (positive results cached briefly) and checks account status, then the service runs its own JWT filter, RBAC rules and ownership checks. Refresh rotates the token; reusing an old one revokes the whole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app calls go through the API gateway (omitted for clarity). The booking is CREATED by the first call and moves to SEARCHING_PROVIDER on confirmation, which writes BookingCreated to the outbox. dispatch-engine writes a 60-second offer to Redis for the best-scored provider; a decline or timeout publishes ProviderRejected and the next provider is tried, widening the radius when the pool runs out. Accept is a Redis compare-and-set, then an internal call walks the booking to PROVIDER_ACCEPTED.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checks the HMAC of order_id|payment_id with the key secret, then re-fetches the payment from Razorpay and compares order id, paise amount and currency. Step 8 may arrive before or after step 7; whichever lands first settles the transaction and the other is an idempotent no-op. On success payment-service also credits the provider wallet (one JOB_CREDIT per booking) and invoice, rating-review, chat and notification consume PaymentCompleted.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BookingStatus has 19 values: CREATED, SEARCHING_PROVIDER, AWAITING_ASSIGNMENT, SEARCHING_FAILED, PROVIDER_ASSIGNED, PROVIDER_ACCEPTED, PROVIDER_ON_THE_WAY, PROVIDER_ARRIVED, JOB_STARTED, JOB_PAUSED, ADDITIONAL_QUOTE_REQUIRED, CUSTOMER_APPROVAL_PENDING, JOB_COMPLETED, CUSTOMER_CONFIRMED, PAYMENT_PENDING, PAYMENT_COMPLETED, DISPUTED, REFUNDED, CANCELLED. PROVIDER_ASSIGNED is passed through on accept. Terminal: SEARCHING_FAILED, CANCELLED, REFUNDED. Gap: no sweeper rescues a booking stuck in SEARCHING_PROVIDER.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Postgres database, one schema per service; cross-service references are plain uuid columns with no foreign key. Also in these schemas: auth.social_identity_link (GOOGLE/APPLE subject per user), auth.staff_invitation (token hash, role, expiry), customer.deletion_request, provider.availability_slot, provider_skill_tag, provider_category_selection and subcategory selection, provider.settlement (wallet withdrawals). The wallet is provider_profile.wallet_balance plus the provider_earning ledger, with one JOB_CREDIT per booking enforced by a unique partial index. Bank details live encrypted on provider_profile.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in booking: booking_audit (every state change with actor), job_interval (WORK and PAUSE spans), parts_line_item, saga_step, booking_tenant_candidate. chat_channel is 1:1 with a booking (its primary key is booking_id). A booking can have up to 10 payment attempts. payment.payment_settlement records provider payouts. rating.review_prompt opens a 7-day window after PaymentCompleted. promotion.coupon_usage counts per user (unique coupon_id, user_id), but nothing calls redeem today. Other schemas: location.location_history, dispatch.pending_acceptance, notification.delivery_log and notification_template, admin.audit_log and system_setting, invoice.invoice_sequence.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 17 service schemas plus the shared outbox schema, Flyway migrations per service, Hibernate ddl-auto validate. Redis (ElastiCache in production): OTP sessions and lockouts, refresh-token families, dispatch offers and locks, latest provider position, payment idempotency, pricing and catalog caches, gateway rate limits. Kafka (MSK in production): 13 event topics plus domain-events and per-topic .DLT; only the outbox relay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missing: a sweeper for bookings stuck in SEARCHING_PROVIDER, provider onboarding screens for base location, radius and skills, and tested native builds. Since the last review, location reads gained an ownership check and the payment callback is fully signature-bound.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docker-compose.core.yml starts 20 Java containers (mem_limit 448m, SerialGC, 300 s health grace) and three nginx web apps. They reach Postgres, Redis and Kafka on the Windows host through host.docker.internal. Kafka needs a DOCKER listener advertised as host.docker.internal:9094, log.retention.hours=-1 and log.cleaner.enable=false so Windows never deletes segments. A full C: drive breaks both Kafka and Docker; prune the build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Required .env keys: DB_PASSWORD, JWT_SECRET (32 bytes or more), KMS_DATA_KEY, KMS_LOCAL_DATA_KEY, RAZORPAY_WEBHOOK_SECRET, STRIPE_WEBHOOK_SECRET, INTERNAL_API_KEY. Optional: RAZORPAY_KEY_ID and SECRET with PAYMENT_DEFAULT_GATEWAY=razorpay for real Checkout; GOOGLE_CLIENT_ID; DEV_SEED_ENABLED and DEV_SEED_PASSWORD. Generate secrets with openssl rand -base64 48. Flyway migrations run when each service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Provider profiles and the agency seed both need the catalog first. The demo agency is Ara Home Services, covering 20 km around Ara. OTPs land in docker/dev-sms and emails in docker/dev-mail/dev-mail.log. Compose publishes every port on 0.0.0.0 and local Redis has no password: bind to 127.0.0.1 on shared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modules: vpc, security_groups, kms, eks, iam, rds, msk, elasticache, s3, waf, api_gateway, secrets_manager, k8s_namespaces. Dashed orange items do not exist yet: no ALB/NLB or VPC Link, no ingress template, no CloudFront or SPA hosting, no ECR repositories, no GitHub OIDC roles, no ACM or Route53. RDS is Postgres 15.5 db.r6g.xlarge Multi-AZ; MSK is 3 kafka.m5.xlarge brokers; ElastiCache is Redis 7.1 cluster mode with 3 shards. EKS 1.29 is past standard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init: terraform init -backend-config bucket=homefix-terraform-state, key=homefix/production/terraform.tfstate, region=ap-south-1, dynamodb_table=homefix-terraform-locks, encrypt=true. Phase 1 targets module.kms, vpc, security_groups, eks, rds, msk, elasticache, s3, waf, api_gateway, secrets_manager. Steps 2, 5 and 6 are not automated today, and secret key names differ between Terraform and Helm.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8 to 10 exist as GitHub Actions (ci.yml, build-services.yml, deploy-services.yml, cd-production.yml). Steps 7 and 11 are manual or missing. cd-production checks the SHA had a green CI run, waits for the production environment's reviewers, deploys up to 5 services in parallel and tags a production-N release. Helm --atomic rolls back a failed service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Workflows: pr-checks.yml, lint-delivery.yml, build-services.yml (matrix mvn verify, JaCoCo, Buildx, Trivy 0.28.0 failing on fixable CRITICAL, ECR push via OIDC), ci.yml, deploy-services.yml, cd-production.yml, frontend-ci.yml (builds images, never pushes). Actions are pinned by tag, not commit SHA.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before launch: version drift (RDS 15.5 vs Postgres 16/18 locally, MSK 3.6 vs Kafka 4.1), the placeholder ADMIN_PORTAL_URL, EMAIL_PROVIDER logging in production values, the KEDA scaler using aws_msk_iam while MSK uses SCRAM, plaintext 9092 and 2181 in the MSK security group, .gitignore missing *.tfstate and .terraform/, and API Gateway CORS allowing every origin.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token itself expired on 2026-09-10 and is harmless. The secret is the problem: the same JWT_SECRET value appears in the leaked compose file, in .env.example line 25 and in the local .env. Fix: a new random secret of 64 bytes or more per environment from Secrets Manager, a startup check that refuses known dev values, and optionally git filter-repo plus a force-push to purge 1b5656d. Treat every default in that commit as burned.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Clients hold a 15-minute access JWT in memory and a 30-day refresh token in localStorage. The edge (Spring Cloud Gateway) introspects every token and rate-limits per user, but nothing limits password or OTP attempts per IP, and the Terraform WAF cannot attach to an HTTP API stage. Services enforce RBAC and ownership and protect /internal/** with a constant-time key, but every service shares one HMAC signing key and one internal key. Data is encrypted with KMS and Redis and MSK require TLS, but RDS does not force TLS and every pod's IAM role can read every secret.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verified: no SQL injection (Spring Data, parameterised JPQL, escaped LIKE); jjwt 0.12.6 rejects alg none; staff invitations are 32 random bytes stored as SHA-256, single use, 7-day expiry; dev SMS, email and seed adapters are off by default; no AWS keys, private keys or live Razorpay keys in the tree or history; frontend lockfiles are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.env.example:25; shared JwtValidationFilter.java:56-58 and 81-97 (signature and expiry only, no iss or aud); TokenService.java:50-51; PasswordLoginService.java:90-106 (lockout per username only); RegistrationService.java:78 (OTP limit per phone); RateLimitGatewayFilter.java:58 (authenticated callers only); auth-service pom.xml:26 spring-boot.version 3.2.5, including CVE-2024-38821 relevant to the WebFlux 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nothing calls POST /coupons/redeem; /coupons/cancel lowers counters with no booking (CouponService.java:209). complaint-service LoggingRefundAdapter returns approved stub ids and SUPPORT_AGENT can trigger it. StripeGatewayAdapter is always registered and the client picks the gateway (BookingPaymentService.java:103-107). Payouts: PaymentService.java:1019-1059. Ownership: ComplaintService.java:153-165, BookingService.java:226-229, TenantTeamService.java:106-118.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eks/main.tf:84-85; iam/main.tf:87-123 (secrets read on name_prefix/*); compose ports on all interfaces with DEV_SEED_ENABLED=true and a known password; rds parameter group without rds.force_ssl; no launch template on node groups; empty S3 backend in versions.tf; prometheus-values.yaml:222 and 249. Security groups only expose 443 and 80 on the ALB, which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CSP needs script-src 'self' checkout.razorpay.com. Uploads: VerificationController.java:64-71 and MediaService.java:72; once S3 is real, serve files from a separate domain with Content-Disposition attachment. hs_err_pid20844.log leaks the Windows username and local paths. CSRF is disabled, which is fine while tokens travel in the Authorization header.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removes the only Critical and is about an hour of work. Steps 2 to 4 close the High identity and network findings and overlap with the production blockers. Step 6 is product logic and needs the booking, promotion, complaint and payment owners. Step 8 should cover the payment flow end to end with Razorpay test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docs/ARCHITECTURE.md, docs/API_CONTRACTS.md, docs/LOCAL_ACCESS.md, CODEBASE_REVIEW.md, Flyway migrations and entities, the Terraform, Helm and workflow files, and a read-only code review on 11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slideLayout" Target="../slideLayouts/slideLayout1.xml"/><Relationship Id="rId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image" Target="../media/image-26-11.png"/><Relationship Id="rId12" Type="http://schemas.openxmlformats.org/officeDocument/2006/relationships/image" Target="../media/image-26-12.png"/><Relationship Id="rId13" Type="http://schemas.openxmlformats.org/officeDocument/2006/relationships/image" Target="../media/image-26-13.png"/><Relationship Id="rId14" Type="http://schemas.openxmlformats.org/officeDocument/2006/relationships/image" Target="../media/image-26-14.png"/><Relationship Id="rId15" Type="http://schemas.openxmlformats.org/officeDocument/2006/relationships/image" Target="../media/image-26-15.png"/><Relationship Id="rId16" Type="http://schemas.openxmlformats.org/officeDocument/2006/relationships/image" Target="../media/image-26-16.png"/><Relationship Id="rId17" Type="http://schemas.openxmlformats.org/officeDocument/2006/relationships/image" Target="../media/image-26-17.png"/><Relationship Id="rId18" Type="http://schemas.openxmlformats.org/officeDocument/2006/relationships/image" Target="../media/image-26-18.png"/><Relationship Id="rId19" Type="http://schemas.openxmlformats.org/officeDocument/2006/relationships/image" Target="../media/image-26-19.png"/><Relationship Id="rId20" Type="http://schemas.openxmlformats.org/officeDocument/2006/relationships/image" Target="../media/image-26-20.png"/><Relationship Id="rId21" Type="http://schemas.openxmlformats.org/officeDocument/2006/relationships/image" Target="../media/image-26-21.png"/><Relationship Id="rId22" Type="http://schemas.openxmlformats.org/officeDocument/2006/relationships/slideLayout" Target="../slideLayouts/slideLayout1.xml"/><Relationship Id="rId2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slideLayout" Target="../slideLayouts/slideLayout1.xml"/><Relationship Id="rId10"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54794" y="952476"/>
            <a:ext cx="3301917" cy="3301917"/>
          </a:xfrm>
          <a:prstGeom prst="ellipse">
            <a:avLst/>
          </a:prstGeom>
          <a:solidFill>
            <a:srgbClr val="FFFFFF">
              <a:alpha val="8000"/>
            </a:srgbClr>
          </a:solidFill>
          <a:ln/>
        </p:spPr>
      </p:sp>
      <p:sp>
        <p:nvSpPr>
          <p:cNvPr id="3" name="Shape 1"/>
          <p:cNvSpPr/>
          <p:nvPr/>
        </p:nvSpPr>
        <p:spPr>
          <a:xfrm>
            <a:off x="9016775" y="3873403"/>
            <a:ext cx="1904952" cy="1904952"/>
          </a:xfrm>
          <a:prstGeom prst="ellipse">
            <a:avLst/>
          </a:prstGeom>
          <a:solidFill>
            <a:srgbClr val="FFFFFF">
              <a:alpha val="10000"/>
            </a:srgbClr>
          </a:solidFill>
          <a:ln/>
        </p:spPr>
      </p:sp>
      <p:sp>
        <p:nvSpPr>
          <p:cNvPr id="4" name="Shape 2"/>
          <p:cNvSpPr/>
          <p:nvPr/>
        </p:nvSpPr>
        <p:spPr>
          <a:xfrm>
            <a:off x="9143771" y="1841454"/>
            <a:ext cx="1523962" cy="1523962"/>
          </a:xfrm>
          <a:prstGeom prst="ellipse">
            <a:avLst/>
          </a:prstGeom>
          <a:solidFill>
            <a:srgbClr val="FFFFFF">
              <a:alpha val="16000"/>
            </a:srgbClr>
          </a:solidFill>
          <a:ln/>
        </p:spPr>
      </p:sp>
      <p:pic>
        <p:nvPicPr>
          <p:cNvPr id="5" name="Image 0" descr="preencoded.png">    </p:cNvPr>
          <p:cNvPicPr>
            <a:picLocks noChangeAspect="1"/>
          </p:cNvPicPr>
          <p:nvPr/>
        </p:nvPicPr>
        <p:blipFill>
          <a:blip r:embed="rId2"/>
          <a:stretch>
            <a:fillRect/>
          </a:stretch>
        </p:blipFill>
        <p:spPr>
          <a:xfrm>
            <a:off x="9493013" y="2190695"/>
            <a:ext cx="825479" cy="825479"/>
          </a:xfrm>
          <a:prstGeom prst="rect">
            <a:avLst/>
          </a:prstGeom>
        </p:spPr>
      </p:pic>
      <p:sp>
        <p:nvSpPr>
          <p:cNvPr id="6" name="Shape 3"/>
          <p:cNvSpPr/>
          <p:nvPr/>
        </p:nvSpPr>
        <p:spPr>
          <a:xfrm>
            <a:off x="9524762" y="4381390"/>
            <a:ext cx="888978" cy="888978"/>
          </a:xfrm>
          <a:prstGeom prst="ellipse">
            <a:avLst/>
          </a:prstGeom>
          <a:solidFill>
            <a:srgbClr val="FFFFFF">
              <a:alpha val="18000"/>
            </a:srgbClr>
          </a:solidFill>
          <a:ln/>
        </p:spPr>
      </p:sp>
      <p:pic>
        <p:nvPicPr>
          <p:cNvPr id="7" name="Image 1" descr="preencoded.png">    </p:cNvPr>
          <p:cNvPicPr>
            <a:picLocks noChangeAspect="1"/>
          </p:cNvPicPr>
          <p:nvPr/>
        </p:nvPicPr>
        <p:blipFill>
          <a:blip r:embed="rId3"/>
          <a:stretch>
            <a:fillRect/>
          </a:stretch>
        </p:blipFill>
        <p:spPr>
          <a:xfrm>
            <a:off x="9740656" y="4597285"/>
            <a:ext cx="457189" cy="457189"/>
          </a:xfrm>
          <a:prstGeom prst="rect">
            <a:avLst/>
          </a:prstGeom>
        </p:spPr>
      </p:pic>
      <p:sp>
        <p:nvSpPr>
          <p:cNvPr id="8" name="Shape 4"/>
          <p:cNvSpPr/>
          <p:nvPr/>
        </p:nvSpPr>
        <p:spPr>
          <a:xfrm>
            <a:off x="8191295" y="3555911"/>
            <a:ext cx="698483" cy="698483"/>
          </a:xfrm>
          <a:prstGeom prst="ellipse">
            <a:avLst/>
          </a:prstGeom>
          <a:solidFill>
            <a:srgbClr val="FFFFFF">
              <a:alpha val="18000"/>
            </a:srgbClr>
          </a:solidFill>
          <a:ln/>
        </p:spPr>
      </p:sp>
      <p:pic>
        <p:nvPicPr>
          <p:cNvPr id="9" name="Image 2" descr="preencoded.png">    </p:cNvPr>
          <p:cNvPicPr>
            <a:picLocks noChangeAspect="1"/>
          </p:cNvPicPr>
          <p:nvPr/>
        </p:nvPicPr>
        <p:blipFill>
          <a:blip r:embed="rId4"/>
          <a:stretch>
            <a:fillRect/>
          </a:stretch>
        </p:blipFill>
        <p:spPr>
          <a:xfrm>
            <a:off x="8362741" y="3727357"/>
            <a:ext cx="355591" cy="355591"/>
          </a:xfrm>
          <a:prstGeom prst="rect">
            <a:avLst/>
          </a:prstGeom>
        </p:spPr>
      </p:pic>
      <p:sp>
        <p:nvSpPr>
          <p:cNvPr id="10" name="Text 5"/>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50" kern="0" dirty="0">
                <a:solidFill>
                  <a:srgbClr val="F8FAFF"/>
                </a:solidFill>
                <a:latin typeface="Courier New" pitchFamily="34" charset="0"/>
                <a:ea typeface="Courier New" pitchFamily="34" charset="-122"/>
                <a:cs typeface="Courier New" pitchFamily="34" charset="-120"/>
              </a:rPr>
              <a:t>DESIGN REVIEW · OCTOBER 2026</a:t>
            </a:r>
            <a:endParaRPr lang="en-US" sz="1200" dirty="0"/>
          </a:p>
        </p:txBody>
      </p:sp>
      <p:sp>
        <p:nvSpPr>
          <p:cNvPr id="11" name="Text 6"/>
          <p:cNvSpPr txBox="1"/>
          <p:nvPr/>
        </p:nvSpPr>
        <p:spPr>
          <a:xfrm>
            <a:off x="812780" y="2416809"/>
            <a:ext cx="8178596" cy="952476"/>
          </a:xfrm>
          <a:prstGeom prst="rect">
            <a:avLst/>
          </a:prstGeom>
          <a:noFill/>
          <a:ln/>
        </p:spPr>
        <p:txBody>
          <a:bodyPr wrap="square" lIns="0" tIns="0" rIns="0" bIns="0" rtlCol="0" anchor="t"/>
          <a:lstStyle/>
          <a:p>
            <a:pPr algn="l" indent="0" marL="0">
              <a:lnSpc>
                <a:spcPct val="83333"/>
              </a:lnSpc>
              <a:buNone/>
            </a:pPr>
            <a:r>
              <a:rPr lang="en-US" sz="7500" b="1" dirty="0">
                <a:solidFill>
                  <a:srgbClr val="F8FAFF"/>
                </a:solidFill>
                <a:latin typeface="Calibri" pitchFamily="34" charset="0"/>
                <a:ea typeface="Calibri" pitchFamily="34" charset="-122"/>
                <a:cs typeface="Calibri" pitchFamily="34" charset="-120"/>
              </a:rPr>
              <a:t>HomeFix</a:t>
            </a:r>
            <a:endParaRPr lang="en-US" sz="7500" dirty="0"/>
          </a:p>
        </p:txBody>
      </p:sp>
      <p:sp>
        <p:nvSpPr>
          <p:cNvPr id="12" name="Text 7"/>
          <p:cNvSpPr txBox="1"/>
          <p:nvPr/>
        </p:nvSpPr>
        <p:spPr>
          <a:xfrm>
            <a:off x="812780" y="3547081"/>
            <a:ext cx="8178596" cy="876278"/>
          </a:xfrm>
          <a:prstGeom prst="rect">
            <a:avLst/>
          </a:prstGeom>
          <a:noFill/>
          <a:ln/>
        </p:spPr>
        <p:txBody>
          <a:bodyPr wrap="square" lIns="0" tIns="0" rIns="0" bIns="0" rtlCol="0" anchor="t"/>
          <a:lstStyle/>
          <a:p>
            <a:pPr algn="l" indent="0" marL="0">
              <a:lnSpc>
                <a:spcPct val="95833"/>
              </a:lnSpc>
              <a:buNone/>
            </a:pPr>
            <a:r>
              <a:rPr lang="en-US" sz="3000" dirty="0">
                <a:solidFill>
                  <a:srgbClr val="F8FAFF"/>
                </a:solidFill>
                <a:latin typeface="Calibri" pitchFamily="34" charset="0"/>
                <a:ea typeface="Calibri" pitchFamily="34" charset="-122"/>
                <a:cs typeface="Calibri" pitchFamily="34" charset="-120"/>
              </a:rPr>
              <a:t>Architecture, data, deployment and security in pictures</a:t>
            </a:r>
            <a:endParaRPr lang="en-US" sz="3000" dirty="0"/>
          </a:p>
        </p:txBody>
      </p:sp>
      <p:sp>
        <p:nvSpPr>
          <p:cNvPr id="13" name="Text 8"/>
          <p:cNvSpPr txBox="1"/>
          <p:nvPr/>
        </p:nvSpPr>
        <p:spPr>
          <a:xfrm>
            <a:off x="812780" y="5813974"/>
            <a:ext cx="11834072" cy="231134"/>
          </a:xfrm>
          <a:prstGeom prst="rect">
            <a:avLst/>
          </a:prstGeom>
          <a:noFill/>
          <a:ln/>
        </p:spPr>
        <p:txBody>
          <a:bodyPr wrap="square" lIns="0" tIns="0" rIns="0" bIns="0" rtlCol="0" anchor="t"/>
          <a:lstStyle/>
          <a:p>
            <a:pPr algn="l" indent="0" marL="0">
              <a:lnSpc>
                <a:spcPct val="116667"/>
              </a:lnSpc>
              <a:buNone/>
            </a:pPr>
            <a:r>
              <a:rPr lang="en-US" sz="1300" dirty="0">
                <a:solidFill>
                  <a:srgbClr val="F8FAFF"/>
                </a:solidFill>
                <a:latin typeface="Calibri" pitchFamily="34" charset="0"/>
                <a:ea typeface="Calibri" pitchFamily="34" charset="-122"/>
                <a:cs typeface="Calibri" pitchFamily="34" charset="-120"/>
              </a:rPr>
              <a:t>On-demand home-services marketplace · branch fix/job-flow-and-admin-backend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AT A GLANCE</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An event-driven microservice platform on AWS</a:t>
            </a:r>
            <a:endParaRPr lang="en-US" sz="3000" dirty="0"/>
          </a:p>
        </p:txBody>
      </p:sp>
      <p:sp>
        <p:nvSpPr>
          <p:cNvPr id="4" name="Shape 2"/>
          <p:cNvSpPr/>
          <p:nvPr/>
        </p:nvSpPr>
        <p:spPr>
          <a:xfrm>
            <a:off x="812780" y="1775376"/>
            <a:ext cx="2508187" cy="2303603"/>
          </a:xfrm>
          <a:prstGeom prst="roundRect">
            <a:avLst>
              <a:gd name="adj" fmla="val 5513"/>
            </a:avLst>
          </a:prstGeom>
          <a:solidFill>
            <a:srgbClr val="FCFDFF"/>
          </a:solidFill>
          <a:ln w="6350">
            <a:solidFill>
              <a:srgbClr val="D5DEEC"/>
            </a:solidFill>
            <a:prstDash val="solid"/>
          </a:ln>
        </p:spPr>
      </p:sp>
      <p:sp>
        <p:nvSpPr>
          <p:cNvPr id="5" name="Shape 3"/>
          <p:cNvSpPr/>
          <p:nvPr/>
        </p:nvSpPr>
        <p:spPr>
          <a:xfrm>
            <a:off x="1022324" y="1984921"/>
            <a:ext cx="457189" cy="457189"/>
          </a:xfrm>
          <a:prstGeom prst="ellipse">
            <a:avLst/>
          </a:prstGeom>
          <a:solidFill>
            <a:srgbClr val="E3EBFA"/>
          </a:solidFill>
          <a:ln/>
        </p:spPr>
      </p:sp>
      <p:pic>
        <p:nvPicPr>
          <p:cNvPr id="6" name="Image 0" descr="preencoded.png">    </p:cNvPr>
          <p:cNvPicPr>
            <a:picLocks noChangeAspect="1"/>
          </p:cNvPicPr>
          <p:nvPr/>
        </p:nvPicPr>
        <p:blipFill>
          <a:blip r:embed="rId1"/>
          <a:stretch>
            <a:fillRect/>
          </a:stretch>
        </p:blipFill>
        <p:spPr>
          <a:xfrm>
            <a:off x="1130272" y="2092868"/>
            <a:ext cx="241294" cy="241294"/>
          </a:xfrm>
          <a:prstGeom prst="rect">
            <a:avLst/>
          </a:prstGeom>
        </p:spPr>
      </p:pic>
      <p:sp>
        <p:nvSpPr>
          <p:cNvPr id="7" name="Text 4"/>
          <p:cNvSpPr txBox="1"/>
          <p:nvPr/>
        </p:nvSpPr>
        <p:spPr>
          <a:xfrm>
            <a:off x="1022324" y="2543707"/>
            <a:ext cx="2339790" cy="761981"/>
          </a:xfrm>
          <a:prstGeom prst="rect">
            <a:avLst/>
          </a:prstGeom>
          <a:noFill/>
          <a:ln/>
        </p:spPr>
        <p:txBody>
          <a:bodyPr wrap="square" lIns="0" tIns="0" rIns="0" bIns="0" rtlCol="0" anchor="t"/>
          <a:lstStyle/>
          <a:p>
            <a:pPr algn="l" indent="0" marL="0">
              <a:lnSpc>
                <a:spcPct val="83333"/>
              </a:lnSpc>
              <a:buNone/>
            </a:pPr>
            <a:r>
              <a:rPr lang="en-US" sz="6000" b="1" dirty="0">
                <a:solidFill>
                  <a:srgbClr val="2454C5"/>
                </a:solidFill>
                <a:latin typeface="Calibri" pitchFamily="34" charset="0"/>
                <a:ea typeface="Calibri" pitchFamily="34" charset="-122"/>
                <a:cs typeface="Calibri" pitchFamily="34" charset="-120"/>
              </a:rPr>
              <a:t>20</a:t>
            </a:r>
            <a:endParaRPr lang="en-US" sz="6000" dirty="0"/>
          </a:p>
        </p:txBody>
      </p:sp>
      <p:sp>
        <p:nvSpPr>
          <p:cNvPr id="8" name="Text 5"/>
          <p:cNvSpPr txBox="1"/>
          <p:nvPr/>
        </p:nvSpPr>
        <p:spPr>
          <a:xfrm>
            <a:off x="1022324" y="3407285"/>
            <a:ext cx="2339790" cy="462149"/>
          </a:xfrm>
          <a:prstGeom prst="rect">
            <a:avLst/>
          </a:prstGeom>
          <a:noFill/>
          <a:ln/>
        </p:spPr>
        <p:txBody>
          <a:bodyPr wrap="square" lIns="0" tIns="0" rIns="0" bIns="0" rtlCol="0" anchor="t"/>
          <a:lstStyle/>
          <a:p>
            <a:pPr algn="l" indent="0" marL="0">
              <a:lnSpc>
                <a:spcPct val="116667"/>
              </a:lnSpc>
              <a:buNone/>
            </a:pPr>
            <a:r>
              <a:rPr lang="en-US" sz="1300" dirty="0">
                <a:solidFill>
                  <a:srgbClr val="4A5878"/>
                </a:solidFill>
                <a:latin typeface="Calibri" pitchFamily="34" charset="0"/>
                <a:ea typeface="Calibri" pitchFamily="34" charset="-122"/>
                <a:cs typeface="Calibri" pitchFamily="34" charset="-120"/>
              </a:rPr>
              <a:t>Spring Boot services on Java 21</a:t>
            </a:r>
            <a:endParaRPr lang="en-US" sz="1300" dirty="0"/>
          </a:p>
        </p:txBody>
      </p:sp>
      <p:sp>
        <p:nvSpPr>
          <p:cNvPr id="9" name="Shape 6"/>
          <p:cNvSpPr/>
          <p:nvPr/>
        </p:nvSpPr>
        <p:spPr>
          <a:xfrm>
            <a:off x="3498763" y="1775376"/>
            <a:ext cx="2508187" cy="2303603"/>
          </a:xfrm>
          <a:prstGeom prst="roundRect">
            <a:avLst>
              <a:gd name="adj" fmla="val 5513"/>
            </a:avLst>
          </a:prstGeom>
          <a:solidFill>
            <a:srgbClr val="FCFDFF"/>
          </a:solidFill>
          <a:ln w="6350">
            <a:solidFill>
              <a:srgbClr val="D5DEEC"/>
            </a:solidFill>
            <a:prstDash val="solid"/>
          </a:ln>
        </p:spPr>
      </p:sp>
      <p:sp>
        <p:nvSpPr>
          <p:cNvPr id="10" name="Shape 7"/>
          <p:cNvSpPr/>
          <p:nvPr/>
        </p:nvSpPr>
        <p:spPr>
          <a:xfrm>
            <a:off x="3708307" y="1984921"/>
            <a:ext cx="457189" cy="457189"/>
          </a:xfrm>
          <a:prstGeom prst="ellipse">
            <a:avLst/>
          </a:prstGeom>
          <a:solidFill>
            <a:srgbClr val="DDF2EF"/>
          </a:solidFill>
          <a:ln/>
        </p:spPr>
      </p:sp>
      <p:pic>
        <p:nvPicPr>
          <p:cNvPr id="11" name="Image 1" descr="preencoded.png">    </p:cNvPr>
          <p:cNvPicPr>
            <a:picLocks noChangeAspect="1"/>
          </p:cNvPicPr>
          <p:nvPr/>
        </p:nvPicPr>
        <p:blipFill>
          <a:blip r:embed="rId2"/>
          <a:stretch>
            <a:fillRect/>
          </a:stretch>
        </p:blipFill>
        <p:spPr>
          <a:xfrm>
            <a:off x="3816255" y="2092868"/>
            <a:ext cx="241294" cy="241294"/>
          </a:xfrm>
          <a:prstGeom prst="rect">
            <a:avLst/>
          </a:prstGeom>
        </p:spPr>
      </p:pic>
      <p:sp>
        <p:nvSpPr>
          <p:cNvPr id="12" name="Text 8"/>
          <p:cNvSpPr txBox="1"/>
          <p:nvPr/>
        </p:nvSpPr>
        <p:spPr>
          <a:xfrm>
            <a:off x="3708307" y="2543707"/>
            <a:ext cx="2339790" cy="761981"/>
          </a:xfrm>
          <a:prstGeom prst="rect">
            <a:avLst/>
          </a:prstGeom>
          <a:noFill/>
          <a:ln/>
        </p:spPr>
        <p:txBody>
          <a:bodyPr wrap="square" lIns="0" tIns="0" rIns="0" bIns="0" rtlCol="0" anchor="t"/>
          <a:lstStyle/>
          <a:p>
            <a:pPr algn="l" indent="0" marL="0">
              <a:lnSpc>
                <a:spcPct val="83333"/>
              </a:lnSpc>
              <a:buNone/>
            </a:pPr>
            <a:r>
              <a:rPr lang="en-US" sz="6000" b="1" dirty="0">
                <a:solidFill>
                  <a:srgbClr val="0B7F74"/>
                </a:solidFill>
                <a:latin typeface="Calibri" pitchFamily="34" charset="0"/>
                <a:ea typeface="Calibri" pitchFamily="34" charset="-122"/>
                <a:cs typeface="Calibri" pitchFamily="34" charset="-120"/>
              </a:rPr>
              <a:t>3+2</a:t>
            </a:r>
            <a:endParaRPr lang="en-US" sz="6000" dirty="0"/>
          </a:p>
        </p:txBody>
      </p:sp>
      <p:sp>
        <p:nvSpPr>
          <p:cNvPr id="13" name="Text 9"/>
          <p:cNvSpPr txBox="1"/>
          <p:nvPr/>
        </p:nvSpPr>
        <p:spPr>
          <a:xfrm>
            <a:off x="3708307" y="3407285"/>
            <a:ext cx="2339790" cy="462149"/>
          </a:xfrm>
          <a:prstGeom prst="rect">
            <a:avLst/>
          </a:prstGeom>
          <a:noFill/>
          <a:ln/>
        </p:spPr>
        <p:txBody>
          <a:bodyPr wrap="square" lIns="0" tIns="0" rIns="0" bIns="0" rtlCol="0" anchor="t"/>
          <a:lstStyle/>
          <a:p>
            <a:pPr algn="l" indent="0" marL="0">
              <a:lnSpc>
                <a:spcPct val="116667"/>
              </a:lnSpc>
              <a:buNone/>
            </a:pPr>
            <a:r>
              <a:rPr lang="en-US" sz="1300" dirty="0">
                <a:solidFill>
                  <a:srgbClr val="4A5878"/>
                </a:solidFill>
                <a:latin typeface="Calibri" pitchFamily="34" charset="0"/>
                <a:ea typeface="Calibri" pitchFamily="34" charset="-122"/>
                <a:cs typeface="Calibri" pitchFamily="34" charset="-120"/>
              </a:rPr>
              <a:t>React web apps plus iOS and Android shells</a:t>
            </a:r>
            <a:endParaRPr lang="en-US" sz="1300" dirty="0"/>
          </a:p>
        </p:txBody>
      </p:sp>
      <p:sp>
        <p:nvSpPr>
          <p:cNvPr id="14" name="Shape 10"/>
          <p:cNvSpPr/>
          <p:nvPr/>
        </p:nvSpPr>
        <p:spPr>
          <a:xfrm>
            <a:off x="6184745" y="1775376"/>
            <a:ext cx="2508187" cy="2303603"/>
          </a:xfrm>
          <a:prstGeom prst="roundRect">
            <a:avLst>
              <a:gd name="adj" fmla="val 5513"/>
            </a:avLst>
          </a:prstGeom>
          <a:solidFill>
            <a:srgbClr val="FCFDFF"/>
          </a:solidFill>
          <a:ln w="6350">
            <a:solidFill>
              <a:srgbClr val="D5DEEC"/>
            </a:solidFill>
            <a:prstDash val="solid"/>
          </a:ln>
        </p:spPr>
      </p:sp>
      <p:sp>
        <p:nvSpPr>
          <p:cNvPr id="15" name="Shape 11"/>
          <p:cNvSpPr/>
          <p:nvPr/>
        </p:nvSpPr>
        <p:spPr>
          <a:xfrm>
            <a:off x="6394290" y="1984921"/>
            <a:ext cx="457189" cy="457189"/>
          </a:xfrm>
          <a:prstGeom prst="ellipse">
            <a:avLst/>
          </a:prstGeom>
          <a:solidFill>
            <a:srgbClr val="E7E7F6"/>
          </a:solidFill>
          <a:ln/>
        </p:spPr>
      </p:sp>
      <p:pic>
        <p:nvPicPr>
          <p:cNvPr id="16" name="Image 2" descr="preencoded.png">    </p:cNvPr>
          <p:cNvPicPr>
            <a:picLocks noChangeAspect="1"/>
          </p:cNvPicPr>
          <p:nvPr/>
        </p:nvPicPr>
        <p:blipFill>
          <a:blip r:embed="rId3"/>
          <a:stretch>
            <a:fillRect/>
          </a:stretch>
        </p:blipFill>
        <p:spPr>
          <a:xfrm>
            <a:off x="6502237" y="2092868"/>
            <a:ext cx="241294" cy="241294"/>
          </a:xfrm>
          <a:prstGeom prst="rect">
            <a:avLst/>
          </a:prstGeom>
        </p:spPr>
      </p:pic>
      <p:sp>
        <p:nvSpPr>
          <p:cNvPr id="17" name="Text 12"/>
          <p:cNvSpPr txBox="1"/>
          <p:nvPr/>
        </p:nvSpPr>
        <p:spPr>
          <a:xfrm>
            <a:off x="6394290" y="2543707"/>
            <a:ext cx="2339790" cy="761981"/>
          </a:xfrm>
          <a:prstGeom prst="rect">
            <a:avLst/>
          </a:prstGeom>
          <a:noFill/>
          <a:ln/>
        </p:spPr>
        <p:txBody>
          <a:bodyPr wrap="square" lIns="0" tIns="0" rIns="0" bIns="0" rtlCol="0" anchor="t"/>
          <a:lstStyle/>
          <a:p>
            <a:pPr algn="l" indent="0" marL="0">
              <a:lnSpc>
                <a:spcPct val="83333"/>
              </a:lnSpc>
              <a:buNone/>
            </a:pPr>
            <a:r>
              <a:rPr lang="en-US" sz="6000" b="1" dirty="0">
                <a:solidFill>
                  <a:srgbClr val="4B4B9A"/>
                </a:solidFill>
                <a:latin typeface="Calibri" pitchFamily="34" charset="0"/>
                <a:ea typeface="Calibri" pitchFamily="34" charset="-122"/>
                <a:cs typeface="Calibri" pitchFamily="34" charset="-120"/>
              </a:rPr>
              <a:t>13</a:t>
            </a:r>
            <a:endParaRPr lang="en-US" sz="6000" dirty="0"/>
          </a:p>
        </p:txBody>
      </p:sp>
      <p:sp>
        <p:nvSpPr>
          <p:cNvPr id="18" name="Text 13"/>
          <p:cNvSpPr txBox="1"/>
          <p:nvPr/>
        </p:nvSpPr>
        <p:spPr>
          <a:xfrm>
            <a:off x="6394290" y="3407285"/>
            <a:ext cx="2339790" cy="462149"/>
          </a:xfrm>
          <a:prstGeom prst="rect">
            <a:avLst/>
          </a:prstGeom>
          <a:noFill/>
          <a:ln/>
        </p:spPr>
        <p:txBody>
          <a:bodyPr wrap="square" lIns="0" tIns="0" rIns="0" bIns="0" rtlCol="0" anchor="t"/>
          <a:lstStyle/>
          <a:p>
            <a:pPr algn="l" indent="0" marL="0">
              <a:lnSpc>
                <a:spcPct val="116667"/>
              </a:lnSpc>
              <a:buNone/>
            </a:pPr>
            <a:r>
              <a:rPr lang="en-US" sz="1300" dirty="0">
                <a:solidFill>
                  <a:srgbClr val="4A5878"/>
                </a:solidFill>
                <a:latin typeface="Calibri" pitchFamily="34" charset="0"/>
                <a:ea typeface="Calibri" pitchFamily="34" charset="-122"/>
                <a:cs typeface="Calibri" pitchFamily="34" charset="-120"/>
              </a:rPr>
              <a:t>Kafka topics fed by a transactional outbox</a:t>
            </a:r>
            <a:endParaRPr lang="en-US" sz="1300" dirty="0"/>
          </a:p>
        </p:txBody>
      </p:sp>
      <p:sp>
        <p:nvSpPr>
          <p:cNvPr id="19" name="Shape 14"/>
          <p:cNvSpPr/>
          <p:nvPr/>
        </p:nvSpPr>
        <p:spPr>
          <a:xfrm>
            <a:off x="8870728" y="1775376"/>
            <a:ext cx="2508187" cy="2303603"/>
          </a:xfrm>
          <a:prstGeom prst="roundRect">
            <a:avLst>
              <a:gd name="adj" fmla="val 5513"/>
            </a:avLst>
          </a:prstGeom>
          <a:solidFill>
            <a:srgbClr val="FCFDFF"/>
          </a:solidFill>
          <a:ln w="6350">
            <a:solidFill>
              <a:srgbClr val="D5DEEC"/>
            </a:solidFill>
            <a:prstDash val="solid"/>
          </a:ln>
        </p:spPr>
      </p:sp>
      <p:sp>
        <p:nvSpPr>
          <p:cNvPr id="20" name="Shape 15"/>
          <p:cNvSpPr/>
          <p:nvPr/>
        </p:nvSpPr>
        <p:spPr>
          <a:xfrm>
            <a:off x="9080273" y="1984921"/>
            <a:ext cx="457189" cy="457189"/>
          </a:xfrm>
          <a:prstGeom prst="ellipse">
            <a:avLst/>
          </a:prstGeom>
          <a:solidFill>
            <a:srgbClr val="E2EAF6"/>
          </a:solidFill>
          <a:ln/>
        </p:spPr>
      </p:sp>
      <p:pic>
        <p:nvPicPr>
          <p:cNvPr id="21" name="Image 3" descr="preencoded.png">    </p:cNvPr>
          <p:cNvPicPr>
            <a:picLocks noChangeAspect="1"/>
          </p:cNvPicPr>
          <p:nvPr/>
        </p:nvPicPr>
        <p:blipFill>
          <a:blip r:embed="rId4"/>
          <a:stretch>
            <a:fillRect/>
          </a:stretch>
        </p:blipFill>
        <p:spPr>
          <a:xfrm>
            <a:off x="9188220" y="2092868"/>
            <a:ext cx="241294" cy="241294"/>
          </a:xfrm>
          <a:prstGeom prst="rect">
            <a:avLst/>
          </a:prstGeom>
        </p:spPr>
      </p:pic>
      <p:sp>
        <p:nvSpPr>
          <p:cNvPr id="22" name="Text 16"/>
          <p:cNvSpPr txBox="1"/>
          <p:nvPr/>
        </p:nvSpPr>
        <p:spPr>
          <a:xfrm>
            <a:off x="9080273" y="2543707"/>
            <a:ext cx="2339790" cy="761981"/>
          </a:xfrm>
          <a:prstGeom prst="rect">
            <a:avLst/>
          </a:prstGeom>
          <a:noFill/>
          <a:ln/>
        </p:spPr>
        <p:txBody>
          <a:bodyPr wrap="square" lIns="0" tIns="0" rIns="0" bIns="0" rtlCol="0" anchor="t"/>
          <a:lstStyle/>
          <a:p>
            <a:pPr algn="l" indent="0" marL="0">
              <a:lnSpc>
                <a:spcPct val="83333"/>
              </a:lnSpc>
              <a:buNone/>
            </a:pPr>
            <a:r>
              <a:rPr lang="en-US" sz="6000" b="1" dirty="0">
                <a:solidFill>
                  <a:srgbClr val="2F5C9A"/>
                </a:solidFill>
                <a:latin typeface="Calibri" pitchFamily="34" charset="0"/>
                <a:ea typeface="Calibri" pitchFamily="34" charset="-122"/>
                <a:cs typeface="Calibri" pitchFamily="34" charset="-120"/>
              </a:rPr>
              <a:t>17</a:t>
            </a:r>
            <a:endParaRPr lang="en-US" sz="6000" dirty="0"/>
          </a:p>
        </p:txBody>
      </p:sp>
      <p:sp>
        <p:nvSpPr>
          <p:cNvPr id="23" name="Text 17"/>
          <p:cNvSpPr txBox="1"/>
          <p:nvPr/>
        </p:nvSpPr>
        <p:spPr>
          <a:xfrm>
            <a:off x="9080273" y="3407285"/>
            <a:ext cx="2339790" cy="462149"/>
          </a:xfrm>
          <a:prstGeom prst="rect">
            <a:avLst/>
          </a:prstGeom>
          <a:noFill/>
          <a:ln/>
        </p:spPr>
        <p:txBody>
          <a:bodyPr wrap="square" lIns="0" tIns="0" rIns="0" bIns="0" rtlCol="0" anchor="t"/>
          <a:lstStyle/>
          <a:p>
            <a:pPr algn="l" indent="0" marL="0">
              <a:lnSpc>
                <a:spcPct val="116667"/>
              </a:lnSpc>
              <a:buNone/>
            </a:pPr>
            <a:r>
              <a:rPr lang="en-US" sz="1300" dirty="0">
                <a:solidFill>
                  <a:srgbClr val="4A5878"/>
                </a:solidFill>
                <a:latin typeface="Calibri" pitchFamily="34" charset="0"/>
                <a:ea typeface="Calibri" pitchFamily="34" charset="-122"/>
                <a:cs typeface="Calibri" pitchFamily="34" charset="-120"/>
              </a:rPr>
              <a:t>Postgres schemas, one per service</a:t>
            </a:r>
            <a:endParaRPr lang="en-US" sz="1300" dirty="0"/>
          </a:p>
        </p:txBody>
      </p:sp>
      <p:sp>
        <p:nvSpPr>
          <p:cNvPr id="24" name="Shape 18"/>
          <p:cNvSpPr/>
          <p:nvPr/>
        </p:nvSpPr>
        <p:spPr>
          <a:xfrm>
            <a:off x="812780" y="4332973"/>
            <a:ext cx="10566136" cy="766942"/>
          </a:xfrm>
          <a:prstGeom prst="roundRect">
            <a:avLst>
              <a:gd name="adj" fmla="val 13247"/>
            </a:avLst>
          </a:prstGeom>
          <a:solidFill>
            <a:srgbClr val="E3EBFA"/>
          </a:solidFill>
          <a:ln/>
        </p:spPr>
      </p:sp>
      <p:pic>
        <p:nvPicPr>
          <p:cNvPr id="25" name="Image 4" descr="preencoded.png">    </p:cNvPr>
          <p:cNvPicPr>
            <a:picLocks noChangeAspect="1"/>
          </p:cNvPicPr>
          <p:nvPr/>
        </p:nvPicPr>
        <p:blipFill>
          <a:blip r:embed="rId5"/>
          <a:stretch>
            <a:fillRect/>
          </a:stretch>
        </p:blipFill>
        <p:spPr>
          <a:xfrm>
            <a:off x="1015975" y="4589447"/>
            <a:ext cx="253994" cy="253994"/>
          </a:xfrm>
          <a:prstGeom prst="rect">
            <a:avLst/>
          </a:prstGeom>
        </p:spPr>
      </p:pic>
      <p:sp>
        <p:nvSpPr>
          <p:cNvPr id="26" name="Text 19"/>
          <p:cNvSpPr txBox="1"/>
          <p:nvPr/>
        </p:nvSpPr>
        <p:spPr>
          <a:xfrm>
            <a:off x="1396965" y="4485369"/>
            <a:ext cx="10952206" cy="462149"/>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Live:</a:t>
            </a:r>
            <a:pPr algn="l" indent="0" marL="0">
              <a:lnSpc>
                <a:spcPct val="116667"/>
              </a:lnSpc>
              <a:buNone/>
            </a:pPr>
            <a:r>
              <a:rPr lang="en-US" sz="1300" dirty="0">
                <a:solidFill>
                  <a:srgbClr val="4A5878"/>
                </a:solidFill>
                <a:latin typeface="Calibri" pitchFamily="34" charset="0"/>
                <a:ea typeface="Calibri" pitchFamily="34" charset="-122"/>
                <a:cs typeface="Calibri" pitchFamily="34" charset="-120"/>
              </a:rPr>
              <a:t> Razorpay Checkout (test mode), Google and Apple sign-in. </a:t>
            </a:r>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Stubs:</a:t>
            </a:r>
            <a:pPr algn="l" indent="0" marL="0">
              <a:lnSpc>
                <a:spcPct val="116667"/>
              </a:lnSpc>
              <a:buNone/>
            </a:pPr>
            <a:r>
              <a:rPr lang="en-US" sz="1300" dirty="0">
                <a:solidFill>
                  <a:srgbClr val="4A5878"/>
                </a:solidFill>
                <a:latin typeface="Calibri" pitchFamily="34" charset="0"/>
                <a:ea typeface="Calibri" pitchFamily="34" charset="-122"/>
                <a:cs typeface="Calibri" pitchFamily="34" charset="-120"/>
              </a:rPr>
              <a:t> SMS, email, push, S3 storage, background checks, geocoding.</a:t>
            </a:r>
            <a:endParaRPr lang="en-US" sz="1300" dirty="0"/>
          </a:p>
        </p:txBody>
      </p:sp>
      <p:sp>
        <p:nvSpPr>
          <p:cNvPr id="27" name="Text 20"/>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Overview</a:t>
            </a:r>
            <a:endParaRPr lang="en-US" sz="1200" dirty="0"/>
          </a:p>
        </p:txBody>
      </p:sp>
      <p:sp>
        <p:nvSpPr>
          <p:cNvPr id="28" name="Text 21"/>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ARCHITECTURE · UNIFIED VIEW</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One picture: apps, edge, six domains, data, partners</a:t>
            </a:r>
            <a:endParaRPr lang="en-US" sz="3000" dirty="0"/>
          </a:p>
        </p:txBody>
      </p:sp>
      <p:sp>
        <p:nvSpPr>
          <p:cNvPr id="4" name="Shape 2"/>
          <p:cNvSpPr/>
          <p:nvPr/>
        </p:nvSpPr>
        <p:spPr>
          <a:xfrm>
            <a:off x="812780" y="1777956"/>
            <a:ext cx="2095448" cy="507987"/>
          </a:xfrm>
          <a:prstGeom prst="roundRect">
            <a:avLst>
              <a:gd name="adj" fmla="val 50000"/>
            </a:avLst>
          </a:prstGeom>
          <a:solidFill>
            <a:srgbClr val="E3EBFA"/>
          </a:solidFill>
          <a:ln/>
        </p:spPr>
      </p:sp>
      <p:pic>
        <p:nvPicPr>
          <p:cNvPr id="5" name="Image 0" descr="preencoded.png">    </p:cNvPr>
          <p:cNvPicPr>
            <a:picLocks noChangeAspect="1"/>
          </p:cNvPicPr>
          <p:nvPr/>
        </p:nvPicPr>
        <p:blipFill>
          <a:blip r:embed="rId1"/>
          <a:stretch>
            <a:fillRect/>
          </a:stretch>
        </p:blipFill>
        <p:spPr>
          <a:xfrm>
            <a:off x="952476" y="1936702"/>
            <a:ext cx="190495" cy="190495"/>
          </a:xfrm>
          <a:prstGeom prst="rect">
            <a:avLst/>
          </a:prstGeom>
        </p:spPr>
      </p:pic>
      <p:sp>
        <p:nvSpPr>
          <p:cNvPr id="6" name="Text 3"/>
          <p:cNvSpPr txBox="1"/>
          <p:nvPr/>
        </p:nvSpPr>
        <p:spPr>
          <a:xfrm>
            <a:off x="1219170" y="1925292"/>
            <a:ext cx="1631496"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Customer app :5173</a:t>
            </a:r>
            <a:endParaRPr lang="en-US" sz="1200" dirty="0"/>
          </a:p>
        </p:txBody>
      </p:sp>
      <p:sp>
        <p:nvSpPr>
          <p:cNvPr id="7" name="Shape 4"/>
          <p:cNvSpPr/>
          <p:nvPr/>
        </p:nvSpPr>
        <p:spPr>
          <a:xfrm>
            <a:off x="3060623" y="1777956"/>
            <a:ext cx="2095448" cy="507987"/>
          </a:xfrm>
          <a:prstGeom prst="roundRect">
            <a:avLst>
              <a:gd name="adj" fmla="val 50000"/>
            </a:avLst>
          </a:prstGeom>
          <a:solidFill>
            <a:srgbClr val="DDF2EF"/>
          </a:solidFill>
          <a:ln/>
        </p:spPr>
      </p:sp>
      <p:pic>
        <p:nvPicPr>
          <p:cNvPr id="8" name="Image 1" descr="preencoded.png">    </p:cNvPr>
          <p:cNvPicPr>
            <a:picLocks noChangeAspect="1"/>
          </p:cNvPicPr>
          <p:nvPr/>
        </p:nvPicPr>
        <p:blipFill>
          <a:blip r:embed="rId2"/>
          <a:stretch>
            <a:fillRect/>
          </a:stretch>
        </p:blipFill>
        <p:spPr>
          <a:xfrm>
            <a:off x="3200320" y="1936702"/>
            <a:ext cx="190495" cy="190495"/>
          </a:xfrm>
          <a:prstGeom prst="rect">
            <a:avLst/>
          </a:prstGeom>
        </p:spPr>
      </p:pic>
      <p:sp>
        <p:nvSpPr>
          <p:cNvPr id="9" name="Text 5"/>
          <p:cNvSpPr txBox="1"/>
          <p:nvPr/>
        </p:nvSpPr>
        <p:spPr>
          <a:xfrm>
            <a:off x="3467013" y="1925292"/>
            <a:ext cx="1527375"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Provider app :5174</a:t>
            </a:r>
            <a:endParaRPr lang="en-US" sz="1200" dirty="0"/>
          </a:p>
        </p:txBody>
      </p:sp>
      <p:sp>
        <p:nvSpPr>
          <p:cNvPr id="10" name="Shape 6"/>
          <p:cNvSpPr/>
          <p:nvPr/>
        </p:nvSpPr>
        <p:spPr>
          <a:xfrm>
            <a:off x="5308467" y="1777956"/>
            <a:ext cx="2095448" cy="507987"/>
          </a:xfrm>
          <a:prstGeom prst="roundRect">
            <a:avLst>
              <a:gd name="adj" fmla="val 50000"/>
            </a:avLst>
          </a:prstGeom>
          <a:solidFill>
            <a:srgbClr val="E6EBF3"/>
          </a:solidFill>
          <a:ln/>
        </p:spPr>
      </p:sp>
      <p:pic>
        <p:nvPicPr>
          <p:cNvPr id="11" name="Image 2" descr="preencoded.png">    </p:cNvPr>
          <p:cNvPicPr>
            <a:picLocks noChangeAspect="1"/>
          </p:cNvPicPr>
          <p:nvPr/>
        </p:nvPicPr>
        <p:blipFill>
          <a:blip r:embed="rId3"/>
          <a:stretch>
            <a:fillRect/>
          </a:stretch>
        </p:blipFill>
        <p:spPr>
          <a:xfrm>
            <a:off x="5448164" y="1936702"/>
            <a:ext cx="190495" cy="190495"/>
          </a:xfrm>
          <a:prstGeom prst="rect">
            <a:avLst/>
          </a:prstGeom>
        </p:spPr>
      </p:pic>
      <p:sp>
        <p:nvSpPr>
          <p:cNvPr id="12" name="Text 7"/>
          <p:cNvSpPr txBox="1"/>
          <p:nvPr/>
        </p:nvSpPr>
        <p:spPr>
          <a:xfrm>
            <a:off x="5714857" y="1925292"/>
            <a:ext cx="1536487"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Admin portal :5175</a:t>
            </a:r>
            <a:endParaRPr lang="en-US" sz="1200" dirty="0"/>
          </a:p>
        </p:txBody>
      </p:sp>
      <p:sp>
        <p:nvSpPr>
          <p:cNvPr id="13" name="Shape 8"/>
          <p:cNvSpPr/>
          <p:nvPr/>
        </p:nvSpPr>
        <p:spPr>
          <a:xfrm>
            <a:off x="7556311" y="1777956"/>
            <a:ext cx="2095448" cy="507987"/>
          </a:xfrm>
          <a:prstGeom prst="roundRect">
            <a:avLst>
              <a:gd name="adj" fmla="val 50000"/>
            </a:avLst>
          </a:prstGeom>
          <a:solidFill>
            <a:srgbClr val="FAE3ED"/>
          </a:solidFill>
          <a:ln/>
        </p:spPr>
      </p:sp>
      <p:pic>
        <p:nvPicPr>
          <p:cNvPr id="14" name="Image 3" descr="preencoded.png">    </p:cNvPr>
          <p:cNvPicPr>
            <a:picLocks noChangeAspect="1"/>
          </p:cNvPicPr>
          <p:nvPr/>
        </p:nvPicPr>
        <p:blipFill>
          <a:blip r:embed="rId4"/>
          <a:stretch>
            <a:fillRect/>
          </a:stretch>
        </p:blipFill>
        <p:spPr>
          <a:xfrm>
            <a:off x="7696008" y="1936702"/>
            <a:ext cx="190495" cy="190495"/>
          </a:xfrm>
          <a:prstGeom prst="rect">
            <a:avLst/>
          </a:prstGeom>
        </p:spPr>
      </p:pic>
      <p:sp>
        <p:nvSpPr>
          <p:cNvPr id="15" name="Text 9"/>
          <p:cNvSpPr txBox="1"/>
          <p:nvPr/>
        </p:nvSpPr>
        <p:spPr>
          <a:xfrm>
            <a:off x="7962701" y="1925292"/>
            <a:ext cx="1340134"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iOS and Android</a:t>
            </a:r>
            <a:endParaRPr lang="en-US" sz="1200" dirty="0"/>
          </a:p>
        </p:txBody>
      </p:sp>
      <p:sp>
        <p:nvSpPr>
          <p:cNvPr id="16" name="Shape 10"/>
          <p:cNvSpPr/>
          <p:nvPr/>
        </p:nvSpPr>
        <p:spPr>
          <a:xfrm>
            <a:off x="812780" y="2539937"/>
            <a:ext cx="2539937" cy="571486"/>
          </a:xfrm>
          <a:prstGeom prst="roundRect">
            <a:avLst>
              <a:gd name="adj" fmla="val 15556"/>
            </a:avLst>
          </a:prstGeom>
          <a:solidFill>
            <a:srgbClr val="FCFDFF"/>
          </a:solidFill>
          <a:ln w="12700">
            <a:solidFill>
              <a:srgbClr val="3F5F95"/>
            </a:solidFill>
            <a:prstDash val="solid"/>
          </a:ln>
        </p:spPr>
      </p:sp>
      <p:sp>
        <p:nvSpPr>
          <p:cNvPr id="17" name="Shape 11"/>
          <p:cNvSpPr/>
          <p:nvPr/>
        </p:nvSpPr>
        <p:spPr>
          <a:xfrm>
            <a:off x="812780" y="2539937"/>
            <a:ext cx="50799" cy="571486"/>
          </a:xfrm>
          <a:prstGeom prst="roundRect">
            <a:avLst>
              <a:gd name="adj" fmla="val 50000"/>
            </a:avLst>
          </a:prstGeom>
          <a:solidFill>
            <a:srgbClr val="3F5F95"/>
          </a:solidFill>
          <a:ln/>
        </p:spPr>
      </p:sp>
      <p:sp>
        <p:nvSpPr>
          <p:cNvPr id="18" name="Text 12"/>
          <p:cNvSpPr txBox="1"/>
          <p:nvPr/>
        </p:nvSpPr>
        <p:spPr>
          <a:xfrm>
            <a:off x="977876" y="2616135"/>
            <a:ext cx="2517585" cy="182875"/>
          </a:xfrm>
          <a:prstGeom prst="rect">
            <a:avLst/>
          </a:prstGeom>
          <a:noFill/>
          <a:ln/>
        </p:spPr>
        <p:txBody>
          <a:bodyPr wrap="square" lIns="0" tIns="0" rIns="0" bIns="0" rtlCol="0" anchor="t"/>
          <a:lstStyle/>
          <a:p>
            <a:pPr algn="l" indent="0" marL="0">
              <a:lnSpc>
                <a:spcPct val="100000"/>
              </a:lnSpc>
              <a:buNone/>
            </a:pPr>
            <a:r>
              <a:rPr lang="en-US" sz="1200" b="1" dirty="0">
                <a:solidFill>
                  <a:srgbClr val="1F3A70"/>
                </a:solidFill>
                <a:latin typeface="Calibri" pitchFamily="34" charset="0"/>
                <a:ea typeface="Calibri" pitchFamily="34" charset="-122"/>
                <a:cs typeface="Calibri" pitchFamily="34" charset="-120"/>
              </a:rPr>
              <a:t>nginx / Vite proxy</a:t>
            </a:r>
            <a:endParaRPr lang="en-US" sz="1200" dirty="0"/>
          </a:p>
        </p:txBody>
      </p:sp>
      <p:sp>
        <p:nvSpPr>
          <p:cNvPr id="19" name="Text 13"/>
          <p:cNvSpPr txBox="1"/>
          <p:nvPr/>
        </p:nvSpPr>
        <p:spPr>
          <a:xfrm>
            <a:off x="977876" y="2798990"/>
            <a:ext cx="2517585"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/api/auth → auth-service</a:t>
            </a:r>
            <a:endParaRPr lang="en-US" sz="1200" dirty="0"/>
          </a:p>
        </p:txBody>
      </p:sp>
      <p:sp>
        <p:nvSpPr>
          <p:cNvPr id="20" name="Shape 14"/>
          <p:cNvSpPr/>
          <p:nvPr/>
        </p:nvSpPr>
        <p:spPr>
          <a:xfrm>
            <a:off x="3606710" y="2539937"/>
            <a:ext cx="6045049" cy="571486"/>
          </a:xfrm>
          <a:prstGeom prst="roundRect">
            <a:avLst>
              <a:gd name="adj" fmla="val 15556"/>
            </a:avLst>
          </a:prstGeom>
          <a:solidFill>
            <a:srgbClr val="FCFDFF"/>
          </a:solidFill>
          <a:ln w="12700">
            <a:solidFill>
              <a:srgbClr val="3F5F95"/>
            </a:solidFill>
            <a:prstDash val="solid"/>
          </a:ln>
        </p:spPr>
      </p:sp>
      <p:sp>
        <p:nvSpPr>
          <p:cNvPr id="21" name="Shape 15"/>
          <p:cNvSpPr/>
          <p:nvPr/>
        </p:nvSpPr>
        <p:spPr>
          <a:xfrm>
            <a:off x="3606710" y="2539937"/>
            <a:ext cx="50799" cy="571486"/>
          </a:xfrm>
          <a:prstGeom prst="roundRect">
            <a:avLst>
              <a:gd name="adj" fmla="val 50000"/>
            </a:avLst>
          </a:prstGeom>
          <a:solidFill>
            <a:srgbClr val="3F5F95"/>
          </a:solidFill>
          <a:ln/>
        </p:spPr>
      </p:sp>
      <p:sp>
        <p:nvSpPr>
          <p:cNvPr id="22" name="Text 16"/>
          <p:cNvSpPr txBox="1"/>
          <p:nvPr/>
        </p:nvSpPr>
        <p:spPr>
          <a:xfrm>
            <a:off x="3771806" y="2616135"/>
            <a:ext cx="6443311" cy="182875"/>
          </a:xfrm>
          <a:prstGeom prst="rect">
            <a:avLst/>
          </a:prstGeom>
          <a:noFill/>
          <a:ln/>
        </p:spPr>
        <p:txBody>
          <a:bodyPr wrap="square" lIns="0" tIns="0" rIns="0" bIns="0" rtlCol="0" anchor="t"/>
          <a:lstStyle/>
          <a:p>
            <a:pPr algn="l" indent="0" marL="0">
              <a:lnSpc>
                <a:spcPct val="100000"/>
              </a:lnSpc>
              <a:buNone/>
            </a:pPr>
            <a:r>
              <a:rPr lang="en-US" sz="1200" b="1" dirty="0">
                <a:solidFill>
                  <a:srgbClr val="1F3A70"/>
                </a:solidFill>
                <a:latin typeface="Calibri" pitchFamily="34" charset="0"/>
                <a:ea typeface="Calibri" pitchFamily="34" charset="-122"/>
                <a:cs typeface="Calibri" pitchFamily="34" charset="-120"/>
              </a:rPr>
              <a:t>API gateway :8080</a:t>
            </a:r>
            <a:endParaRPr lang="en-US" sz="1200" dirty="0"/>
          </a:p>
        </p:txBody>
      </p:sp>
      <p:sp>
        <p:nvSpPr>
          <p:cNvPr id="23" name="Text 17"/>
          <p:cNvSpPr txBox="1"/>
          <p:nvPr/>
        </p:nvSpPr>
        <p:spPr>
          <a:xfrm>
            <a:off x="3771806" y="2798990"/>
            <a:ext cx="6443311"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JWT introspection · per-user rate limit · WAF regex</a:t>
            </a:r>
            <a:endParaRPr lang="en-US" sz="1200" dirty="0"/>
          </a:p>
        </p:txBody>
      </p:sp>
      <p:sp>
        <p:nvSpPr>
          <p:cNvPr id="24" name="Shape 18"/>
          <p:cNvSpPr/>
          <p:nvPr/>
        </p:nvSpPr>
        <p:spPr>
          <a:xfrm>
            <a:off x="812780" y="3301917"/>
            <a:ext cx="1384265" cy="1587460"/>
          </a:xfrm>
          <a:prstGeom prst="roundRect">
            <a:avLst>
              <a:gd name="adj" fmla="val 6422"/>
            </a:avLst>
          </a:prstGeom>
          <a:solidFill>
            <a:srgbClr val="E3EBFA"/>
          </a:solidFill>
          <a:ln/>
        </p:spPr>
      </p:sp>
      <p:sp>
        <p:nvSpPr>
          <p:cNvPr id="25" name="Shape 19"/>
          <p:cNvSpPr/>
          <p:nvPr/>
        </p:nvSpPr>
        <p:spPr>
          <a:xfrm>
            <a:off x="812780" y="3301917"/>
            <a:ext cx="1384265" cy="50799"/>
          </a:xfrm>
          <a:prstGeom prst="roundRect">
            <a:avLst>
              <a:gd name="adj" fmla="val 50000"/>
            </a:avLst>
          </a:prstGeom>
          <a:solidFill>
            <a:srgbClr val="2454C5"/>
          </a:solidFill>
          <a:ln/>
        </p:spPr>
      </p:sp>
      <p:sp>
        <p:nvSpPr>
          <p:cNvPr id="26" name="Text 20"/>
          <p:cNvSpPr txBox="1"/>
          <p:nvPr/>
        </p:nvSpPr>
        <p:spPr>
          <a:xfrm>
            <a:off x="914377" y="3441614"/>
            <a:ext cx="1322799" cy="231134"/>
          </a:xfrm>
          <a:prstGeom prst="rect">
            <a:avLst/>
          </a:prstGeom>
          <a:noFill/>
          <a:ln/>
        </p:spPr>
        <p:txBody>
          <a:bodyPr wrap="square" lIns="0" tIns="0" rIns="0" bIns="0" rtlCol="0" anchor="t"/>
          <a:lstStyle/>
          <a:p>
            <a:pPr algn="l" indent="0" marL="0">
              <a:lnSpc>
                <a:spcPct val="116667"/>
              </a:lnSpc>
              <a:buNone/>
            </a:pPr>
            <a:r>
              <a:rPr lang="en-US" sz="1300" b="1" dirty="0">
                <a:solidFill>
                  <a:srgbClr val="2454C5"/>
                </a:solidFill>
                <a:latin typeface="Calibri" pitchFamily="34" charset="0"/>
                <a:ea typeface="Calibri" pitchFamily="34" charset="-122"/>
                <a:cs typeface="Calibri" pitchFamily="34" charset="-120"/>
              </a:rPr>
              <a:t>Identity</a:t>
            </a:r>
            <a:endParaRPr lang="en-US" sz="1300" dirty="0"/>
          </a:p>
        </p:txBody>
      </p:sp>
      <p:sp>
        <p:nvSpPr>
          <p:cNvPr id="27" name="Text 21"/>
          <p:cNvSpPr txBox="1"/>
          <p:nvPr/>
        </p:nvSpPr>
        <p:spPr>
          <a:xfrm>
            <a:off x="914377" y="3698088"/>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auth</a:t>
            </a:r>
            <a:endParaRPr lang="en-US" sz="1200" dirty="0"/>
          </a:p>
        </p:txBody>
      </p:sp>
      <p:sp>
        <p:nvSpPr>
          <p:cNvPr id="28" name="Text 22"/>
          <p:cNvSpPr txBox="1"/>
          <p:nvPr/>
        </p:nvSpPr>
        <p:spPr>
          <a:xfrm>
            <a:off x="914377" y="3929163"/>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customer</a:t>
            </a:r>
            <a:endParaRPr lang="en-US" sz="1200" dirty="0"/>
          </a:p>
        </p:txBody>
      </p:sp>
      <p:sp>
        <p:nvSpPr>
          <p:cNvPr id="29" name="Text 23"/>
          <p:cNvSpPr txBox="1"/>
          <p:nvPr/>
        </p:nvSpPr>
        <p:spPr>
          <a:xfrm>
            <a:off x="914377" y="4160237"/>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provider</a:t>
            </a:r>
            <a:endParaRPr lang="en-US" sz="1200" dirty="0"/>
          </a:p>
        </p:txBody>
      </p:sp>
      <p:sp>
        <p:nvSpPr>
          <p:cNvPr id="30" name="Text 24"/>
          <p:cNvSpPr txBox="1"/>
          <p:nvPr/>
        </p:nvSpPr>
        <p:spPr>
          <a:xfrm>
            <a:off x="914377" y="4391312"/>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verification</a:t>
            </a:r>
            <a:endParaRPr lang="en-US" sz="1200" dirty="0"/>
          </a:p>
        </p:txBody>
      </p:sp>
      <p:sp>
        <p:nvSpPr>
          <p:cNvPr id="31" name="Shape 25"/>
          <p:cNvSpPr/>
          <p:nvPr/>
        </p:nvSpPr>
        <p:spPr>
          <a:xfrm>
            <a:off x="2304992" y="3301917"/>
            <a:ext cx="1384265" cy="1587460"/>
          </a:xfrm>
          <a:prstGeom prst="roundRect">
            <a:avLst>
              <a:gd name="adj" fmla="val 6422"/>
            </a:avLst>
          </a:prstGeom>
          <a:solidFill>
            <a:srgbClr val="DDF2EF"/>
          </a:solidFill>
          <a:ln/>
        </p:spPr>
      </p:sp>
      <p:sp>
        <p:nvSpPr>
          <p:cNvPr id="32" name="Shape 26"/>
          <p:cNvSpPr/>
          <p:nvPr/>
        </p:nvSpPr>
        <p:spPr>
          <a:xfrm>
            <a:off x="2304992" y="3301917"/>
            <a:ext cx="1384265" cy="50799"/>
          </a:xfrm>
          <a:prstGeom prst="roundRect">
            <a:avLst>
              <a:gd name="adj" fmla="val 50000"/>
            </a:avLst>
          </a:prstGeom>
          <a:solidFill>
            <a:srgbClr val="0B7F74"/>
          </a:solidFill>
          <a:ln/>
        </p:spPr>
      </p:sp>
      <p:sp>
        <p:nvSpPr>
          <p:cNvPr id="33" name="Text 27"/>
          <p:cNvSpPr txBox="1"/>
          <p:nvPr/>
        </p:nvSpPr>
        <p:spPr>
          <a:xfrm>
            <a:off x="2406590" y="3441614"/>
            <a:ext cx="1322799" cy="231134"/>
          </a:xfrm>
          <a:prstGeom prst="rect">
            <a:avLst/>
          </a:prstGeom>
          <a:noFill/>
          <a:ln/>
        </p:spPr>
        <p:txBody>
          <a:bodyPr wrap="square" lIns="0" tIns="0" rIns="0" bIns="0" rtlCol="0" anchor="t"/>
          <a:lstStyle/>
          <a:p>
            <a:pPr algn="l" indent="0" marL="0">
              <a:lnSpc>
                <a:spcPct val="116667"/>
              </a:lnSpc>
              <a:buNone/>
            </a:pPr>
            <a:r>
              <a:rPr lang="en-US" sz="1300" b="1" dirty="0">
                <a:solidFill>
                  <a:srgbClr val="0B7F74"/>
                </a:solidFill>
                <a:latin typeface="Calibri" pitchFamily="34" charset="0"/>
                <a:ea typeface="Calibri" pitchFamily="34" charset="-122"/>
                <a:cs typeface="Calibri" pitchFamily="34" charset="-120"/>
              </a:rPr>
              <a:t>Jobs</a:t>
            </a:r>
            <a:endParaRPr lang="en-US" sz="1300" dirty="0"/>
          </a:p>
        </p:txBody>
      </p:sp>
      <p:sp>
        <p:nvSpPr>
          <p:cNvPr id="34" name="Text 28"/>
          <p:cNvSpPr txBox="1"/>
          <p:nvPr/>
        </p:nvSpPr>
        <p:spPr>
          <a:xfrm>
            <a:off x="2406590" y="3698088"/>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booking</a:t>
            </a:r>
            <a:endParaRPr lang="en-US" sz="1200" dirty="0"/>
          </a:p>
        </p:txBody>
      </p:sp>
      <p:sp>
        <p:nvSpPr>
          <p:cNvPr id="35" name="Text 29"/>
          <p:cNvSpPr txBox="1"/>
          <p:nvPr/>
        </p:nvSpPr>
        <p:spPr>
          <a:xfrm>
            <a:off x="2406590" y="3929163"/>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dispatch</a:t>
            </a:r>
            <a:endParaRPr lang="en-US" sz="1200" dirty="0"/>
          </a:p>
        </p:txBody>
      </p:sp>
      <p:sp>
        <p:nvSpPr>
          <p:cNvPr id="36" name="Text 30"/>
          <p:cNvSpPr txBox="1"/>
          <p:nvPr/>
        </p:nvSpPr>
        <p:spPr>
          <a:xfrm>
            <a:off x="2406590" y="4160237"/>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location</a:t>
            </a:r>
            <a:endParaRPr lang="en-US" sz="1200" dirty="0"/>
          </a:p>
        </p:txBody>
      </p:sp>
      <p:sp>
        <p:nvSpPr>
          <p:cNvPr id="37" name="Text 31"/>
          <p:cNvSpPr txBox="1"/>
          <p:nvPr/>
        </p:nvSpPr>
        <p:spPr>
          <a:xfrm>
            <a:off x="2406590" y="4391312"/>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chat</a:t>
            </a:r>
            <a:endParaRPr lang="en-US" sz="1200" dirty="0"/>
          </a:p>
        </p:txBody>
      </p:sp>
      <p:sp>
        <p:nvSpPr>
          <p:cNvPr id="38" name="Shape 32"/>
          <p:cNvSpPr/>
          <p:nvPr/>
        </p:nvSpPr>
        <p:spPr>
          <a:xfrm>
            <a:off x="3797205" y="3301917"/>
            <a:ext cx="1384265" cy="1587460"/>
          </a:xfrm>
          <a:prstGeom prst="roundRect">
            <a:avLst>
              <a:gd name="adj" fmla="val 6422"/>
            </a:avLst>
          </a:prstGeom>
          <a:solidFill>
            <a:srgbClr val="ECE5FA"/>
          </a:solidFill>
          <a:ln/>
        </p:spPr>
      </p:sp>
      <p:sp>
        <p:nvSpPr>
          <p:cNvPr id="39" name="Shape 33"/>
          <p:cNvSpPr/>
          <p:nvPr/>
        </p:nvSpPr>
        <p:spPr>
          <a:xfrm>
            <a:off x="3797205" y="3301917"/>
            <a:ext cx="1384265" cy="50799"/>
          </a:xfrm>
          <a:prstGeom prst="roundRect">
            <a:avLst>
              <a:gd name="adj" fmla="val 50000"/>
            </a:avLst>
          </a:prstGeom>
          <a:solidFill>
            <a:srgbClr val="6A3FC0"/>
          </a:solidFill>
          <a:ln/>
        </p:spPr>
      </p:sp>
      <p:sp>
        <p:nvSpPr>
          <p:cNvPr id="40" name="Text 34"/>
          <p:cNvSpPr txBox="1"/>
          <p:nvPr/>
        </p:nvSpPr>
        <p:spPr>
          <a:xfrm>
            <a:off x="3898803" y="3441614"/>
            <a:ext cx="1322799" cy="231134"/>
          </a:xfrm>
          <a:prstGeom prst="rect">
            <a:avLst/>
          </a:prstGeom>
          <a:noFill/>
          <a:ln/>
        </p:spPr>
        <p:txBody>
          <a:bodyPr wrap="square" lIns="0" tIns="0" rIns="0" bIns="0" rtlCol="0" anchor="t"/>
          <a:lstStyle/>
          <a:p>
            <a:pPr algn="l" indent="0" marL="0">
              <a:lnSpc>
                <a:spcPct val="116667"/>
              </a:lnSpc>
              <a:buNone/>
            </a:pPr>
            <a:r>
              <a:rPr lang="en-US" sz="1300" b="1" dirty="0">
                <a:solidFill>
                  <a:srgbClr val="6A3FC0"/>
                </a:solidFill>
                <a:latin typeface="Calibri" pitchFamily="34" charset="0"/>
                <a:ea typeface="Calibri" pitchFamily="34" charset="-122"/>
                <a:cs typeface="Calibri" pitchFamily="34" charset="-120"/>
              </a:rPr>
              <a:t>Catalog</a:t>
            </a:r>
            <a:endParaRPr lang="en-US" sz="1300" dirty="0"/>
          </a:p>
        </p:txBody>
      </p:sp>
      <p:sp>
        <p:nvSpPr>
          <p:cNvPr id="41" name="Text 35"/>
          <p:cNvSpPr txBox="1"/>
          <p:nvPr/>
        </p:nvSpPr>
        <p:spPr>
          <a:xfrm>
            <a:off x="3898803" y="3698088"/>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catalog</a:t>
            </a:r>
            <a:endParaRPr lang="en-US" sz="1200" dirty="0"/>
          </a:p>
        </p:txBody>
      </p:sp>
      <p:sp>
        <p:nvSpPr>
          <p:cNvPr id="42" name="Text 36"/>
          <p:cNvSpPr txBox="1"/>
          <p:nvPr/>
        </p:nvSpPr>
        <p:spPr>
          <a:xfrm>
            <a:off x="3898803" y="3929163"/>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pricing</a:t>
            </a:r>
            <a:endParaRPr lang="en-US" sz="1200" dirty="0"/>
          </a:p>
        </p:txBody>
      </p:sp>
      <p:sp>
        <p:nvSpPr>
          <p:cNvPr id="43" name="Text 37"/>
          <p:cNvSpPr txBox="1"/>
          <p:nvPr/>
        </p:nvSpPr>
        <p:spPr>
          <a:xfrm>
            <a:off x="3898803" y="4160237"/>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promotion</a:t>
            </a:r>
            <a:endParaRPr lang="en-US" sz="1200" dirty="0"/>
          </a:p>
        </p:txBody>
      </p:sp>
      <p:sp>
        <p:nvSpPr>
          <p:cNvPr id="44" name="Shape 38"/>
          <p:cNvSpPr/>
          <p:nvPr/>
        </p:nvSpPr>
        <p:spPr>
          <a:xfrm>
            <a:off x="5283068" y="3301917"/>
            <a:ext cx="1384265" cy="1587460"/>
          </a:xfrm>
          <a:prstGeom prst="roundRect">
            <a:avLst>
              <a:gd name="adj" fmla="val 6422"/>
            </a:avLst>
          </a:prstGeom>
          <a:solidFill>
            <a:srgbClr val="FCEBDD"/>
          </a:solidFill>
          <a:ln/>
        </p:spPr>
      </p:sp>
      <p:sp>
        <p:nvSpPr>
          <p:cNvPr id="45" name="Shape 39"/>
          <p:cNvSpPr/>
          <p:nvPr/>
        </p:nvSpPr>
        <p:spPr>
          <a:xfrm>
            <a:off x="5283068" y="3301917"/>
            <a:ext cx="1384265" cy="50799"/>
          </a:xfrm>
          <a:prstGeom prst="roundRect">
            <a:avLst>
              <a:gd name="adj" fmla="val 50000"/>
            </a:avLst>
          </a:prstGeom>
          <a:solidFill>
            <a:srgbClr val="B4530F"/>
          </a:solidFill>
          <a:ln/>
        </p:spPr>
      </p:sp>
      <p:sp>
        <p:nvSpPr>
          <p:cNvPr id="46" name="Text 40"/>
          <p:cNvSpPr txBox="1"/>
          <p:nvPr/>
        </p:nvSpPr>
        <p:spPr>
          <a:xfrm>
            <a:off x="5384665" y="3441614"/>
            <a:ext cx="1322799" cy="231134"/>
          </a:xfrm>
          <a:prstGeom prst="rect">
            <a:avLst/>
          </a:prstGeom>
          <a:noFill/>
          <a:ln/>
        </p:spPr>
        <p:txBody>
          <a:bodyPr wrap="square" lIns="0" tIns="0" rIns="0" bIns="0" rtlCol="0" anchor="t"/>
          <a:lstStyle/>
          <a:p>
            <a:pPr algn="l" indent="0" marL="0">
              <a:lnSpc>
                <a:spcPct val="116667"/>
              </a:lnSpc>
              <a:buNone/>
            </a:pPr>
            <a:r>
              <a:rPr lang="en-US" sz="1300" b="1" dirty="0">
                <a:solidFill>
                  <a:srgbClr val="B4530F"/>
                </a:solidFill>
                <a:latin typeface="Calibri" pitchFamily="34" charset="0"/>
                <a:ea typeface="Calibri" pitchFamily="34" charset="-122"/>
                <a:cs typeface="Calibri" pitchFamily="34" charset="-120"/>
              </a:rPr>
              <a:t>Money</a:t>
            </a:r>
            <a:endParaRPr lang="en-US" sz="1300" dirty="0"/>
          </a:p>
        </p:txBody>
      </p:sp>
      <p:sp>
        <p:nvSpPr>
          <p:cNvPr id="47" name="Text 41"/>
          <p:cNvSpPr txBox="1"/>
          <p:nvPr/>
        </p:nvSpPr>
        <p:spPr>
          <a:xfrm>
            <a:off x="5384665" y="3698088"/>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payment</a:t>
            </a:r>
            <a:endParaRPr lang="en-US" sz="1200" dirty="0"/>
          </a:p>
        </p:txBody>
      </p:sp>
      <p:sp>
        <p:nvSpPr>
          <p:cNvPr id="48" name="Text 42"/>
          <p:cNvSpPr txBox="1"/>
          <p:nvPr/>
        </p:nvSpPr>
        <p:spPr>
          <a:xfrm>
            <a:off x="5384665" y="3929163"/>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invoice</a:t>
            </a:r>
            <a:endParaRPr lang="en-US" sz="1200" dirty="0"/>
          </a:p>
        </p:txBody>
      </p:sp>
      <p:sp>
        <p:nvSpPr>
          <p:cNvPr id="49" name="Shape 43"/>
          <p:cNvSpPr/>
          <p:nvPr/>
        </p:nvSpPr>
        <p:spPr>
          <a:xfrm>
            <a:off x="6775281" y="3301917"/>
            <a:ext cx="1384265" cy="1587460"/>
          </a:xfrm>
          <a:prstGeom prst="roundRect">
            <a:avLst>
              <a:gd name="adj" fmla="val 6422"/>
            </a:avLst>
          </a:prstGeom>
          <a:solidFill>
            <a:srgbClr val="FAE3ED"/>
          </a:solidFill>
          <a:ln/>
        </p:spPr>
      </p:sp>
      <p:sp>
        <p:nvSpPr>
          <p:cNvPr id="50" name="Shape 44"/>
          <p:cNvSpPr/>
          <p:nvPr/>
        </p:nvSpPr>
        <p:spPr>
          <a:xfrm>
            <a:off x="6775281" y="3301917"/>
            <a:ext cx="1384265" cy="50799"/>
          </a:xfrm>
          <a:prstGeom prst="roundRect">
            <a:avLst>
              <a:gd name="adj" fmla="val 50000"/>
            </a:avLst>
          </a:prstGeom>
          <a:solidFill>
            <a:srgbClr val="B8306E"/>
          </a:solidFill>
          <a:ln/>
        </p:spPr>
      </p:sp>
      <p:sp>
        <p:nvSpPr>
          <p:cNvPr id="51" name="Text 45"/>
          <p:cNvSpPr txBox="1"/>
          <p:nvPr/>
        </p:nvSpPr>
        <p:spPr>
          <a:xfrm>
            <a:off x="6876878" y="3441614"/>
            <a:ext cx="1322799" cy="231134"/>
          </a:xfrm>
          <a:prstGeom prst="rect">
            <a:avLst/>
          </a:prstGeom>
          <a:noFill/>
          <a:ln/>
        </p:spPr>
        <p:txBody>
          <a:bodyPr wrap="square" lIns="0" tIns="0" rIns="0" bIns="0" rtlCol="0" anchor="t"/>
          <a:lstStyle/>
          <a:p>
            <a:pPr algn="l" indent="0" marL="0">
              <a:lnSpc>
                <a:spcPct val="116667"/>
              </a:lnSpc>
              <a:buNone/>
            </a:pPr>
            <a:r>
              <a:rPr lang="en-US" sz="1300" b="1" dirty="0">
                <a:solidFill>
                  <a:srgbClr val="B8306E"/>
                </a:solidFill>
                <a:latin typeface="Calibri" pitchFamily="34" charset="0"/>
                <a:ea typeface="Calibri" pitchFamily="34" charset="-122"/>
                <a:cs typeface="Calibri" pitchFamily="34" charset="-120"/>
              </a:rPr>
              <a:t>Engagement</a:t>
            </a:r>
            <a:endParaRPr lang="en-US" sz="1300" dirty="0"/>
          </a:p>
        </p:txBody>
      </p:sp>
      <p:sp>
        <p:nvSpPr>
          <p:cNvPr id="52" name="Text 46"/>
          <p:cNvSpPr txBox="1"/>
          <p:nvPr/>
        </p:nvSpPr>
        <p:spPr>
          <a:xfrm>
            <a:off x="6876878" y="3698088"/>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notification</a:t>
            </a:r>
            <a:endParaRPr lang="en-US" sz="1200" dirty="0"/>
          </a:p>
        </p:txBody>
      </p:sp>
      <p:sp>
        <p:nvSpPr>
          <p:cNvPr id="53" name="Text 47"/>
          <p:cNvSpPr txBox="1"/>
          <p:nvPr/>
        </p:nvSpPr>
        <p:spPr>
          <a:xfrm>
            <a:off x="6876878" y="3929163"/>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complaint</a:t>
            </a:r>
            <a:endParaRPr lang="en-US" sz="1200" dirty="0"/>
          </a:p>
        </p:txBody>
      </p:sp>
      <p:sp>
        <p:nvSpPr>
          <p:cNvPr id="54" name="Text 48"/>
          <p:cNvSpPr txBox="1"/>
          <p:nvPr/>
        </p:nvSpPr>
        <p:spPr>
          <a:xfrm>
            <a:off x="6876878" y="4160237"/>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rating</a:t>
            </a:r>
            <a:endParaRPr lang="en-US" sz="1200" dirty="0"/>
          </a:p>
        </p:txBody>
      </p:sp>
      <p:sp>
        <p:nvSpPr>
          <p:cNvPr id="55" name="Text 49"/>
          <p:cNvSpPr txBox="1"/>
          <p:nvPr/>
        </p:nvSpPr>
        <p:spPr>
          <a:xfrm>
            <a:off x="6876878" y="4391312"/>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admin, reports</a:t>
            </a:r>
            <a:endParaRPr lang="en-US" sz="1200" dirty="0"/>
          </a:p>
        </p:txBody>
      </p:sp>
      <p:sp>
        <p:nvSpPr>
          <p:cNvPr id="56" name="Shape 50"/>
          <p:cNvSpPr/>
          <p:nvPr/>
        </p:nvSpPr>
        <p:spPr>
          <a:xfrm>
            <a:off x="8267493" y="3301917"/>
            <a:ext cx="1384265" cy="1587460"/>
          </a:xfrm>
          <a:prstGeom prst="roundRect">
            <a:avLst>
              <a:gd name="adj" fmla="val 6422"/>
            </a:avLst>
          </a:prstGeom>
          <a:solidFill>
            <a:srgbClr val="E6EBF3"/>
          </a:solidFill>
          <a:ln/>
        </p:spPr>
      </p:sp>
      <p:sp>
        <p:nvSpPr>
          <p:cNvPr id="57" name="Shape 51"/>
          <p:cNvSpPr/>
          <p:nvPr/>
        </p:nvSpPr>
        <p:spPr>
          <a:xfrm>
            <a:off x="8267493" y="3301917"/>
            <a:ext cx="1384265" cy="50799"/>
          </a:xfrm>
          <a:prstGeom prst="roundRect">
            <a:avLst>
              <a:gd name="adj" fmla="val 50000"/>
            </a:avLst>
          </a:prstGeom>
          <a:solidFill>
            <a:srgbClr val="3F5F95"/>
          </a:solidFill>
          <a:ln/>
        </p:spPr>
      </p:sp>
      <p:sp>
        <p:nvSpPr>
          <p:cNvPr id="58" name="Text 52"/>
          <p:cNvSpPr txBox="1"/>
          <p:nvPr/>
        </p:nvSpPr>
        <p:spPr>
          <a:xfrm>
            <a:off x="8369091" y="3441614"/>
            <a:ext cx="1322799" cy="231134"/>
          </a:xfrm>
          <a:prstGeom prst="rect">
            <a:avLst/>
          </a:prstGeom>
          <a:noFill/>
          <a:ln/>
        </p:spPr>
        <p:txBody>
          <a:bodyPr wrap="square" lIns="0" tIns="0" rIns="0" bIns="0" rtlCol="0" anchor="t"/>
          <a:lstStyle/>
          <a:p>
            <a:pPr algn="l" indent="0" marL="0">
              <a:lnSpc>
                <a:spcPct val="116667"/>
              </a:lnSpc>
              <a:buNone/>
            </a:pPr>
            <a:r>
              <a:rPr lang="en-US" sz="1300" b="1" dirty="0">
                <a:solidFill>
                  <a:srgbClr val="3F5F95"/>
                </a:solidFill>
                <a:latin typeface="Calibri" pitchFamily="34" charset="0"/>
                <a:ea typeface="Calibri" pitchFamily="34" charset="-122"/>
                <a:cs typeface="Calibri" pitchFamily="34" charset="-120"/>
              </a:rPr>
              <a:t>Platform</a:t>
            </a:r>
            <a:endParaRPr lang="en-US" sz="1300" dirty="0"/>
          </a:p>
        </p:txBody>
      </p:sp>
      <p:sp>
        <p:nvSpPr>
          <p:cNvPr id="59" name="Text 53"/>
          <p:cNvSpPr txBox="1"/>
          <p:nvPr/>
        </p:nvSpPr>
        <p:spPr>
          <a:xfrm>
            <a:off x="8369091" y="3698088"/>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api-gateway</a:t>
            </a:r>
            <a:endParaRPr lang="en-US" sz="1200" dirty="0"/>
          </a:p>
        </p:txBody>
      </p:sp>
      <p:sp>
        <p:nvSpPr>
          <p:cNvPr id="60" name="Text 54"/>
          <p:cNvSpPr txBox="1"/>
          <p:nvPr/>
        </p:nvSpPr>
        <p:spPr>
          <a:xfrm>
            <a:off x="8369091" y="3929163"/>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outbox relay</a:t>
            </a:r>
            <a:endParaRPr lang="en-US" sz="1200" dirty="0"/>
          </a:p>
        </p:txBody>
      </p:sp>
      <p:sp>
        <p:nvSpPr>
          <p:cNvPr id="61" name="Text 55"/>
          <p:cNvSpPr txBox="1"/>
          <p:nvPr/>
        </p:nvSpPr>
        <p:spPr>
          <a:xfrm>
            <a:off x="8369091" y="4160237"/>
            <a:ext cx="132279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shared libs</a:t>
            </a:r>
            <a:endParaRPr lang="en-US" sz="1200" dirty="0"/>
          </a:p>
        </p:txBody>
      </p:sp>
      <p:sp>
        <p:nvSpPr>
          <p:cNvPr id="62" name="Shape 56"/>
          <p:cNvSpPr/>
          <p:nvPr/>
        </p:nvSpPr>
        <p:spPr>
          <a:xfrm>
            <a:off x="812780" y="5143371"/>
            <a:ext cx="2095448" cy="571486"/>
          </a:xfrm>
          <a:prstGeom prst="roundRect">
            <a:avLst>
              <a:gd name="adj" fmla="val 15556"/>
            </a:avLst>
          </a:prstGeom>
          <a:solidFill>
            <a:srgbClr val="FCFDFF"/>
          </a:solidFill>
          <a:ln w="12700">
            <a:solidFill>
              <a:srgbClr val="2F5C9A"/>
            </a:solidFill>
            <a:prstDash val="solid"/>
          </a:ln>
        </p:spPr>
      </p:sp>
      <p:sp>
        <p:nvSpPr>
          <p:cNvPr id="63" name="Shape 57"/>
          <p:cNvSpPr/>
          <p:nvPr/>
        </p:nvSpPr>
        <p:spPr>
          <a:xfrm>
            <a:off x="812780" y="5143371"/>
            <a:ext cx="50799" cy="571486"/>
          </a:xfrm>
          <a:prstGeom prst="roundRect">
            <a:avLst>
              <a:gd name="adj" fmla="val 50000"/>
            </a:avLst>
          </a:prstGeom>
          <a:solidFill>
            <a:srgbClr val="2F5C9A"/>
          </a:solidFill>
          <a:ln/>
        </p:spPr>
      </p:sp>
      <p:pic>
        <p:nvPicPr>
          <p:cNvPr id="64" name="Image 4" descr="preencoded.png">    </p:cNvPr>
          <p:cNvPicPr>
            <a:picLocks noChangeAspect="1"/>
          </p:cNvPicPr>
          <p:nvPr/>
        </p:nvPicPr>
        <p:blipFill>
          <a:blip r:embed="rId5"/>
          <a:stretch>
            <a:fillRect/>
          </a:stretch>
        </p:blipFill>
        <p:spPr>
          <a:xfrm>
            <a:off x="977876" y="5206870"/>
            <a:ext cx="190495" cy="190495"/>
          </a:xfrm>
          <a:prstGeom prst="rect">
            <a:avLst/>
          </a:prstGeom>
        </p:spPr>
      </p:pic>
      <p:sp>
        <p:nvSpPr>
          <p:cNvPr id="65" name="Text 58"/>
          <p:cNvSpPr txBox="1"/>
          <p:nvPr/>
        </p:nvSpPr>
        <p:spPr>
          <a:xfrm>
            <a:off x="1231869" y="5210640"/>
            <a:ext cx="889311" cy="182875"/>
          </a:xfrm>
          <a:prstGeom prst="rect">
            <a:avLst/>
          </a:prstGeom>
          <a:noFill/>
          <a:ln/>
        </p:spPr>
        <p:txBody>
          <a:bodyPr wrap="square" lIns="0" tIns="0" rIns="0" bIns="0" rtlCol="0" anchor="t"/>
          <a:lstStyle/>
          <a:p>
            <a:pPr algn="l" indent="0" marL="0">
              <a:lnSpc>
                <a:spcPct val="100000"/>
              </a:lnSpc>
              <a:buNone/>
            </a:pPr>
            <a:r>
              <a:rPr lang="en-US" sz="1200" b="1" dirty="0">
                <a:solidFill>
                  <a:srgbClr val="1F3A70"/>
                </a:solidFill>
                <a:latin typeface="Calibri" pitchFamily="34" charset="0"/>
                <a:ea typeface="Calibri" pitchFamily="34" charset="-122"/>
                <a:cs typeface="Calibri" pitchFamily="34" charset="-120"/>
              </a:rPr>
              <a:t>PostgreSQL</a:t>
            </a:r>
            <a:endParaRPr lang="en-US" sz="1200" dirty="0"/>
          </a:p>
        </p:txBody>
      </p:sp>
      <p:sp>
        <p:nvSpPr>
          <p:cNvPr id="66" name="Text 59"/>
          <p:cNvSpPr txBox="1"/>
          <p:nvPr/>
        </p:nvSpPr>
        <p:spPr>
          <a:xfrm>
            <a:off x="977876" y="5397365"/>
            <a:ext cx="201975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17 schemas + outbox</a:t>
            </a:r>
            <a:endParaRPr lang="en-US" sz="1200" dirty="0"/>
          </a:p>
        </p:txBody>
      </p:sp>
      <p:sp>
        <p:nvSpPr>
          <p:cNvPr id="67" name="Shape 60"/>
          <p:cNvSpPr/>
          <p:nvPr/>
        </p:nvSpPr>
        <p:spPr>
          <a:xfrm>
            <a:off x="3060623" y="5143371"/>
            <a:ext cx="2095448" cy="571486"/>
          </a:xfrm>
          <a:prstGeom prst="roundRect">
            <a:avLst>
              <a:gd name="adj" fmla="val 15556"/>
            </a:avLst>
          </a:prstGeom>
          <a:solidFill>
            <a:srgbClr val="FCFDFF"/>
          </a:solidFill>
          <a:ln w="12700">
            <a:solidFill>
              <a:srgbClr val="C0352B"/>
            </a:solidFill>
            <a:prstDash val="solid"/>
          </a:ln>
        </p:spPr>
      </p:sp>
      <p:sp>
        <p:nvSpPr>
          <p:cNvPr id="68" name="Shape 61"/>
          <p:cNvSpPr/>
          <p:nvPr/>
        </p:nvSpPr>
        <p:spPr>
          <a:xfrm>
            <a:off x="3060623" y="5143371"/>
            <a:ext cx="50799" cy="571486"/>
          </a:xfrm>
          <a:prstGeom prst="roundRect">
            <a:avLst>
              <a:gd name="adj" fmla="val 50000"/>
            </a:avLst>
          </a:prstGeom>
          <a:solidFill>
            <a:srgbClr val="C0352B"/>
          </a:solidFill>
          <a:ln/>
        </p:spPr>
      </p:sp>
      <p:pic>
        <p:nvPicPr>
          <p:cNvPr id="69" name="Image 5" descr="preencoded.png">    </p:cNvPr>
          <p:cNvPicPr>
            <a:picLocks noChangeAspect="1"/>
          </p:cNvPicPr>
          <p:nvPr/>
        </p:nvPicPr>
        <p:blipFill>
          <a:blip r:embed="rId6"/>
          <a:stretch>
            <a:fillRect/>
          </a:stretch>
        </p:blipFill>
        <p:spPr>
          <a:xfrm>
            <a:off x="3225719" y="5206870"/>
            <a:ext cx="190495" cy="190495"/>
          </a:xfrm>
          <a:prstGeom prst="rect">
            <a:avLst/>
          </a:prstGeom>
        </p:spPr>
      </p:pic>
      <p:sp>
        <p:nvSpPr>
          <p:cNvPr id="70" name="Text 62"/>
          <p:cNvSpPr txBox="1"/>
          <p:nvPr/>
        </p:nvSpPr>
        <p:spPr>
          <a:xfrm>
            <a:off x="3479713" y="5210640"/>
            <a:ext cx="456494" cy="182875"/>
          </a:xfrm>
          <a:prstGeom prst="rect">
            <a:avLst/>
          </a:prstGeom>
          <a:noFill/>
          <a:ln/>
        </p:spPr>
        <p:txBody>
          <a:bodyPr wrap="square" lIns="0" tIns="0" rIns="0" bIns="0" rtlCol="0" anchor="t"/>
          <a:lstStyle/>
          <a:p>
            <a:pPr algn="l" indent="0" marL="0">
              <a:lnSpc>
                <a:spcPct val="100000"/>
              </a:lnSpc>
              <a:buNone/>
            </a:pPr>
            <a:r>
              <a:rPr lang="en-US" sz="1200" b="1" dirty="0">
                <a:solidFill>
                  <a:srgbClr val="1F3A70"/>
                </a:solidFill>
                <a:latin typeface="Calibri" pitchFamily="34" charset="0"/>
                <a:ea typeface="Calibri" pitchFamily="34" charset="-122"/>
                <a:cs typeface="Calibri" pitchFamily="34" charset="-120"/>
              </a:rPr>
              <a:t>Redis</a:t>
            </a:r>
            <a:endParaRPr lang="en-US" sz="1200" dirty="0"/>
          </a:p>
        </p:txBody>
      </p:sp>
      <p:sp>
        <p:nvSpPr>
          <p:cNvPr id="71" name="Text 63"/>
          <p:cNvSpPr txBox="1"/>
          <p:nvPr/>
        </p:nvSpPr>
        <p:spPr>
          <a:xfrm>
            <a:off x="3225719" y="5397365"/>
            <a:ext cx="201975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OTP, tokens, offers</a:t>
            </a:r>
            <a:endParaRPr lang="en-US" sz="1200" dirty="0"/>
          </a:p>
        </p:txBody>
      </p:sp>
      <p:sp>
        <p:nvSpPr>
          <p:cNvPr id="72" name="Shape 64"/>
          <p:cNvSpPr/>
          <p:nvPr/>
        </p:nvSpPr>
        <p:spPr>
          <a:xfrm>
            <a:off x="5308467" y="5143371"/>
            <a:ext cx="2095448" cy="571486"/>
          </a:xfrm>
          <a:prstGeom prst="roundRect">
            <a:avLst>
              <a:gd name="adj" fmla="val 15556"/>
            </a:avLst>
          </a:prstGeom>
          <a:solidFill>
            <a:srgbClr val="FCFDFF"/>
          </a:solidFill>
          <a:ln w="12700">
            <a:solidFill>
              <a:srgbClr val="4B4B9A"/>
            </a:solidFill>
            <a:prstDash val="solid"/>
          </a:ln>
        </p:spPr>
      </p:sp>
      <p:sp>
        <p:nvSpPr>
          <p:cNvPr id="73" name="Shape 65"/>
          <p:cNvSpPr/>
          <p:nvPr/>
        </p:nvSpPr>
        <p:spPr>
          <a:xfrm>
            <a:off x="5308467" y="5143371"/>
            <a:ext cx="50799" cy="571486"/>
          </a:xfrm>
          <a:prstGeom prst="roundRect">
            <a:avLst>
              <a:gd name="adj" fmla="val 50000"/>
            </a:avLst>
          </a:prstGeom>
          <a:solidFill>
            <a:srgbClr val="4B4B9A"/>
          </a:solidFill>
          <a:ln/>
        </p:spPr>
      </p:sp>
      <p:pic>
        <p:nvPicPr>
          <p:cNvPr id="74" name="Image 6" descr="preencoded.png">    </p:cNvPr>
          <p:cNvPicPr>
            <a:picLocks noChangeAspect="1"/>
          </p:cNvPicPr>
          <p:nvPr/>
        </p:nvPicPr>
        <p:blipFill>
          <a:blip r:embed="rId7"/>
          <a:stretch>
            <a:fillRect/>
          </a:stretch>
        </p:blipFill>
        <p:spPr>
          <a:xfrm>
            <a:off x="5473563" y="5206870"/>
            <a:ext cx="190495" cy="190495"/>
          </a:xfrm>
          <a:prstGeom prst="rect">
            <a:avLst/>
          </a:prstGeom>
        </p:spPr>
      </p:pic>
      <p:sp>
        <p:nvSpPr>
          <p:cNvPr id="75" name="Text 66"/>
          <p:cNvSpPr txBox="1"/>
          <p:nvPr/>
        </p:nvSpPr>
        <p:spPr>
          <a:xfrm>
            <a:off x="5727557" y="5210640"/>
            <a:ext cx="467705" cy="182875"/>
          </a:xfrm>
          <a:prstGeom prst="rect">
            <a:avLst/>
          </a:prstGeom>
          <a:noFill/>
          <a:ln/>
        </p:spPr>
        <p:txBody>
          <a:bodyPr wrap="square" lIns="0" tIns="0" rIns="0" bIns="0" rtlCol="0" anchor="t"/>
          <a:lstStyle/>
          <a:p>
            <a:pPr algn="l" indent="0" marL="0">
              <a:lnSpc>
                <a:spcPct val="100000"/>
              </a:lnSpc>
              <a:buNone/>
            </a:pPr>
            <a:r>
              <a:rPr lang="en-US" sz="1200" b="1" dirty="0">
                <a:solidFill>
                  <a:srgbClr val="1F3A70"/>
                </a:solidFill>
                <a:latin typeface="Calibri" pitchFamily="34" charset="0"/>
                <a:ea typeface="Calibri" pitchFamily="34" charset="-122"/>
                <a:cs typeface="Calibri" pitchFamily="34" charset="-120"/>
              </a:rPr>
              <a:t>Kafka</a:t>
            </a:r>
            <a:endParaRPr lang="en-US" sz="1200" dirty="0"/>
          </a:p>
        </p:txBody>
      </p:sp>
      <p:sp>
        <p:nvSpPr>
          <p:cNvPr id="76" name="Text 67"/>
          <p:cNvSpPr txBox="1"/>
          <p:nvPr/>
        </p:nvSpPr>
        <p:spPr>
          <a:xfrm>
            <a:off x="5473563" y="5397365"/>
            <a:ext cx="201975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13 topics + DLT</a:t>
            </a:r>
            <a:endParaRPr lang="en-US" sz="1200" dirty="0"/>
          </a:p>
        </p:txBody>
      </p:sp>
      <p:sp>
        <p:nvSpPr>
          <p:cNvPr id="77" name="Shape 68"/>
          <p:cNvSpPr/>
          <p:nvPr/>
        </p:nvSpPr>
        <p:spPr>
          <a:xfrm>
            <a:off x="7556311" y="5143371"/>
            <a:ext cx="2095448" cy="571486"/>
          </a:xfrm>
          <a:prstGeom prst="roundRect">
            <a:avLst>
              <a:gd name="adj" fmla="val 15556"/>
            </a:avLst>
          </a:prstGeom>
          <a:solidFill>
            <a:srgbClr val="FCFDFF"/>
          </a:solidFill>
          <a:ln w="12700">
            <a:solidFill>
              <a:srgbClr val="2E7D4F"/>
            </a:solidFill>
            <a:prstDash val="solid"/>
          </a:ln>
        </p:spPr>
      </p:sp>
      <p:sp>
        <p:nvSpPr>
          <p:cNvPr id="78" name="Shape 69"/>
          <p:cNvSpPr/>
          <p:nvPr/>
        </p:nvSpPr>
        <p:spPr>
          <a:xfrm>
            <a:off x="7556311" y="5143371"/>
            <a:ext cx="50799" cy="571486"/>
          </a:xfrm>
          <a:prstGeom prst="roundRect">
            <a:avLst>
              <a:gd name="adj" fmla="val 50000"/>
            </a:avLst>
          </a:prstGeom>
          <a:solidFill>
            <a:srgbClr val="2E7D4F"/>
          </a:solidFill>
          <a:ln/>
        </p:spPr>
      </p:sp>
      <p:pic>
        <p:nvPicPr>
          <p:cNvPr id="79" name="Image 7" descr="preencoded.png">    </p:cNvPr>
          <p:cNvPicPr>
            <a:picLocks noChangeAspect="1"/>
          </p:cNvPicPr>
          <p:nvPr/>
        </p:nvPicPr>
        <p:blipFill>
          <a:blip r:embed="rId8"/>
          <a:stretch>
            <a:fillRect/>
          </a:stretch>
        </p:blipFill>
        <p:spPr>
          <a:xfrm>
            <a:off x="7721407" y="5206870"/>
            <a:ext cx="190495" cy="190495"/>
          </a:xfrm>
          <a:prstGeom prst="rect">
            <a:avLst/>
          </a:prstGeom>
        </p:spPr>
      </p:pic>
      <p:sp>
        <p:nvSpPr>
          <p:cNvPr id="80" name="Text 70"/>
          <p:cNvSpPr txBox="1"/>
          <p:nvPr/>
        </p:nvSpPr>
        <p:spPr>
          <a:xfrm>
            <a:off x="7975401" y="5210640"/>
            <a:ext cx="1166450" cy="182875"/>
          </a:xfrm>
          <a:prstGeom prst="rect">
            <a:avLst/>
          </a:prstGeom>
          <a:noFill/>
          <a:ln/>
        </p:spPr>
        <p:txBody>
          <a:bodyPr wrap="square" lIns="0" tIns="0" rIns="0" bIns="0" rtlCol="0" anchor="t"/>
          <a:lstStyle/>
          <a:p>
            <a:pPr algn="l" indent="0" marL="0">
              <a:lnSpc>
                <a:spcPct val="100000"/>
              </a:lnSpc>
              <a:buNone/>
            </a:pPr>
            <a:r>
              <a:rPr lang="en-US" sz="1200" b="1" dirty="0">
                <a:solidFill>
                  <a:srgbClr val="1F3A70"/>
                </a:solidFill>
                <a:latin typeface="Calibri" pitchFamily="34" charset="0"/>
                <a:ea typeface="Calibri" pitchFamily="34" charset="-122"/>
                <a:cs typeface="Calibri" pitchFamily="34" charset="-120"/>
              </a:rPr>
              <a:t>Object storage</a:t>
            </a:r>
            <a:endParaRPr lang="en-US" sz="1200" dirty="0"/>
          </a:p>
        </p:txBody>
      </p:sp>
      <p:sp>
        <p:nvSpPr>
          <p:cNvPr id="81" name="Text 71"/>
          <p:cNvSpPr txBox="1"/>
          <p:nvPr/>
        </p:nvSpPr>
        <p:spPr>
          <a:xfrm>
            <a:off x="7721407" y="5397365"/>
            <a:ext cx="201975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S3, stubbed in code</a:t>
            </a:r>
            <a:endParaRPr lang="en-US" sz="1200" dirty="0"/>
          </a:p>
        </p:txBody>
      </p:sp>
      <p:sp>
        <p:nvSpPr>
          <p:cNvPr id="82" name="Shape 72"/>
          <p:cNvSpPr/>
          <p:nvPr/>
        </p:nvSpPr>
        <p:spPr>
          <a:xfrm>
            <a:off x="9905752" y="2539937"/>
            <a:ext cx="1473163" cy="3174921"/>
          </a:xfrm>
          <a:prstGeom prst="roundRect">
            <a:avLst>
              <a:gd name="adj" fmla="val 6034"/>
            </a:avLst>
          </a:prstGeom>
          <a:solidFill>
            <a:srgbClr val="EEF1F6"/>
          </a:solidFill>
          <a:ln w="12700">
            <a:solidFill>
              <a:srgbClr val="5C6B8A"/>
            </a:solidFill>
            <a:prstDash val="dash"/>
          </a:ln>
        </p:spPr>
      </p:sp>
      <p:sp>
        <p:nvSpPr>
          <p:cNvPr id="83" name="Text 73"/>
          <p:cNvSpPr txBox="1"/>
          <p:nvPr/>
        </p:nvSpPr>
        <p:spPr>
          <a:xfrm>
            <a:off x="10020049" y="2641534"/>
            <a:ext cx="139391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External</a:t>
            </a:r>
            <a:endParaRPr lang="en-US" sz="1300" dirty="0"/>
          </a:p>
        </p:txBody>
      </p:sp>
      <p:sp>
        <p:nvSpPr>
          <p:cNvPr id="84" name="Text 74"/>
          <p:cNvSpPr txBox="1"/>
          <p:nvPr/>
        </p:nvSpPr>
        <p:spPr>
          <a:xfrm>
            <a:off x="10020049" y="2936107"/>
            <a:ext cx="1393917" cy="411351"/>
          </a:xfrm>
          <a:prstGeom prst="rect">
            <a:avLst/>
          </a:prstGeom>
          <a:noFill/>
          <a:ln/>
        </p:spPr>
        <p:txBody>
          <a:bodyPr wrap="square" lIns="0" tIns="0" rIns="0" bIns="0" rtlCol="0" anchor="t"/>
          <a:lstStyle/>
          <a:p>
            <a:pPr algn="l" indent="0" marL="0">
              <a:lnSpc>
                <a:spcPct val="112500"/>
              </a:lnSpc>
              <a:buNone/>
            </a:pPr>
            <a:r>
              <a:rPr lang="en-US" sz="1200" b="1" dirty="0">
                <a:solidFill>
                  <a:srgbClr val="1F3A70"/>
                </a:solidFill>
                <a:latin typeface="Calibri" pitchFamily="34" charset="0"/>
                <a:ea typeface="Calibri" pitchFamily="34" charset="-122"/>
                <a:cs typeface="Calibri" pitchFamily="34" charset="-120"/>
              </a:rPr>
              <a:t>Razorpay</a:t>
            </a:r>
            <a:endParaRPr lang="en-US" sz="1200" dirty="0"/>
          </a:p>
          <a:p>
            <a:pPr algn="l" indent="0" marL="0">
              <a:lnSpc>
                <a:spcPct val="112500"/>
              </a:lnSpc>
              <a:buNone/>
            </a:pPr>
            <a:r>
              <a:rPr lang="en-US" sz="1200" dirty="0">
                <a:solidFill>
                  <a:srgbClr val="5C6B8A"/>
                </a:solidFill>
                <a:latin typeface="Calibri" pitchFamily="34" charset="0"/>
                <a:ea typeface="Calibri" pitchFamily="34" charset="-122"/>
                <a:cs typeface="Calibri" pitchFamily="34" charset="-120"/>
              </a:rPr>
              <a:t>live, test mode</a:t>
            </a:r>
            <a:endParaRPr lang="en-US" sz="1200" dirty="0"/>
          </a:p>
        </p:txBody>
      </p:sp>
      <p:sp>
        <p:nvSpPr>
          <p:cNvPr id="85" name="Text 75"/>
          <p:cNvSpPr txBox="1"/>
          <p:nvPr/>
        </p:nvSpPr>
        <p:spPr>
          <a:xfrm>
            <a:off x="10020049" y="3410956"/>
            <a:ext cx="1393917" cy="411351"/>
          </a:xfrm>
          <a:prstGeom prst="rect">
            <a:avLst/>
          </a:prstGeom>
          <a:noFill/>
          <a:ln/>
        </p:spPr>
        <p:txBody>
          <a:bodyPr wrap="square" lIns="0" tIns="0" rIns="0" bIns="0" rtlCol="0" anchor="t"/>
          <a:lstStyle/>
          <a:p>
            <a:pPr algn="l" indent="0" marL="0">
              <a:lnSpc>
                <a:spcPct val="112500"/>
              </a:lnSpc>
              <a:buNone/>
            </a:pPr>
            <a:r>
              <a:rPr lang="en-US" sz="1200" b="1" dirty="0">
                <a:solidFill>
                  <a:srgbClr val="1F3A70"/>
                </a:solidFill>
                <a:latin typeface="Calibri" pitchFamily="34" charset="0"/>
                <a:ea typeface="Calibri" pitchFamily="34" charset="-122"/>
                <a:cs typeface="Calibri" pitchFamily="34" charset="-120"/>
              </a:rPr>
              <a:t>Google, Apple</a:t>
            </a:r>
            <a:endParaRPr lang="en-US" sz="1200" dirty="0"/>
          </a:p>
          <a:p>
            <a:pPr algn="l" indent="0" marL="0">
              <a:lnSpc>
                <a:spcPct val="112500"/>
              </a:lnSpc>
              <a:buNone/>
            </a:pPr>
            <a:r>
              <a:rPr lang="en-US" sz="1200" dirty="0">
                <a:solidFill>
                  <a:srgbClr val="5C6B8A"/>
                </a:solidFill>
                <a:latin typeface="Calibri" pitchFamily="34" charset="0"/>
                <a:ea typeface="Calibri" pitchFamily="34" charset="-122"/>
                <a:cs typeface="Calibri" pitchFamily="34" charset="-120"/>
              </a:rPr>
              <a:t>live sign-in</a:t>
            </a:r>
            <a:endParaRPr lang="en-US" sz="1200" dirty="0"/>
          </a:p>
        </p:txBody>
      </p:sp>
      <p:sp>
        <p:nvSpPr>
          <p:cNvPr id="86" name="Text 76"/>
          <p:cNvSpPr txBox="1"/>
          <p:nvPr/>
        </p:nvSpPr>
        <p:spPr>
          <a:xfrm>
            <a:off x="10020049" y="3885805"/>
            <a:ext cx="1393917" cy="617026"/>
          </a:xfrm>
          <a:prstGeom prst="rect">
            <a:avLst/>
          </a:prstGeom>
          <a:noFill/>
          <a:ln/>
        </p:spPr>
        <p:txBody>
          <a:bodyPr wrap="square" lIns="0" tIns="0" rIns="0" bIns="0" rtlCol="0" anchor="t"/>
          <a:lstStyle/>
          <a:p>
            <a:pPr algn="l" indent="0" marL="0">
              <a:lnSpc>
                <a:spcPct val="112500"/>
              </a:lnSpc>
              <a:buNone/>
            </a:pPr>
            <a:r>
              <a:rPr lang="en-US" sz="1200" b="1" dirty="0">
                <a:solidFill>
                  <a:srgbClr val="1F3A70"/>
                </a:solidFill>
                <a:latin typeface="Calibri" pitchFamily="34" charset="0"/>
                <a:ea typeface="Calibri" pitchFamily="34" charset="-122"/>
                <a:cs typeface="Calibri" pitchFamily="34" charset="-120"/>
              </a:rPr>
              <a:t>SMS, email, push</a:t>
            </a:r>
            <a:endParaRPr lang="en-US" sz="1200" dirty="0"/>
          </a:p>
          <a:p>
            <a:pPr algn="l" indent="0" marL="0">
              <a:lnSpc>
                <a:spcPct val="112500"/>
              </a:lnSpc>
              <a:buNone/>
            </a:pPr>
            <a:r>
              <a:rPr lang="en-US" sz="1200" dirty="0">
                <a:solidFill>
                  <a:srgbClr val="5C6B8A"/>
                </a:solidFill>
                <a:latin typeface="Calibri" pitchFamily="34" charset="0"/>
                <a:ea typeface="Calibri" pitchFamily="34" charset="-122"/>
                <a:cs typeface="Calibri" pitchFamily="34" charset="-120"/>
              </a:rPr>
              <a:t>stubs</a:t>
            </a:r>
            <a:endParaRPr lang="en-US" sz="1200" dirty="0"/>
          </a:p>
        </p:txBody>
      </p:sp>
      <p:sp>
        <p:nvSpPr>
          <p:cNvPr id="87" name="Text 77"/>
          <p:cNvSpPr txBox="1"/>
          <p:nvPr/>
        </p:nvSpPr>
        <p:spPr>
          <a:xfrm>
            <a:off x="10020049" y="4566330"/>
            <a:ext cx="1393917" cy="411351"/>
          </a:xfrm>
          <a:prstGeom prst="rect">
            <a:avLst/>
          </a:prstGeom>
          <a:noFill/>
          <a:ln/>
        </p:spPr>
        <p:txBody>
          <a:bodyPr wrap="square" lIns="0" tIns="0" rIns="0" bIns="0" rtlCol="0" anchor="t"/>
          <a:lstStyle/>
          <a:p>
            <a:pPr algn="l" indent="0" marL="0">
              <a:lnSpc>
                <a:spcPct val="112500"/>
              </a:lnSpc>
              <a:buNone/>
            </a:pPr>
            <a:r>
              <a:rPr lang="en-US" sz="1200" b="1" dirty="0">
                <a:solidFill>
                  <a:srgbClr val="1F3A70"/>
                </a:solidFill>
                <a:latin typeface="Calibri" pitchFamily="34" charset="0"/>
                <a:ea typeface="Calibri" pitchFamily="34" charset="-122"/>
                <a:cs typeface="Calibri" pitchFamily="34" charset="-120"/>
              </a:rPr>
              <a:t>S3 storage</a:t>
            </a:r>
            <a:endParaRPr lang="en-US" sz="1200" dirty="0"/>
          </a:p>
          <a:p>
            <a:pPr algn="l" indent="0" marL="0">
              <a:lnSpc>
                <a:spcPct val="112500"/>
              </a:lnSpc>
              <a:buNone/>
            </a:pPr>
            <a:r>
              <a:rPr lang="en-US" sz="1200" dirty="0">
                <a:solidFill>
                  <a:srgbClr val="5C6B8A"/>
                </a:solidFill>
                <a:latin typeface="Calibri" pitchFamily="34" charset="0"/>
                <a:ea typeface="Calibri" pitchFamily="34" charset="-122"/>
                <a:cs typeface="Calibri" pitchFamily="34" charset="-120"/>
              </a:rPr>
              <a:t>stub</a:t>
            </a:r>
            <a:endParaRPr lang="en-US" sz="1200" dirty="0"/>
          </a:p>
        </p:txBody>
      </p:sp>
      <p:sp>
        <p:nvSpPr>
          <p:cNvPr id="88" name="Text 78"/>
          <p:cNvSpPr txBox="1"/>
          <p:nvPr/>
        </p:nvSpPr>
        <p:spPr>
          <a:xfrm>
            <a:off x="10020049" y="5041179"/>
            <a:ext cx="1393917" cy="411351"/>
          </a:xfrm>
          <a:prstGeom prst="rect">
            <a:avLst/>
          </a:prstGeom>
          <a:noFill/>
          <a:ln/>
        </p:spPr>
        <p:txBody>
          <a:bodyPr wrap="square" lIns="0" tIns="0" rIns="0" bIns="0" rtlCol="0" anchor="t"/>
          <a:lstStyle/>
          <a:p>
            <a:pPr algn="l" indent="0" marL="0">
              <a:lnSpc>
                <a:spcPct val="112500"/>
              </a:lnSpc>
              <a:buNone/>
            </a:pPr>
            <a:r>
              <a:rPr lang="en-US" sz="1200" b="1" dirty="0">
                <a:solidFill>
                  <a:srgbClr val="1F3A70"/>
                </a:solidFill>
                <a:latin typeface="Calibri" pitchFamily="34" charset="0"/>
                <a:ea typeface="Calibri" pitchFamily="34" charset="-122"/>
                <a:cs typeface="Calibri" pitchFamily="34" charset="-120"/>
              </a:rPr>
              <a:t>KYC check</a:t>
            </a:r>
            <a:endParaRPr lang="en-US" sz="1200" dirty="0"/>
          </a:p>
          <a:p>
            <a:pPr algn="l" indent="0" marL="0">
              <a:lnSpc>
                <a:spcPct val="112500"/>
              </a:lnSpc>
              <a:buNone/>
            </a:pPr>
            <a:r>
              <a:rPr lang="en-US" sz="1200" dirty="0">
                <a:solidFill>
                  <a:srgbClr val="5C6B8A"/>
                </a:solidFill>
                <a:latin typeface="Calibri" pitchFamily="34" charset="0"/>
                <a:ea typeface="Calibri" pitchFamily="34" charset="-122"/>
                <a:cs typeface="Calibri" pitchFamily="34" charset="-120"/>
              </a:rPr>
              <a:t>manual</a:t>
            </a:r>
            <a:endParaRPr lang="en-US" sz="1200" dirty="0"/>
          </a:p>
        </p:txBody>
      </p:sp>
      <p:sp>
        <p:nvSpPr>
          <p:cNvPr id="89" name="Shape 79"/>
          <p:cNvSpPr/>
          <p:nvPr/>
        </p:nvSpPr>
        <p:spPr>
          <a:xfrm>
            <a:off x="2082748" y="2285943"/>
            <a:ext cx="63" cy="253994"/>
          </a:xfrm>
          <a:prstGeom prst="line">
            <a:avLst/>
          </a:prstGeom>
          <a:noFill/>
          <a:ln w="19050">
            <a:solidFill>
              <a:srgbClr val="5C6B8A"/>
            </a:solidFill>
            <a:prstDash val="solid"/>
            <a:tailEnd type="triangle"/>
          </a:ln>
        </p:spPr>
      </p:sp>
      <p:sp>
        <p:nvSpPr>
          <p:cNvPr id="90" name="Shape 80"/>
          <p:cNvSpPr/>
          <p:nvPr/>
        </p:nvSpPr>
        <p:spPr>
          <a:xfrm>
            <a:off x="3352716" y="2825679"/>
            <a:ext cx="253994" cy="63"/>
          </a:xfrm>
          <a:prstGeom prst="line">
            <a:avLst/>
          </a:prstGeom>
          <a:noFill/>
          <a:ln w="19050">
            <a:solidFill>
              <a:srgbClr val="5C6B8A"/>
            </a:solidFill>
            <a:prstDash val="solid"/>
            <a:tailEnd type="triangle"/>
          </a:ln>
        </p:spPr>
      </p:sp>
      <p:sp>
        <p:nvSpPr>
          <p:cNvPr id="91" name="Shape 81"/>
          <p:cNvSpPr/>
          <p:nvPr/>
        </p:nvSpPr>
        <p:spPr>
          <a:xfrm>
            <a:off x="6629234" y="3111422"/>
            <a:ext cx="63" cy="190495"/>
          </a:xfrm>
          <a:prstGeom prst="line">
            <a:avLst/>
          </a:prstGeom>
          <a:noFill/>
          <a:ln w="19050">
            <a:solidFill>
              <a:srgbClr val="5C6B8A"/>
            </a:solidFill>
            <a:prstDash val="solid"/>
            <a:tailEnd type="triangle"/>
          </a:ln>
        </p:spPr>
      </p:sp>
      <p:sp>
        <p:nvSpPr>
          <p:cNvPr id="92" name="Shape 82"/>
          <p:cNvSpPr/>
          <p:nvPr/>
        </p:nvSpPr>
        <p:spPr>
          <a:xfrm>
            <a:off x="4444889" y="4889378"/>
            <a:ext cx="63" cy="253994"/>
          </a:xfrm>
          <a:prstGeom prst="line">
            <a:avLst/>
          </a:prstGeom>
          <a:noFill/>
          <a:ln w="19050">
            <a:solidFill>
              <a:srgbClr val="5C6B8A"/>
            </a:solidFill>
            <a:prstDash val="solid"/>
            <a:headEnd type="triangle"/>
            <a:tailEnd type="triangle"/>
          </a:ln>
        </p:spPr>
      </p:sp>
      <p:sp>
        <p:nvSpPr>
          <p:cNvPr id="93" name="Shape 83"/>
          <p:cNvSpPr/>
          <p:nvPr/>
        </p:nvSpPr>
        <p:spPr>
          <a:xfrm>
            <a:off x="9651759" y="4095648"/>
            <a:ext cx="253994" cy="63"/>
          </a:xfrm>
          <a:prstGeom prst="line">
            <a:avLst/>
          </a:prstGeom>
          <a:noFill/>
          <a:ln w="19050">
            <a:solidFill>
              <a:srgbClr val="5C6B8A"/>
            </a:solidFill>
            <a:prstDash val="solid"/>
            <a:headEnd type="triangle"/>
            <a:tailEnd type="triangle"/>
          </a:ln>
        </p:spPr>
      </p:sp>
      <p:sp>
        <p:nvSpPr>
          <p:cNvPr id="94" name="Text 84"/>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Architecture</a:t>
            </a:r>
            <a:endParaRPr lang="en-US" sz="1200" dirty="0"/>
          </a:p>
        </p:txBody>
      </p:sp>
      <p:sp>
        <p:nvSpPr>
          <p:cNvPr id="95" name="Text 85"/>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ARCHITECTURE · SERVICE MAP</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Twenty services in six colour-coded domains</a:t>
            </a:r>
            <a:endParaRPr lang="en-US" sz="3000" dirty="0"/>
          </a:p>
        </p:txBody>
      </p:sp>
      <p:sp>
        <p:nvSpPr>
          <p:cNvPr id="4" name="Shape 2"/>
          <p:cNvSpPr/>
          <p:nvPr/>
        </p:nvSpPr>
        <p:spPr>
          <a:xfrm>
            <a:off x="812780" y="1775376"/>
            <a:ext cx="3420382" cy="1627941"/>
          </a:xfrm>
          <a:prstGeom prst="roundRect">
            <a:avLst>
              <a:gd name="adj" fmla="val 6241"/>
            </a:avLst>
          </a:prstGeom>
          <a:solidFill>
            <a:srgbClr val="FCFDFF"/>
          </a:solidFill>
          <a:ln w="6350">
            <a:solidFill>
              <a:srgbClr val="D5DEEC"/>
            </a:solidFill>
            <a:prstDash val="solid"/>
          </a:ln>
        </p:spPr>
      </p:sp>
      <p:sp>
        <p:nvSpPr>
          <p:cNvPr id="5" name="Shape 3"/>
          <p:cNvSpPr/>
          <p:nvPr/>
        </p:nvSpPr>
        <p:spPr>
          <a:xfrm>
            <a:off x="812780" y="1775376"/>
            <a:ext cx="50799" cy="1627941"/>
          </a:xfrm>
          <a:prstGeom prst="roundRect">
            <a:avLst>
              <a:gd name="adj" fmla="val 50000"/>
            </a:avLst>
          </a:prstGeom>
          <a:solidFill>
            <a:srgbClr val="2454C5"/>
          </a:solidFill>
          <a:ln/>
        </p:spPr>
      </p:sp>
      <p:sp>
        <p:nvSpPr>
          <p:cNvPr id="6" name="Shape 4"/>
          <p:cNvSpPr/>
          <p:nvPr/>
        </p:nvSpPr>
        <p:spPr>
          <a:xfrm>
            <a:off x="1015975" y="1934122"/>
            <a:ext cx="330192" cy="330192"/>
          </a:xfrm>
          <a:prstGeom prst="ellipse">
            <a:avLst/>
          </a:prstGeom>
          <a:solidFill>
            <a:srgbClr val="E3EBFA"/>
          </a:solidFill>
          <a:ln/>
        </p:spPr>
      </p:sp>
      <p:pic>
        <p:nvPicPr>
          <p:cNvPr id="7" name="Image 0" descr="preencoded.png">    </p:cNvPr>
          <p:cNvPicPr>
            <a:picLocks noChangeAspect="1"/>
          </p:cNvPicPr>
          <p:nvPr/>
        </p:nvPicPr>
        <p:blipFill>
          <a:blip r:embed="rId1"/>
          <a:stretch>
            <a:fillRect/>
          </a:stretch>
        </p:blipFill>
        <p:spPr>
          <a:xfrm>
            <a:off x="1092173" y="2010320"/>
            <a:ext cx="177796" cy="177796"/>
          </a:xfrm>
          <a:prstGeom prst="rect">
            <a:avLst/>
          </a:prstGeom>
        </p:spPr>
      </p:pic>
      <p:sp>
        <p:nvSpPr>
          <p:cNvPr id="8" name="Text 5"/>
          <p:cNvSpPr txBox="1"/>
          <p:nvPr/>
        </p:nvSpPr>
        <p:spPr>
          <a:xfrm>
            <a:off x="1435064" y="1984921"/>
            <a:ext cx="1948084"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Identity and people</a:t>
            </a:r>
            <a:endParaRPr lang="en-US" sz="1500" dirty="0"/>
          </a:p>
        </p:txBody>
      </p:sp>
      <p:sp>
        <p:nvSpPr>
          <p:cNvPr id="9" name="Text 6"/>
          <p:cNvSpPr txBox="1"/>
          <p:nvPr/>
        </p:nvSpPr>
        <p:spPr>
          <a:xfrm>
            <a:off x="1015975" y="2327812"/>
            <a:ext cx="3425454" cy="426630"/>
          </a:xfrm>
          <a:prstGeom prst="rect">
            <a:avLst/>
          </a:prstGeom>
          <a:noFill/>
          <a:ln/>
        </p:spPr>
        <p:txBody>
          <a:bodyPr wrap="square" lIns="0" tIns="0" rIns="0" bIns="0" rtlCol="0" anchor="t"/>
          <a:lstStyle/>
          <a:p>
            <a:pPr algn="l" indent="0" marL="0">
              <a:lnSpc>
                <a:spcPct val="116667"/>
              </a:lnSpc>
              <a:buNone/>
            </a:pPr>
            <a:r>
              <a:rPr lang="en-US" sz="1200" dirty="0">
                <a:solidFill>
                  <a:srgbClr val="2454C5"/>
                </a:solidFill>
                <a:latin typeface="Courier New" pitchFamily="34" charset="0"/>
                <a:ea typeface="Courier New" pitchFamily="34" charset="-122"/>
                <a:cs typeface="Courier New" pitchFamily="34" charset="-120"/>
              </a:rPr>
              <a:t>auth 8081 · customer 8082</a:t>
            </a:r>
            <a:endParaRPr lang="en-US" sz="1200" dirty="0"/>
          </a:p>
          <a:p>
            <a:pPr algn="l" indent="0" marL="0">
              <a:lnSpc>
                <a:spcPct val="116667"/>
              </a:lnSpc>
              <a:buNone/>
            </a:pPr>
            <a:r>
              <a:rPr lang="en-US" sz="1200" dirty="0">
                <a:solidFill>
                  <a:srgbClr val="2454C5"/>
                </a:solidFill>
                <a:latin typeface="Courier New" pitchFamily="34" charset="0"/>
                <a:ea typeface="Courier New" pitchFamily="34" charset="-122"/>
                <a:cs typeface="Courier New" pitchFamily="34" charset="-120"/>
              </a:rPr>
              <a:t>provider 8083 · verification 8094</a:t>
            </a:r>
            <a:endParaRPr lang="en-US" sz="1200" dirty="0"/>
          </a:p>
        </p:txBody>
      </p:sp>
      <p:sp>
        <p:nvSpPr>
          <p:cNvPr id="10" name="Text 7"/>
          <p:cNvSpPr txBox="1"/>
          <p:nvPr/>
        </p:nvSpPr>
        <p:spPr>
          <a:xfrm>
            <a:off x="1015975" y="2817940"/>
            <a:ext cx="3425454"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Sign-in, profiles, agencies, KYC and background checks</a:t>
            </a:r>
            <a:endParaRPr lang="en-US" sz="1200" dirty="0"/>
          </a:p>
        </p:txBody>
      </p:sp>
      <p:sp>
        <p:nvSpPr>
          <p:cNvPr id="11" name="Shape 8"/>
          <p:cNvSpPr/>
          <p:nvPr/>
        </p:nvSpPr>
        <p:spPr>
          <a:xfrm>
            <a:off x="4385558" y="1775376"/>
            <a:ext cx="3420481" cy="1627941"/>
          </a:xfrm>
          <a:prstGeom prst="roundRect">
            <a:avLst>
              <a:gd name="adj" fmla="val 6241"/>
            </a:avLst>
          </a:prstGeom>
          <a:solidFill>
            <a:srgbClr val="FCFDFF"/>
          </a:solidFill>
          <a:ln w="6350">
            <a:solidFill>
              <a:srgbClr val="D5DEEC"/>
            </a:solidFill>
            <a:prstDash val="solid"/>
          </a:ln>
        </p:spPr>
      </p:sp>
      <p:sp>
        <p:nvSpPr>
          <p:cNvPr id="12" name="Shape 9"/>
          <p:cNvSpPr/>
          <p:nvPr/>
        </p:nvSpPr>
        <p:spPr>
          <a:xfrm>
            <a:off x="4385558" y="1775376"/>
            <a:ext cx="50799" cy="1627941"/>
          </a:xfrm>
          <a:prstGeom prst="roundRect">
            <a:avLst>
              <a:gd name="adj" fmla="val 50000"/>
            </a:avLst>
          </a:prstGeom>
          <a:solidFill>
            <a:srgbClr val="0B7F74"/>
          </a:solidFill>
          <a:ln/>
        </p:spPr>
      </p:sp>
      <p:sp>
        <p:nvSpPr>
          <p:cNvPr id="13" name="Shape 10"/>
          <p:cNvSpPr/>
          <p:nvPr/>
        </p:nvSpPr>
        <p:spPr>
          <a:xfrm>
            <a:off x="4588752" y="1934122"/>
            <a:ext cx="330192" cy="330192"/>
          </a:xfrm>
          <a:prstGeom prst="ellipse">
            <a:avLst/>
          </a:prstGeom>
          <a:solidFill>
            <a:srgbClr val="DDF2EF"/>
          </a:solidFill>
          <a:ln/>
        </p:spPr>
      </p:sp>
      <p:pic>
        <p:nvPicPr>
          <p:cNvPr id="14" name="Image 1" descr="preencoded.png">    </p:cNvPr>
          <p:cNvPicPr>
            <a:picLocks noChangeAspect="1"/>
          </p:cNvPicPr>
          <p:nvPr/>
        </p:nvPicPr>
        <p:blipFill>
          <a:blip r:embed="rId2"/>
          <a:stretch>
            <a:fillRect/>
          </a:stretch>
        </p:blipFill>
        <p:spPr>
          <a:xfrm>
            <a:off x="4664951" y="2010320"/>
            <a:ext cx="177796" cy="177796"/>
          </a:xfrm>
          <a:prstGeom prst="rect">
            <a:avLst/>
          </a:prstGeom>
        </p:spPr>
      </p:pic>
      <p:sp>
        <p:nvSpPr>
          <p:cNvPr id="15" name="Text 11"/>
          <p:cNvSpPr txBox="1"/>
          <p:nvPr/>
        </p:nvSpPr>
        <p:spPr>
          <a:xfrm>
            <a:off x="5007842" y="1984921"/>
            <a:ext cx="478322"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Jobs</a:t>
            </a:r>
            <a:endParaRPr lang="en-US" sz="1500" dirty="0"/>
          </a:p>
        </p:txBody>
      </p:sp>
      <p:sp>
        <p:nvSpPr>
          <p:cNvPr id="16" name="Text 12"/>
          <p:cNvSpPr txBox="1"/>
          <p:nvPr/>
        </p:nvSpPr>
        <p:spPr>
          <a:xfrm>
            <a:off x="4588752" y="2327812"/>
            <a:ext cx="3425565" cy="426630"/>
          </a:xfrm>
          <a:prstGeom prst="rect">
            <a:avLst/>
          </a:prstGeom>
          <a:noFill/>
          <a:ln/>
        </p:spPr>
        <p:txBody>
          <a:bodyPr wrap="square" lIns="0" tIns="0" rIns="0" bIns="0" rtlCol="0" anchor="t"/>
          <a:lstStyle/>
          <a:p>
            <a:pPr algn="l" indent="0" marL="0">
              <a:lnSpc>
                <a:spcPct val="116667"/>
              </a:lnSpc>
              <a:buNone/>
            </a:pPr>
            <a:r>
              <a:rPr lang="en-US" sz="1200" dirty="0">
                <a:solidFill>
                  <a:srgbClr val="0B7F74"/>
                </a:solidFill>
                <a:latin typeface="Courier New" pitchFamily="34" charset="0"/>
                <a:ea typeface="Courier New" pitchFamily="34" charset="-122"/>
                <a:cs typeface="Courier New" pitchFamily="34" charset="-120"/>
              </a:rPr>
              <a:t>booking 8084 · dispatch 8087</a:t>
            </a:r>
            <a:endParaRPr lang="en-US" sz="1200" dirty="0"/>
          </a:p>
          <a:p>
            <a:pPr algn="l" indent="0" marL="0">
              <a:lnSpc>
                <a:spcPct val="116667"/>
              </a:lnSpc>
              <a:buNone/>
            </a:pPr>
            <a:r>
              <a:rPr lang="en-US" sz="1200" dirty="0">
                <a:solidFill>
                  <a:srgbClr val="0B7F74"/>
                </a:solidFill>
                <a:latin typeface="Courier New" pitchFamily="34" charset="0"/>
                <a:ea typeface="Courier New" pitchFamily="34" charset="-122"/>
                <a:cs typeface="Courier New" pitchFamily="34" charset="-120"/>
              </a:rPr>
              <a:t>location 8092 · chat 8093</a:t>
            </a:r>
            <a:endParaRPr lang="en-US" sz="1200" dirty="0"/>
          </a:p>
        </p:txBody>
      </p:sp>
      <p:sp>
        <p:nvSpPr>
          <p:cNvPr id="17" name="Text 13"/>
          <p:cNvSpPr txBox="1"/>
          <p:nvPr/>
        </p:nvSpPr>
        <p:spPr>
          <a:xfrm>
            <a:off x="4588752" y="2817940"/>
            <a:ext cx="3425565"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Booking state machine, matching and offers, live position, chat</a:t>
            </a:r>
            <a:endParaRPr lang="en-US" sz="1200" dirty="0"/>
          </a:p>
        </p:txBody>
      </p:sp>
      <p:sp>
        <p:nvSpPr>
          <p:cNvPr id="18" name="Shape 14"/>
          <p:cNvSpPr/>
          <p:nvPr/>
        </p:nvSpPr>
        <p:spPr>
          <a:xfrm>
            <a:off x="7958435" y="1775376"/>
            <a:ext cx="3420481" cy="1627941"/>
          </a:xfrm>
          <a:prstGeom prst="roundRect">
            <a:avLst>
              <a:gd name="adj" fmla="val 6241"/>
            </a:avLst>
          </a:prstGeom>
          <a:solidFill>
            <a:srgbClr val="FCFDFF"/>
          </a:solidFill>
          <a:ln w="6350">
            <a:solidFill>
              <a:srgbClr val="D5DEEC"/>
            </a:solidFill>
            <a:prstDash val="solid"/>
          </a:ln>
        </p:spPr>
      </p:sp>
      <p:sp>
        <p:nvSpPr>
          <p:cNvPr id="19" name="Shape 15"/>
          <p:cNvSpPr/>
          <p:nvPr/>
        </p:nvSpPr>
        <p:spPr>
          <a:xfrm>
            <a:off x="7958435" y="1775376"/>
            <a:ext cx="50799" cy="1627941"/>
          </a:xfrm>
          <a:prstGeom prst="roundRect">
            <a:avLst>
              <a:gd name="adj" fmla="val 50000"/>
            </a:avLst>
          </a:prstGeom>
          <a:solidFill>
            <a:srgbClr val="6A3FC0"/>
          </a:solidFill>
          <a:ln/>
        </p:spPr>
      </p:sp>
      <p:sp>
        <p:nvSpPr>
          <p:cNvPr id="20" name="Shape 16"/>
          <p:cNvSpPr/>
          <p:nvPr/>
        </p:nvSpPr>
        <p:spPr>
          <a:xfrm>
            <a:off x="8161630" y="1934122"/>
            <a:ext cx="330192" cy="330192"/>
          </a:xfrm>
          <a:prstGeom prst="ellipse">
            <a:avLst/>
          </a:prstGeom>
          <a:solidFill>
            <a:srgbClr val="ECE5FA"/>
          </a:solidFill>
          <a:ln/>
        </p:spPr>
      </p:sp>
      <p:pic>
        <p:nvPicPr>
          <p:cNvPr id="21" name="Image 2" descr="preencoded.png">    </p:cNvPr>
          <p:cNvPicPr>
            <a:picLocks noChangeAspect="1"/>
          </p:cNvPicPr>
          <p:nvPr/>
        </p:nvPicPr>
        <p:blipFill>
          <a:blip r:embed="rId3"/>
          <a:stretch>
            <a:fillRect/>
          </a:stretch>
        </p:blipFill>
        <p:spPr>
          <a:xfrm>
            <a:off x="8237828" y="2010320"/>
            <a:ext cx="177796" cy="177796"/>
          </a:xfrm>
          <a:prstGeom prst="rect">
            <a:avLst/>
          </a:prstGeom>
        </p:spPr>
      </p:pic>
      <p:sp>
        <p:nvSpPr>
          <p:cNvPr id="22" name="Text 17"/>
          <p:cNvSpPr txBox="1"/>
          <p:nvPr/>
        </p:nvSpPr>
        <p:spPr>
          <a:xfrm>
            <a:off x="8580719" y="1984921"/>
            <a:ext cx="1736174"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Catalog and price</a:t>
            </a:r>
            <a:endParaRPr lang="en-US" sz="1500" dirty="0"/>
          </a:p>
        </p:txBody>
      </p:sp>
      <p:sp>
        <p:nvSpPr>
          <p:cNvPr id="23" name="Text 18"/>
          <p:cNvSpPr txBox="1"/>
          <p:nvPr/>
        </p:nvSpPr>
        <p:spPr>
          <a:xfrm>
            <a:off x="8161630" y="2327812"/>
            <a:ext cx="3425565" cy="426630"/>
          </a:xfrm>
          <a:prstGeom prst="rect">
            <a:avLst/>
          </a:prstGeom>
          <a:noFill/>
          <a:ln/>
        </p:spPr>
        <p:txBody>
          <a:bodyPr wrap="square" lIns="0" tIns="0" rIns="0" bIns="0" rtlCol="0" anchor="t"/>
          <a:lstStyle/>
          <a:p>
            <a:pPr algn="l" indent="0" marL="0">
              <a:lnSpc>
                <a:spcPct val="116667"/>
              </a:lnSpc>
              <a:buNone/>
            </a:pPr>
            <a:r>
              <a:rPr lang="en-US" sz="1200" dirty="0">
                <a:solidFill>
                  <a:srgbClr val="6A3FC0"/>
                </a:solidFill>
                <a:latin typeface="Courier New" pitchFamily="34" charset="0"/>
                <a:ea typeface="Courier New" pitchFamily="34" charset="-122"/>
                <a:cs typeface="Courier New" pitchFamily="34" charset="-120"/>
              </a:rPr>
              <a:t>catalog 8085 · pricing 8086</a:t>
            </a:r>
            <a:endParaRPr lang="en-US" sz="1200" dirty="0"/>
          </a:p>
          <a:p>
            <a:pPr algn="l" indent="0" marL="0">
              <a:lnSpc>
                <a:spcPct val="116667"/>
              </a:lnSpc>
              <a:buNone/>
            </a:pPr>
            <a:r>
              <a:rPr lang="en-US" sz="1200" dirty="0">
                <a:solidFill>
                  <a:srgbClr val="6A3FC0"/>
                </a:solidFill>
                <a:latin typeface="Courier New" pitchFamily="34" charset="0"/>
                <a:ea typeface="Courier New" pitchFamily="34" charset="-122"/>
                <a:cs typeface="Courier New" pitchFamily="34" charset="-120"/>
              </a:rPr>
              <a:t>promotion 8098</a:t>
            </a:r>
            <a:endParaRPr lang="en-US" sz="1200" dirty="0"/>
          </a:p>
        </p:txBody>
      </p:sp>
      <p:sp>
        <p:nvSpPr>
          <p:cNvPr id="24" name="Text 19"/>
          <p:cNvSpPr txBox="1"/>
          <p:nvPr/>
        </p:nvSpPr>
        <p:spPr>
          <a:xfrm>
            <a:off x="8161630" y="2817940"/>
            <a:ext cx="3425565"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Categories, estimates with cached config, coupons</a:t>
            </a:r>
            <a:endParaRPr lang="en-US" sz="1200" dirty="0"/>
          </a:p>
        </p:txBody>
      </p:sp>
      <p:sp>
        <p:nvSpPr>
          <p:cNvPr id="25" name="Shape 20"/>
          <p:cNvSpPr/>
          <p:nvPr/>
        </p:nvSpPr>
        <p:spPr>
          <a:xfrm>
            <a:off x="812780" y="3555713"/>
            <a:ext cx="3420382" cy="2054571"/>
          </a:xfrm>
          <a:prstGeom prst="roundRect">
            <a:avLst>
              <a:gd name="adj" fmla="val 4945"/>
            </a:avLst>
          </a:prstGeom>
          <a:solidFill>
            <a:srgbClr val="FCFDFF"/>
          </a:solidFill>
          <a:ln w="6350">
            <a:solidFill>
              <a:srgbClr val="D5DEEC"/>
            </a:solidFill>
            <a:prstDash val="solid"/>
          </a:ln>
        </p:spPr>
      </p:sp>
      <p:sp>
        <p:nvSpPr>
          <p:cNvPr id="26" name="Shape 21"/>
          <p:cNvSpPr/>
          <p:nvPr/>
        </p:nvSpPr>
        <p:spPr>
          <a:xfrm>
            <a:off x="812780" y="3555713"/>
            <a:ext cx="50799" cy="2054571"/>
          </a:xfrm>
          <a:prstGeom prst="roundRect">
            <a:avLst>
              <a:gd name="adj" fmla="val 50000"/>
            </a:avLst>
          </a:prstGeom>
          <a:solidFill>
            <a:srgbClr val="B4530F"/>
          </a:solidFill>
          <a:ln/>
        </p:spPr>
      </p:sp>
      <p:sp>
        <p:nvSpPr>
          <p:cNvPr id="27" name="Shape 22"/>
          <p:cNvSpPr/>
          <p:nvPr/>
        </p:nvSpPr>
        <p:spPr>
          <a:xfrm>
            <a:off x="1015975" y="3714459"/>
            <a:ext cx="330192" cy="330192"/>
          </a:xfrm>
          <a:prstGeom prst="ellipse">
            <a:avLst/>
          </a:prstGeom>
          <a:solidFill>
            <a:srgbClr val="FCEBDD"/>
          </a:solidFill>
          <a:ln/>
        </p:spPr>
      </p:sp>
      <p:pic>
        <p:nvPicPr>
          <p:cNvPr id="28" name="Image 3" descr="preencoded.png">    </p:cNvPr>
          <p:cNvPicPr>
            <a:picLocks noChangeAspect="1"/>
          </p:cNvPicPr>
          <p:nvPr/>
        </p:nvPicPr>
        <p:blipFill>
          <a:blip r:embed="rId4"/>
          <a:stretch>
            <a:fillRect/>
          </a:stretch>
        </p:blipFill>
        <p:spPr>
          <a:xfrm>
            <a:off x="1092173" y="3790657"/>
            <a:ext cx="177796" cy="177796"/>
          </a:xfrm>
          <a:prstGeom prst="rect">
            <a:avLst/>
          </a:prstGeom>
        </p:spPr>
      </p:pic>
      <p:sp>
        <p:nvSpPr>
          <p:cNvPr id="29" name="Text 23"/>
          <p:cNvSpPr txBox="1"/>
          <p:nvPr/>
        </p:nvSpPr>
        <p:spPr>
          <a:xfrm>
            <a:off x="1435064" y="3765257"/>
            <a:ext cx="649569"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Money</a:t>
            </a:r>
            <a:endParaRPr lang="en-US" sz="1500" dirty="0"/>
          </a:p>
        </p:txBody>
      </p:sp>
      <p:sp>
        <p:nvSpPr>
          <p:cNvPr id="30" name="Text 24"/>
          <p:cNvSpPr txBox="1"/>
          <p:nvPr/>
        </p:nvSpPr>
        <p:spPr>
          <a:xfrm>
            <a:off x="1015975" y="4108149"/>
            <a:ext cx="3425454" cy="213355"/>
          </a:xfrm>
          <a:prstGeom prst="rect">
            <a:avLst/>
          </a:prstGeom>
          <a:noFill/>
          <a:ln/>
        </p:spPr>
        <p:txBody>
          <a:bodyPr wrap="square" lIns="0" tIns="0" rIns="0" bIns="0" rtlCol="0" anchor="t"/>
          <a:lstStyle/>
          <a:p>
            <a:pPr algn="l" indent="0" marL="0">
              <a:lnSpc>
                <a:spcPct val="116667"/>
              </a:lnSpc>
              <a:buNone/>
            </a:pPr>
            <a:r>
              <a:rPr lang="en-US" sz="1200" dirty="0">
                <a:solidFill>
                  <a:srgbClr val="B4530F"/>
                </a:solidFill>
                <a:latin typeface="Courier New" pitchFamily="34" charset="0"/>
                <a:ea typeface="Courier New" pitchFamily="34" charset="-122"/>
                <a:cs typeface="Courier New" pitchFamily="34" charset="-120"/>
              </a:rPr>
              <a:t>payment 8088 · invoice 8089</a:t>
            </a:r>
            <a:endParaRPr lang="en-US" sz="1200" dirty="0"/>
          </a:p>
        </p:txBody>
      </p:sp>
      <p:sp>
        <p:nvSpPr>
          <p:cNvPr id="31" name="Text 25"/>
          <p:cNvSpPr txBox="1"/>
          <p:nvPr/>
        </p:nvSpPr>
        <p:spPr>
          <a:xfrm>
            <a:off x="1015975" y="4384962"/>
            <a:ext cx="3425454"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Razorpay charges, refunds, settlements, PDF invoices</a:t>
            </a:r>
            <a:endParaRPr lang="en-US" sz="1200" dirty="0"/>
          </a:p>
        </p:txBody>
      </p:sp>
      <p:sp>
        <p:nvSpPr>
          <p:cNvPr id="32" name="Shape 26"/>
          <p:cNvSpPr/>
          <p:nvPr/>
        </p:nvSpPr>
        <p:spPr>
          <a:xfrm>
            <a:off x="4385558" y="3555713"/>
            <a:ext cx="3420481" cy="2054571"/>
          </a:xfrm>
          <a:prstGeom prst="roundRect">
            <a:avLst>
              <a:gd name="adj" fmla="val 4945"/>
            </a:avLst>
          </a:prstGeom>
          <a:solidFill>
            <a:srgbClr val="FCFDFF"/>
          </a:solidFill>
          <a:ln w="6350">
            <a:solidFill>
              <a:srgbClr val="D5DEEC"/>
            </a:solidFill>
            <a:prstDash val="solid"/>
          </a:ln>
        </p:spPr>
      </p:sp>
      <p:sp>
        <p:nvSpPr>
          <p:cNvPr id="33" name="Shape 27"/>
          <p:cNvSpPr/>
          <p:nvPr/>
        </p:nvSpPr>
        <p:spPr>
          <a:xfrm>
            <a:off x="4385558" y="3555713"/>
            <a:ext cx="50799" cy="2054571"/>
          </a:xfrm>
          <a:prstGeom prst="roundRect">
            <a:avLst>
              <a:gd name="adj" fmla="val 50000"/>
            </a:avLst>
          </a:prstGeom>
          <a:solidFill>
            <a:srgbClr val="B8306E"/>
          </a:solidFill>
          <a:ln/>
        </p:spPr>
      </p:sp>
      <p:sp>
        <p:nvSpPr>
          <p:cNvPr id="34" name="Shape 28"/>
          <p:cNvSpPr/>
          <p:nvPr/>
        </p:nvSpPr>
        <p:spPr>
          <a:xfrm>
            <a:off x="4588752" y="3714459"/>
            <a:ext cx="330192" cy="330192"/>
          </a:xfrm>
          <a:prstGeom prst="ellipse">
            <a:avLst/>
          </a:prstGeom>
          <a:solidFill>
            <a:srgbClr val="FAE3ED"/>
          </a:solidFill>
          <a:ln/>
        </p:spPr>
      </p:sp>
      <p:pic>
        <p:nvPicPr>
          <p:cNvPr id="35" name="Image 4" descr="preencoded.png">    </p:cNvPr>
          <p:cNvPicPr>
            <a:picLocks noChangeAspect="1"/>
          </p:cNvPicPr>
          <p:nvPr/>
        </p:nvPicPr>
        <p:blipFill>
          <a:blip r:embed="rId5"/>
          <a:stretch>
            <a:fillRect/>
          </a:stretch>
        </p:blipFill>
        <p:spPr>
          <a:xfrm>
            <a:off x="4664951" y="3790657"/>
            <a:ext cx="177796" cy="177796"/>
          </a:xfrm>
          <a:prstGeom prst="rect">
            <a:avLst/>
          </a:prstGeom>
        </p:spPr>
      </p:pic>
      <p:sp>
        <p:nvSpPr>
          <p:cNvPr id="36" name="Text 29"/>
          <p:cNvSpPr txBox="1"/>
          <p:nvPr/>
        </p:nvSpPr>
        <p:spPr>
          <a:xfrm>
            <a:off x="5007842" y="3765257"/>
            <a:ext cx="2043315"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Engagement and ops</a:t>
            </a:r>
            <a:endParaRPr lang="en-US" sz="1500" dirty="0"/>
          </a:p>
        </p:txBody>
      </p:sp>
      <p:sp>
        <p:nvSpPr>
          <p:cNvPr id="37" name="Text 30"/>
          <p:cNvSpPr txBox="1"/>
          <p:nvPr/>
        </p:nvSpPr>
        <p:spPr>
          <a:xfrm>
            <a:off x="4588752" y="4108149"/>
            <a:ext cx="3425565" cy="853260"/>
          </a:xfrm>
          <a:prstGeom prst="rect">
            <a:avLst/>
          </a:prstGeom>
          <a:noFill/>
          <a:ln/>
        </p:spPr>
        <p:txBody>
          <a:bodyPr wrap="square" lIns="0" tIns="0" rIns="0" bIns="0" rtlCol="0" anchor="t"/>
          <a:lstStyle/>
          <a:p>
            <a:pPr algn="l" indent="0" marL="0">
              <a:lnSpc>
                <a:spcPct val="116667"/>
              </a:lnSpc>
              <a:buNone/>
            </a:pPr>
            <a:r>
              <a:rPr lang="en-US" sz="1200" dirty="0">
                <a:solidFill>
                  <a:srgbClr val="B8306E"/>
                </a:solidFill>
                <a:latin typeface="Courier New" pitchFamily="34" charset="0"/>
                <a:ea typeface="Courier New" pitchFamily="34" charset="-122"/>
                <a:cs typeface="Courier New" pitchFamily="34" charset="-120"/>
              </a:rPr>
              <a:t>notification 8090 · complaint 8091</a:t>
            </a:r>
            <a:endParaRPr lang="en-US" sz="1200" dirty="0"/>
          </a:p>
          <a:p>
            <a:pPr algn="l" indent="0" marL="0">
              <a:lnSpc>
                <a:spcPct val="116667"/>
              </a:lnSpc>
              <a:buNone/>
            </a:pPr>
            <a:r>
              <a:rPr lang="en-US" sz="1200" dirty="0">
                <a:solidFill>
                  <a:srgbClr val="B8306E"/>
                </a:solidFill>
                <a:latin typeface="Courier New" pitchFamily="34" charset="0"/>
                <a:ea typeface="Courier New" pitchFamily="34" charset="-122"/>
                <a:cs typeface="Courier New" pitchFamily="34" charset="-120"/>
              </a:rPr>
              <a:t>rating 8097 · admin 8095 · reporting 8096</a:t>
            </a:r>
            <a:endParaRPr lang="en-US" sz="1200" dirty="0"/>
          </a:p>
        </p:txBody>
      </p:sp>
      <p:sp>
        <p:nvSpPr>
          <p:cNvPr id="38" name="Text 31"/>
          <p:cNvSpPr txBox="1"/>
          <p:nvPr/>
        </p:nvSpPr>
        <p:spPr>
          <a:xfrm>
            <a:off x="4588752" y="5024907"/>
            <a:ext cx="3425565"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Notices, complaints with SLA sweep, reviews, audit log</a:t>
            </a:r>
            <a:endParaRPr lang="en-US" sz="1200" dirty="0"/>
          </a:p>
        </p:txBody>
      </p:sp>
      <p:sp>
        <p:nvSpPr>
          <p:cNvPr id="39" name="Shape 32"/>
          <p:cNvSpPr/>
          <p:nvPr/>
        </p:nvSpPr>
        <p:spPr>
          <a:xfrm>
            <a:off x="7958435" y="3555713"/>
            <a:ext cx="3420481" cy="2054571"/>
          </a:xfrm>
          <a:prstGeom prst="roundRect">
            <a:avLst>
              <a:gd name="adj" fmla="val 4945"/>
            </a:avLst>
          </a:prstGeom>
          <a:solidFill>
            <a:srgbClr val="FCFDFF"/>
          </a:solidFill>
          <a:ln w="6350">
            <a:solidFill>
              <a:srgbClr val="D5DEEC"/>
            </a:solidFill>
            <a:prstDash val="solid"/>
          </a:ln>
        </p:spPr>
      </p:sp>
      <p:sp>
        <p:nvSpPr>
          <p:cNvPr id="40" name="Shape 33"/>
          <p:cNvSpPr/>
          <p:nvPr/>
        </p:nvSpPr>
        <p:spPr>
          <a:xfrm>
            <a:off x="7958435" y="3555713"/>
            <a:ext cx="50799" cy="2054571"/>
          </a:xfrm>
          <a:prstGeom prst="roundRect">
            <a:avLst>
              <a:gd name="adj" fmla="val 50000"/>
            </a:avLst>
          </a:prstGeom>
          <a:solidFill>
            <a:srgbClr val="3F5F95"/>
          </a:solidFill>
          <a:ln/>
        </p:spPr>
      </p:sp>
      <p:sp>
        <p:nvSpPr>
          <p:cNvPr id="41" name="Shape 34"/>
          <p:cNvSpPr/>
          <p:nvPr/>
        </p:nvSpPr>
        <p:spPr>
          <a:xfrm>
            <a:off x="8161630" y="3714459"/>
            <a:ext cx="330192" cy="330192"/>
          </a:xfrm>
          <a:prstGeom prst="ellipse">
            <a:avLst/>
          </a:prstGeom>
          <a:solidFill>
            <a:srgbClr val="E6EBF3"/>
          </a:solidFill>
          <a:ln/>
        </p:spPr>
      </p:sp>
      <p:pic>
        <p:nvPicPr>
          <p:cNvPr id="42" name="Image 5" descr="preencoded.png">    </p:cNvPr>
          <p:cNvPicPr>
            <a:picLocks noChangeAspect="1"/>
          </p:cNvPicPr>
          <p:nvPr/>
        </p:nvPicPr>
        <p:blipFill>
          <a:blip r:embed="rId6"/>
          <a:stretch>
            <a:fillRect/>
          </a:stretch>
        </p:blipFill>
        <p:spPr>
          <a:xfrm>
            <a:off x="8237828" y="3790657"/>
            <a:ext cx="177796" cy="177796"/>
          </a:xfrm>
          <a:prstGeom prst="rect">
            <a:avLst/>
          </a:prstGeom>
        </p:spPr>
      </p:pic>
      <p:sp>
        <p:nvSpPr>
          <p:cNvPr id="43" name="Text 35"/>
          <p:cNvSpPr txBox="1"/>
          <p:nvPr/>
        </p:nvSpPr>
        <p:spPr>
          <a:xfrm>
            <a:off x="8580719" y="3765257"/>
            <a:ext cx="860530"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Platform</a:t>
            </a:r>
            <a:endParaRPr lang="en-US" sz="1500" dirty="0"/>
          </a:p>
        </p:txBody>
      </p:sp>
      <p:sp>
        <p:nvSpPr>
          <p:cNvPr id="44" name="Text 36"/>
          <p:cNvSpPr txBox="1"/>
          <p:nvPr/>
        </p:nvSpPr>
        <p:spPr>
          <a:xfrm>
            <a:off x="8161630" y="4108149"/>
            <a:ext cx="3425565" cy="426630"/>
          </a:xfrm>
          <a:prstGeom prst="rect">
            <a:avLst/>
          </a:prstGeom>
          <a:noFill/>
          <a:ln/>
        </p:spPr>
        <p:txBody>
          <a:bodyPr wrap="square" lIns="0" tIns="0" rIns="0" bIns="0" rtlCol="0" anchor="t"/>
          <a:lstStyle/>
          <a:p>
            <a:pPr algn="l" indent="0" marL="0">
              <a:lnSpc>
                <a:spcPct val="116667"/>
              </a:lnSpc>
              <a:buNone/>
            </a:pPr>
            <a:r>
              <a:rPr lang="en-US" sz="1200" dirty="0">
                <a:solidFill>
                  <a:srgbClr val="3F5F95"/>
                </a:solidFill>
                <a:latin typeface="Courier New" pitchFamily="34" charset="0"/>
                <a:ea typeface="Courier New" pitchFamily="34" charset="-122"/>
                <a:cs typeface="Courier New" pitchFamily="34" charset="-120"/>
              </a:rPr>
              <a:t>api-gateway 8080</a:t>
            </a:r>
            <a:endParaRPr lang="en-US" sz="1200" dirty="0"/>
          </a:p>
          <a:p>
            <a:pPr algn="l" indent="0" marL="0">
              <a:lnSpc>
                <a:spcPct val="116667"/>
              </a:lnSpc>
              <a:buNone/>
            </a:pPr>
            <a:r>
              <a:rPr lang="en-US" sz="1200" dirty="0">
                <a:solidFill>
                  <a:srgbClr val="3F5F95"/>
                </a:solidFill>
                <a:latin typeface="Courier New" pitchFamily="34" charset="0"/>
                <a:ea typeface="Courier New" pitchFamily="34" charset="-122"/>
                <a:cs typeface="Courier New" pitchFamily="34" charset="-120"/>
              </a:rPr>
              <a:t>outbox-processor 8099</a:t>
            </a:r>
            <a:endParaRPr lang="en-US" sz="1200" dirty="0"/>
          </a:p>
        </p:txBody>
      </p:sp>
      <p:sp>
        <p:nvSpPr>
          <p:cNvPr id="45" name="Text 37"/>
          <p:cNvSpPr txBox="1"/>
          <p:nvPr/>
        </p:nvSpPr>
        <p:spPr>
          <a:xfrm>
            <a:off x="8161630" y="4598277"/>
            <a:ext cx="3425565"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Routing, auth, rate limits, outbox relay, shared libraries</a:t>
            </a:r>
            <a:endParaRPr lang="en-US" sz="1200" dirty="0"/>
          </a:p>
        </p:txBody>
      </p:sp>
      <p:sp>
        <p:nvSpPr>
          <p:cNvPr id="46" name="Text 38"/>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Architecture</a:t>
            </a:r>
            <a:endParaRPr lang="en-US" sz="1200" dirty="0"/>
          </a:p>
        </p:txBody>
      </p:sp>
      <p:sp>
        <p:nvSpPr>
          <p:cNvPr id="47" name="Text 39"/>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ARCHITECTURE · IDENTITY AND ACCESS</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Every API call is checked three times</a:t>
            </a:r>
            <a:endParaRPr lang="en-US" sz="3000" dirty="0"/>
          </a:p>
        </p:txBody>
      </p:sp>
      <p:sp>
        <p:nvSpPr>
          <p:cNvPr id="4" name="Shape 2"/>
          <p:cNvSpPr/>
          <p:nvPr/>
        </p:nvSpPr>
        <p:spPr>
          <a:xfrm>
            <a:off x="812780" y="2539937"/>
            <a:ext cx="1650959" cy="1269968"/>
          </a:xfrm>
          <a:prstGeom prst="roundRect">
            <a:avLst>
              <a:gd name="adj" fmla="val 7000"/>
            </a:avLst>
          </a:prstGeom>
          <a:solidFill>
            <a:srgbClr val="FCFDFF"/>
          </a:solidFill>
          <a:ln w="12700">
            <a:solidFill>
              <a:srgbClr val="2454C5"/>
            </a:solidFill>
            <a:prstDash val="solid"/>
          </a:ln>
        </p:spPr>
      </p:sp>
      <p:sp>
        <p:nvSpPr>
          <p:cNvPr id="5" name="Shape 3"/>
          <p:cNvSpPr/>
          <p:nvPr/>
        </p:nvSpPr>
        <p:spPr>
          <a:xfrm>
            <a:off x="812780" y="2539937"/>
            <a:ext cx="50799" cy="1269968"/>
          </a:xfrm>
          <a:prstGeom prst="roundRect">
            <a:avLst>
              <a:gd name="adj" fmla="val 50000"/>
            </a:avLst>
          </a:prstGeom>
          <a:solidFill>
            <a:srgbClr val="2454C5"/>
          </a:solidFill>
          <a:ln/>
        </p:spPr>
      </p:sp>
      <p:pic>
        <p:nvPicPr>
          <p:cNvPr id="6" name="Image 0" descr="preencoded.png">    </p:cNvPr>
          <p:cNvPicPr>
            <a:picLocks noChangeAspect="1"/>
          </p:cNvPicPr>
          <p:nvPr/>
        </p:nvPicPr>
        <p:blipFill>
          <a:blip r:embed="rId1"/>
          <a:stretch>
            <a:fillRect/>
          </a:stretch>
        </p:blipFill>
        <p:spPr>
          <a:xfrm>
            <a:off x="977876" y="2645304"/>
            <a:ext cx="190495" cy="190495"/>
          </a:xfrm>
          <a:prstGeom prst="rect">
            <a:avLst/>
          </a:prstGeom>
        </p:spPr>
      </p:pic>
      <p:sp>
        <p:nvSpPr>
          <p:cNvPr id="7" name="Text 4"/>
          <p:cNvSpPr txBox="1"/>
          <p:nvPr/>
        </p:nvSpPr>
        <p:spPr>
          <a:xfrm>
            <a:off x="1231869" y="2641534"/>
            <a:ext cx="444290"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Apps</a:t>
            </a:r>
            <a:endParaRPr lang="en-US" sz="1300" dirty="0"/>
          </a:p>
        </p:txBody>
      </p:sp>
      <p:sp>
        <p:nvSpPr>
          <p:cNvPr id="8" name="Text 5"/>
          <p:cNvSpPr txBox="1"/>
          <p:nvPr/>
        </p:nvSpPr>
        <p:spPr>
          <a:xfrm>
            <a:off x="977876" y="2864969"/>
            <a:ext cx="1521930"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access JWT in memory</a:t>
            </a:r>
            <a:endParaRPr lang="en-US" sz="1200" dirty="0"/>
          </a:p>
        </p:txBody>
      </p:sp>
      <p:sp>
        <p:nvSpPr>
          <p:cNvPr id="9" name="Text 6"/>
          <p:cNvSpPr txBox="1"/>
          <p:nvPr/>
        </p:nvSpPr>
        <p:spPr>
          <a:xfrm>
            <a:off x="977876" y="3301719"/>
            <a:ext cx="1521930"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refresh in localStorage</a:t>
            </a:r>
            <a:endParaRPr lang="en-US" sz="1200" dirty="0"/>
          </a:p>
        </p:txBody>
      </p:sp>
      <p:sp>
        <p:nvSpPr>
          <p:cNvPr id="10" name="Shape 7"/>
          <p:cNvSpPr/>
          <p:nvPr/>
        </p:nvSpPr>
        <p:spPr>
          <a:xfrm>
            <a:off x="2971726" y="1841454"/>
            <a:ext cx="1904952" cy="761981"/>
          </a:xfrm>
          <a:prstGeom prst="roundRect">
            <a:avLst>
              <a:gd name="adj" fmla="val 11667"/>
            </a:avLst>
          </a:prstGeom>
          <a:solidFill>
            <a:srgbClr val="FCFDFF"/>
          </a:solidFill>
          <a:ln w="12700">
            <a:solidFill>
              <a:srgbClr val="3F5F95"/>
            </a:solidFill>
            <a:prstDash val="solid"/>
          </a:ln>
        </p:spPr>
      </p:sp>
      <p:sp>
        <p:nvSpPr>
          <p:cNvPr id="11" name="Shape 8"/>
          <p:cNvSpPr/>
          <p:nvPr/>
        </p:nvSpPr>
        <p:spPr>
          <a:xfrm>
            <a:off x="2971726" y="1841454"/>
            <a:ext cx="50799" cy="761981"/>
          </a:xfrm>
          <a:prstGeom prst="roundRect">
            <a:avLst>
              <a:gd name="adj" fmla="val 50000"/>
            </a:avLst>
          </a:prstGeom>
          <a:solidFill>
            <a:srgbClr val="3F5F95"/>
          </a:solidFill>
          <a:ln/>
        </p:spPr>
      </p:sp>
      <p:sp>
        <p:nvSpPr>
          <p:cNvPr id="12" name="Text 9"/>
          <p:cNvSpPr txBox="1"/>
          <p:nvPr/>
        </p:nvSpPr>
        <p:spPr>
          <a:xfrm>
            <a:off x="3136822" y="1943051"/>
            <a:ext cx="180640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nginx proxy</a:t>
            </a:r>
            <a:endParaRPr lang="en-US" sz="1300" dirty="0"/>
          </a:p>
        </p:txBody>
      </p:sp>
      <p:sp>
        <p:nvSpPr>
          <p:cNvPr id="13" name="Text 10"/>
          <p:cNvSpPr txBox="1"/>
          <p:nvPr/>
        </p:nvSpPr>
        <p:spPr>
          <a:xfrm>
            <a:off x="3136822" y="2166486"/>
            <a:ext cx="180640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/api/auth/*</a:t>
            </a:r>
            <a:endParaRPr lang="en-US" sz="1200" dirty="0"/>
          </a:p>
        </p:txBody>
      </p:sp>
      <p:sp>
        <p:nvSpPr>
          <p:cNvPr id="14" name="Shape 11"/>
          <p:cNvSpPr/>
          <p:nvPr/>
        </p:nvSpPr>
        <p:spPr>
          <a:xfrm>
            <a:off x="2971726" y="4063898"/>
            <a:ext cx="1904952" cy="888978"/>
          </a:xfrm>
          <a:prstGeom prst="roundRect">
            <a:avLst>
              <a:gd name="adj" fmla="val 10000"/>
            </a:avLst>
          </a:prstGeom>
          <a:solidFill>
            <a:srgbClr val="FCFDFF"/>
          </a:solidFill>
          <a:ln w="12700">
            <a:solidFill>
              <a:srgbClr val="3F5F95"/>
            </a:solidFill>
            <a:prstDash val="solid"/>
          </a:ln>
        </p:spPr>
      </p:sp>
      <p:sp>
        <p:nvSpPr>
          <p:cNvPr id="15" name="Shape 12"/>
          <p:cNvSpPr/>
          <p:nvPr/>
        </p:nvSpPr>
        <p:spPr>
          <a:xfrm>
            <a:off x="2971726" y="4063898"/>
            <a:ext cx="50799" cy="888978"/>
          </a:xfrm>
          <a:prstGeom prst="roundRect">
            <a:avLst>
              <a:gd name="adj" fmla="val 50000"/>
            </a:avLst>
          </a:prstGeom>
          <a:solidFill>
            <a:srgbClr val="3F5F95"/>
          </a:solidFill>
          <a:ln/>
        </p:spPr>
      </p:sp>
      <p:sp>
        <p:nvSpPr>
          <p:cNvPr id="16" name="Text 13"/>
          <p:cNvSpPr txBox="1"/>
          <p:nvPr/>
        </p:nvSpPr>
        <p:spPr>
          <a:xfrm>
            <a:off x="3136822" y="4165496"/>
            <a:ext cx="180640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API gateway</a:t>
            </a:r>
            <a:endParaRPr lang="en-US" sz="1300" dirty="0"/>
          </a:p>
        </p:txBody>
      </p:sp>
      <p:sp>
        <p:nvSpPr>
          <p:cNvPr id="17" name="Text 14"/>
          <p:cNvSpPr txBox="1"/>
          <p:nvPr/>
        </p:nvSpPr>
        <p:spPr>
          <a:xfrm>
            <a:off x="3136822" y="4388931"/>
            <a:ext cx="180640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introspect, rate limit</a:t>
            </a:r>
            <a:endParaRPr lang="en-US" sz="1200" dirty="0"/>
          </a:p>
        </p:txBody>
      </p:sp>
      <p:sp>
        <p:nvSpPr>
          <p:cNvPr id="18" name="Shape 15"/>
          <p:cNvSpPr/>
          <p:nvPr/>
        </p:nvSpPr>
        <p:spPr>
          <a:xfrm>
            <a:off x="5384665" y="1841454"/>
            <a:ext cx="2158946" cy="1650959"/>
          </a:xfrm>
          <a:prstGeom prst="roundRect">
            <a:avLst>
              <a:gd name="adj" fmla="val 5385"/>
            </a:avLst>
          </a:prstGeom>
          <a:solidFill>
            <a:srgbClr val="FCFDFF"/>
          </a:solidFill>
          <a:ln w="12700">
            <a:solidFill>
              <a:srgbClr val="2454C5"/>
            </a:solidFill>
            <a:prstDash val="solid"/>
          </a:ln>
        </p:spPr>
      </p:sp>
      <p:sp>
        <p:nvSpPr>
          <p:cNvPr id="19" name="Shape 16"/>
          <p:cNvSpPr/>
          <p:nvPr/>
        </p:nvSpPr>
        <p:spPr>
          <a:xfrm>
            <a:off x="5384665" y="1841454"/>
            <a:ext cx="50799" cy="1650959"/>
          </a:xfrm>
          <a:prstGeom prst="roundRect">
            <a:avLst>
              <a:gd name="adj" fmla="val 50000"/>
            </a:avLst>
          </a:prstGeom>
          <a:solidFill>
            <a:srgbClr val="2454C5"/>
          </a:solidFill>
          <a:ln/>
        </p:spPr>
      </p:sp>
      <p:pic>
        <p:nvPicPr>
          <p:cNvPr id="20" name="Image 1" descr="preencoded.png">    </p:cNvPr>
          <p:cNvPicPr>
            <a:picLocks noChangeAspect="1"/>
          </p:cNvPicPr>
          <p:nvPr/>
        </p:nvPicPr>
        <p:blipFill>
          <a:blip r:embed="rId2"/>
          <a:stretch>
            <a:fillRect/>
          </a:stretch>
        </p:blipFill>
        <p:spPr>
          <a:xfrm>
            <a:off x="5549761" y="1946822"/>
            <a:ext cx="190495" cy="190495"/>
          </a:xfrm>
          <a:prstGeom prst="rect">
            <a:avLst/>
          </a:prstGeom>
        </p:spPr>
      </p:pic>
      <p:sp>
        <p:nvSpPr>
          <p:cNvPr id="21" name="Text 17"/>
          <p:cNvSpPr txBox="1"/>
          <p:nvPr/>
        </p:nvSpPr>
        <p:spPr>
          <a:xfrm>
            <a:off x="5803755" y="1943051"/>
            <a:ext cx="1639831"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auth-service :8081</a:t>
            </a:r>
            <a:endParaRPr lang="en-US" sz="1300" dirty="0"/>
          </a:p>
        </p:txBody>
      </p:sp>
      <p:sp>
        <p:nvSpPr>
          <p:cNvPr id="22" name="Text 18"/>
          <p:cNvSpPr txBox="1"/>
          <p:nvPr/>
        </p:nvSpPr>
        <p:spPr>
          <a:xfrm>
            <a:off x="5549761" y="2166486"/>
            <a:ext cx="209087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OTP (SMS stub)</a:t>
            </a:r>
            <a:endParaRPr lang="en-US" sz="1200" dirty="0"/>
          </a:p>
        </p:txBody>
      </p:sp>
      <p:sp>
        <p:nvSpPr>
          <p:cNvPr id="23" name="Text 19"/>
          <p:cNvSpPr txBox="1"/>
          <p:nvPr/>
        </p:nvSpPr>
        <p:spPr>
          <a:xfrm>
            <a:off x="5549761" y="2397561"/>
            <a:ext cx="209087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password, bcrypt 12</a:t>
            </a:r>
            <a:endParaRPr lang="en-US" sz="1200" dirty="0"/>
          </a:p>
        </p:txBody>
      </p:sp>
      <p:sp>
        <p:nvSpPr>
          <p:cNvPr id="24" name="Text 20"/>
          <p:cNvSpPr txBox="1"/>
          <p:nvPr/>
        </p:nvSpPr>
        <p:spPr>
          <a:xfrm>
            <a:off x="5549761" y="2628636"/>
            <a:ext cx="209087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Google / Apple OIDC</a:t>
            </a:r>
            <a:endParaRPr lang="en-US" sz="1200" dirty="0"/>
          </a:p>
        </p:txBody>
      </p:sp>
      <p:sp>
        <p:nvSpPr>
          <p:cNvPr id="25" name="Text 21"/>
          <p:cNvSpPr txBox="1"/>
          <p:nvPr/>
        </p:nvSpPr>
        <p:spPr>
          <a:xfrm>
            <a:off x="5549761" y="2859711"/>
            <a:ext cx="209087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tokens, invitations</a:t>
            </a:r>
            <a:endParaRPr lang="en-US" sz="1200" dirty="0"/>
          </a:p>
        </p:txBody>
      </p:sp>
      <p:sp>
        <p:nvSpPr>
          <p:cNvPr id="26" name="Shape 22"/>
          <p:cNvSpPr/>
          <p:nvPr/>
        </p:nvSpPr>
        <p:spPr>
          <a:xfrm>
            <a:off x="5384665" y="4063898"/>
            <a:ext cx="2158946" cy="1269968"/>
          </a:xfrm>
          <a:prstGeom prst="roundRect">
            <a:avLst>
              <a:gd name="adj" fmla="val 7000"/>
            </a:avLst>
          </a:prstGeom>
          <a:solidFill>
            <a:srgbClr val="FCFDFF"/>
          </a:solidFill>
          <a:ln w="12700">
            <a:solidFill>
              <a:srgbClr val="0B7F74"/>
            </a:solidFill>
            <a:prstDash val="solid"/>
          </a:ln>
        </p:spPr>
      </p:sp>
      <p:sp>
        <p:nvSpPr>
          <p:cNvPr id="27" name="Shape 23"/>
          <p:cNvSpPr/>
          <p:nvPr/>
        </p:nvSpPr>
        <p:spPr>
          <a:xfrm>
            <a:off x="5384665" y="4063898"/>
            <a:ext cx="50799" cy="1269968"/>
          </a:xfrm>
          <a:prstGeom prst="roundRect">
            <a:avLst>
              <a:gd name="adj" fmla="val 50000"/>
            </a:avLst>
          </a:prstGeom>
          <a:solidFill>
            <a:srgbClr val="0B7F74"/>
          </a:solidFill>
          <a:ln/>
        </p:spPr>
      </p:sp>
      <p:pic>
        <p:nvPicPr>
          <p:cNvPr id="28" name="Image 2" descr="preencoded.png">    </p:cNvPr>
          <p:cNvPicPr>
            <a:picLocks noChangeAspect="1"/>
          </p:cNvPicPr>
          <p:nvPr/>
        </p:nvPicPr>
        <p:blipFill>
          <a:blip r:embed="rId3"/>
          <a:stretch>
            <a:fillRect/>
          </a:stretch>
        </p:blipFill>
        <p:spPr>
          <a:xfrm>
            <a:off x="5549761" y="4169266"/>
            <a:ext cx="190495" cy="190495"/>
          </a:xfrm>
          <a:prstGeom prst="rect">
            <a:avLst/>
          </a:prstGeom>
        </p:spPr>
      </p:pic>
      <p:sp>
        <p:nvSpPr>
          <p:cNvPr id="29" name="Text 24"/>
          <p:cNvSpPr txBox="1"/>
          <p:nvPr/>
        </p:nvSpPr>
        <p:spPr>
          <a:xfrm>
            <a:off x="5803755" y="4165496"/>
            <a:ext cx="1694392"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Any domain service</a:t>
            </a:r>
            <a:endParaRPr lang="en-US" sz="1300" dirty="0"/>
          </a:p>
        </p:txBody>
      </p:sp>
      <p:sp>
        <p:nvSpPr>
          <p:cNvPr id="30" name="Text 25"/>
          <p:cNvSpPr txBox="1"/>
          <p:nvPr/>
        </p:nvSpPr>
        <p:spPr>
          <a:xfrm>
            <a:off x="5549761" y="4388931"/>
            <a:ext cx="209087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1 · JWT filter (HMAC)</a:t>
            </a:r>
            <a:endParaRPr lang="en-US" sz="1200" dirty="0"/>
          </a:p>
        </p:txBody>
      </p:sp>
      <p:sp>
        <p:nvSpPr>
          <p:cNvPr id="31" name="Text 26"/>
          <p:cNvSpPr txBox="1"/>
          <p:nvPr/>
        </p:nvSpPr>
        <p:spPr>
          <a:xfrm>
            <a:off x="5549761" y="4620006"/>
            <a:ext cx="209087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2 · RBAC path rules</a:t>
            </a:r>
            <a:endParaRPr lang="en-US" sz="1200" dirty="0"/>
          </a:p>
        </p:txBody>
      </p:sp>
      <p:sp>
        <p:nvSpPr>
          <p:cNvPr id="32" name="Text 27"/>
          <p:cNvSpPr txBox="1"/>
          <p:nvPr/>
        </p:nvSpPr>
        <p:spPr>
          <a:xfrm>
            <a:off x="5549761" y="4851080"/>
            <a:ext cx="209087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3 · ownership check</a:t>
            </a:r>
            <a:endParaRPr lang="en-US" sz="1200" dirty="0"/>
          </a:p>
        </p:txBody>
      </p:sp>
      <p:sp>
        <p:nvSpPr>
          <p:cNvPr id="33" name="Shape 28"/>
          <p:cNvSpPr/>
          <p:nvPr/>
        </p:nvSpPr>
        <p:spPr>
          <a:xfrm>
            <a:off x="8051599" y="1841454"/>
            <a:ext cx="1523962" cy="825479"/>
          </a:xfrm>
          <a:prstGeom prst="roundRect">
            <a:avLst>
              <a:gd name="adj" fmla="val 10769"/>
            </a:avLst>
          </a:prstGeom>
          <a:solidFill>
            <a:srgbClr val="FCFDFF"/>
          </a:solidFill>
          <a:ln w="12700">
            <a:solidFill>
              <a:srgbClr val="C0352B"/>
            </a:solidFill>
            <a:prstDash val="solid"/>
          </a:ln>
        </p:spPr>
      </p:sp>
      <p:sp>
        <p:nvSpPr>
          <p:cNvPr id="34" name="Shape 29"/>
          <p:cNvSpPr/>
          <p:nvPr/>
        </p:nvSpPr>
        <p:spPr>
          <a:xfrm>
            <a:off x="8051599" y="1841454"/>
            <a:ext cx="50799" cy="825479"/>
          </a:xfrm>
          <a:prstGeom prst="roundRect">
            <a:avLst>
              <a:gd name="adj" fmla="val 50000"/>
            </a:avLst>
          </a:prstGeom>
          <a:solidFill>
            <a:srgbClr val="C0352B"/>
          </a:solidFill>
          <a:ln/>
        </p:spPr>
      </p:sp>
      <p:sp>
        <p:nvSpPr>
          <p:cNvPr id="35" name="Text 30"/>
          <p:cNvSpPr txBox="1"/>
          <p:nvPr/>
        </p:nvSpPr>
        <p:spPr>
          <a:xfrm>
            <a:off x="8216695" y="1943051"/>
            <a:ext cx="1379694"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Redis</a:t>
            </a:r>
            <a:endParaRPr lang="en-US" sz="1300" dirty="0"/>
          </a:p>
        </p:txBody>
      </p:sp>
      <p:sp>
        <p:nvSpPr>
          <p:cNvPr id="36" name="Text 31"/>
          <p:cNvSpPr txBox="1"/>
          <p:nvPr/>
        </p:nvSpPr>
        <p:spPr>
          <a:xfrm>
            <a:off x="8216695" y="2166486"/>
            <a:ext cx="1379694"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OTP, refresh, lockouts</a:t>
            </a:r>
            <a:endParaRPr lang="en-US" sz="1200" dirty="0"/>
          </a:p>
        </p:txBody>
      </p:sp>
      <p:sp>
        <p:nvSpPr>
          <p:cNvPr id="37" name="Shape 32"/>
          <p:cNvSpPr/>
          <p:nvPr/>
        </p:nvSpPr>
        <p:spPr>
          <a:xfrm>
            <a:off x="8051599" y="2857429"/>
            <a:ext cx="1523962" cy="825479"/>
          </a:xfrm>
          <a:prstGeom prst="roundRect">
            <a:avLst>
              <a:gd name="adj" fmla="val 10769"/>
            </a:avLst>
          </a:prstGeom>
          <a:solidFill>
            <a:srgbClr val="FCFDFF"/>
          </a:solidFill>
          <a:ln w="12700">
            <a:solidFill>
              <a:srgbClr val="2F5C9A"/>
            </a:solidFill>
            <a:prstDash val="solid"/>
          </a:ln>
        </p:spPr>
      </p:sp>
      <p:sp>
        <p:nvSpPr>
          <p:cNvPr id="38" name="Shape 33"/>
          <p:cNvSpPr/>
          <p:nvPr/>
        </p:nvSpPr>
        <p:spPr>
          <a:xfrm>
            <a:off x="8051599" y="2857429"/>
            <a:ext cx="50799" cy="825479"/>
          </a:xfrm>
          <a:prstGeom prst="roundRect">
            <a:avLst>
              <a:gd name="adj" fmla="val 50000"/>
            </a:avLst>
          </a:prstGeom>
          <a:solidFill>
            <a:srgbClr val="2F5C9A"/>
          </a:solidFill>
          <a:ln/>
        </p:spPr>
      </p:sp>
      <p:sp>
        <p:nvSpPr>
          <p:cNvPr id="39" name="Text 34"/>
          <p:cNvSpPr txBox="1"/>
          <p:nvPr/>
        </p:nvSpPr>
        <p:spPr>
          <a:xfrm>
            <a:off x="8216695" y="2959026"/>
            <a:ext cx="1379694"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Postgres · auth</a:t>
            </a:r>
            <a:endParaRPr lang="en-US" sz="1300" dirty="0"/>
          </a:p>
        </p:txBody>
      </p:sp>
      <p:sp>
        <p:nvSpPr>
          <p:cNvPr id="40" name="Text 35"/>
          <p:cNvSpPr txBox="1"/>
          <p:nvPr/>
        </p:nvSpPr>
        <p:spPr>
          <a:xfrm>
            <a:off x="8216695" y="3182461"/>
            <a:ext cx="1379694"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users, roles, invites</a:t>
            </a:r>
            <a:endParaRPr lang="en-US" sz="1200" dirty="0"/>
          </a:p>
        </p:txBody>
      </p:sp>
      <p:sp>
        <p:nvSpPr>
          <p:cNvPr id="41" name="Shape 36"/>
          <p:cNvSpPr/>
          <p:nvPr/>
        </p:nvSpPr>
        <p:spPr>
          <a:xfrm>
            <a:off x="8051599" y="4127397"/>
            <a:ext cx="1523962" cy="761981"/>
          </a:xfrm>
          <a:prstGeom prst="roundRect">
            <a:avLst>
              <a:gd name="adj" fmla="val 11667"/>
            </a:avLst>
          </a:prstGeom>
          <a:solidFill>
            <a:srgbClr val="FCFDFF"/>
          </a:solidFill>
          <a:ln w="12700">
            <a:solidFill>
              <a:srgbClr val="2F5C9A"/>
            </a:solidFill>
            <a:prstDash val="solid"/>
          </a:ln>
        </p:spPr>
      </p:sp>
      <p:sp>
        <p:nvSpPr>
          <p:cNvPr id="42" name="Shape 37"/>
          <p:cNvSpPr/>
          <p:nvPr/>
        </p:nvSpPr>
        <p:spPr>
          <a:xfrm>
            <a:off x="8051599" y="4127397"/>
            <a:ext cx="50799" cy="761981"/>
          </a:xfrm>
          <a:prstGeom prst="roundRect">
            <a:avLst>
              <a:gd name="adj" fmla="val 50000"/>
            </a:avLst>
          </a:prstGeom>
          <a:solidFill>
            <a:srgbClr val="2F5C9A"/>
          </a:solidFill>
          <a:ln/>
        </p:spPr>
      </p:sp>
      <p:sp>
        <p:nvSpPr>
          <p:cNvPr id="43" name="Text 38"/>
          <p:cNvSpPr txBox="1"/>
          <p:nvPr/>
        </p:nvSpPr>
        <p:spPr>
          <a:xfrm>
            <a:off x="8216695" y="4228994"/>
            <a:ext cx="1379694"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Own schema</a:t>
            </a:r>
            <a:endParaRPr lang="en-US" sz="1300" dirty="0"/>
          </a:p>
        </p:txBody>
      </p:sp>
      <p:sp>
        <p:nvSpPr>
          <p:cNvPr id="44" name="Text 39"/>
          <p:cNvSpPr txBox="1"/>
          <p:nvPr/>
        </p:nvSpPr>
        <p:spPr>
          <a:xfrm>
            <a:off x="8216695" y="4452429"/>
            <a:ext cx="1379694"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per service</a:t>
            </a:r>
            <a:endParaRPr lang="en-US" sz="1200" dirty="0"/>
          </a:p>
        </p:txBody>
      </p:sp>
      <p:sp>
        <p:nvSpPr>
          <p:cNvPr id="45" name="Shape 40"/>
          <p:cNvSpPr/>
          <p:nvPr/>
        </p:nvSpPr>
        <p:spPr>
          <a:xfrm>
            <a:off x="9854954" y="1841454"/>
            <a:ext cx="1523962" cy="3492413"/>
          </a:xfrm>
          <a:prstGeom prst="roundRect">
            <a:avLst>
              <a:gd name="adj" fmla="val 5833"/>
            </a:avLst>
          </a:prstGeom>
          <a:solidFill>
            <a:srgbClr val="E3EBFA"/>
          </a:solidFill>
          <a:ln/>
        </p:spPr>
      </p:sp>
      <p:sp>
        <p:nvSpPr>
          <p:cNvPr id="46" name="Shape 41"/>
          <p:cNvSpPr/>
          <p:nvPr/>
        </p:nvSpPr>
        <p:spPr>
          <a:xfrm>
            <a:off x="9969251" y="1955751"/>
            <a:ext cx="330192" cy="330192"/>
          </a:xfrm>
          <a:prstGeom prst="ellipse">
            <a:avLst/>
          </a:prstGeom>
          <a:solidFill>
            <a:srgbClr val="FCFDFF"/>
          </a:solidFill>
          <a:ln/>
        </p:spPr>
      </p:sp>
      <p:pic>
        <p:nvPicPr>
          <p:cNvPr id="47" name="Image 3" descr="preencoded.png">    </p:cNvPr>
          <p:cNvPicPr>
            <a:picLocks noChangeAspect="1"/>
          </p:cNvPicPr>
          <p:nvPr/>
        </p:nvPicPr>
        <p:blipFill>
          <a:blip r:embed="rId4"/>
          <a:stretch>
            <a:fillRect/>
          </a:stretch>
        </p:blipFill>
        <p:spPr>
          <a:xfrm>
            <a:off x="10045449" y="2031949"/>
            <a:ext cx="177796" cy="177796"/>
          </a:xfrm>
          <a:prstGeom prst="rect">
            <a:avLst/>
          </a:prstGeom>
        </p:spPr>
      </p:pic>
      <p:sp>
        <p:nvSpPr>
          <p:cNvPr id="48" name="Text 42"/>
          <p:cNvSpPr txBox="1"/>
          <p:nvPr/>
        </p:nvSpPr>
        <p:spPr>
          <a:xfrm>
            <a:off x="9969251" y="2374841"/>
            <a:ext cx="1450812"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Tokens</a:t>
            </a:r>
            <a:endParaRPr lang="en-US" sz="1300" dirty="0"/>
          </a:p>
        </p:txBody>
      </p:sp>
      <p:sp>
        <p:nvSpPr>
          <p:cNvPr id="49" name="Text 43"/>
          <p:cNvSpPr txBox="1"/>
          <p:nvPr/>
        </p:nvSpPr>
        <p:spPr>
          <a:xfrm>
            <a:off x="9969251" y="2694813"/>
            <a:ext cx="1450812" cy="411351"/>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Access JWT, 15 min, HMAC</a:t>
            </a:r>
            <a:endParaRPr lang="en-US" sz="1200" dirty="0"/>
          </a:p>
        </p:txBody>
      </p:sp>
      <p:sp>
        <p:nvSpPr>
          <p:cNvPr id="50" name="Text 44"/>
          <p:cNvSpPr txBox="1"/>
          <p:nvPr/>
        </p:nvSpPr>
        <p:spPr>
          <a:xfrm>
            <a:off x="9969251" y="3195062"/>
            <a:ext cx="1450812" cy="411351"/>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Refresh: opaque, 30 days, rotated</a:t>
            </a:r>
            <a:endParaRPr lang="en-US" sz="1200" dirty="0"/>
          </a:p>
        </p:txBody>
      </p:sp>
      <p:sp>
        <p:nvSpPr>
          <p:cNvPr id="51" name="Text 45"/>
          <p:cNvSpPr txBox="1"/>
          <p:nvPr/>
        </p:nvSpPr>
        <p:spPr>
          <a:xfrm>
            <a:off x="9969251" y="3695310"/>
            <a:ext cx="1450812" cy="411351"/>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Replay revokes the whole family</a:t>
            </a:r>
            <a:endParaRPr lang="en-US" sz="1200" dirty="0"/>
          </a:p>
        </p:txBody>
      </p:sp>
      <p:sp>
        <p:nvSpPr>
          <p:cNvPr id="52" name="Text 46"/>
          <p:cNvSpPr txBox="1"/>
          <p:nvPr/>
        </p:nvSpPr>
        <p:spPr>
          <a:xfrm>
            <a:off x="9969251" y="4195558"/>
            <a:ext cx="1450812" cy="411351"/>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Staff roles by invitation only</a:t>
            </a:r>
            <a:endParaRPr lang="en-US" sz="1200" dirty="0"/>
          </a:p>
        </p:txBody>
      </p:sp>
      <p:sp>
        <p:nvSpPr>
          <p:cNvPr id="53" name="Shape 47"/>
          <p:cNvSpPr/>
          <p:nvPr/>
        </p:nvSpPr>
        <p:spPr>
          <a:xfrm flipV="1">
            <a:off x="1638259" y="2222444"/>
            <a:ext cx="63" cy="317492"/>
          </a:xfrm>
          <a:prstGeom prst="line">
            <a:avLst/>
          </a:prstGeom>
          <a:noFill/>
          <a:ln w="19050">
            <a:solidFill>
              <a:srgbClr val="5C6B8A"/>
            </a:solidFill>
            <a:prstDash val="solid"/>
          </a:ln>
        </p:spPr>
      </p:sp>
      <p:sp>
        <p:nvSpPr>
          <p:cNvPr id="54" name="Shape 48"/>
          <p:cNvSpPr/>
          <p:nvPr/>
        </p:nvSpPr>
        <p:spPr>
          <a:xfrm>
            <a:off x="1638259" y="2222444"/>
            <a:ext cx="1333467" cy="63"/>
          </a:xfrm>
          <a:prstGeom prst="line">
            <a:avLst/>
          </a:prstGeom>
          <a:noFill/>
          <a:ln w="19050">
            <a:solidFill>
              <a:srgbClr val="5C6B8A"/>
            </a:solidFill>
            <a:prstDash val="solid"/>
            <a:tailEnd type="triangle"/>
          </a:ln>
        </p:spPr>
      </p:sp>
      <p:sp>
        <p:nvSpPr>
          <p:cNvPr id="55" name="Shape 49"/>
          <p:cNvSpPr/>
          <p:nvPr/>
        </p:nvSpPr>
        <p:spPr>
          <a:xfrm>
            <a:off x="1638259" y="3809905"/>
            <a:ext cx="63" cy="698483"/>
          </a:xfrm>
          <a:prstGeom prst="line">
            <a:avLst/>
          </a:prstGeom>
          <a:noFill/>
          <a:ln w="19050">
            <a:solidFill>
              <a:srgbClr val="5C6B8A"/>
            </a:solidFill>
            <a:prstDash val="solid"/>
          </a:ln>
        </p:spPr>
      </p:sp>
      <p:sp>
        <p:nvSpPr>
          <p:cNvPr id="56" name="Shape 50"/>
          <p:cNvSpPr/>
          <p:nvPr/>
        </p:nvSpPr>
        <p:spPr>
          <a:xfrm>
            <a:off x="1638259" y="4508387"/>
            <a:ext cx="1333467" cy="63"/>
          </a:xfrm>
          <a:prstGeom prst="line">
            <a:avLst/>
          </a:prstGeom>
          <a:noFill/>
          <a:ln w="19050">
            <a:solidFill>
              <a:srgbClr val="5C6B8A"/>
            </a:solidFill>
            <a:prstDash val="solid"/>
            <a:tailEnd type="triangle"/>
          </a:ln>
        </p:spPr>
      </p:sp>
      <p:sp>
        <p:nvSpPr>
          <p:cNvPr id="57" name="Shape 51"/>
          <p:cNvSpPr/>
          <p:nvPr/>
        </p:nvSpPr>
        <p:spPr>
          <a:xfrm>
            <a:off x="4876678" y="2222444"/>
            <a:ext cx="507987" cy="63"/>
          </a:xfrm>
          <a:prstGeom prst="line">
            <a:avLst/>
          </a:prstGeom>
          <a:noFill/>
          <a:ln w="19050">
            <a:solidFill>
              <a:srgbClr val="5C6B8A"/>
            </a:solidFill>
            <a:prstDash val="solid"/>
            <a:tailEnd type="triangle"/>
          </a:ln>
        </p:spPr>
      </p:sp>
      <p:sp>
        <p:nvSpPr>
          <p:cNvPr id="58" name="Shape 52"/>
          <p:cNvSpPr/>
          <p:nvPr/>
        </p:nvSpPr>
        <p:spPr>
          <a:xfrm>
            <a:off x="4876678" y="4508387"/>
            <a:ext cx="507987" cy="63"/>
          </a:xfrm>
          <a:prstGeom prst="line">
            <a:avLst/>
          </a:prstGeom>
          <a:noFill/>
          <a:ln w="19050">
            <a:solidFill>
              <a:srgbClr val="5C6B8A"/>
            </a:solidFill>
            <a:prstDash val="solid"/>
            <a:tailEnd type="triangle"/>
          </a:ln>
        </p:spPr>
      </p:sp>
      <p:sp>
        <p:nvSpPr>
          <p:cNvPr id="59" name="Shape 53"/>
          <p:cNvSpPr/>
          <p:nvPr/>
        </p:nvSpPr>
        <p:spPr>
          <a:xfrm flipV="1">
            <a:off x="3924202" y="3746406"/>
            <a:ext cx="63" cy="317492"/>
          </a:xfrm>
          <a:prstGeom prst="line">
            <a:avLst/>
          </a:prstGeom>
          <a:noFill/>
          <a:ln w="19050">
            <a:solidFill>
              <a:srgbClr val="2454C5"/>
            </a:solidFill>
            <a:prstDash val="dash"/>
          </a:ln>
        </p:spPr>
      </p:sp>
      <p:sp>
        <p:nvSpPr>
          <p:cNvPr id="60" name="Shape 54"/>
          <p:cNvSpPr/>
          <p:nvPr/>
        </p:nvSpPr>
        <p:spPr>
          <a:xfrm>
            <a:off x="3924202" y="3746406"/>
            <a:ext cx="2539937" cy="63"/>
          </a:xfrm>
          <a:prstGeom prst="line">
            <a:avLst/>
          </a:prstGeom>
          <a:noFill/>
          <a:ln w="19050">
            <a:solidFill>
              <a:srgbClr val="2454C5"/>
            </a:solidFill>
            <a:prstDash val="dash"/>
          </a:ln>
        </p:spPr>
      </p:sp>
      <p:sp>
        <p:nvSpPr>
          <p:cNvPr id="61" name="Shape 55"/>
          <p:cNvSpPr/>
          <p:nvPr/>
        </p:nvSpPr>
        <p:spPr>
          <a:xfrm flipV="1">
            <a:off x="6464138" y="3492413"/>
            <a:ext cx="63" cy="253994"/>
          </a:xfrm>
          <a:prstGeom prst="line">
            <a:avLst/>
          </a:prstGeom>
          <a:noFill/>
          <a:ln w="19050">
            <a:solidFill>
              <a:srgbClr val="2454C5"/>
            </a:solidFill>
            <a:prstDash val="dash"/>
            <a:tailEnd type="triangle"/>
          </a:ln>
        </p:spPr>
      </p:sp>
      <p:sp>
        <p:nvSpPr>
          <p:cNvPr id="62" name="Text 56"/>
          <p:cNvSpPr txBox="1"/>
          <p:nvPr/>
        </p:nvSpPr>
        <p:spPr>
          <a:xfrm>
            <a:off x="4000400" y="3797205"/>
            <a:ext cx="2133547" cy="213355"/>
          </a:xfrm>
          <a:prstGeom prst="rect">
            <a:avLst/>
          </a:prstGeom>
          <a:noFill/>
          <a:ln/>
        </p:spPr>
        <p:txBody>
          <a:bodyPr wrap="square" lIns="0" tIns="0" rIns="0" bIns="0" rtlCol="0" anchor="t"/>
          <a:lstStyle/>
          <a:p>
            <a:pPr algn="l" indent="0" marL="0">
              <a:lnSpc>
                <a:spcPct val="116667"/>
              </a:lnSpc>
              <a:buNone/>
            </a:pPr>
            <a:r>
              <a:rPr lang="en-US" sz="1200" dirty="0">
                <a:solidFill>
                  <a:srgbClr val="2454C5"/>
                </a:solidFill>
                <a:latin typeface="Calibri" pitchFamily="34" charset="0"/>
                <a:ea typeface="Calibri" pitchFamily="34" charset="-122"/>
                <a:cs typeface="Calibri" pitchFamily="34" charset="-120"/>
              </a:rPr>
              <a:t>introspect, cached 30 s</a:t>
            </a:r>
            <a:endParaRPr lang="en-US" sz="1200" dirty="0"/>
          </a:p>
        </p:txBody>
      </p:sp>
      <p:sp>
        <p:nvSpPr>
          <p:cNvPr id="63" name="Shape 57"/>
          <p:cNvSpPr/>
          <p:nvPr/>
        </p:nvSpPr>
        <p:spPr>
          <a:xfrm>
            <a:off x="7543611" y="2222444"/>
            <a:ext cx="507987" cy="63"/>
          </a:xfrm>
          <a:prstGeom prst="line">
            <a:avLst/>
          </a:prstGeom>
          <a:noFill/>
          <a:ln w="19050">
            <a:solidFill>
              <a:srgbClr val="5C6B8A"/>
            </a:solidFill>
            <a:prstDash val="solid"/>
            <a:headEnd type="triangle"/>
            <a:tailEnd type="triangle"/>
          </a:ln>
        </p:spPr>
      </p:sp>
      <p:sp>
        <p:nvSpPr>
          <p:cNvPr id="64" name="Shape 58"/>
          <p:cNvSpPr/>
          <p:nvPr/>
        </p:nvSpPr>
        <p:spPr>
          <a:xfrm>
            <a:off x="7543611" y="3111422"/>
            <a:ext cx="507987" cy="63"/>
          </a:xfrm>
          <a:prstGeom prst="line">
            <a:avLst/>
          </a:prstGeom>
          <a:noFill/>
          <a:ln w="19050">
            <a:solidFill>
              <a:srgbClr val="5C6B8A"/>
            </a:solidFill>
            <a:prstDash val="solid"/>
            <a:headEnd type="triangle"/>
            <a:tailEnd type="triangle"/>
          </a:ln>
        </p:spPr>
      </p:sp>
      <p:sp>
        <p:nvSpPr>
          <p:cNvPr id="65" name="Shape 59"/>
          <p:cNvSpPr/>
          <p:nvPr/>
        </p:nvSpPr>
        <p:spPr>
          <a:xfrm>
            <a:off x="7543611" y="4508387"/>
            <a:ext cx="507987" cy="63"/>
          </a:xfrm>
          <a:prstGeom prst="line">
            <a:avLst/>
          </a:prstGeom>
          <a:noFill/>
          <a:ln w="19050">
            <a:solidFill>
              <a:srgbClr val="5C6B8A"/>
            </a:solidFill>
            <a:prstDash val="solid"/>
            <a:headEnd type="triangle"/>
            <a:tailEnd type="triangle"/>
          </a:ln>
        </p:spPr>
      </p:sp>
      <p:sp>
        <p:nvSpPr>
          <p:cNvPr id="66" name="Text 60"/>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Architecture</a:t>
            </a:r>
            <a:endParaRPr lang="en-US" sz="1200" dirty="0"/>
          </a:p>
        </p:txBody>
      </p:sp>
      <p:sp>
        <p:nvSpPr>
          <p:cNvPr id="67" name="Text 61"/>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ARCHITECTURE · BOOKING AND DISPATCH</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Bookings flow out through Kafka; offers live in Redis</a:t>
            </a:r>
            <a:endParaRPr lang="en-US" sz="3000" dirty="0"/>
          </a:p>
        </p:txBody>
      </p:sp>
      <p:sp>
        <p:nvSpPr>
          <p:cNvPr id="4" name="Shape 2"/>
          <p:cNvSpPr/>
          <p:nvPr/>
        </p:nvSpPr>
        <p:spPr>
          <a:xfrm>
            <a:off x="812780" y="1904952"/>
            <a:ext cx="2184345" cy="888978"/>
          </a:xfrm>
          <a:prstGeom prst="roundRect">
            <a:avLst>
              <a:gd name="adj" fmla="val 10000"/>
            </a:avLst>
          </a:prstGeom>
          <a:solidFill>
            <a:srgbClr val="FCFDFF"/>
          </a:solidFill>
          <a:ln w="12700">
            <a:solidFill>
              <a:srgbClr val="2454C5"/>
            </a:solidFill>
            <a:prstDash val="solid"/>
          </a:ln>
        </p:spPr>
      </p:sp>
      <p:sp>
        <p:nvSpPr>
          <p:cNvPr id="5" name="Shape 3"/>
          <p:cNvSpPr/>
          <p:nvPr/>
        </p:nvSpPr>
        <p:spPr>
          <a:xfrm>
            <a:off x="812780" y="1904952"/>
            <a:ext cx="50799" cy="888978"/>
          </a:xfrm>
          <a:prstGeom prst="roundRect">
            <a:avLst>
              <a:gd name="adj" fmla="val 50000"/>
            </a:avLst>
          </a:prstGeom>
          <a:solidFill>
            <a:srgbClr val="2454C5"/>
          </a:solidFill>
          <a:ln/>
        </p:spPr>
      </p:sp>
      <p:pic>
        <p:nvPicPr>
          <p:cNvPr id="6" name="Image 0" descr="preencoded.png">    </p:cNvPr>
          <p:cNvPicPr>
            <a:picLocks noChangeAspect="1"/>
          </p:cNvPicPr>
          <p:nvPr/>
        </p:nvPicPr>
        <p:blipFill>
          <a:blip r:embed="rId1"/>
          <a:stretch>
            <a:fillRect/>
          </a:stretch>
        </p:blipFill>
        <p:spPr>
          <a:xfrm>
            <a:off x="977876" y="2010320"/>
            <a:ext cx="190495" cy="190495"/>
          </a:xfrm>
          <a:prstGeom prst="rect">
            <a:avLst/>
          </a:prstGeom>
        </p:spPr>
      </p:pic>
      <p:sp>
        <p:nvSpPr>
          <p:cNvPr id="7" name="Text 4"/>
          <p:cNvSpPr txBox="1"/>
          <p:nvPr/>
        </p:nvSpPr>
        <p:spPr>
          <a:xfrm>
            <a:off x="1231869" y="2006550"/>
            <a:ext cx="1193786"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Customer app</a:t>
            </a:r>
            <a:endParaRPr lang="en-US" sz="1300" dirty="0"/>
          </a:p>
        </p:txBody>
      </p:sp>
      <p:sp>
        <p:nvSpPr>
          <p:cNvPr id="8" name="Text 5"/>
          <p:cNvSpPr txBox="1"/>
          <p:nvPr/>
        </p:nvSpPr>
        <p:spPr>
          <a:xfrm>
            <a:off x="977876" y="222998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book and confirm</a:t>
            </a:r>
            <a:endParaRPr lang="en-US" sz="1200" dirty="0"/>
          </a:p>
        </p:txBody>
      </p:sp>
      <p:sp>
        <p:nvSpPr>
          <p:cNvPr id="9" name="Shape 6"/>
          <p:cNvSpPr/>
          <p:nvPr/>
        </p:nvSpPr>
        <p:spPr>
          <a:xfrm>
            <a:off x="3606710" y="1904952"/>
            <a:ext cx="2184345" cy="2539937"/>
          </a:xfrm>
          <a:prstGeom prst="roundRect">
            <a:avLst>
              <a:gd name="adj" fmla="val 4070"/>
            </a:avLst>
          </a:prstGeom>
          <a:solidFill>
            <a:srgbClr val="FCFDFF"/>
          </a:solidFill>
          <a:ln w="12700">
            <a:solidFill>
              <a:srgbClr val="3F5F95"/>
            </a:solidFill>
            <a:prstDash val="solid"/>
          </a:ln>
        </p:spPr>
      </p:sp>
      <p:sp>
        <p:nvSpPr>
          <p:cNvPr id="10" name="Shape 7"/>
          <p:cNvSpPr/>
          <p:nvPr/>
        </p:nvSpPr>
        <p:spPr>
          <a:xfrm>
            <a:off x="3606710" y="1904952"/>
            <a:ext cx="50799" cy="2539937"/>
          </a:xfrm>
          <a:prstGeom prst="roundRect">
            <a:avLst>
              <a:gd name="adj" fmla="val 50000"/>
            </a:avLst>
          </a:prstGeom>
          <a:solidFill>
            <a:srgbClr val="3F5F95"/>
          </a:solidFill>
          <a:ln/>
        </p:spPr>
      </p:sp>
      <p:pic>
        <p:nvPicPr>
          <p:cNvPr id="11" name="Image 1" descr="preencoded.png">    </p:cNvPr>
          <p:cNvPicPr>
            <a:picLocks noChangeAspect="1"/>
          </p:cNvPicPr>
          <p:nvPr/>
        </p:nvPicPr>
        <p:blipFill>
          <a:blip r:embed="rId2"/>
          <a:stretch>
            <a:fillRect/>
          </a:stretch>
        </p:blipFill>
        <p:spPr>
          <a:xfrm>
            <a:off x="3771806" y="2010320"/>
            <a:ext cx="190495" cy="190495"/>
          </a:xfrm>
          <a:prstGeom prst="rect">
            <a:avLst/>
          </a:prstGeom>
        </p:spPr>
      </p:pic>
      <p:sp>
        <p:nvSpPr>
          <p:cNvPr id="12" name="Text 8"/>
          <p:cNvSpPr txBox="1"/>
          <p:nvPr/>
        </p:nvSpPr>
        <p:spPr>
          <a:xfrm>
            <a:off x="4025799" y="2006550"/>
            <a:ext cx="1045882"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API gateway</a:t>
            </a:r>
            <a:endParaRPr lang="en-US" sz="1300" dirty="0"/>
          </a:p>
        </p:txBody>
      </p:sp>
      <p:sp>
        <p:nvSpPr>
          <p:cNvPr id="13" name="Text 9"/>
          <p:cNvSpPr txBox="1"/>
          <p:nvPr/>
        </p:nvSpPr>
        <p:spPr>
          <a:xfrm>
            <a:off x="3771806" y="222998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JWT check</a:t>
            </a:r>
            <a:endParaRPr lang="en-US" sz="1200" dirty="0"/>
          </a:p>
        </p:txBody>
      </p:sp>
      <p:sp>
        <p:nvSpPr>
          <p:cNvPr id="14" name="Text 10"/>
          <p:cNvSpPr txBox="1"/>
          <p:nvPr/>
        </p:nvSpPr>
        <p:spPr>
          <a:xfrm>
            <a:off x="3771806" y="2461060"/>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rate limits</a:t>
            </a:r>
            <a:endParaRPr lang="en-US" sz="1200" dirty="0"/>
          </a:p>
        </p:txBody>
      </p:sp>
      <p:sp>
        <p:nvSpPr>
          <p:cNvPr id="15" name="Text 11"/>
          <p:cNvSpPr txBox="1"/>
          <p:nvPr/>
        </p:nvSpPr>
        <p:spPr>
          <a:xfrm>
            <a:off x="3771806" y="2692134"/>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routes both apps</a:t>
            </a:r>
            <a:endParaRPr lang="en-US" sz="1200" dirty="0"/>
          </a:p>
        </p:txBody>
      </p:sp>
      <p:sp>
        <p:nvSpPr>
          <p:cNvPr id="16" name="Shape 12"/>
          <p:cNvSpPr/>
          <p:nvPr/>
        </p:nvSpPr>
        <p:spPr>
          <a:xfrm>
            <a:off x="6400640" y="1904952"/>
            <a:ext cx="2184345" cy="888978"/>
          </a:xfrm>
          <a:prstGeom prst="roundRect">
            <a:avLst>
              <a:gd name="adj" fmla="val 10000"/>
            </a:avLst>
          </a:prstGeom>
          <a:solidFill>
            <a:srgbClr val="FCFDFF"/>
          </a:solidFill>
          <a:ln w="12700">
            <a:solidFill>
              <a:srgbClr val="0B7F74"/>
            </a:solidFill>
            <a:prstDash val="solid"/>
          </a:ln>
        </p:spPr>
      </p:sp>
      <p:sp>
        <p:nvSpPr>
          <p:cNvPr id="17" name="Shape 13"/>
          <p:cNvSpPr/>
          <p:nvPr/>
        </p:nvSpPr>
        <p:spPr>
          <a:xfrm>
            <a:off x="6400640" y="1904952"/>
            <a:ext cx="50799" cy="888978"/>
          </a:xfrm>
          <a:prstGeom prst="roundRect">
            <a:avLst>
              <a:gd name="adj" fmla="val 50000"/>
            </a:avLst>
          </a:prstGeom>
          <a:solidFill>
            <a:srgbClr val="0B7F74"/>
          </a:solidFill>
          <a:ln/>
        </p:spPr>
      </p:sp>
      <p:pic>
        <p:nvPicPr>
          <p:cNvPr id="18" name="Image 2" descr="preencoded.png">    </p:cNvPr>
          <p:cNvPicPr>
            <a:picLocks noChangeAspect="1"/>
          </p:cNvPicPr>
          <p:nvPr/>
        </p:nvPicPr>
        <p:blipFill>
          <a:blip r:embed="rId3"/>
          <a:stretch>
            <a:fillRect/>
          </a:stretch>
        </p:blipFill>
        <p:spPr>
          <a:xfrm>
            <a:off x="6565736" y="2010320"/>
            <a:ext cx="190495" cy="190495"/>
          </a:xfrm>
          <a:prstGeom prst="rect">
            <a:avLst/>
          </a:prstGeom>
        </p:spPr>
      </p:pic>
      <p:sp>
        <p:nvSpPr>
          <p:cNvPr id="19" name="Text 14"/>
          <p:cNvSpPr txBox="1"/>
          <p:nvPr/>
        </p:nvSpPr>
        <p:spPr>
          <a:xfrm>
            <a:off x="6819730" y="2006550"/>
            <a:ext cx="1367470"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booking-service</a:t>
            </a:r>
            <a:endParaRPr lang="en-US" sz="1300" dirty="0"/>
          </a:p>
        </p:txBody>
      </p:sp>
      <p:sp>
        <p:nvSpPr>
          <p:cNvPr id="20" name="Text 15"/>
          <p:cNvSpPr txBox="1"/>
          <p:nvPr/>
        </p:nvSpPr>
        <p:spPr>
          <a:xfrm>
            <a:off x="6565736" y="222998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validates, prices, saves</a:t>
            </a:r>
            <a:endParaRPr lang="en-US" sz="1200" dirty="0"/>
          </a:p>
        </p:txBody>
      </p:sp>
      <p:sp>
        <p:nvSpPr>
          <p:cNvPr id="21" name="Shape 16"/>
          <p:cNvSpPr/>
          <p:nvPr/>
        </p:nvSpPr>
        <p:spPr>
          <a:xfrm>
            <a:off x="9194570" y="1904952"/>
            <a:ext cx="2184345" cy="888978"/>
          </a:xfrm>
          <a:prstGeom prst="roundRect">
            <a:avLst>
              <a:gd name="adj" fmla="val 10000"/>
            </a:avLst>
          </a:prstGeom>
          <a:solidFill>
            <a:srgbClr val="FCFDFF"/>
          </a:solidFill>
          <a:ln w="12700">
            <a:solidFill>
              <a:srgbClr val="4B4B9A"/>
            </a:solidFill>
            <a:prstDash val="solid"/>
          </a:ln>
        </p:spPr>
      </p:sp>
      <p:sp>
        <p:nvSpPr>
          <p:cNvPr id="22" name="Shape 17"/>
          <p:cNvSpPr/>
          <p:nvPr/>
        </p:nvSpPr>
        <p:spPr>
          <a:xfrm>
            <a:off x="9194570" y="1904952"/>
            <a:ext cx="50799" cy="888978"/>
          </a:xfrm>
          <a:prstGeom prst="roundRect">
            <a:avLst>
              <a:gd name="adj" fmla="val 50000"/>
            </a:avLst>
          </a:prstGeom>
          <a:solidFill>
            <a:srgbClr val="4B4B9A"/>
          </a:solidFill>
          <a:ln/>
        </p:spPr>
      </p:sp>
      <p:pic>
        <p:nvPicPr>
          <p:cNvPr id="23" name="Image 3" descr="preencoded.png">    </p:cNvPr>
          <p:cNvPicPr>
            <a:picLocks noChangeAspect="1"/>
          </p:cNvPicPr>
          <p:nvPr/>
        </p:nvPicPr>
        <p:blipFill>
          <a:blip r:embed="rId4"/>
          <a:stretch>
            <a:fillRect/>
          </a:stretch>
        </p:blipFill>
        <p:spPr>
          <a:xfrm>
            <a:off x="9359666" y="2010320"/>
            <a:ext cx="190495" cy="190495"/>
          </a:xfrm>
          <a:prstGeom prst="rect">
            <a:avLst/>
          </a:prstGeom>
        </p:spPr>
      </p:pic>
      <p:sp>
        <p:nvSpPr>
          <p:cNvPr id="24" name="Text 18"/>
          <p:cNvSpPr txBox="1"/>
          <p:nvPr/>
        </p:nvSpPr>
        <p:spPr>
          <a:xfrm>
            <a:off x="9613660" y="2006550"/>
            <a:ext cx="500348"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Kafka</a:t>
            </a:r>
            <a:endParaRPr lang="en-US" sz="1300" dirty="0"/>
          </a:p>
        </p:txBody>
      </p:sp>
      <p:sp>
        <p:nvSpPr>
          <p:cNvPr id="25" name="Text 19"/>
          <p:cNvSpPr txBox="1"/>
          <p:nvPr/>
        </p:nvSpPr>
        <p:spPr>
          <a:xfrm>
            <a:off x="9359666" y="222998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BookingCreated via outbox</a:t>
            </a:r>
            <a:endParaRPr lang="en-US" sz="1200" dirty="0"/>
          </a:p>
        </p:txBody>
      </p:sp>
      <p:sp>
        <p:nvSpPr>
          <p:cNvPr id="26" name="Shape 20"/>
          <p:cNvSpPr/>
          <p:nvPr/>
        </p:nvSpPr>
        <p:spPr>
          <a:xfrm>
            <a:off x="812780" y="3555911"/>
            <a:ext cx="2184345" cy="888978"/>
          </a:xfrm>
          <a:prstGeom prst="roundRect">
            <a:avLst>
              <a:gd name="adj" fmla="val 10000"/>
            </a:avLst>
          </a:prstGeom>
          <a:solidFill>
            <a:srgbClr val="FCFDFF"/>
          </a:solidFill>
          <a:ln w="12700">
            <a:solidFill>
              <a:srgbClr val="0B7F74"/>
            </a:solidFill>
            <a:prstDash val="solid"/>
          </a:ln>
        </p:spPr>
      </p:sp>
      <p:sp>
        <p:nvSpPr>
          <p:cNvPr id="27" name="Shape 21"/>
          <p:cNvSpPr/>
          <p:nvPr/>
        </p:nvSpPr>
        <p:spPr>
          <a:xfrm>
            <a:off x="812780" y="3555911"/>
            <a:ext cx="50799" cy="888978"/>
          </a:xfrm>
          <a:prstGeom prst="roundRect">
            <a:avLst>
              <a:gd name="adj" fmla="val 50000"/>
            </a:avLst>
          </a:prstGeom>
          <a:solidFill>
            <a:srgbClr val="0B7F74"/>
          </a:solidFill>
          <a:ln/>
        </p:spPr>
      </p:sp>
      <p:pic>
        <p:nvPicPr>
          <p:cNvPr id="28" name="Image 4" descr="preencoded.png">    </p:cNvPr>
          <p:cNvPicPr>
            <a:picLocks noChangeAspect="1"/>
          </p:cNvPicPr>
          <p:nvPr/>
        </p:nvPicPr>
        <p:blipFill>
          <a:blip r:embed="rId5"/>
          <a:stretch>
            <a:fillRect/>
          </a:stretch>
        </p:blipFill>
        <p:spPr>
          <a:xfrm>
            <a:off x="977876" y="3661279"/>
            <a:ext cx="190495" cy="190495"/>
          </a:xfrm>
          <a:prstGeom prst="rect">
            <a:avLst/>
          </a:prstGeom>
        </p:spPr>
      </p:pic>
      <p:sp>
        <p:nvSpPr>
          <p:cNvPr id="29" name="Text 22"/>
          <p:cNvSpPr txBox="1"/>
          <p:nvPr/>
        </p:nvSpPr>
        <p:spPr>
          <a:xfrm>
            <a:off x="1231869" y="3657509"/>
            <a:ext cx="1112889"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Provider app</a:t>
            </a:r>
            <a:endParaRPr lang="en-US" sz="1300" dirty="0"/>
          </a:p>
        </p:txBody>
      </p:sp>
      <p:sp>
        <p:nvSpPr>
          <p:cNvPr id="30" name="Text 23"/>
          <p:cNvSpPr txBox="1"/>
          <p:nvPr/>
        </p:nvSpPr>
        <p:spPr>
          <a:xfrm>
            <a:off x="977876" y="3880944"/>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polls every 5 s, accepts</a:t>
            </a:r>
            <a:endParaRPr lang="en-US" sz="1200" dirty="0"/>
          </a:p>
        </p:txBody>
      </p:sp>
      <p:sp>
        <p:nvSpPr>
          <p:cNvPr id="31" name="Shape 24"/>
          <p:cNvSpPr/>
          <p:nvPr/>
        </p:nvSpPr>
        <p:spPr>
          <a:xfrm>
            <a:off x="6400640" y="3555911"/>
            <a:ext cx="2184345" cy="888978"/>
          </a:xfrm>
          <a:prstGeom prst="roundRect">
            <a:avLst>
              <a:gd name="adj" fmla="val 10000"/>
            </a:avLst>
          </a:prstGeom>
          <a:solidFill>
            <a:srgbClr val="FCFDFF"/>
          </a:solidFill>
          <a:ln w="12700">
            <a:solidFill>
              <a:srgbClr val="0B7F74"/>
            </a:solidFill>
            <a:prstDash val="solid"/>
          </a:ln>
        </p:spPr>
      </p:sp>
      <p:sp>
        <p:nvSpPr>
          <p:cNvPr id="32" name="Shape 25"/>
          <p:cNvSpPr/>
          <p:nvPr/>
        </p:nvSpPr>
        <p:spPr>
          <a:xfrm>
            <a:off x="6400640" y="3555911"/>
            <a:ext cx="50799" cy="888978"/>
          </a:xfrm>
          <a:prstGeom prst="roundRect">
            <a:avLst>
              <a:gd name="adj" fmla="val 50000"/>
            </a:avLst>
          </a:prstGeom>
          <a:solidFill>
            <a:srgbClr val="0B7F74"/>
          </a:solidFill>
          <a:ln/>
        </p:spPr>
      </p:sp>
      <p:pic>
        <p:nvPicPr>
          <p:cNvPr id="33" name="Image 5" descr="preencoded.png">    </p:cNvPr>
          <p:cNvPicPr>
            <a:picLocks noChangeAspect="1"/>
          </p:cNvPicPr>
          <p:nvPr/>
        </p:nvPicPr>
        <p:blipFill>
          <a:blip r:embed="rId6"/>
          <a:stretch>
            <a:fillRect/>
          </a:stretch>
        </p:blipFill>
        <p:spPr>
          <a:xfrm>
            <a:off x="6565736" y="3661279"/>
            <a:ext cx="190495" cy="190495"/>
          </a:xfrm>
          <a:prstGeom prst="rect">
            <a:avLst/>
          </a:prstGeom>
        </p:spPr>
      </p:pic>
      <p:sp>
        <p:nvSpPr>
          <p:cNvPr id="34" name="Text 26"/>
          <p:cNvSpPr txBox="1"/>
          <p:nvPr/>
        </p:nvSpPr>
        <p:spPr>
          <a:xfrm>
            <a:off x="6819730" y="3657509"/>
            <a:ext cx="137269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dispatch-engine</a:t>
            </a:r>
            <a:endParaRPr lang="en-US" sz="1300" dirty="0"/>
          </a:p>
        </p:txBody>
      </p:sp>
      <p:sp>
        <p:nvSpPr>
          <p:cNvPr id="35" name="Text 27"/>
          <p:cNvSpPr txBox="1"/>
          <p:nvPr/>
        </p:nvSpPr>
        <p:spPr>
          <a:xfrm>
            <a:off x="6565736" y="3880944"/>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eligible, score, offer</a:t>
            </a:r>
            <a:endParaRPr lang="en-US" sz="1200" dirty="0"/>
          </a:p>
        </p:txBody>
      </p:sp>
      <p:sp>
        <p:nvSpPr>
          <p:cNvPr id="36" name="Shape 28"/>
          <p:cNvSpPr/>
          <p:nvPr/>
        </p:nvSpPr>
        <p:spPr>
          <a:xfrm>
            <a:off x="9194570" y="3555911"/>
            <a:ext cx="2184345" cy="888978"/>
          </a:xfrm>
          <a:prstGeom prst="roundRect">
            <a:avLst>
              <a:gd name="adj" fmla="val 10000"/>
            </a:avLst>
          </a:prstGeom>
          <a:solidFill>
            <a:srgbClr val="FCFDFF"/>
          </a:solidFill>
          <a:ln w="12700">
            <a:solidFill>
              <a:srgbClr val="C0352B"/>
            </a:solidFill>
            <a:prstDash val="solid"/>
          </a:ln>
        </p:spPr>
      </p:sp>
      <p:sp>
        <p:nvSpPr>
          <p:cNvPr id="37" name="Shape 29"/>
          <p:cNvSpPr/>
          <p:nvPr/>
        </p:nvSpPr>
        <p:spPr>
          <a:xfrm>
            <a:off x="9194570" y="3555911"/>
            <a:ext cx="50799" cy="888978"/>
          </a:xfrm>
          <a:prstGeom prst="roundRect">
            <a:avLst>
              <a:gd name="adj" fmla="val 50000"/>
            </a:avLst>
          </a:prstGeom>
          <a:solidFill>
            <a:srgbClr val="C0352B"/>
          </a:solidFill>
          <a:ln/>
        </p:spPr>
      </p:sp>
      <p:pic>
        <p:nvPicPr>
          <p:cNvPr id="38" name="Image 6" descr="preencoded.png">    </p:cNvPr>
          <p:cNvPicPr>
            <a:picLocks noChangeAspect="1"/>
          </p:cNvPicPr>
          <p:nvPr/>
        </p:nvPicPr>
        <p:blipFill>
          <a:blip r:embed="rId7"/>
          <a:stretch>
            <a:fillRect/>
          </a:stretch>
        </p:blipFill>
        <p:spPr>
          <a:xfrm>
            <a:off x="9359666" y="3661279"/>
            <a:ext cx="190495" cy="190495"/>
          </a:xfrm>
          <a:prstGeom prst="rect">
            <a:avLst/>
          </a:prstGeom>
        </p:spPr>
      </p:pic>
      <p:sp>
        <p:nvSpPr>
          <p:cNvPr id="39" name="Text 30"/>
          <p:cNvSpPr txBox="1"/>
          <p:nvPr/>
        </p:nvSpPr>
        <p:spPr>
          <a:xfrm>
            <a:off x="9613660" y="3657509"/>
            <a:ext cx="488144"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Redis</a:t>
            </a:r>
            <a:endParaRPr lang="en-US" sz="1300" dirty="0"/>
          </a:p>
        </p:txBody>
      </p:sp>
      <p:sp>
        <p:nvSpPr>
          <p:cNvPr id="40" name="Text 31"/>
          <p:cNvSpPr txBox="1"/>
          <p:nvPr/>
        </p:nvSpPr>
        <p:spPr>
          <a:xfrm>
            <a:off x="9359666" y="3880944"/>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60 s offers, SET NX locks</a:t>
            </a:r>
            <a:endParaRPr lang="en-US" sz="1200" dirty="0"/>
          </a:p>
        </p:txBody>
      </p:sp>
      <p:sp>
        <p:nvSpPr>
          <p:cNvPr id="41" name="Shape 32"/>
          <p:cNvSpPr/>
          <p:nvPr/>
        </p:nvSpPr>
        <p:spPr>
          <a:xfrm>
            <a:off x="812780" y="4952876"/>
            <a:ext cx="4978276" cy="698483"/>
          </a:xfrm>
          <a:prstGeom prst="roundRect">
            <a:avLst>
              <a:gd name="adj" fmla="val 12727"/>
            </a:avLst>
          </a:prstGeom>
          <a:solidFill>
            <a:srgbClr val="DDF2EF"/>
          </a:solidFill>
          <a:ln/>
        </p:spPr>
      </p:sp>
      <p:pic>
        <p:nvPicPr>
          <p:cNvPr id="42" name="Image 7" descr="preencoded.png">    </p:cNvPr>
          <p:cNvPicPr>
            <a:picLocks noChangeAspect="1"/>
          </p:cNvPicPr>
          <p:nvPr/>
        </p:nvPicPr>
        <p:blipFill>
          <a:blip r:embed="rId8"/>
          <a:stretch>
            <a:fillRect/>
          </a:stretch>
        </p:blipFill>
        <p:spPr>
          <a:xfrm>
            <a:off x="952476" y="5187820"/>
            <a:ext cx="228594" cy="228594"/>
          </a:xfrm>
          <a:prstGeom prst="rect">
            <a:avLst/>
          </a:prstGeom>
        </p:spPr>
      </p:pic>
      <p:sp>
        <p:nvSpPr>
          <p:cNvPr id="43" name="Text 33"/>
          <p:cNvSpPr txBox="1"/>
          <p:nvPr/>
        </p:nvSpPr>
        <p:spPr>
          <a:xfrm>
            <a:off x="1282668" y="5096442"/>
            <a:ext cx="4892934" cy="411351"/>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Score = distance + rating + acceptance rate + idle time; the weights sum to 1</a:t>
            </a:r>
            <a:endParaRPr lang="en-US" sz="1200" dirty="0"/>
          </a:p>
        </p:txBody>
      </p:sp>
      <p:sp>
        <p:nvSpPr>
          <p:cNvPr id="44" name="Shape 34"/>
          <p:cNvSpPr/>
          <p:nvPr/>
        </p:nvSpPr>
        <p:spPr>
          <a:xfrm>
            <a:off x="6400640" y="4952876"/>
            <a:ext cx="2184345" cy="698483"/>
          </a:xfrm>
          <a:prstGeom prst="roundRect">
            <a:avLst>
              <a:gd name="adj" fmla="val 12727"/>
            </a:avLst>
          </a:prstGeom>
          <a:solidFill>
            <a:srgbClr val="FCFDFF"/>
          </a:solidFill>
          <a:ln w="12700">
            <a:solidFill>
              <a:srgbClr val="2454C5"/>
            </a:solidFill>
            <a:prstDash val="solid"/>
          </a:ln>
        </p:spPr>
      </p:sp>
      <p:sp>
        <p:nvSpPr>
          <p:cNvPr id="45" name="Shape 35"/>
          <p:cNvSpPr/>
          <p:nvPr/>
        </p:nvSpPr>
        <p:spPr>
          <a:xfrm>
            <a:off x="6400640" y="4952876"/>
            <a:ext cx="50799" cy="698483"/>
          </a:xfrm>
          <a:prstGeom prst="roundRect">
            <a:avLst>
              <a:gd name="adj" fmla="val 50000"/>
            </a:avLst>
          </a:prstGeom>
          <a:solidFill>
            <a:srgbClr val="2454C5"/>
          </a:solidFill>
          <a:ln/>
        </p:spPr>
      </p:sp>
      <p:sp>
        <p:nvSpPr>
          <p:cNvPr id="46" name="Text 36"/>
          <p:cNvSpPr txBox="1"/>
          <p:nvPr/>
        </p:nvSpPr>
        <p:spPr>
          <a:xfrm>
            <a:off x="6565736" y="5029074"/>
            <a:ext cx="211932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Supply data</a:t>
            </a:r>
            <a:endParaRPr lang="en-US" sz="1300" dirty="0"/>
          </a:p>
        </p:txBody>
      </p:sp>
      <p:sp>
        <p:nvSpPr>
          <p:cNvPr id="47" name="Text 37"/>
          <p:cNvSpPr txBox="1"/>
          <p:nvPr/>
        </p:nvSpPr>
        <p:spPr>
          <a:xfrm>
            <a:off x="6565736" y="5252509"/>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providers, addresses</a:t>
            </a:r>
            <a:endParaRPr lang="en-US" sz="1200" dirty="0"/>
          </a:p>
        </p:txBody>
      </p:sp>
      <p:sp>
        <p:nvSpPr>
          <p:cNvPr id="48" name="Shape 38"/>
          <p:cNvSpPr/>
          <p:nvPr/>
        </p:nvSpPr>
        <p:spPr>
          <a:xfrm>
            <a:off x="9194570" y="4952876"/>
            <a:ext cx="2184345" cy="698483"/>
          </a:xfrm>
          <a:prstGeom prst="roundRect">
            <a:avLst>
              <a:gd name="adj" fmla="val 12727"/>
            </a:avLst>
          </a:prstGeom>
          <a:solidFill>
            <a:srgbClr val="FCEBDD"/>
          </a:solidFill>
          <a:ln w="12700">
            <a:solidFill>
              <a:srgbClr val="B4530F"/>
            </a:solidFill>
            <a:prstDash val="dash"/>
          </a:ln>
        </p:spPr>
      </p:sp>
      <p:sp>
        <p:nvSpPr>
          <p:cNvPr id="49" name="Shape 39"/>
          <p:cNvSpPr/>
          <p:nvPr/>
        </p:nvSpPr>
        <p:spPr>
          <a:xfrm>
            <a:off x="9194570" y="4952876"/>
            <a:ext cx="50799" cy="698483"/>
          </a:xfrm>
          <a:prstGeom prst="roundRect">
            <a:avLst>
              <a:gd name="adj" fmla="val 50000"/>
            </a:avLst>
          </a:prstGeom>
          <a:solidFill>
            <a:srgbClr val="B4530F"/>
          </a:solidFill>
          <a:ln/>
        </p:spPr>
      </p:sp>
      <p:sp>
        <p:nvSpPr>
          <p:cNvPr id="50" name="Text 40"/>
          <p:cNvSpPr txBox="1"/>
          <p:nvPr/>
        </p:nvSpPr>
        <p:spPr>
          <a:xfrm>
            <a:off x="9359666" y="5029074"/>
            <a:ext cx="211932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No taker?</a:t>
            </a:r>
            <a:endParaRPr lang="en-US" sz="1300" dirty="0"/>
          </a:p>
        </p:txBody>
      </p:sp>
      <p:sp>
        <p:nvSpPr>
          <p:cNvPr id="51" name="Text 41"/>
          <p:cNvSpPr txBox="1"/>
          <p:nvPr/>
        </p:nvSpPr>
        <p:spPr>
          <a:xfrm>
            <a:off x="9359666" y="5252509"/>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B4530F"/>
                </a:solidFill>
                <a:latin typeface="Calibri" pitchFamily="34" charset="0"/>
                <a:ea typeface="Calibri" pitchFamily="34" charset="-122"/>
                <a:cs typeface="Calibri" pitchFamily="34" charset="-120"/>
              </a:rPr>
              <a:t>agency, else FAILED</a:t>
            </a:r>
            <a:endParaRPr lang="en-US" sz="1200" dirty="0"/>
          </a:p>
        </p:txBody>
      </p:sp>
      <p:sp>
        <p:nvSpPr>
          <p:cNvPr id="52" name="Shape 42"/>
          <p:cNvSpPr/>
          <p:nvPr/>
        </p:nvSpPr>
        <p:spPr>
          <a:xfrm>
            <a:off x="2997125" y="2349441"/>
            <a:ext cx="609585" cy="63"/>
          </a:xfrm>
          <a:prstGeom prst="line">
            <a:avLst/>
          </a:prstGeom>
          <a:noFill/>
          <a:ln w="19050">
            <a:solidFill>
              <a:srgbClr val="5C6B8A"/>
            </a:solidFill>
            <a:prstDash val="solid"/>
            <a:tailEnd type="triangle"/>
          </a:ln>
        </p:spPr>
      </p:sp>
      <p:sp>
        <p:nvSpPr>
          <p:cNvPr id="53" name="Shape 43"/>
          <p:cNvSpPr/>
          <p:nvPr/>
        </p:nvSpPr>
        <p:spPr>
          <a:xfrm>
            <a:off x="5791055" y="2349441"/>
            <a:ext cx="609585" cy="63"/>
          </a:xfrm>
          <a:prstGeom prst="line">
            <a:avLst/>
          </a:prstGeom>
          <a:noFill/>
          <a:ln w="19050">
            <a:solidFill>
              <a:srgbClr val="5C6B8A"/>
            </a:solidFill>
            <a:prstDash val="solid"/>
            <a:tailEnd type="triangle"/>
          </a:ln>
        </p:spPr>
      </p:sp>
      <p:sp>
        <p:nvSpPr>
          <p:cNvPr id="54" name="Shape 44"/>
          <p:cNvSpPr/>
          <p:nvPr/>
        </p:nvSpPr>
        <p:spPr>
          <a:xfrm>
            <a:off x="8584985" y="2349441"/>
            <a:ext cx="609585" cy="63"/>
          </a:xfrm>
          <a:prstGeom prst="line">
            <a:avLst/>
          </a:prstGeom>
          <a:noFill/>
          <a:ln w="19050">
            <a:solidFill>
              <a:srgbClr val="5C6B8A"/>
            </a:solidFill>
            <a:prstDash val="solid"/>
            <a:tailEnd type="triangle"/>
          </a:ln>
        </p:spPr>
      </p:sp>
      <p:sp>
        <p:nvSpPr>
          <p:cNvPr id="55" name="Shape 45"/>
          <p:cNvSpPr/>
          <p:nvPr/>
        </p:nvSpPr>
        <p:spPr>
          <a:xfrm>
            <a:off x="10286743" y="2793930"/>
            <a:ext cx="63" cy="380990"/>
          </a:xfrm>
          <a:prstGeom prst="line">
            <a:avLst/>
          </a:prstGeom>
          <a:noFill/>
          <a:ln w="19050">
            <a:solidFill>
              <a:srgbClr val="4B4B9A"/>
            </a:solidFill>
            <a:prstDash val="solid"/>
          </a:ln>
        </p:spPr>
      </p:sp>
      <p:sp>
        <p:nvSpPr>
          <p:cNvPr id="56" name="Shape 46"/>
          <p:cNvSpPr/>
          <p:nvPr/>
        </p:nvSpPr>
        <p:spPr>
          <a:xfrm flipH="1">
            <a:off x="8000800" y="3174921"/>
            <a:ext cx="2285943" cy="63"/>
          </a:xfrm>
          <a:prstGeom prst="line">
            <a:avLst/>
          </a:prstGeom>
          <a:noFill/>
          <a:ln w="19050">
            <a:solidFill>
              <a:srgbClr val="4B4B9A"/>
            </a:solidFill>
            <a:prstDash val="solid"/>
          </a:ln>
        </p:spPr>
      </p:sp>
      <p:sp>
        <p:nvSpPr>
          <p:cNvPr id="57" name="Shape 47"/>
          <p:cNvSpPr/>
          <p:nvPr/>
        </p:nvSpPr>
        <p:spPr>
          <a:xfrm>
            <a:off x="8000800" y="3174921"/>
            <a:ext cx="63" cy="380990"/>
          </a:xfrm>
          <a:prstGeom prst="line">
            <a:avLst/>
          </a:prstGeom>
          <a:noFill/>
          <a:ln w="19050">
            <a:solidFill>
              <a:srgbClr val="4B4B9A"/>
            </a:solidFill>
            <a:prstDash val="solid"/>
            <a:tailEnd type="triangle"/>
          </a:ln>
        </p:spPr>
      </p:sp>
      <p:sp>
        <p:nvSpPr>
          <p:cNvPr id="58" name="Text 48"/>
          <p:cNvSpPr txBox="1"/>
          <p:nvPr/>
        </p:nvSpPr>
        <p:spPr>
          <a:xfrm>
            <a:off x="8191295" y="3225719"/>
            <a:ext cx="1849074" cy="213355"/>
          </a:xfrm>
          <a:prstGeom prst="rect">
            <a:avLst/>
          </a:prstGeom>
          <a:noFill/>
          <a:ln/>
        </p:spPr>
        <p:txBody>
          <a:bodyPr wrap="square" lIns="0" tIns="0" rIns="0" bIns="0" rtlCol="0" anchor="t"/>
          <a:lstStyle/>
          <a:p>
            <a:pPr algn="l" indent="0" marL="0">
              <a:lnSpc>
                <a:spcPct val="116667"/>
              </a:lnSpc>
              <a:buNone/>
            </a:pPr>
            <a:r>
              <a:rPr lang="en-US" sz="1200" dirty="0">
                <a:solidFill>
                  <a:srgbClr val="4B4B9A"/>
                </a:solidFill>
                <a:latin typeface="Calibri" pitchFamily="34" charset="0"/>
                <a:ea typeface="Calibri" pitchFamily="34" charset="-122"/>
                <a:cs typeface="Calibri" pitchFamily="34" charset="-120"/>
              </a:rPr>
              <a:t>BookingCreated</a:t>
            </a:r>
            <a:endParaRPr lang="en-US" sz="1200" dirty="0"/>
          </a:p>
        </p:txBody>
      </p:sp>
      <p:sp>
        <p:nvSpPr>
          <p:cNvPr id="59" name="Shape 49"/>
          <p:cNvSpPr/>
          <p:nvPr/>
        </p:nvSpPr>
        <p:spPr>
          <a:xfrm flipV="1">
            <a:off x="6730832" y="2793930"/>
            <a:ext cx="63" cy="761981"/>
          </a:xfrm>
          <a:prstGeom prst="line">
            <a:avLst/>
          </a:prstGeom>
          <a:noFill/>
          <a:ln w="19050">
            <a:solidFill>
              <a:srgbClr val="0B7F74"/>
            </a:solidFill>
            <a:prstDash val="solid"/>
            <a:tailEnd type="triangle"/>
          </a:ln>
        </p:spPr>
      </p:sp>
      <p:sp>
        <p:nvSpPr>
          <p:cNvPr id="60" name="Text 50"/>
          <p:cNvSpPr txBox="1"/>
          <p:nvPr/>
        </p:nvSpPr>
        <p:spPr>
          <a:xfrm>
            <a:off x="6807030" y="2870128"/>
            <a:ext cx="711182" cy="213355"/>
          </a:xfrm>
          <a:prstGeom prst="rect">
            <a:avLst/>
          </a:prstGeom>
          <a:noFill/>
          <a:ln/>
        </p:spPr>
        <p:txBody>
          <a:bodyPr wrap="square" lIns="0" tIns="0" rIns="0" bIns="0" rtlCol="0" anchor="t"/>
          <a:lstStyle/>
          <a:p>
            <a:pPr algn="l" indent="0" marL="0">
              <a:lnSpc>
                <a:spcPct val="116667"/>
              </a:lnSpc>
              <a:buNone/>
            </a:pPr>
            <a:r>
              <a:rPr lang="en-US" sz="1200" dirty="0">
                <a:solidFill>
                  <a:srgbClr val="0B7F74"/>
                </a:solidFill>
                <a:latin typeface="Calibri" pitchFamily="34" charset="0"/>
                <a:ea typeface="Calibri" pitchFamily="34" charset="-122"/>
                <a:cs typeface="Calibri" pitchFamily="34" charset="-120"/>
              </a:rPr>
              <a:t>accept</a:t>
            </a:r>
            <a:endParaRPr lang="en-US" sz="1200" dirty="0"/>
          </a:p>
        </p:txBody>
      </p:sp>
      <p:sp>
        <p:nvSpPr>
          <p:cNvPr id="61" name="Shape 51"/>
          <p:cNvSpPr/>
          <p:nvPr/>
        </p:nvSpPr>
        <p:spPr>
          <a:xfrm>
            <a:off x="2997125" y="4000400"/>
            <a:ext cx="609585" cy="63"/>
          </a:xfrm>
          <a:prstGeom prst="line">
            <a:avLst/>
          </a:prstGeom>
          <a:noFill/>
          <a:ln w="19050">
            <a:solidFill>
              <a:srgbClr val="5C6B8A"/>
            </a:solidFill>
            <a:prstDash val="solid"/>
            <a:headEnd type="triangle"/>
            <a:tailEnd type="triangle"/>
          </a:ln>
        </p:spPr>
      </p:sp>
      <p:sp>
        <p:nvSpPr>
          <p:cNvPr id="62" name="Shape 52"/>
          <p:cNvSpPr/>
          <p:nvPr/>
        </p:nvSpPr>
        <p:spPr>
          <a:xfrm>
            <a:off x="5791055" y="4000400"/>
            <a:ext cx="609585" cy="63"/>
          </a:xfrm>
          <a:prstGeom prst="line">
            <a:avLst/>
          </a:prstGeom>
          <a:noFill/>
          <a:ln w="19050">
            <a:solidFill>
              <a:srgbClr val="5C6B8A"/>
            </a:solidFill>
            <a:prstDash val="solid"/>
            <a:headEnd type="triangle"/>
            <a:tailEnd type="triangle"/>
          </a:ln>
        </p:spPr>
      </p:sp>
      <p:sp>
        <p:nvSpPr>
          <p:cNvPr id="63" name="Shape 53"/>
          <p:cNvSpPr/>
          <p:nvPr/>
        </p:nvSpPr>
        <p:spPr>
          <a:xfrm>
            <a:off x="8584985" y="4000400"/>
            <a:ext cx="609585" cy="63"/>
          </a:xfrm>
          <a:prstGeom prst="line">
            <a:avLst/>
          </a:prstGeom>
          <a:noFill/>
          <a:ln w="19050">
            <a:solidFill>
              <a:srgbClr val="5C6B8A"/>
            </a:solidFill>
            <a:prstDash val="solid"/>
            <a:headEnd type="triangle"/>
            <a:tailEnd type="triangle"/>
          </a:ln>
        </p:spPr>
      </p:sp>
      <p:sp>
        <p:nvSpPr>
          <p:cNvPr id="64" name="Shape 54"/>
          <p:cNvSpPr/>
          <p:nvPr/>
        </p:nvSpPr>
        <p:spPr>
          <a:xfrm flipV="1">
            <a:off x="7492813" y="4444889"/>
            <a:ext cx="63" cy="507987"/>
          </a:xfrm>
          <a:prstGeom prst="line">
            <a:avLst/>
          </a:prstGeom>
          <a:noFill/>
          <a:ln w="19050">
            <a:solidFill>
              <a:srgbClr val="5C6B8A"/>
            </a:solidFill>
            <a:prstDash val="solid"/>
            <a:tailEnd type="triangle"/>
          </a:ln>
        </p:spPr>
      </p:sp>
      <p:sp>
        <p:nvSpPr>
          <p:cNvPr id="65" name="Text 55"/>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Architecture</a:t>
            </a:r>
            <a:endParaRPr lang="en-US" sz="1200" dirty="0"/>
          </a:p>
        </p:txBody>
      </p:sp>
      <p:sp>
        <p:nvSpPr>
          <p:cNvPr id="66" name="Text 56"/>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ARCHITECTURE · PAYMENTS</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Razorpay confirms the charge twice before money counts</a:t>
            </a:r>
            <a:endParaRPr lang="en-US" sz="3000" dirty="0"/>
          </a:p>
        </p:txBody>
      </p:sp>
      <p:sp>
        <p:nvSpPr>
          <p:cNvPr id="4" name="Shape 2"/>
          <p:cNvSpPr/>
          <p:nvPr/>
        </p:nvSpPr>
        <p:spPr>
          <a:xfrm>
            <a:off x="812780" y="1904952"/>
            <a:ext cx="2184345" cy="888978"/>
          </a:xfrm>
          <a:prstGeom prst="roundRect">
            <a:avLst>
              <a:gd name="adj" fmla="val 10000"/>
            </a:avLst>
          </a:prstGeom>
          <a:solidFill>
            <a:srgbClr val="FCFDFF"/>
          </a:solidFill>
          <a:ln w="12700">
            <a:solidFill>
              <a:srgbClr val="2454C5"/>
            </a:solidFill>
            <a:prstDash val="solid"/>
          </a:ln>
        </p:spPr>
      </p:sp>
      <p:sp>
        <p:nvSpPr>
          <p:cNvPr id="5" name="Shape 3"/>
          <p:cNvSpPr/>
          <p:nvPr/>
        </p:nvSpPr>
        <p:spPr>
          <a:xfrm>
            <a:off x="812780" y="1904952"/>
            <a:ext cx="50799" cy="888978"/>
          </a:xfrm>
          <a:prstGeom prst="roundRect">
            <a:avLst>
              <a:gd name="adj" fmla="val 50000"/>
            </a:avLst>
          </a:prstGeom>
          <a:solidFill>
            <a:srgbClr val="2454C5"/>
          </a:solidFill>
          <a:ln/>
        </p:spPr>
      </p:sp>
      <p:pic>
        <p:nvPicPr>
          <p:cNvPr id="6" name="Image 0" descr="preencoded.png">    </p:cNvPr>
          <p:cNvPicPr>
            <a:picLocks noChangeAspect="1"/>
          </p:cNvPicPr>
          <p:nvPr/>
        </p:nvPicPr>
        <p:blipFill>
          <a:blip r:embed="rId1"/>
          <a:stretch>
            <a:fillRect/>
          </a:stretch>
        </p:blipFill>
        <p:spPr>
          <a:xfrm>
            <a:off x="977876" y="2010320"/>
            <a:ext cx="190495" cy="190495"/>
          </a:xfrm>
          <a:prstGeom prst="rect">
            <a:avLst/>
          </a:prstGeom>
        </p:spPr>
      </p:pic>
      <p:sp>
        <p:nvSpPr>
          <p:cNvPr id="7" name="Text 4"/>
          <p:cNvSpPr txBox="1"/>
          <p:nvPr/>
        </p:nvSpPr>
        <p:spPr>
          <a:xfrm>
            <a:off x="1231869" y="2006550"/>
            <a:ext cx="1193786"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Customer app</a:t>
            </a:r>
            <a:endParaRPr lang="en-US" sz="1300" dirty="0"/>
          </a:p>
        </p:txBody>
      </p:sp>
      <p:sp>
        <p:nvSpPr>
          <p:cNvPr id="8" name="Text 5"/>
          <p:cNvSpPr txBox="1"/>
          <p:nvPr/>
        </p:nvSpPr>
        <p:spPr>
          <a:xfrm>
            <a:off x="977876" y="222998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pays a completed job</a:t>
            </a:r>
            <a:endParaRPr lang="en-US" sz="1200" dirty="0"/>
          </a:p>
        </p:txBody>
      </p:sp>
      <p:sp>
        <p:nvSpPr>
          <p:cNvPr id="9" name="Shape 6"/>
          <p:cNvSpPr/>
          <p:nvPr/>
        </p:nvSpPr>
        <p:spPr>
          <a:xfrm>
            <a:off x="812780" y="3301917"/>
            <a:ext cx="2184345" cy="888978"/>
          </a:xfrm>
          <a:prstGeom prst="roundRect">
            <a:avLst>
              <a:gd name="adj" fmla="val 10000"/>
            </a:avLst>
          </a:prstGeom>
          <a:solidFill>
            <a:srgbClr val="FCFDFF"/>
          </a:solidFill>
          <a:ln w="12700">
            <a:solidFill>
              <a:srgbClr val="B4530F"/>
            </a:solidFill>
            <a:prstDash val="solid"/>
          </a:ln>
        </p:spPr>
      </p:sp>
      <p:sp>
        <p:nvSpPr>
          <p:cNvPr id="10" name="Shape 7"/>
          <p:cNvSpPr/>
          <p:nvPr/>
        </p:nvSpPr>
        <p:spPr>
          <a:xfrm>
            <a:off x="812780" y="3301917"/>
            <a:ext cx="50799" cy="888978"/>
          </a:xfrm>
          <a:prstGeom prst="roundRect">
            <a:avLst>
              <a:gd name="adj" fmla="val 50000"/>
            </a:avLst>
          </a:prstGeom>
          <a:solidFill>
            <a:srgbClr val="B4530F"/>
          </a:solidFill>
          <a:ln/>
        </p:spPr>
      </p:sp>
      <p:pic>
        <p:nvPicPr>
          <p:cNvPr id="11" name="Image 1" descr="preencoded.png">    </p:cNvPr>
          <p:cNvPicPr>
            <a:picLocks noChangeAspect="1"/>
          </p:cNvPicPr>
          <p:nvPr/>
        </p:nvPicPr>
        <p:blipFill>
          <a:blip r:embed="rId2"/>
          <a:stretch>
            <a:fillRect/>
          </a:stretch>
        </p:blipFill>
        <p:spPr>
          <a:xfrm>
            <a:off x="977876" y="3407285"/>
            <a:ext cx="190495" cy="190495"/>
          </a:xfrm>
          <a:prstGeom prst="rect">
            <a:avLst/>
          </a:prstGeom>
        </p:spPr>
      </p:pic>
      <p:sp>
        <p:nvSpPr>
          <p:cNvPr id="12" name="Text 8"/>
          <p:cNvSpPr txBox="1"/>
          <p:nvPr/>
        </p:nvSpPr>
        <p:spPr>
          <a:xfrm>
            <a:off x="1231869" y="3403515"/>
            <a:ext cx="1665611"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Razorpay Checkout</a:t>
            </a:r>
            <a:endParaRPr lang="en-US" sz="1300" dirty="0"/>
          </a:p>
        </p:txBody>
      </p:sp>
      <p:sp>
        <p:nvSpPr>
          <p:cNvPr id="13" name="Text 9"/>
          <p:cNvSpPr txBox="1"/>
          <p:nvPr/>
        </p:nvSpPr>
        <p:spPr>
          <a:xfrm>
            <a:off x="977876" y="3626950"/>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returns a signature</a:t>
            </a:r>
            <a:endParaRPr lang="en-US" sz="1200" dirty="0"/>
          </a:p>
        </p:txBody>
      </p:sp>
      <p:sp>
        <p:nvSpPr>
          <p:cNvPr id="14" name="Shape 10"/>
          <p:cNvSpPr/>
          <p:nvPr/>
        </p:nvSpPr>
        <p:spPr>
          <a:xfrm>
            <a:off x="3606710" y="1904952"/>
            <a:ext cx="2184345" cy="888978"/>
          </a:xfrm>
          <a:prstGeom prst="roundRect">
            <a:avLst>
              <a:gd name="adj" fmla="val 10000"/>
            </a:avLst>
          </a:prstGeom>
          <a:solidFill>
            <a:srgbClr val="FCFDFF"/>
          </a:solidFill>
          <a:ln w="12700">
            <a:solidFill>
              <a:srgbClr val="3F5F95"/>
            </a:solidFill>
            <a:prstDash val="solid"/>
          </a:ln>
        </p:spPr>
      </p:sp>
      <p:sp>
        <p:nvSpPr>
          <p:cNvPr id="15" name="Shape 11"/>
          <p:cNvSpPr/>
          <p:nvPr/>
        </p:nvSpPr>
        <p:spPr>
          <a:xfrm>
            <a:off x="3606710" y="1904952"/>
            <a:ext cx="50799" cy="888978"/>
          </a:xfrm>
          <a:prstGeom prst="roundRect">
            <a:avLst>
              <a:gd name="adj" fmla="val 50000"/>
            </a:avLst>
          </a:prstGeom>
          <a:solidFill>
            <a:srgbClr val="3F5F95"/>
          </a:solidFill>
          <a:ln/>
        </p:spPr>
      </p:sp>
      <p:sp>
        <p:nvSpPr>
          <p:cNvPr id="16" name="Text 12"/>
          <p:cNvSpPr txBox="1"/>
          <p:nvPr/>
        </p:nvSpPr>
        <p:spPr>
          <a:xfrm>
            <a:off x="3771806" y="2006550"/>
            <a:ext cx="211932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API gateway</a:t>
            </a:r>
            <a:endParaRPr lang="en-US" sz="1300" dirty="0"/>
          </a:p>
        </p:txBody>
      </p:sp>
      <p:sp>
        <p:nvSpPr>
          <p:cNvPr id="17" name="Text 13"/>
          <p:cNvSpPr txBox="1"/>
          <p:nvPr/>
        </p:nvSpPr>
        <p:spPr>
          <a:xfrm>
            <a:off x="3771806" y="222998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JWT check</a:t>
            </a:r>
            <a:endParaRPr lang="en-US" sz="1200" dirty="0"/>
          </a:p>
        </p:txBody>
      </p:sp>
      <p:sp>
        <p:nvSpPr>
          <p:cNvPr id="18" name="Shape 14"/>
          <p:cNvSpPr/>
          <p:nvPr/>
        </p:nvSpPr>
        <p:spPr>
          <a:xfrm>
            <a:off x="6400640" y="1904952"/>
            <a:ext cx="2184345" cy="2285943"/>
          </a:xfrm>
          <a:prstGeom prst="roundRect">
            <a:avLst>
              <a:gd name="adj" fmla="val 4070"/>
            </a:avLst>
          </a:prstGeom>
          <a:solidFill>
            <a:srgbClr val="FCFDFF"/>
          </a:solidFill>
          <a:ln w="12700">
            <a:solidFill>
              <a:srgbClr val="B4530F"/>
            </a:solidFill>
            <a:prstDash val="solid"/>
          </a:ln>
        </p:spPr>
      </p:sp>
      <p:sp>
        <p:nvSpPr>
          <p:cNvPr id="19" name="Shape 15"/>
          <p:cNvSpPr/>
          <p:nvPr/>
        </p:nvSpPr>
        <p:spPr>
          <a:xfrm>
            <a:off x="6400640" y="1904952"/>
            <a:ext cx="50799" cy="2285943"/>
          </a:xfrm>
          <a:prstGeom prst="roundRect">
            <a:avLst>
              <a:gd name="adj" fmla="val 50000"/>
            </a:avLst>
          </a:prstGeom>
          <a:solidFill>
            <a:srgbClr val="B4530F"/>
          </a:solidFill>
          <a:ln/>
        </p:spPr>
      </p:sp>
      <p:pic>
        <p:nvPicPr>
          <p:cNvPr id="20" name="Image 2" descr="preencoded.png">    </p:cNvPr>
          <p:cNvPicPr>
            <a:picLocks noChangeAspect="1"/>
          </p:cNvPicPr>
          <p:nvPr/>
        </p:nvPicPr>
        <p:blipFill>
          <a:blip r:embed="rId3"/>
          <a:stretch>
            <a:fillRect/>
          </a:stretch>
        </p:blipFill>
        <p:spPr>
          <a:xfrm>
            <a:off x="6565736" y="2010320"/>
            <a:ext cx="190495" cy="190495"/>
          </a:xfrm>
          <a:prstGeom prst="rect">
            <a:avLst/>
          </a:prstGeom>
        </p:spPr>
      </p:pic>
      <p:sp>
        <p:nvSpPr>
          <p:cNvPr id="21" name="Text 16"/>
          <p:cNvSpPr txBox="1"/>
          <p:nvPr/>
        </p:nvSpPr>
        <p:spPr>
          <a:xfrm>
            <a:off x="6819730" y="2006550"/>
            <a:ext cx="1444700"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payment-service</a:t>
            </a:r>
            <a:endParaRPr lang="en-US" sz="1300" dirty="0"/>
          </a:p>
        </p:txBody>
      </p:sp>
      <p:sp>
        <p:nvSpPr>
          <p:cNvPr id="22" name="Text 17"/>
          <p:cNvSpPr txBox="1"/>
          <p:nvPr/>
        </p:nvSpPr>
        <p:spPr>
          <a:xfrm>
            <a:off x="6565736" y="222998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order per attempt</a:t>
            </a:r>
            <a:endParaRPr lang="en-US" sz="1200" dirty="0"/>
          </a:p>
        </p:txBody>
      </p:sp>
      <p:sp>
        <p:nvSpPr>
          <p:cNvPr id="23" name="Text 18"/>
          <p:cNvSpPr txBox="1"/>
          <p:nvPr/>
        </p:nvSpPr>
        <p:spPr>
          <a:xfrm>
            <a:off x="6565736" y="2461060"/>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HMAC + read-back</a:t>
            </a:r>
            <a:endParaRPr lang="en-US" sz="1200" dirty="0"/>
          </a:p>
        </p:txBody>
      </p:sp>
      <p:sp>
        <p:nvSpPr>
          <p:cNvPr id="24" name="Text 19"/>
          <p:cNvSpPr txBox="1"/>
          <p:nvPr/>
        </p:nvSpPr>
        <p:spPr>
          <a:xfrm>
            <a:off x="6565736" y="2692134"/>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Redis idempotency</a:t>
            </a:r>
            <a:endParaRPr lang="en-US" sz="1200" dirty="0"/>
          </a:p>
        </p:txBody>
      </p:sp>
      <p:sp>
        <p:nvSpPr>
          <p:cNvPr id="25" name="Text 20"/>
          <p:cNvSpPr txBox="1"/>
          <p:nvPr/>
        </p:nvSpPr>
        <p:spPr>
          <a:xfrm>
            <a:off x="6565736" y="2923209"/>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credits the wallet</a:t>
            </a:r>
            <a:endParaRPr lang="en-US" sz="1200" dirty="0"/>
          </a:p>
        </p:txBody>
      </p:sp>
      <p:sp>
        <p:nvSpPr>
          <p:cNvPr id="26" name="Shape 21"/>
          <p:cNvSpPr/>
          <p:nvPr/>
        </p:nvSpPr>
        <p:spPr>
          <a:xfrm>
            <a:off x="9194570" y="1904952"/>
            <a:ext cx="2184345" cy="888978"/>
          </a:xfrm>
          <a:prstGeom prst="roundRect">
            <a:avLst>
              <a:gd name="adj" fmla="val 10000"/>
            </a:avLst>
          </a:prstGeom>
          <a:solidFill>
            <a:srgbClr val="FCFDFF"/>
          </a:solidFill>
          <a:ln w="12700">
            <a:solidFill>
              <a:srgbClr val="5C6B8A"/>
            </a:solidFill>
            <a:prstDash val="solid"/>
          </a:ln>
        </p:spPr>
      </p:sp>
      <p:sp>
        <p:nvSpPr>
          <p:cNvPr id="27" name="Shape 22"/>
          <p:cNvSpPr/>
          <p:nvPr/>
        </p:nvSpPr>
        <p:spPr>
          <a:xfrm>
            <a:off x="9194570" y="1904952"/>
            <a:ext cx="50799" cy="888978"/>
          </a:xfrm>
          <a:prstGeom prst="roundRect">
            <a:avLst>
              <a:gd name="adj" fmla="val 50000"/>
            </a:avLst>
          </a:prstGeom>
          <a:solidFill>
            <a:srgbClr val="5C6B8A"/>
          </a:solidFill>
          <a:ln/>
        </p:spPr>
      </p:sp>
      <p:pic>
        <p:nvPicPr>
          <p:cNvPr id="28" name="Image 3" descr="preencoded.png">    </p:cNvPr>
          <p:cNvPicPr>
            <a:picLocks noChangeAspect="1"/>
          </p:cNvPicPr>
          <p:nvPr/>
        </p:nvPicPr>
        <p:blipFill>
          <a:blip r:embed="rId4"/>
          <a:stretch>
            <a:fillRect/>
          </a:stretch>
        </p:blipFill>
        <p:spPr>
          <a:xfrm>
            <a:off x="9359666" y="2010320"/>
            <a:ext cx="190495" cy="190495"/>
          </a:xfrm>
          <a:prstGeom prst="rect">
            <a:avLst/>
          </a:prstGeom>
        </p:spPr>
      </p:pic>
      <p:sp>
        <p:nvSpPr>
          <p:cNvPr id="29" name="Text 23"/>
          <p:cNvSpPr txBox="1"/>
          <p:nvPr/>
        </p:nvSpPr>
        <p:spPr>
          <a:xfrm>
            <a:off x="9613660" y="2006550"/>
            <a:ext cx="1120334"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Razorpay API</a:t>
            </a:r>
            <a:endParaRPr lang="en-US" sz="1300" dirty="0"/>
          </a:p>
        </p:txBody>
      </p:sp>
      <p:sp>
        <p:nvSpPr>
          <p:cNvPr id="30" name="Text 24"/>
          <p:cNvSpPr txBox="1"/>
          <p:nvPr/>
        </p:nvSpPr>
        <p:spPr>
          <a:xfrm>
            <a:off x="9359666" y="222998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orders, payment read-back</a:t>
            </a:r>
            <a:endParaRPr lang="en-US" sz="1200" dirty="0"/>
          </a:p>
        </p:txBody>
      </p:sp>
      <p:sp>
        <p:nvSpPr>
          <p:cNvPr id="31" name="Shape 25"/>
          <p:cNvSpPr/>
          <p:nvPr/>
        </p:nvSpPr>
        <p:spPr>
          <a:xfrm>
            <a:off x="9194570" y="3047924"/>
            <a:ext cx="2184345" cy="761981"/>
          </a:xfrm>
          <a:prstGeom prst="roundRect">
            <a:avLst>
              <a:gd name="adj" fmla="val 11667"/>
            </a:avLst>
          </a:prstGeom>
          <a:solidFill>
            <a:srgbClr val="FCFDFF"/>
          </a:solidFill>
          <a:ln w="12700">
            <a:solidFill>
              <a:srgbClr val="5C6B8A"/>
            </a:solidFill>
            <a:prstDash val="solid"/>
          </a:ln>
        </p:spPr>
      </p:sp>
      <p:sp>
        <p:nvSpPr>
          <p:cNvPr id="32" name="Shape 26"/>
          <p:cNvSpPr/>
          <p:nvPr/>
        </p:nvSpPr>
        <p:spPr>
          <a:xfrm>
            <a:off x="9194570" y="3047924"/>
            <a:ext cx="50799" cy="761981"/>
          </a:xfrm>
          <a:prstGeom prst="roundRect">
            <a:avLst>
              <a:gd name="adj" fmla="val 50000"/>
            </a:avLst>
          </a:prstGeom>
          <a:solidFill>
            <a:srgbClr val="5C6B8A"/>
          </a:solidFill>
          <a:ln/>
        </p:spPr>
      </p:sp>
      <p:sp>
        <p:nvSpPr>
          <p:cNvPr id="33" name="Text 27"/>
          <p:cNvSpPr txBox="1"/>
          <p:nvPr/>
        </p:nvSpPr>
        <p:spPr>
          <a:xfrm>
            <a:off x="9359666" y="3124122"/>
            <a:ext cx="211932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Razorpay webhook</a:t>
            </a:r>
            <a:endParaRPr lang="en-US" sz="1300" dirty="0"/>
          </a:p>
        </p:txBody>
      </p:sp>
      <p:sp>
        <p:nvSpPr>
          <p:cNvPr id="34" name="Text 28"/>
          <p:cNvSpPr txBox="1"/>
          <p:nvPr/>
        </p:nvSpPr>
        <p:spPr>
          <a:xfrm>
            <a:off x="9359666" y="3347557"/>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signed raw body</a:t>
            </a:r>
            <a:endParaRPr lang="en-US" sz="1200" dirty="0"/>
          </a:p>
        </p:txBody>
      </p:sp>
      <p:sp>
        <p:nvSpPr>
          <p:cNvPr id="35" name="Shape 29"/>
          <p:cNvSpPr/>
          <p:nvPr/>
        </p:nvSpPr>
        <p:spPr>
          <a:xfrm>
            <a:off x="812780" y="4698883"/>
            <a:ext cx="2184345" cy="888978"/>
          </a:xfrm>
          <a:prstGeom prst="roundRect">
            <a:avLst>
              <a:gd name="adj" fmla="val 10000"/>
            </a:avLst>
          </a:prstGeom>
          <a:solidFill>
            <a:srgbClr val="FCEBDD"/>
          </a:solidFill>
          <a:ln/>
        </p:spPr>
      </p:sp>
      <p:pic>
        <p:nvPicPr>
          <p:cNvPr id="36" name="Image 4" descr="preencoded.png">    </p:cNvPr>
          <p:cNvPicPr>
            <a:picLocks noChangeAspect="1"/>
          </p:cNvPicPr>
          <p:nvPr/>
        </p:nvPicPr>
        <p:blipFill>
          <a:blip r:embed="rId5"/>
          <a:stretch>
            <a:fillRect/>
          </a:stretch>
        </p:blipFill>
        <p:spPr>
          <a:xfrm>
            <a:off x="939777" y="5016375"/>
            <a:ext cx="253994" cy="253994"/>
          </a:xfrm>
          <a:prstGeom prst="rect">
            <a:avLst/>
          </a:prstGeom>
        </p:spPr>
      </p:pic>
      <p:sp>
        <p:nvSpPr>
          <p:cNvPr id="37" name="Text 30"/>
          <p:cNvSpPr txBox="1"/>
          <p:nvPr/>
        </p:nvSpPr>
        <p:spPr>
          <a:xfrm>
            <a:off x="1282668" y="4937696"/>
            <a:ext cx="1777956" cy="411351"/>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The amount never comes from the client</a:t>
            </a:r>
            <a:endParaRPr lang="en-US" sz="1200" dirty="0"/>
          </a:p>
        </p:txBody>
      </p:sp>
      <p:sp>
        <p:nvSpPr>
          <p:cNvPr id="38" name="Shape 31"/>
          <p:cNvSpPr/>
          <p:nvPr/>
        </p:nvSpPr>
        <p:spPr>
          <a:xfrm>
            <a:off x="3606710" y="4698883"/>
            <a:ext cx="2184345" cy="888978"/>
          </a:xfrm>
          <a:prstGeom prst="roundRect">
            <a:avLst>
              <a:gd name="adj" fmla="val 10000"/>
            </a:avLst>
          </a:prstGeom>
          <a:solidFill>
            <a:srgbClr val="FCFDFF"/>
          </a:solidFill>
          <a:ln w="12700">
            <a:solidFill>
              <a:srgbClr val="0B7F74"/>
            </a:solidFill>
            <a:prstDash val="solid"/>
          </a:ln>
        </p:spPr>
      </p:sp>
      <p:sp>
        <p:nvSpPr>
          <p:cNvPr id="39" name="Shape 32"/>
          <p:cNvSpPr/>
          <p:nvPr/>
        </p:nvSpPr>
        <p:spPr>
          <a:xfrm>
            <a:off x="3606710" y="4698883"/>
            <a:ext cx="50799" cy="888978"/>
          </a:xfrm>
          <a:prstGeom prst="roundRect">
            <a:avLst>
              <a:gd name="adj" fmla="val 50000"/>
            </a:avLst>
          </a:prstGeom>
          <a:solidFill>
            <a:srgbClr val="0B7F74"/>
          </a:solidFill>
          <a:ln/>
        </p:spPr>
      </p:sp>
      <p:sp>
        <p:nvSpPr>
          <p:cNvPr id="40" name="Text 33"/>
          <p:cNvSpPr txBox="1"/>
          <p:nvPr/>
        </p:nvSpPr>
        <p:spPr>
          <a:xfrm>
            <a:off x="3771806" y="4800480"/>
            <a:ext cx="211932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booking-service</a:t>
            </a:r>
            <a:endParaRPr lang="en-US" sz="1300" dirty="0"/>
          </a:p>
        </p:txBody>
      </p:sp>
      <p:sp>
        <p:nvSpPr>
          <p:cNvPr id="41" name="Text 34"/>
          <p:cNvSpPr txBox="1"/>
          <p:nvPr/>
        </p:nvSpPr>
        <p:spPr>
          <a:xfrm>
            <a:off x="3771806" y="5023915"/>
            <a:ext cx="2119323"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facts in, PAYMENT_COMPLETED</a:t>
            </a:r>
            <a:endParaRPr lang="en-US" sz="1200" dirty="0"/>
          </a:p>
        </p:txBody>
      </p:sp>
      <p:sp>
        <p:nvSpPr>
          <p:cNvPr id="42" name="Shape 35"/>
          <p:cNvSpPr/>
          <p:nvPr/>
        </p:nvSpPr>
        <p:spPr>
          <a:xfrm>
            <a:off x="6400640" y="4698883"/>
            <a:ext cx="2184345" cy="888978"/>
          </a:xfrm>
          <a:prstGeom prst="roundRect">
            <a:avLst>
              <a:gd name="adj" fmla="val 10000"/>
            </a:avLst>
          </a:prstGeom>
          <a:solidFill>
            <a:srgbClr val="FCFDFF"/>
          </a:solidFill>
          <a:ln w="12700">
            <a:solidFill>
              <a:srgbClr val="2454C5"/>
            </a:solidFill>
            <a:prstDash val="solid"/>
          </a:ln>
        </p:spPr>
      </p:sp>
      <p:sp>
        <p:nvSpPr>
          <p:cNvPr id="43" name="Shape 36"/>
          <p:cNvSpPr/>
          <p:nvPr/>
        </p:nvSpPr>
        <p:spPr>
          <a:xfrm>
            <a:off x="6400640" y="4698883"/>
            <a:ext cx="50799" cy="888978"/>
          </a:xfrm>
          <a:prstGeom prst="roundRect">
            <a:avLst>
              <a:gd name="adj" fmla="val 50000"/>
            </a:avLst>
          </a:prstGeom>
          <a:solidFill>
            <a:srgbClr val="2454C5"/>
          </a:solidFill>
          <a:ln/>
        </p:spPr>
      </p:sp>
      <p:sp>
        <p:nvSpPr>
          <p:cNvPr id="44" name="Text 37"/>
          <p:cNvSpPr txBox="1"/>
          <p:nvPr/>
        </p:nvSpPr>
        <p:spPr>
          <a:xfrm>
            <a:off x="6565736" y="4800480"/>
            <a:ext cx="211932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provider-service</a:t>
            </a:r>
            <a:endParaRPr lang="en-US" sz="1300" dirty="0"/>
          </a:p>
        </p:txBody>
      </p:sp>
      <p:sp>
        <p:nvSpPr>
          <p:cNvPr id="45" name="Text 38"/>
          <p:cNvSpPr txBox="1"/>
          <p:nvPr/>
        </p:nvSpPr>
        <p:spPr>
          <a:xfrm>
            <a:off x="6565736" y="502391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wallet JOB_CREDIT</a:t>
            </a:r>
            <a:endParaRPr lang="en-US" sz="1200" dirty="0"/>
          </a:p>
        </p:txBody>
      </p:sp>
      <p:sp>
        <p:nvSpPr>
          <p:cNvPr id="46" name="Shape 39"/>
          <p:cNvSpPr/>
          <p:nvPr/>
        </p:nvSpPr>
        <p:spPr>
          <a:xfrm>
            <a:off x="9194570" y="4698883"/>
            <a:ext cx="2184345" cy="888978"/>
          </a:xfrm>
          <a:prstGeom prst="roundRect">
            <a:avLst>
              <a:gd name="adj" fmla="val 10000"/>
            </a:avLst>
          </a:prstGeom>
          <a:solidFill>
            <a:srgbClr val="FCFDFF"/>
          </a:solidFill>
          <a:ln w="12700">
            <a:solidFill>
              <a:srgbClr val="4B4B9A"/>
            </a:solidFill>
            <a:prstDash val="solid"/>
          </a:ln>
        </p:spPr>
      </p:sp>
      <p:sp>
        <p:nvSpPr>
          <p:cNvPr id="47" name="Shape 40"/>
          <p:cNvSpPr/>
          <p:nvPr/>
        </p:nvSpPr>
        <p:spPr>
          <a:xfrm>
            <a:off x="9194570" y="4698883"/>
            <a:ext cx="50799" cy="888978"/>
          </a:xfrm>
          <a:prstGeom prst="roundRect">
            <a:avLst>
              <a:gd name="adj" fmla="val 50000"/>
            </a:avLst>
          </a:prstGeom>
          <a:solidFill>
            <a:srgbClr val="4B4B9A"/>
          </a:solidFill>
          <a:ln/>
        </p:spPr>
      </p:sp>
      <p:pic>
        <p:nvPicPr>
          <p:cNvPr id="48" name="Image 5" descr="preencoded.png">    </p:cNvPr>
          <p:cNvPicPr>
            <a:picLocks noChangeAspect="1"/>
          </p:cNvPicPr>
          <p:nvPr/>
        </p:nvPicPr>
        <p:blipFill>
          <a:blip r:embed="rId6"/>
          <a:stretch>
            <a:fillRect/>
          </a:stretch>
        </p:blipFill>
        <p:spPr>
          <a:xfrm>
            <a:off x="9359666" y="4804250"/>
            <a:ext cx="190495" cy="190495"/>
          </a:xfrm>
          <a:prstGeom prst="rect">
            <a:avLst/>
          </a:prstGeom>
        </p:spPr>
      </p:pic>
      <p:sp>
        <p:nvSpPr>
          <p:cNvPr id="49" name="Text 41"/>
          <p:cNvSpPr txBox="1"/>
          <p:nvPr/>
        </p:nvSpPr>
        <p:spPr>
          <a:xfrm>
            <a:off x="9613660" y="4800480"/>
            <a:ext cx="500348"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Kafka</a:t>
            </a:r>
            <a:endParaRPr lang="en-US" sz="1300" dirty="0"/>
          </a:p>
        </p:txBody>
      </p:sp>
      <p:sp>
        <p:nvSpPr>
          <p:cNvPr id="50" name="Text 42"/>
          <p:cNvSpPr txBox="1"/>
          <p:nvPr/>
        </p:nvSpPr>
        <p:spPr>
          <a:xfrm>
            <a:off x="9359666" y="5023915"/>
            <a:ext cx="211932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PaymentCompleted</a:t>
            </a:r>
            <a:endParaRPr lang="en-US" sz="1200" dirty="0"/>
          </a:p>
        </p:txBody>
      </p:sp>
      <p:sp>
        <p:nvSpPr>
          <p:cNvPr id="51" name="Shape 43"/>
          <p:cNvSpPr/>
          <p:nvPr/>
        </p:nvSpPr>
        <p:spPr>
          <a:xfrm>
            <a:off x="2997125" y="2349441"/>
            <a:ext cx="609585" cy="63"/>
          </a:xfrm>
          <a:prstGeom prst="line">
            <a:avLst/>
          </a:prstGeom>
          <a:noFill/>
          <a:ln w="19050">
            <a:solidFill>
              <a:srgbClr val="5C6B8A"/>
            </a:solidFill>
            <a:prstDash val="solid"/>
            <a:tailEnd type="triangle"/>
          </a:ln>
        </p:spPr>
      </p:sp>
      <p:sp>
        <p:nvSpPr>
          <p:cNvPr id="52" name="Shape 44"/>
          <p:cNvSpPr/>
          <p:nvPr/>
        </p:nvSpPr>
        <p:spPr>
          <a:xfrm>
            <a:off x="5791055" y="2349441"/>
            <a:ext cx="609585" cy="63"/>
          </a:xfrm>
          <a:prstGeom prst="line">
            <a:avLst/>
          </a:prstGeom>
          <a:noFill/>
          <a:ln w="19050">
            <a:solidFill>
              <a:srgbClr val="5C6B8A"/>
            </a:solidFill>
            <a:prstDash val="solid"/>
            <a:tailEnd type="triangle"/>
          </a:ln>
        </p:spPr>
      </p:sp>
      <p:sp>
        <p:nvSpPr>
          <p:cNvPr id="53" name="Shape 45"/>
          <p:cNvSpPr/>
          <p:nvPr/>
        </p:nvSpPr>
        <p:spPr>
          <a:xfrm>
            <a:off x="8584985" y="2349441"/>
            <a:ext cx="609585" cy="63"/>
          </a:xfrm>
          <a:prstGeom prst="line">
            <a:avLst/>
          </a:prstGeom>
          <a:noFill/>
          <a:ln w="19050">
            <a:solidFill>
              <a:srgbClr val="5C6B8A"/>
            </a:solidFill>
            <a:prstDash val="solid"/>
            <a:headEnd type="triangle"/>
            <a:tailEnd type="triangle"/>
          </a:ln>
        </p:spPr>
      </p:sp>
      <p:sp>
        <p:nvSpPr>
          <p:cNvPr id="54" name="Shape 46"/>
          <p:cNvSpPr/>
          <p:nvPr/>
        </p:nvSpPr>
        <p:spPr>
          <a:xfrm flipH="1">
            <a:off x="8584985" y="3428914"/>
            <a:ext cx="609585" cy="63"/>
          </a:xfrm>
          <a:prstGeom prst="line">
            <a:avLst/>
          </a:prstGeom>
          <a:noFill/>
          <a:ln w="19050">
            <a:solidFill>
              <a:srgbClr val="B4530F"/>
            </a:solidFill>
            <a:prstDash val="solid"/>
            <a:tailEnd type="triangle"/>
          </a:ln>
        </p:spPr>
      </p:sp>
      <p:sp>
        <p:nvSpPr>
          <p:cNvPr id="55" name="Shape 47"/>
          <p:cNvSpPr/>
          <p:nvPr/>
        </p:nvSpPr>
        <p:spPr>
          <a:xfrm>
            <a:off x="1904952" y="2793930"/>
            <a:ext cx="63" cy="507987"/>
          </a:xfrm>
          <a:prstGeom prst="line">
            <a:avLst/>
          </a:prstGeom>
          <a:noFill/>
          <a:ln w="19050">
            <a:solidFill>
              <a:srgbClr val="5C6B8A"/>
            </a:solidFill>
            <a:prstDash val="solid"/>
            <a:tailEnd type="triangle"/>
          </a:ln>
        </p:spPr>
      </p:sp>
      <p:sp>
        <p:nvSpPr>
          <p:cNvPr id="56" name="Shape 48"/>
          <p:cNvSpPr/>
          <p:nvPr/>
        </p:nvSpPr>
        <p:spPr>
          <a:xfrm>
            <a:off x="2997125" y="3746406"/>
            <a:ext cx="1066773" cy="63"/>
          </a:xfrm>
          <a:prstGeom prst="line">
            <a:avLst/>
          </a:prstGeom>
          <a:noFill/>
          <a:ln w="19050">
            <a:solidFill>
              <a:srgbClr val="B4530F"/>
            </a:solidFill>
            <a:prstDash val="solid"/>
          </a:ln>
        </p:spPr>
      </p:sp>
      <p:sp>
        <p:nvSpPr>
          <p:cNvPr id="57" name="Shape 49"/>
          <p:cNvSpPr/>
          <p:nvPr/>
        </p:nvSpPr>
        <p:spPr>
          <a:xfrm flipV="1">
            <a:off x="4063898" y="2793930"/>
            <a:ext cx="63" cy="952476"/>
          </a:xfrm>
          <a:prstGeom prst="line">
            <a:avLst/>
          </a:prstGeom>
          <a:noFill/>
          <a:ln w="19050">
            <a:solidFill>
              <a:srgbClr val="B4530F"/>
            </a:solidFill>
            <a:prstDash val="solid"/>
            <a:tailEnd type="triangle"/>
          </a:ln>
        </p:spPr>
      </p:sp>
      <p:sp>
        <p:nvSpPr>
          <p:cNvPr id="58" name="Text 50"/>
          <p:cNvSpPr txBox="1"/>
          <p:nvPr/>
        </p:nvSpPr>
        <p:spPr>
          <a:xfrm>
            <a:off x="3098723" y="3797205"/>
            <a:ext cx="711182" cy="213355"/>
          </a:xfrm>
          <a:prstGeom prst="rect">
            <a:avLst/>
          </a:prstGeom>
          <a:noFill/>
          <a:ln/>
        </p:spPr>
        <p:txBody>
          <a:bodyPr wrap="square" lIns="0" tIns="0" rIns="0" bIns="0" rtlCol="0" anchor="t"/>
          <a:lstStyle/>
          <a:p>
            <a:pPr algn="l" indent="0" marL="0">
              <a:lnSpc>
                <a:spcPct val="116667"/>
              </a:lnSpc>
              <a:buNone/>
            </a:pPr>
            <a:r>
              <a:rPr lang="en-US" sz="1200" dirty="0">
                <a:solidFill>
                  <a:srgbClr val="B4530F"/>
                </a:solidFill>
                <a:latin typeface="Calibri" pitchFamily="34" charset="0"/>
                <a:ea typeface="Calibri" pitchFamily="34" charset="-122"/>
                <a:cs typeface="Calibri" pitchFamily="34" charset="-120"/>
              </a:rPr>
              <a:t>verify</a:t>
            </a:r>
            <a:endParaRPr lang="en-US" sz="1200" dirty="0"/>
          </a:p>
        </p:txBody>
      </p:sp>
      <p:sp>
        <p:nvSpPr>
          <p:cNvPr id="59" name="Shape 51"/>
          <p:cNvSpPr/>
          <p:nvPr/>
        </p:nvSpPr>
        <p:spPr>
          <a:xfrm flipH="1">
            <a:off x="4698883" y="3809905"/>
            <a:ext cx="1701757" cy="63"/>
          </a:xfrm>
          <a:prstGeom prst="line">
            <a:avLst/>
          </a:prstGeom>
          <a:noFill/>
          <a:ln w="19050">
            <a:solidFill>
              <a:srgbClr val="5C6B8A"/>
            </a:solidFill>
            <a:prstDash val="solid"/>
            <a:headEnd type="triangle"/>
          </a:ln>
        </p:spPr>
      </p:sp>
      <p:sp>
        <p:nvSpPr>
          <p:cNvPr id="60" name="Shape 52"/>
          <p:cNvSpPr/>
          <p:nvPr/>
        </p:nvSpPr>
        <p:spPr>
          <a:xfrm>
            <a:off x="4698883" y="3809905"/>
            <a:ext cx="63" cy="888978"/>
          </a:xfrm>
          <a:prstGeom prst="line">
            <a:avLst/>
          </a:prstGeom>
          <a:noFill/>
          <a:ln w="19050">
            <a:solidFill>
              <a:srgbClr val="5C6B8A"/>
            </a:solidFill>
            <a:prstDash val="solid"/>
            <a:tailEnd type="triangle"/>
          </a:ln>
        </p:spPr>
      </p:sp>
      <p:sp>
        <p:nvSpPr>
          <p:cNvPr id="61" name="Text 53"/>
          <p:cNvSpPr txBox="1"/>
          <p:nvPr/>
        </p:nvSpPr>
        <p:spPr>
          <a:xfrm>
            <a:off x="4800480" y="4114697"/>
            <a:ext cx="1564601"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amount facts</a:t>
            </a:r>
            <a:endParaRPr lang="en-US" sz="1200" dirty="0"/>
          </a:p>
        </p:txBody>
      </p:sp>
      <p:sp>
        <p:nvSpPr>
          <p:cNvPr id="62" name="Shape 54"/>
          <p:cNvSpPr/>
          <p:nvPr/>
        </p:nvSpPr>
        <p:spPr>
          <a:xfrm>
            <a:off x="7492813" y="4190895"/>
            <a:ext cx="63" cy="507987"/>
          </a:xfrm>
          <a:prstGeom prst="line">
            <a:avLst/>
          </a:prstGeom>
          <a:noFill/>
          <a:ln w="19050">
            <a:solidFill>
              <a:srgbClr val="5C6B8A"/>
            </a:solidFill>
            <a:prstDash val="solid"/>
            <a:tailEnd type="triangle"/>
          </a:ln>
        </p:spPr>
      </p:sp>
      <p:sp>
        <p:nvSpPr>
          <p:cNvPr id="63" name="Shape 55"/>
          <p:cNvSpPr/>
          <p:nvPr/>
        </p:nvSpPr>
        <p:spPr>
          <a:xfrm>
            <a:off x="8584985" y="4063898"/>
            <a:ext cx="1701757" cy="63"/>
          </a:xfrm>
          <a:prstGeom prst="line">
            <a:avLst/>
          </a:prstGeom>
          <a:noFill/>
          <a:ln w="19050">
            <a:solidFill>
              <a:srgbClr val="4B4B9A"/>
            </a:solidFill>
            <a:prstDash val="solid"/>
          </a:ln>
        </p:spPr>
      </p:sp>
      <p:sp>
        <p:nvSpPr>
          <p:cNvPr id="64" name="Shape 56"/>
          <p:cNvSpPr/>
          <p:nvPr/>
        </p:nvSpPr>
        <p:spPr>
          <a:xfrm>
            <a:off x="10286743" y="4063898"/>
            <a:ext cx="63" cy="634984"/>
          </a:xfrm>
          <a:prstGeom prst="line">
            <a:avLst/>
          </a:prstGeom>
          <a:noFill/>
          <a:ln w="19050">
            <a:solidFill>
              <a:srgbClr val="4B4B9A"/>
            </a:solidFill>
            <a:prstDash val="solid"/>
            <a:tailEnd type="triangle"/>
          </a:ln>
        </p:spPr>
      </p:sp>
      <p:sp>
        <p:nvSpPr>
          <p:cNvPr id="65" name="Text 57"/>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Architecture</a:t>
            </a:r>
            <a:endParaRPr lang="en-US" sz="1200" dirty="0"/>
          </a:p>
        </p:txBody>
      </p:sp>
      <p:sp>
        <p:nvSpPr>
          <p:cNvPr id="66" name="Text 58"/>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ARCHITECTURE · EVENTS</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Events are as durable as the writes behind them</a:t>
            </a:r>
            <a:endParaRPr lang="en-US" sz="3000" dirty="0"/>
          </a:p>
        </p:txBody>
      </p:sp>
      <p:sp>
        <p:nvSpPr>
          <p:cNvPr id="4" name="Shape 2"/>
          <p:cNvSpPr/>
          <p:nvPr/>
        </p:nvSpPr>
        <p:spPr>
          <a:xfrm>
            <a:off x="812780" y="1841454"/>
            <a:ext cx="1777956" cy="3555911"/>
          </a:xfrm>
          <a:prstGeom prst="roundRect">
            <a:avLst>
              <a:gd name="adj" fmla="val 5714"/>
            </a:avLst>
          </a:prstGeom>
          <a:solidFill>
            <a:srgbClr val="FCFDFF"/>
          </a:solidFill>
          <a:ln w="12700">
            <a:solidFill>
              <a:srgbClr val="0B7F74"/>
            </a:solidFill>
            <a:prstDash val="solid"/>
          </a:ln>
        </p:spPr>
      </p:sp>
      <p:sp>
        <p:nvSpPr>
          <p:cNvPr id="5" name="Text 3"/>
          <p:cNvSpPr txBox="1"/>
          <p:nvPr/>
        </p:nvSpPr>
        <p:spPr>
          <a:xfrm>
            <a:off x="939777" y="1968451"/>
            <a:ext cx="1706837" cy="231134"/>
          </a:xfrm>
          <a:prstGeom prst="rect">
            <a:avLst/>
          </a:prstGeom>
          <a:noFill/>
          <a:ln/>
        </p:spPr>
        <p:txBody>
          <a:bodyPr wrap="square" lIns="0" tIns="0" rIns="0" bIns="0" rtlCol="0" anchor="t"/>
          <a:lstStyle/>
          <a:p>
            <a:pPr algn="l" indent="0" marL="0">
              <a:lnSpc>
                <a:spcPct val="116667"/>
              </a:lnSpc>
              <a:buNone/>
            </a:pPr>
            <a:r>
              <a:rPr lang="en-US" sz="1300" b="1" dirty="0">
                <a:solidFill>
                  <a:srgbClr val="0B7F74"/>
                </a:solidFill>
                <a:latin typeface="Calibri" pitchFamily="34" charset="0"/>
                <a:ea typeface="Calibri" pitchFamily="34" charset="-122"/>
                <a:cs typeface="Calibri" pitchFamily="34" charset="-120"/>
              </a:rPr>
              <a:t>Producers</a:t>
            </a:r>
            <a:endParaRPr lang="en-US" sz="1300" dirty="0"/>
          </a:p>
        </p:txBody>
      </p:sp>
      <p:sp>
        <p:nvSpPr>
          <p:cNvPr id="6" name="Shape 4"/>
          <p:cNvSpPr/>
          <p:nvPr/>
        </p:nvSpPr>
        <p:spPr>
          <a:xfrm>
            <a:off x="939777" y="2263024"/>
            <a:ext cx="1523962" cy="299633"/>
          </a:xfrm>
          <a:prstGeom prst="roundRect">
            <a:avLst>
              <a:gd name="adj" fmla="val 21192"/>
            </a:avLst>
          </a:prstGeom>
          <a:solidFill>
            <a:srgbClr val="DDF2EF"/>
          </a:solidFill>
          <a:ln/>
        </p:spPr>
      </p:sp>
      <p:sp>
        <p:nvSpPr>
          <p:cNvPr id="7" name="Text 5"/>
          <p:cNvSpPr txBox="1"/>
          <p:nvPr/>
        </p:nvSpPr>
        <p:spPr>
          <a:xfrm>
            <a:off x="1028674" y="2313823"/>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booking</a:t>
            </a:r>
            <a:endParaRPr lang="en-US" sz="1200" dirty="0"/>
          </a:p>
        </p:txBody>
      </p:sp>
      <p:sp>
        <p:nvSpPr>
          <p:cNvPr id="8" name="Shape 6"/>
          <p:cNvSpPr/>
          <p:nvPr/>
        </p:nvSpPr>
        <p:spPr>
          <a:xfrm>
            <a:off x="939777" y="2626155"/>
            <a:ext cx="1523962" cy="299633"/>
          </a:xfrm>
          <a:prstGeom prst="roundRect">
            <a:avLst>
              <a:gd name="adj" fmla="val 21192"/>
            </a:avLst>
          </a:prstGeom>
          <a:solidFill>
            <a:srgbClr val="DDF2EF"/>
          </a:solidFill>
          <a:ln/>
        </p:spPr>
      </p:sp>
      <p:sp>
        <p:nvSpPr>
          <p:cNvPr id="9" name="Text 7"/>
          <p:cNvSpPr txBox="1"/>
          <p:nvPr/>
        </p:nvSpPr>
        <p:spPr>
          <a:xfrm>
            <a:off x="1028674" y="2676954"/>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dispatch</a:t>
            </a:r>
            <a:endParaRPr lang="en-US" sz="1200" dirty="0"/>
          </a:p>
        </p:txBody>
      </p:sp>
      <p:sp>
        <p:nvSpPr>
          <p:cNvPr id="10" name="Shape 8"/>
          <p:cNvSpPr/>
          <p:nvPr/>
        </p:nvSpPr>
        <p:spPr>
          <a:xfrm>
            <a:off x="939777" y="2989287"/>
            <a:ext cx="1523962" cy="299633"/>
          </a:xfrm>
          <a:prstGeom prst="roundRect">
            <a:avLst>
              <a:gd name="adj" fmla="val 21192"/>
            </a:avLst>
          </a:prstGeom>
          <a:solidFill>
            <a:srgbClr val="DDF2EF"/>
          </a:solidFill>
          <a:ln/>
        </p:spPr>
      </p:sp>
      <p:sp>
        <p:nvSpPr>
          <p:cNvPr id="11" name="Text 9"/>
          <p:cNvSpPr txBox="1"/>
          <p:nvPr/>
        </p:nvSpPr>
        <p:spPr>
          <a:xfrm>
            <a:off x="1028674" y="3040086"/>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payment</a:t>
            </a:r>
            <a:endParaRPr lang="en-US" sz="1200" dirty="0"/>
          </a:p>
        </p:txBody>
      </p:sp>
      <p:sp>
        <p:nvSpPr>
          <p:cNvPr id="12" name="Shape 10"/>
          <p:cNvSpPr/>
          <p:nvPr/>
        </p:nvSpPr>
        <p:spPr>
          <a:xfrm>
            <a:off x="939777" y="3352419"/>
            <a:ext cx="1523962" cy="299633"/>
          </a:xfrm>
          <a:prstGeom prst="roundRect">
            <a:avLst>
              <a:gd name="adj" fmla="val 21192"/>
            </a:avLst>
          </a:prstGeom>
          <a:solidFill>
            <a:srgbClr val="DDF2EF"/>
          </a:solidFill>
          <a:ln/>
        </p:spPr>
      </p:sp>
      <p:sp>
        <p:nvSpPr>
          <p:cNvPr id="13" name="Text 11"/>
          <p:cNvSpPr txBox="1"/>
          <p:nvPr/>
        </p:nvSpPr>
        <p:spPr>
          <a:xfrm>
            <a:off x="1028674" y="3403217"/>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complaint</a:t>
            </a:r>
            <a:endParaRPr lang="en-US" sz="1200" dirty="0"/>
          </a:p>
        </p:txBody>
      </p:sp>
      <p:sp>
        <p:nvSpPr>
          <p:cNvPr id="14" name="Shape 12"/>
          <p:cNvSpPr/>
          <p:nvPr/>
        </p:nvSpPr>
        <p:spPr>
          <a:xfrm>
            <a:off x="939777" y="3715550"/>
            <a:ext cx="1523962" cy="299633"/>
          </a:xfrm>
          <a:prstGeom prst="roundRect">
            <a:avLst>
              <a:gd name="adj" fmla="val 21192"/>
            </a:avLst>
          </a:prstGeom>
          <a:solidFill>
            <a:srgbClr val="DDF2EF"/>
          </a:solidFill>
          <a:ln/>
        </p:spPr>
      </p:sp>
      <p:sp>
        <p:nvSpPr>
          <p:cNvPr id="15" name="Text 13"/>
          <p:cNvSpPr txBox="1"/>
          <p:nvPr/>
        </p:nvSpPr>
        <p:spPr>
          <a:xfrm>
            <a:off x="1028674" y="3766349"/>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rating-review</a:t>
            </a:r>
            <a:endParaRPr lang="en-US" sz="1200" dirty="0"/>
          </a:p>
        </p:txBody>
      </p:sp>
      <p:sp>
        <p:nvSpPr>
          <p:cNvPr id="16" name="Shape 14"/>
          <p:cNvSpPr/>
          <p:nvPr/>
        </p:nvSpPr>
        <p:spPr>
          <a:xfrm>
            <a:off x="3009825" y="3047924"/>
            <a:ext cx="1777956" cy="1142971"/>
          </a:xfrm>
          <a:prstGeom prst="roundRect">
            <a:avLst>
              <a:gd name="adj" fmla="val 7778"/>
            </a:avLst>
          </a:prstGeom>
          <a:solidFill>
            <a:srgbClr val="FCFDFF"/>
          </a:solidFill>
          <a:ln w="12700">
            <a:solidFill>
              <a:srgbClr val="2F5C9A"/>
            </a:solidFill>
            <a:prstDash val="solid"/>
          </a:ln>
        </p:spPr>
      </p:sp>
      <p:sp>
        <p:nvSpPr>
          <p:cNvPr id="17" name="Shape 15"/>
          <p:cNvSpPr/>
          <p:nvPr/>
        </p:nvSpPr>
        <p:spPr>
          <a:xfrm>
            <a:off x="3009825" y="3047924"/>
            <a:ext cx="50799" cy="1142971"/>
          </a:xfrm>
          <a:prstGeom prst="roundRect">
            <a:avLst>
              <a:gd name="adj" fmla="val 50000"/>
            </a:avLst>
          </a:prstGeom>
          <a:solidFill>
            <a:srgbClr val="2F5C9A"/>
          </a:solidFill>
          <a:ln/>
        </p:spPr>
      </p:sp>
      <p:pic>
        <p:nvPicPr>
          <p:cNvPr id="18" name="Image 0" descr="preencoded.png">    </p:cNvPr>
          <p:cNvPicPr>
            <a:picLocks noChangeAspect="1"/>
          </p:cNvPicPr>
          <p:nvPr/>
        </p:nvPicPr>
        <p:blipFill>
          <a:blip r:embed="rId1"/>
          <a:stretch>
            <a:fillRect/>
          </a:stretch>
        </p:blipFill>
        <p:spPr>
          <a:xfrm>
            <a:off x="3174921" y="3153291"/>
            <a:ext cx="190495" cy="190495"/>
          </a:xfrm>
          <a:prstGeom prst="rect">
            <a:avLst/>
          </a:prstGeom>
        </p:spPr>
      </p:pic>
      <p:sp>
        <p:nvSpPr>
          <p:cNvPr id="19" name="Text 16"/>
          <p:cNvSpPr txBox="1"/>
          <p:nvPr/>
        </p:nvSpPr>
        <p:spPr>
          <a:xfrm>
            <a:off x="3428914" y="3149521"/>
            <a:ext cx="1202454"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outbox_event</a:t>
            </a:r>
            <a:endParaRPr lang="en-US" sz="1300" dirty="0"/>
          </a:p>
        </p:txBody>
      </p:sp>
      <p:sp>
        <p:nvSpPr>
          <p:cNvPr id="20" name="Text 17"/>
          <p:cNvSpPr txBox="1"/>
          <p:nvPr/>
        </p:nvSpPr>
        <p:spPr>
          <a:xfrm>
            <a:off x="3174921" y="3372956"/>
            <a:ext cx="1664166"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same transaction as the state change</a:t>
            </a:r>
            <a:endParaRPr lang="en-US" sz="1200" dirty="0"/>
          </a:p>
        </p:txBody>
      </p:sp>
      <p:sp>
        <p:nvSpPr>
          <p:cNvPr id="21" name="Shape 18"/>
          <p:cNvSpPr/>
          <p:nvPr/>
        </p:nvSpPr>
        <p:spPr>
          <a:xfrm>
            <a:off x="5206870" y="3047924"/>
            <a:ext cx="1777956" cy="1142971"/>
          </a:xfrm>
          <a:prstGeom prst="roundRect">
            <a:avLst>
              <a:gd name="adj" fmla="val 7778"/>
            </a:avLst>
          </a:prstGeom>
          <a:solidFill>
            <a:srgbClr val="FCFDFF"/>
          </a:solidFill>
          <a:ln w="12700">
            <a:solidFill>
              <a:srgbClr val="3F5F95"/>
            </a:solidFill>
            <a:prstDash val="solid"/>
          </a:ln>
        </p:spPr>
      </p:sp>
      <p:sp>
        <p:nvSpPr>
          <p:cNvPr id="22" name="Shape 19"/>
          <p:cNvSpPr/>
          <p:nvPr/>
        </p:nvSpPr>
        <p:spPr>
          <a:xfrm>
            <a:off x="5206870" y="3047924"/>
            <a:ext cx="50799" cy="1142971"/>
          </a:xfrm>
          <a:prstGeom prst="roundRect">
            <a:avLst>
              <a:gd name="adj" fmla="val 50000"/>
            </a:avLst>
          </a:prstGeom>
          <a:solidFill>
            <a:srgbClr val="3F5F95"/>
          </a:solidFill>
          <a:ln/>
        </p:spPr>
      </p:sp>
      <p:pic>
        <p:nvPicPr>
          <p:cNvPr id="23" name="Image 1" descr="preencoded.png">    </p:cNvPr>
          <p:cNvPicPr>
            <a:picLocks noChangeAspect="1"/>
          </p:cNvPicPr>
          <p:nvPr/>
        </p:nvPicPr>
        <p:blipFill>
          <a:blip r:embed="rId2"/>
          <a:stretch>
            <a:fillRect/>
          </a:stretch>
        </p:blipFill>
        <p:spPr>
          <a:xfrm>
            <a:off x="5371966" y="3153291"/>
            <a:ext cx="190495" cy="190495"/>
          </a:xfrm>
          <a:prstGeom prst="rect">
            <a:avLst/>
          </a:prstGeom>
        </p:spPr>
      </p:pic>
      <p:sp>
        <p:nvSpPr>
          <p:cNvPr id="24" name="Text 20"/>
          <p:cNvSpPr txBox="1"/>
          <p:nvPr/>
        </p:nvSpPr>
        <p:spPr>
          <a:xfrm>
            <a:off x="5625959" y="3149521"/>
            <a:ext cx="1094221"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outbox relay</a:t>
            </a:r>
            <a:endParaRPr lang="en-US" sz="1300" dirty="0"/>
          </a:p>
        </p:txBody>
      </p:sp>
      <p:sp>
        <p:nvSpPr>
          <p:cNvPr id="25" name="Text 21"/>
          <p:cNvSpPr txBox="1"/>
          <p:nvPr/>
        </p:nvSpPr>
        <p:spPr>
          <a:xfrm>
            <a:off x="5371966" y="3372956"/>
            <a:ext cx="1664166"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1 s poll, 100 rows, SKIP LOCKED</a:t>
            </a:r>
            <a:endParaRPr lang="en-US" sz="1200" dirty="0"/>
          </a:p>
        </p:txBody>
      </p:sp>
      <p:sp>
        <p:nvSpPr>
          <p:cNvPr id="26" name="Shape 22"/>
          <p:cNvSpPr/>
          <p:nvPr/>
        </p:nvSpPr>
        <p:spPr>
          <a:xfrm>
            <a:off x="7403915" y="2666933"/>
            <a:ext cx="1777956" cy="1904952"/>
          </a:xfrm>
          <a:prstGeom prst="roundRect">
            <a:avLst>
              <a:gd name="adj" fmla="val 5000"/>
            </a:avLst>
          </a:prstGeom>
          <a:solidFill>
            <a:srgbClr val="FCFDFF"/>
          </a:solidFill>
          <a:ln w="12700">
            <a:solidFill>
              <a:srgbClr val="4B4B9A"/>
            </a:solidFill>
            <a:prstDash val="solid"/>
          </a:ln>
        </p:spPr>
      </p:sp>
      <p:sp>
        <p:nvSpPr>
          <p:cNvPr id="27" name="Shape 23"/>
          <p:cNvSpPr/>
          <p:nvPr/>
        </p:nvSpPr>
        <p:spPr>
          <a:xfrm>
            <a:off x="7403915" y="2666933"/>
            <a:ext cx="50799" cy="1904952"/>
          </a:xfrm>
          <a:prstGeom prst="roundRect">
            <a:avLst>
              <a:gd name="adj" fmla="val 50000"/>
            </a:avLst>
          </a:prstGeom>
          <a:solidFill>
            <a:srgbClr val="4B4B9A"/>
          </a:solidFill>
          <a:ln/>
        </p:spPr>
      </p:sp>
      <p:pic>
        <p:nvPicPr>
          <p:cNvPr id="28" name="Image 2" descr="preencoded.png">    </p:cNvPr>
          <p:cNvPicPr>
            <a:picLocks noChangeAspect="1"/>
          </p:cNvPicPr>
          <p:nvPr/>
        </p:nvPicPr>
        <p:blipFill>
          <a:blip r:embed="rId3"/>
          <a:stretch>
            <a:fillRect/>
          </a:stretch>
        </p:blipFill>
        <p:spPr>
          <a:xfrm>
            <a:off x="7569011" y="2772301"/>
            <a:ext cx="190495" cy="190495"/>
          </a:xfrm>
          <a:prstGeom prst="rect">
            <a:avLst/>
          </a:prstGeom>
        </p:spPr>
      </p:pic>
      <p:sp>
        <p:nvSpPr>
          <p:cNvPr id="29" name="Text 24"/>
          <p:cNvSpPr txBox="1"/>
          <p:nvPr/>
        </p:nvSpPr>
        <p:spPr>
          <a:xfrm>
            <a:off x="7823004" y="2768531"/>
            <a:ext cx="500348"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Kafka</a:t>
            </a:r>
            <a:endParaRPr lang="en-US" sz="1300" dirty="0"/>
          </a:p>
        </p:txBody>
      </p:sp>
      <p:sp>
        <p:nvSpPr>
          <p:cNvPr id="30" name="Text 25"/>
          <p:cNvSpPr txBox="1"/>
          <p:nvPr/>
        </p:nvSpPr>
        <p:spPr>
          <a:xfrm>
            <a:off x="7569011" y="2991966"/>
            <a:ext cx="166416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13 topics</a:t>
            </a:r>
            <a:endParaRPr lang="en-US" sz="1200" dirty="0"/>
          </a:p>
        </p:txBody>
      </p:sp>
      <p:sp>
        <p:nvSpPr>
          <p:cNvPr id="31" name="Text 26"/>
          <p:cNvSpPr txBox="1"/>
          <p:nvPr/>
        </p:nvSpPr>
        <p:spPr>
          <a:xfrm>
            <a:off x="7569011" y="3223041"/>
            <a:ext cx="166416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key = aggregate id</a:t>
            </a:r>
            <a:endParaRPr lang="en-US" sz="1200" dirty="0"/>
          </a:p>
        </p:txBody>
      </p:sp>
      <p:sp>
        <p:nvSpPr>
          <p:cNvPr id="32" name="Text 27"/>
          <p:cNvSpPr txBox="1"/>
          <p:nvPr/>
        </p:nvSpPr>
        <p:spPr>
          <a:xfrm>
            <a:off x="7569011" y="3454115"/>
            <a:ext cx="1664166"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acks=all, idempotent</a:t>
            </a:r>
            <a:endParaRPr lang="en-US" sz="1200" dirty="0"/>
          </a:p>
        </p:txBody>
      </p:sp>
      <p:sp>
        <p:nvSpPr>
          <p:cNvPr id="33" name="Shape 28"/>
          <p:cNvSpPr/>
          <p:nvPr/>
        </p:nvSpPr>
        <p:spPr>
          <a:xfrm>
            <a:off x="7403915" y="4825879"/>
            <a:ext cx="1777956" cy="634984"/>
          </a:xfrm>
          <a:prstGeom prst="roundRect">
            <a:avLst>
              <a:gd name="adj" fmla="val 14000"/>
            </a:avLst>
          </a:prstGeom>
          <a:solidFill>
            <a:srgbClr val="FBE4E2"/>
          </a:solidFill>
          <a:ln w="12700">
            <a:solidFill>
              <a:srgbClr val="C0352B"/>
            </a:solidFill>
            <a:prstDash val="dash"/>
          </a:ln>
        </p:spPr>
      </p:sp>
      <p:sp>
        <p:nvSpPr>
          <p:cNvPr id="34" name="Shape 29"/>
          <p:cNvSpPr/>
          <p:nvPr/>
        </p:nvSpPr>
        <p:spPr>
          <a:xfrm>
            <a:off x="7403915" y="4825879"/>
            <a:ext cx="50799" cy="634984"/>
          </a:xfrm>
          <a:prstGeom prst="roundRect">
            <a:avLst>
              <a:gd name="adj" fmla="val 50000"/>
            </a:avLst>
          </a:prstGeom>
          <a:solidFill>
            <a:srgbClr val="C0352B"/>
          </a:solidFill>
          <a:ln/>
        </p:spPr>
      </p:sp>
      <p:sp>
        <p:nvSpPr>
          <p:cNvPr id="35" name="Text 30"/>
          <p:cNvSpPr txBox="1"/>
          <p:nvPr/>
        </p:nvSpPr>
        <p:spPr>
          <a:xfrm>
            <a:off x="7569011" y="4889378"/>
            <a:ext cx="1664166"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topic.DLT</a:t>
            </a:r>
            <a:endParaRPr lang="en-US" sz="1300" dirty="0"/>
          </a:p>
        </p:txBody>
      </p:sp>
      <p:sp>
        <p:nvSpPr>
          <p:cNvPr id="36" name="Text 31"/>
          <p:cNvSpPr txBox="1"/>
          <p:nvPr/>
        </p:nvSpPr>
        <p:spPr>
          <a:xfrm>
            <a:off x="7569011" y="5112813"/>
            <a:ext cx="1664166" cy="205735"/>
          </a:xfrm>
          <a:prstGeom prst="rect">
            <a:avLst/>
          </a:prstGeom>
          <a:noFill/>
          <a:ln/>
        </p:spPr>
        <p:txBody>
          <a:bodyPr wrap="square" lIns="0" tIns="0" rIns="0" bIns="0" rtlCol="0" anchor="t"/>
          <a:lstStyle/>
          <a:p>
            <a:pPr algn="l" indent="0" marL="0">
              <a:lnSpc>
                <a:spcPct val="112500"/>
              </a:lnSpc>
              <a:buNone/>
            </a:pPr>
            <a:r>
              <a:rPr lang="en-US" sz="1200" dirty="0">
                <a:solidFill>
                  <a:srgbClr val="C0352B"/>
                </a:solidFill>
                <a:latin typeface="Calibri" pitchFamily="34" charset="0"/>
                <a:ea typeface="Calibri" pitchFamily="34" charset="-122"/>
                <a:cs typeface="Calibri" pitchFamily="34" charset="-120"/>
              </a:rPr>
              <a:t>after 3 retries</a:t>
            </a:r>
            <a:endParaRPr lang="en-US" sz="1200" dirty="0"/>
          </a:p>
        </p:txBody>
      </p:sp>
      <p:sp>
        <p:nvSpPr>
          <p:cNvPr id="37" name="Shape 32"/>
          <p:cNvSpPr/>
          <p:nvPr/>
        </p:nvSpPr>
        <p:spPr>
          <a:xfrm>
            <a:off x="9600960" y="1841454"/>
            <a:ext cx="1777956" cy="3809905"/>
          </a:xfrm>
          <a:prstGeom prst="roundRect">
            <a:avLst>
              <a:gd name="adj" fmla="val 5714"/>
            </a:avLst>
          </a:prstGeom>
          <a:solidFill>
            <a:srgbClr val="FCFDFF"/>
          </a:solidFill>
          <a:ln w="12700">
            <a:solidFill>
              <a:srgbClr val="B8306E"/>
            </a:solidFill>
            <a:prstDash val="solid"/>
          </a:ln>
        </p:spPr>
      </p:sp>
      <p:sp>
        <p:nvSpPr>
          <p:cNvPr id="38" name="Text 33"/>
          <p:cNvSpPr txBox="1"/>
          <p:nvPr/>
        </p:nvSpPr>
        <p:spPr>
          <a:xfrm>
            <a:off x="9727957" y="1968451"/>
            <a:ext cx="1706837" cy="231134"/>
          </a:xfrm>
          <a:prstGeom prst="rect">
            <a:avLst/>
          </a:prstGeom>
          <a:noFill/>
          <a:ln/>
        </p:spPr>
        <p:txBody>
          <a:bodyPr wrap="square" lIns="0" tIns="0" rIns="0" bIns="0" rtlCol="0" anchor="t"/>
          <a:lstStyle/>
          <a:p>
            <a:pPr algn="l" indent="0" marL="0">
              <a:lnSpc>
                <a:spcPct val="116667"/>
              </a:lnSpc>
              <a:buNone/>
            </a:pPr>
            <a:r>
              <a:rPr lang="en-US" sz="1300" b="1" dirty="0">
                <a:solidFill>
                  <a:srgbClr val="B8306E"/>
                </a:solidFill>
                <a:latin typeface="Calibri" pitchFamily="34" charset="0"/>
                <a:ea typeface="Calibri" pitchFamily="34" charset="-122"/>
                <a:cs typeface="Calibri" pitchFamily="34" charset="-120"/>
              </a:rPr>
              <a:t>Consumers</a:t>
            </a:r>
            <a:endParaRPr lang="en-US" sz="1300" dirty="0"/>
          </a:p>
        </p:txBody>
      </p:sp>
      <p:sp>
        <p:nvSpPr>
          <p:cNvPr id="39" name="Shape 34"/>
          <p:cNvSpPr/>
          <p:nvPr/>
        </p:nvSpPr>
        <p:spPr>
          <a:xfrm>
            <a:off x="9727957" y="2263024"/>
            <a:ext cx="1523962" cy="299633"/>
          </a:xfrm>
          <a:prstGeom prst="roundRect">
            <a:avLst>
              <a:gd name="adj" fmla="val 21192"/>
            </a:avLst>
          </a:prstGeom>
          <a:solidFill>
            <a:srgbClr val="FAE3ED"/>
          </a:solidFill>
          <a:ln/>
        </p:spPr>
      </p:sp>
      <p:sp>
        <p:nvSpPr>
          <p:cNvPr id="40" name="Text 35"/>
          <p:cNvSpPr txBox="1"/>
          <p:nvPr/>
        </p:nvSpPr>
        <p:spPr>
          <a:xfrm>
            <a:off x="9816855" y="2313823"/>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booking</a:t>
            </a:r>
            <a:endParaRPr lang="en-US" sz="1200" dirty="0"/>
          </a:p>
        </p:txBody>
      </p:sp>
      <p:sp>
        <p:nvSpPr>
          <p:cNvPr id="41" name="Shape 36"/>
          <p:cNvSpPr/>
          <p:nvPr/>
        </p:nvSpPr>
        <p:spPr>
          <a:xfrm>
            <a:off x="9727957" y="2626155"/>
            <a:ext cx="1523962" cy="299633"/>
          </a:xfrm>
          <a:prstGeom prst="roundRect">
            <a:avLst>
              <a:gd name="adj" fmla="val 21192"/>
            </a:avLst>
          </a:prstGeom>
          <a:solidFill>
            <a:srgbClr val="FAE3ED"/>
          </a:solidFill>
          <a:ln/>
        </p:spPr>
      </p:sp>
      <p:sp>
        <p:nvSpPr>
          <p:cNvPr id="42" name="Text 37"/>
          <p:cNvSpPr txBox="1"/>
          <p:nvPr/>
        </p:nvSpPr>
        <p:spPr>
          <a:xfrm>
            <a:off x="9816855" y="2676954"/>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dispatch</a:t>
            </a:r>
            <a:endParaRPr lang="en-US" sz="1200" dirty="0"/>
          </a:p>
        </p:txBody>
      </p:sp>
      <p:sp>
        <p:nvSpPr>
          <p:cNvPr id="43" name="Shape 38"/>
          <p:cNvSpPr/>
          <p:nvPr/>
        </p:nvSpPr>
        <p:spPr>
          <a:xfrm>
            <a:off x="9727957" y="2989287"/>
            <a:ext cx="1523962" cy="299633"/>
          </a:xfrm>
          <a:prstGeom prst="roundRect">
            <a:avLst>
              <a:gd name="adj" fmla="val 21192"/>
            </a:avLst>
          </a:prstGeom>
          <a:solidFill>
            <a:srgbClr val="FAE3ED"/>
          </a:solidFill>
          <a:ln/>
        </p:spPr>
      </p:sp>
      <p:sp>
        <p:nvSpPr>
          <p:cNvPr id="44" name="Text 39"/>
          <p:cNvSpPr txBox="1"/>
          <p:nvPr/>
        </p:nvSpPr>
        <p:spPr>
          <a:xfrm>
            <a:off x="9816855" y="3040086"/>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invoice</a:t>
            </a:r>
            <a:endParaRPr lang="en-US" sz="1200" dirty="0"/>
          </a:p>
        </p:txBody>
      </p:sp>
      <p:sp>
        <p:nvSpPr>
          <p:cNvPr id="45" name="Shape 40"/>
          <p:cNvSpPr/>
          <p:nvPr/>
        </p:nvSpPr>
        <p:spPr>
          <a:xfrm>
            <a:off x="9727957" y="3352419"/>
            <a:ext cx="1523962" cy="299633"/>
          </a:xfrm>
          <a:prstGeom prst="roundRect">
            <a:avLst>
              <a:gd name="adj" fmla="val 21192"/>
            </a:avLst>
          </a:prstGeom>
          <a:solidFill>
            <a:srgbClr val="FAE3ED"/>
          </a:solidFill>
          <a:ln/>
        </p:spPr>
      </p:sp>
      <p:sp>
        <p:nvSpPr>
          <p:cNvPr id="46" name="Text 41"/>
          <p:cNvSpPr txBox="1"/>
          <p:nvPr/>
        </p:nvSpPr>
        <p:spPr>
          <a:xfrm>
            <a:off x="9816855" y="3403217"/>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rating-review</a:t>
            </a:r>
            <a:endParaRPr lang="en-US" sz="1200" dirty="0"/>
          </a:p>
        </p:txBody>
      </p:sp>
      <p:sp>
        <p:nvSpPr>
          <p:cNvPr id="47" name="Shape 42"/>
          <p:cNvSpPr/>
          <p:nvPr/>
        </p:nvSpPr>
        <p:spPr>
          <a:xfrm>
            <a:off x="9727957" y="3715550"/>
            <a:ext cx="1523962" cy="299633"/>
          </a:xfrm>
          <a:prstGeom prst="roundRect">
            <a:avLst>
              <a:gd name="adj" fmla="val 21192"/>
            </a:avLst>
          </a:prstGeom>
          <a:solidFill>
            <a:srgbClr val="FAE3ED"/>
          </a:solidFill>
          <a:ln/>
        </p:spPr>
      </p:sp>
      <p:sp>
        <p:nvSpPr>
          <p:cNvPr id="48" name="Text 43"/>
          <p:cNvSpPr txBox="1"/>
          <p:nvPr/>
        </p:nvSpPr>
        <p:spPr>
          <a:xfrm>
            <a:off x="9816855" y="3766349"/>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chat</a:t>
            </a:r>
            <a:endParaRPr lang="en-US" sz="1200" dirty="0"/>
          </a:p>
        </p:txBody>
      </p:sp>
      <p:sp>
        <p:nvSpPr>
          <p:cNvPr id="49" name="Shape 44"/>
          <p:cNvSpPr/>
          <p:nvPr/>
        </p:nvSpPr>
        <p:spPr>
          <a:xfrm>
            <a:off x="9727957" y="4078682"/>
            <a:ext cx="1523962" cy="299633"/>
          </a:xfrm>
          <a:prstGeom prst="roundRect">
            <a:avLst>
              <a:gd name="adj" fmla="val 21192"/>
            </a:avLst>
          </a:prstGeom>
          <a:solidFill>
            <a:srgbClr val="FAE3ED"/>
          </a:solidFill>
          <a:ln/>
        </p:spPr>
      </p:sp>
      <p:sp>
        <p:nvSpPr>
          <p:cNvPr id="50" name="Text 45"/>
          <p:cNvSpPr txBox="1"/>
          <p:nvPr/>
        </p:nvSpPr>
        <p:spPr>
          <a:xfrm>
            <a:off x="9816855" y="4129480"/>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location</a:t>
            </a:r>
            <a:endParaRPr lang="en-US" sz="1200" dirty="0"/>
          </a:p>
        </p:txBody>
      </p:sp>
      <p:sp>
        <p:nvSpPr>
          <p:cNvPr id="51" name="Shape 46"/>
          <p:cNvSpPr/>
          <p:nvPr/>
        </p:nvSpPr>
        <p:spPr>
          <a:xfrm>
            <a:off x="9727957" y="4441813"/>
            <a:ext cx="1523962" cy="299633"/>
          </a:xfrm>
          <a:prstGeom prst="roundRect">
            <a:avLst>
              <a:gd name="adj" fmla="val 21192"/>
            </a:avLst>
          </a:prstGeom>
          <a:solidFill>
            <a:srgbClr val="FAE3ED"/>
          </a:solidFill>
          <a:ln/>
        </p:spPr>
      </p:sp>
      <p:sp>
        <p:nvSpPr>
          <p:cNvPr id="52" name="Text 47"/>
          <p:cNvSpPr txBox="1"/>
          <p:nvPr/>
        </p:nvSpPr>
        <p:spPr>
          <a:xfrm>
            <a:off x="9816855" y="4492612"/>
            <a:ext cx="150770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notification</a:t>
            </a:r>
            <a:endParaRPr lang="en-US" sz="1200" dirty="0"/>
          </a:p>
        </p:txBody>
      </p:sp>
      <p:sp>
        <p:nvSpPr>
          <p:cNvPr id="53" name="Shape 48"/>
          <p:cNvSpPr/>
          <p:nvPr/>
        </p:nvSpPr>
        <p:spPr>
          <a:xfrm>
            <a:off x="2590735" y="3619410"/>
            <a:ext cx="419090" cy="63"/>
          </a:xfrm>
          <a:prstGeom prst="line">
            <a:avLst/>
          </a:prstGeom>
          <a:noFill/>
          <a:ln w="19050">
            <a:solidFill>
              <a:srgbClr val="5C6B8A"/>
            </a:solidFill>
            <a:prstDash val="solid"/>
            <a:tailEnd type="triangle"/>
          </a:ln>
        </p:spPr>
      </p:sp>
      <p:sp>
        <p:nvSpPr>
          <p:cNvPr id="54" name="Shape 49"/>
          <p:cNvSpPr/>
          <p:nvPr/>
        </p:nvSpPr>
        <p:spPr>
          <a:xfrm>
            <a:off x="4787780" y="3619410"/>
            <a:ext cx="419090" cy="63"/>
          </a:xfrm>
          <a:prstGeom prst="line">
            <a:avLst/>
          </a:prstGeom>
          <a:noFill/>
          <a:ln w="19050">
            <a:solidFill>
              <a:srgbClr val="5C6B8A"/>
            </a:solidFill>
            <a:prstDash val="solid"/>
            <a:tailEnd type="triangle"/>
          </a:ln>
        </p:spPr>
      </p:sp>
      <p:sp>
        <p:nvSpPr>
          <p:cNvPr id="55" name="Shape 50"/>
          <p:cNvSpPr/>
          <p:nvPr/>
        </p:nvSpPr>
        <p:spPr>
          <a:xfrm>
            <a:off x="6984825" y="3619410"/>
            <a:ext cx="419090" cy="63"/>
          </a:xfrm>
          <a:prstGeom prst="line">
            <a:avLst/>
          </a:prstGeom>
          <a:noFill/>
          <a:ln w="19050">
            <a:solidFill>
              <a:srgbClr val="4B4B9A"/>
            </a:solidFill>
            <a:prstDash val="solid"/>
            <a:tailEnd type="triangle"/>
          </a:ln>
        </p:spPr>
      </p:sp>
      <p:sp>
        <p:nvSpPr>
          <p:cNvPr id="56" name="Shape 51"/>
          <p:cNvSpPr/>
          <p:nvPr/>
        </p:nvSpPr>
        <p:spPr>
          <a:xfrm>
            <a:off x="9181870" y="3619410"/>
            <a:ext cx="419090" cy="63"/>
          </a:xfrm>
          <a:prstGeom prst="line">
            <a:avLst/>
          </a:prstGeom>
          <a:noFill/>
          <a:ln w="19050">
            <a:solidFill>
              <a:srgbClr val="4B4B9A"/>
            </a:solidFill>
            <a:prstDash val="solid"/>
            <a:tailEnd type="triangle"/>
          </a:ln>
        </p:spPr>
      </p:sp>
      <p:sp>
        <p:nvSpPr>
          <p:cNvPr id="57" name="Shape 52"/>
          <p:cNvSpPr/>
          <p:nvPr/>
        </p:nvSpPr>
        <p:spPr>
          <a:xfrm>
            <a:off x="8292893" y="4571886"/>
            <a:ext cx="63" cy="253994"/>
          </a:xfrm>
          <a:prstGeom prst="line">
            <a:avLst/>
          </a:prstGeom>
          <a:noFill/>
          <a:ln w="19050">
            <a:solidFill>
              <a:srgbClr val="C0352B"/>
            </a:solidFill>
            <a:prstDash val="dash"/>
            <a:tailEnd type="triangle"/>
          </a:ln>
        </p:spPr>
      </p:sp>
      <p:sp>
        <p:nvSpPr>
          <p:cNvPr id="58" name="Text 53"/>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Architecture</a:t>
            </a:r>
            <a:endParaRPr lang="en-US" sz="1200" dirty="0"/>
          </a:p>
        </p:txBody>
      </p:sp>
      <p:sp>
        <p:nvSpPr>
          <p:cNvPr id="59" name="Text 54"/>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SEQUENCE · SIGN-IN AND API CALL</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OTP sign-in, an API call, then a silent refresh</a:t>
            </a:r>
            <a:endParaRPr lang="en-US" sz="3000" dirty="0"/>
          </a:p>
        </p:txBody>
      </p:sp>
      <p:sp>
        <p:nvSpPr>
          <p:cNvPr id="4" name="Shape 2"/>
          <p:cNvSpPr/>
          <p:nvPr/>
        </p:nvSpPr>
        <p:spPr>
          <a:xfrm>
            <a:off x="1866853" y="2260543"/>
            <a:ext cx="63" cy="3467013"/>
          </a:xfrm>
          <a:prstGeom prst="line">
            <a:avLst/>
          </a:prstGeom>
          <a:noFill/>
          <a:ln w="12700">
            <a:solidFill>
              <a:srgbClr val="D5DEEC"/>
            </a:solidFill>
            <a:prstDash val="dash"/>
          </a:ln>
        </p:spPr>
      </p:sp>
      <p:sp>
        <p:nvSpPr>
          <p:cNvPr id="5" name="Shape 3"/>
          <p:cNvSpPr/>
          <p:nvPr/>
        </p:nvSpPr>
        <p:spPr>
          <a:xfrm>
            <a:off x="3981350" y="2260543"/>
            <a:ext cx="63" cy="3467013"/>
          </a:xfrm>
          <a:prstGeom prst="line">
            <a:avLst/>
          </a:prstGeom>
          <a:noFill/>
          <a:ln w="12700">
            <a:solidFill>
              <a:srgbClr val="D5DEEC"/>
            </a:solidFill>
            <a:prstDash val="dash"/>
          </a:ln>
        </p:spPr>
      </p:sp>
      <p:sp>
        <p:nvSpPr>
          <p:cNvPr id="6" name="Shape 4"/>
          <p:cNvSpPr/>
          <p:nvPr/>
        </p:nvSpPr>
        <p:spPr>
          <a:xfrm>
            <a:off x="6095848" y="2260543"/>
            <a:ext cx="63" cy="3467013"/>
          </a:xfrm>
          <a:prstGeom prst="line">
            <a:avLst/>
          </a:prstGeom>
          <a:noFill/>
          <a:ln w="12700">
            <a:solidFill>
              <a:srgbClr val="D5DEEC"/>
            </a:solidFill>
            <a:prstDash val="dash"/>
          </a:ln>
        </p:spPr>
      </p:sp>
      <p:sp>
        <p:nvSpPr>
          <p:cNvPr id="7" name="Shape 5"/>
          <p:cNvSpPr/>
          <p:nvPr/>
        </p:nvSpPr>
        <p:spPr>
          <a:xfrm>
            <a:off x="8203995" y="2260543"/>
            <a:ext cx="63" cy="3467013"/>
          </a:xfrm>
          <a:prstGeom prst="line">
            <a:avLst/>
          </a:prstGeom>
          <a:noFill/>
          <a:ln w="12700">
            <a:solidFill>
              <a:srgbClr val="D5DEEC"/>
            </a:solidFill>
            <a:prstDash val="dash"/>
          </a:ln>
        </p:spPr>
      </p:sp>
      <p:sp>
        <p:nvSpPr>
          <p:cNvPr id="8" name="Shape 6"/>
          <p:cNvSpPr/>
          <p:nvPr/>
        </p:nvSpPr>
        <p:spPr>
          <a:xfrm>
            <a:off x="10318492" y="2260543"/>
            <a:ext cx="63" cy="3467013"/>
          </a:xfrm>
          <a:prstGeom prst="line">
            <a:avLst/>
          </a:prstGeom>
          <a:noFill/>
          <a:ln w="12700">
            <a:solidFill>
              <a:srgbClr val="D5DEEC"/>
            </a:solidFill>
            <a:prstDash val="dash"/>
          </a:ln>
        </p:spPr>
      </p:sp>
      <p:sp>
        <p:nvSpPr>
          <p:cNvPr id="9" name="Shape 7"/>
          <p:cNvSpPr/>
          <p:nvPr/>
        </p:nvSpPr>
        <p:spPr>
          <a:xfrm>
            <a:off x="977876" y="1803355"/>
            <a:ext cx="1777956" cy="457189"/>
          </a:xfrm>
          <a:prstGeom prst="roundRect">
            <a:avLst>
              <a:gd name="adj" fmla="val 19444"/>
            </a:avLst>
          </a:prstGeom>
          <a:solidFill>
            <a:srgbClr val="E3EBFA"/>
          </a:solidFill>
          <a:ln w="12700">
            <a:solidFill>
              <a:srgbClr val="2454C5"/>
            </a:solidFill>
            <a:prstDash val="solid"/>
          </a:ln>
        </p:spPr>
      </p:sp>
      <p:sp>
        <p:nvSpPr>
          <p:cNvPr id="10" name="Text 8"/>
          <p:cNvSpPr txBox="1"/>
          <p:nvPr/>
        </p:nvSpPr>
        <p:spPr>
          <a:xfrm>
            <a:off x="1680228" y="1916362"/>
            <a:ext cx="373152"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App</a:t>
            </a:r>
            <a:endParaRPr lang="en-US" sz="1300" dirty="0"/>
          </a:p>
        </p:txBody>
      </p:sp>
      <p:sp>
        <p:nvSpPr>
          <p:cNvPr id="11" name="Shape 9"/>
          <p:cNvSpPr/>
          <p:nvPr/>
        </p:nvSpPr>
        <p:spPr>
          <a:xfrm>
            <a:off x="3092373" y="1803355"/>
            <a:ext cx="1777956" cy="457189"/>
          </a:xfrm>
          <a:prstGeom prst="roundRect">
            <a:avLst>
              <a:gd name="adj" fmla="val 19444"/>
            </a:avLst>
          </a:prstGeom>
          <a:solidFill>
            <a:srgbClr val="E3EBFA"/>
          </a:solidFill>
          <a:ln w="12700">
            <a:solidFill>
              <a:srgbClr val="2454C5"/>
            </a:solidFill>
            <a:prstDash val="solid"/>
          </a:ln>
        </p:spPr>
      </p:sp>
      <p:sp>
        <p:nvSpPr>
          <p:cNvPr id="12" name="Text 10"/>
          <p:cNvSpPr txBox="1"/>
          <p:nvPr/>
        </p:nvSpPr>
        <p:spPr>
          <a:xfrm>
            <a:off x="3439858" y="1916362"/>
            <a:ext cx="1082886"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auth-service</a:t>
            </a:r>
            <a:endParaRPr lang="en-US" sz="1300" dirty="0"/>
          </a:p>
        </p:txBody>
      </p:sp>
      <p:sp>
        <p:nvSpPr>
          <p:cNvPr id="13" name="Shape 11"/>
          <p:cNvSpPr/>
          <p:nvPr/>
        </p:nvSpPr>
        <p:spPr>
          <a:xfrm>
            <a:off x="5206870" y="1803355"/>
            <a:ext cx="1777956" cy="457189"/>
          </a:xfrm>
          <a:prstGeom prst="roundRect">
            <a:avLst>
              <a:gd name="adj" fmla="val 19444"/>
            </a:avLst>
          </a:prstGeom>
          <a:solidFill>
            <a:srgbClr val="FBE4E2"/>
          </a:solidFill>
          <a:ln w="12700">
            <a:solidFill>
              <a:srgbClr val="C0352B"/>
            </a:solidFill>
            <a:prstDash val="solid"/>
          </a:ln>
        </p:spPr>
      </p:sp>
      <p:sp>
        <p:nvSpPr>
          <p:cNvPr id="14" name="Text 12"/>
          <p:cNvSpPr txBox="1"/>
          <p:nvPr/>
        </p:nvSpPr>
        <p:spPr>
          <a:xfrm>
            <a:off x="5851776" y="1916362"/>
            <a:ext cx="488144"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Redis</a:t>
            </a:r>
            <a:endParaRPr lang="en-US" sz="1300" dirty="0"/>
          </a:p>
        </p:txBody>
      </p:sp>
      <p:sp>
        <p:nvSpPr>
          <p:cNvPr id="15" name="Shape 13"/>
          <p:cNvSpPr/>
          <p:nvPr/>
        </p:nvSpPr>
        <p:spPr>
          <a:xfrm>
            <a:off x="7315017" y="1803355"/>
            <a:ext cx="1777956" cy="457189"/>
          </a:xfrm>
          <a:prstGeom prst="roundRect">
            <a:avLst>
              <a:gd name="adj" fmla="val 19444"/>
            </a:avLst>
          </a:prstGeom>
          <a:solidFill>
            <a:srgbClr val="E6EBF3"/>
          </a:solidFill>
          <a:ln w="12700">
            <a:solidFill>
              <a:srgbClr val="3F5F95"/>
            </a:solidFill>
            <a:prstDash val="solid"/>
          </a:ln>
        </p:spPr>
      </p:sp>
      <p:sp>
        <p:nvSpPr>
          <p:cNvPr id="16" name="Text 14"/>
          <p:cNvSpPr txBox="1"/>
          <p:nvPr/>
        </p:nvSpPr>
        <p:spPr>
          <a:xfrm>
            <a:off x="7681054" y="1916362"/>
            <a:ext cx="1045882"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API gateway</a:t>
            </a:r>
            <a:endParaRPr lang="en-US" sz="1300" dirty="0"/>
          </a:p>
        </p:txBody>
      </p:sp>
      <p:sp>
        <p:nvSpPr>
          <p:cNvPr id="17" name="Shape 15"/>
          <p:cNvSpPr/>
          <p:nvPr/>
        </p:nvSpPr>
        <p:spPr>
          <a:xfrm>
            <a:off x="9429514" y="1803355"/>
            <a:ext cx="1777956" cy="457189"/>
          </a:xfrm>
          <a:prstGeom prst="roundRect">
            <a:avLst>
              <a:gd name="adj" fmla="val 19444"/>
            </a:avLst>
          </a:prstGeom>
          <a:solidFill>
            <a:srgbClr val="DDF2EF"/>
          </a:solidFill>
          <a:ln w="12700">
            <a:solidFill>
              <a:srgbClr val="0B7F74"/>
            </a:solidFill>
            <a:prstDash val="solid"/>
          </a:ln>
        </p:spPr>
      </p:sp>
      <p:sp>
        <p:nvSpPr>
          <p:cNvPr id="18" name="Text 16"/>
          <p:cNvSpPr txBox="1"/>
          <p:nvPr/>
        </p:nvSpPr>
        <p:spPr>
          <a:xfrm>
            <a:off x="9655870" y="1916362"/>
            <a:ext cx="1325244"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Domain service</a:t>
            </a:r>
            <a:endParaRPr lang="en-US" sz="1300" dirty="0"/>
          </a:p>
        </p:txBody>
      </p:sp>
      <p:sp>
        <p:nvSpPr>
          <p:cNvPr id="19" name="Shape 17"/>
          <p:cNvSpPr/>
          <p:nvPr/>
        </p:nvSpPr>
        <p:spPr>
          <a:xfrm>
            <a:off x="1892253" y="2730432"/>
            <a:ext cx="2050999" cy="63"/>
          </a:xfrm>
          <a:prstGeom prst="line">
            <a:avLst/>
          </a:prstGeom>
          <a:noFill/>
          <a:ln w="19050">
            <a:solidFill>
              <a:srgbClr val="2454C5"/>
            </a:solidFill>
            <a:prstDash val="solid"/>
            <a:tailEnd type="triangle"/>
          </a:ln>
        </p:spPr>
      </p:sp>
      <p:sp>
        <p:nvSpPr>
          <p:cNvPr id="20" name="Shape 18"/>
          <p:cNvSpPr/>
          <p:nvPr/>
        </p:nvSpPr>
        <p:spPr>
          <a:xfrm>
            <a:off x="1943051" y="2476438"/>
            <a:ext cx="1962101" cy="213315"/>
          </a:xfrm>
          <a:prstGeom prst="roundRect">
            <a:avLst>
              <a:gd name="adj" fmla="val 17860"/>
            </a:avLst>
          </a:prstGeom>
          <a:solidFill>
            <a:srgbClr val="F5F7FB"/>
          </a:solidFill>
          <a:ln/>
        </p:spPr>
      </p:sp>
      <p:sp>
        <p:nvSpPr>
          <p:cNvPr id="21" name="Text 19"/>
          <p:cNvSpPr txBox="1"/>
          <p:nvPr/>
        </p:nvSpPr>
        <p:spPr>
          <a:xfrm>
            <a:off x="1825325" y="2476438"/>
            <a:ext cx="219755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1 · POST /auth/register/otp</a:t>
            </a:r>
            <a:endParaRPr lang="en-US" sz="1200" dirty="0"/>
          </a:p>
        </p:txBody>
      </p:sp>
      <p:sp>
        <p:nvSpPr>
          <p:cNvPr id="22" name="Shape 20"/>
          <p:cNvSpPr/>
          <p:nvPr/>
        </p:nvSpPr>
        <p:spPr>
          <a:xfrm>
            <a:off x="4006750" y="3086023"/>
            <a:ext cx="2050999" cy="63"/>
          </a:xfrm>
          <a:prstGeom prst="line">
            <a:avLst/>
          </a:prstGeom>
          <a:noFill/>
          <a:ln w="19050">
            <a:solidFill>
              <a:srgbClr val="2454C5"/>
            </a:solidFill>
            <a:prstDash val="solid"/>
            <a:tailEnd type="triangle"/>
          </a:ln>
        </p:spPr>
      </p:sp>
      <p:sp>
        <p:nvSpPr>
          <p:cNvPr id="23" name="Shape 21"/>
          <p:cNvSpPr/>
          <p:nvPr/>
        </p:nvSpPr>
        <p:spPr>
          <a:xfrm>
            <a:off x="4057549" y="2832029"/>
            <a:ext cx="1962101" cy="213315"/>
          </a:xfrm>
          <a:prstGeom prst="roundRect">
            <a:avLst>
              <a:gd name="adj" fmla="val 17860"/>
            </a:avLst>
          </a:prstGeom>
          <a:solidFill>
            <a:srgbClr val="F5F7FB"/>
          </a:solidFill>
          <a:ln/>
        </p:spPr>
      </p:sp>
      <p:sp>
        <p:nvSpPr>
          <p:cNvPr id="24" name="Text 22"/>
          <p:cNvSpPr txBox="1"/>
          <p:nvPr/>
        </p:nvSpPr>
        <p:spPr>
          <a:xfrm>
            <a:off x="3939823" y="2832029"/>
            <a:ext cx="219755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2 · hashed OTP, 5 tries</a:t>
            </a:r>
            <a:endParaRPr lang="en-US" sz="1200" dirty="0"/>
          </a:p>
        </p:txBody>
      </p:sp>
      <p:sp>
        <p:nvSpPr>
          <p:cNvPr id="25" name="Shape 23"/>
          <p:cNvSpPr/>
          <p:nvPr/>
        </p:nvSpPr>
        <p:spPr>
          <a:xfrm>
            <a:off x="1892253" y="3441614"/>
            <a:ext cx="2050999" cy="63"/>
          </a:xfrm>
          <a:prstGeom prst="line">
            <a:avLst/>
          </a:prstGeom>
          <a:noFill/>
          <a:ln w="19050">
            <a:solidFill>
              <a:srgbClr val="2454C5"/>
            </a:solidFill>
            <a:prstDash val="solid"/>
            <a:tailEnd type="triangle"/>
          </a:ln>
        </p:spPr>
      </p:sp>
      <p:sp>
        <p:nvSpPr>
          <p:cNvPr id="26" name="Shape 24"/>
          <p:cNvSpPr/>
          <p:nvPr/>
        </p:nvSpPr>
        <p:spPr>
          <a:xfrm>
            <a:off x="1943051" y="3187620"/>
            <a:ext cx="1962101" cy="213315"/>
          </a:xfrm>
          <a:prstGeom prst="roundRect">
            <a:avLst>
              <a:gd name="adj" fmla="val 17860"/>
            </a:avLst>
          </a:prstGeom>
          <a:solidFill>
            <a:srgbClr val="F5F7FB"/>
          </a:solidFill>
          <a:ln/>
        </p:spPr>
      </p:sp>
      <p:sp>
        <p:nvSpPr>
          <p:cNvPr id="27" name="Text 25"/>
          <p:cNvSpPr txBox="1"/>
          <p:nvPr/>
        </p:nvSpPr>
        <p:spPr>
          <a:xfrm>
            <a:off x="1825325" y="3187620"/>
            <a:ext cx="219755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3 · POST …/register/verify</a:t>
            </a:r>
            <a:endParaRPr lang="en-US" sz="1200" dirty="0"/>
          </a:p>
        </p:txBody>
      </p:sp>
      <p:sp>
        <p:nvSpPr>
          <p:cNvPr id="28" name="Shape 26"/>
          <p:cNvSpPr/>
          <p:nvPr/>
        </p:nvSpPr>
        <p:spPr>
          <a:xfrm flipH="1">
            <a:off x="1904952" y="3797205"/>
            <a:ext cx="2050999" cy="63"/>
          </a:xfrm>
          <a:prstGeom prst="line">
            <a:avLst/>
          </a:prstGeom>
          <a:noFill/>
          <a:ln w="19050">
            <a:solidFill>
              <a:srgbClr val="5C6B8A"/>
            </a:solidFill>
            <a:prstDash val="dash"/>
            <a:tailEnd type="triangle"/>
          </a:ln>
        </p:spPr>
      </p:sp>
      <p:sp>
        <p:nvSpPr>
          <p:cNvPr id="29" name="Shape 27"/>
          <p:cNvSpPr/>
          <p:nvPr/>
        </p:nvSpPr>
        <p:spPr>
          <a:xfrm>
            <a:off x="1943051" y="3543211"/>
            <a:ext cx="1962101" cy="213315"/>
          </a:xfrm>
          <a:prstGeom prst="roundRect">
            <a:avLst>
              <a:gd name="adj" fmla="val 17860"/>
            </a:avLst>
          </a:prstGeom>
          <a:solidFill>
            <a:srgbClr val="F5F7FB"/>
          </a:solidFill>
          <a:ln/>
        </p:spPr>
      </p:sp>
      <p:sp>
        <p:nvSpPr>
          <p:cNvPr id="30" name="Text 28"/>
          <p:cNvSpPr txBox="1"/>
          <p:nvPr/>
        </p:nvSpPr>
        <p:spPr>
          <a:xfrm>
            <a:off x="1825325" y="3543211"/>
            <a:ext cx="219755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4 · JWT 15 min + refresh</a:t>
            </a:r>
            <a:endParaRPr lang="en-US" sz="1200" dirty="0"/>
          </a:p>
        </p:txBody>
      </p:sp>
      <p:sp>
        <p:nvSpPr>
          <p:cNvPr id="31" name="Shape 29"/>
          <p:cNvSpPr/>
          <p:nvPr/>
        </p:nvSpPr>
        <p:spPr>
          <a:xfrm>
            <a:off x="1892253" y="4159146"/>
            <a:ext cx="6273643" cy="63"/>
          </a:xfrm>
          <a:prstGeom prst="line">
            <a:avLst/>
          </a:prstGeom>
          <a:noFill/>
          <a:ln w="19050">
            <a:solidFill>
              <a:srgbClr val="2454C5"/>
            </a:solidFill>
            <a:prstDash val="solid"/>
            <a:tailEnd type="triangle"/>
          </a:ln>
        </p:spPr>
      </p:sp>
      <p:sp>
        <p:nvSpPr>
          <p:cNvPr id="32" name="Shape 30"/>
          <p:cNvSpPr/>
          <p:nvPr/>
        </p:nvSpPr>
        <p:spPr>
          <a:xfrm>
            <a:off x="3657509" y="3905152"/>
            <a:ext cx="2749481" cy="213315"/>
          </a:xfrm>
          <a:prstGeom prst="roundRect">
            <a:avLst>
              <a:gd name="adj" fmla="val 17860"/>
            </a:avLst>
          </a:prstGeom>
          <a:solidFill>
            <a:srgbClr val="F5F7FB"/>
          </a:solidFill>
          <a:ln/>
        </p:spPr>
      </p:sp>
      <p:sp>
        <p:nvSpPr>
          <p:cNvPr id="33" name="Text 31"/>
          <p:cNvSpPr txBox="1"/>
          <p:nvPr/>
        </p:nvSpPr>
        <p:spPr>
          <a:xfrm>
            <a:off x="3492540" y="3905152"/>
            <a:ext cx="3079419"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5 · GET /bookings · Bearer JWT</a:t>
            </a:r>
            <a:endParaRPr lang="en-US" sz="1200" dirty="0"/>
          </a:p>
        </p:txBody>
      </p:sp>
      <p:sp>
        <p:nvSpPr>
          <p:cNvPr id="34" name="Shape 32"/>
          <p:cNvSpPr/>
          <p:nvPr/>
        </p:nvSpPr>
        <p:spPr>
          <a:xfrm flipH="1">
            <a:off x="4019450" y="4514737"/>
            <a:ext cx="4159146" cy="63"/>
          </a:xfrm>
          <a:prstGeom prst="line">
            <a:avLst/>
          </a:prstGeom>
          <a:noFill/>
          <a:ln w="19050">
            <a:solidFill>
              <a:srgbClr val="2454C5"/>
            </a:solidFill>
            <a:prstDash val="solid"/>
            <a:tailEnd type="triangle"/>
          </a:ln>
        </p:spPr>
      </p:sp>
      <p:sp>
        <p:nvSpPr>
          <p:cNvPr id="35" name="Shape 33"/>
          <p:cNvSpPr/>
          <p:nvPr/>
        </p:nvSpPr>
        <p:spPr>
          <a:xfrm>
            <a:off x="4590935" y="4260743"/>
            <a:ext cx="3003475" cy="213315"/>
          </a:xfrm>
          <a:prstGeom prst="roundRect">
            <a:avLst>
              <a:gd name="adj" fmla="val 17860"/>
            </a:avLst>
          </a:prstGeom>
          <a:solidFill>
            <a:srgbClr val="F5F7FB"/>
          </a:solidFill>
          <a:ln/>
        </p:spPr>
      </p:sp>
      <p:sp>
        <p:nvSpPr>
          <p:cNvPr id="36" name="Text 34"/>
          <p:cNvSpPr txBox="1"/>
          <p:nvPr/>
        </p:nvSpPr>
        <p:spPr>
          <a:xfrm>
            <a:off x="4410727" y="4260743"/>
            <a:ext cx="3363892"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6 · GET /auth/introspect (cached)</a:t>
            </a:r>
            <a:endParaRPr lang="en-US" sz="1200" dirty="0"/>
          </a:p>
        </p:txBody>
      </p:sp>
      <p:sp>
        <p:nvSpPr>
          <p:cNvPr id="37" name="Shape 35"/>
          <p:cNvSpPr/>
          <p:nvPr/>
        </p:nvSpPr>
        <p:spPr>
          <a:xfrm>
            <a:off x="8229394" y="4870328"/>
            <a:ext cx="2050999" cy="63"/>
          </a:xfrm>
          <a:prstGeom prst="line">
            <a:avLst/>
          </a:prstGeom>
          <a:noFill/>
          <a:ln w="19050">
            <a:solidFill>
              <a:srgbClr val="2454C5"/>
            </a:solidFill>
            <a:prstDash val="solid"/>
            <a:tailEnd type="triangle"/>
          </a:ln>
        </p:spPr>
      </p:sp>
      <p:sp>
        <p:nvSpPr>
          <p:cNvPr id="38" name="Shape 36"/>
          <p:cNvSpPr/>
          <p:nvPr/>
        </p:nvSpPr>
        <p:spPr>
          <a:xfrm>
            <a:off x="8699283" y="4616335"/>
            <a:ext cx="1117572" cy="213315"/>
          </a:xfrm>
          <a:prstGeom prst="roundRect">
            <a:avLst>
              <a:gd name="adj" fmla="val 17860"/>
            </a:avLst>
          </a:prstGeom>
          <a:solidFill>
            <a:srgbClr val="F5F7FB"/>
          </a:solidFill>
          <a:ln/>
        </p:spPr>
      </p:sp>
      <p:sp>
        <p:nvSpPr>
          <p:cNvPr id="39" name="Text 37"/>
          <p:cNvSpPr txBox="1"/>
          <p:nvPr/>
        </p:nvSpPr>
        <p:spPr>
          <a:xfrm>
            <a:off x="8632228" y="4616335"/>
            <a:ext cx="1251681"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7 · forward</a:t>
            </a:r>
            <a:endParaRPr lang="en-US" sz="1200" dirty="0"/>
          </a:p>
        </p:txBody>
      </p:sp>
      <p:sp>
        <p:nvSpPr>
          <p:cNvPr id="40" name="Shape 38"/>
          <p:cNvSpPr/>
          <p:nvPr/>
        </p:nvSpPr>
        <p:spPr>
          <a:xfrm flipH="1">
            <a:off x="1904952" y="5225919"/>
            <a:ext cx="8388140" cy="63"/>
          </a:xfrm>
          <a:prstGeom prst="line">
            <a:avLst/>
          </a:prstGeom>
          <a:noFill/>
          <a:ln w="19050">
            <a:solidFill>
              <a:srgbClr val="5C6B8A"/>
            </a:solidFill>
            <a:prstDash val="dash"/>
            <a:tailEnd type="triangle"/>
          </a:ln>
        </p:spPr>
      </p:sp>
      <p:sp>
        <p:nvSpPr>
          <p:cNvPr id="41" name="Shape 39"/>
          <p:cNvSpPr/>
          <p:nvPr/>
        </p:nvSpPr>
        <p:spPr>
          <a:xfrm>
            <a:off x="4629034" y="4971926"/>
            <a:ext cx="2920927" cy="213315"/>
          </a:xfrm>
          <a:prstGeom prst="roundRect">
            <a:avLst>
              <a:gd name="adj" fmla="val 17860"/>
            </a:avLst>
          </a:prstGeom>
          <a:solidFill>
            <a:srgbClr val="F5F7FB"/>
          </a:solidFill>
          <a:ln/>
        </p:spPr>
      </p:sp>
      <p:sp>
        <p:nvSpPr>
          <p:cNvPr id="42" name="Text 40"/>
          <p:cNvSpPr txBox="1"/>
          <p:nvPr/>
        </p:nvSpPr>
        <p:spPr>
          <a:xfrm>
            <a:off x="4453779" y="4971926"/>
            <a:ext cx="3271438"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8 · 200 after RBAC and ownership</a:t>
            </a:r>
            <a:endParaRPr lang="en-US" sz="1200" dirty="0"/>
          </a:p>
        </p:txBody>
      </p:sp>
      <p:sp>
        <p:nvSpPr>
          <p:cNvPr id="43" name="Shape 41"/>
          <p:cNvSpPr/>
          <p:nvPr/>
        </p:nvSpPr>
        <p:spPr>
          <a:xfrm>
            <a:off x="1892253" y="5587860"/>
            <a:ext cx="2050999" cy="63"/>
          </a:xfrm>
          <a:prstGeom prst="line">
            <a:avLst/>
          </a:prstGeom>
          <a:noFill/>
          <a:ln w="19050">
            <a:solidFill>
              <a:srgbClr val="2454C5"/>
            </a:solidFill>
            <a:prstDash val="solid"/>
            <a:tailEnd type="triangle"/>
          </a:ln>
        </p:spPr>
      </p:sp>
      <p:sp>
        <p:nvSpPr>
          <p:cNvPr id="44" name="Shape 42"/>
          <p:cNvSpPr/>
          <p:nvPr/>
        </p:nvSpPr>
        <p:spPr>
          <a:xfrm>
            <a:off x="1943051" y="5333867"/>
            <a:ext cx="1962101" cy="213315"/>
          </a:xfrm>
          <a:prstGeom prst="roundRect">
            <a:avLst>
              <a:gd name="adj" fmla="val 17860"/>
            </a:avLst>
          </a:prstGeom>
          <a:solidFill>
            <a:srgbClr val="F5F7FB"/>
          </a:solidFill>
          <a:ln/>
        </p:spPr>
      </p:sp>
      <p:sp>
        <p:nvSpPr>
          <p:cNvPr id="45" name="Text 43"/>
          <p:cNvSpPr txBox="1"/>
          <p:nvPr/>
        </p:nvSpPr>
        <p:spPr>
          <a:xfrm>
            <a:off x="1825325" y="5333867"/>
            <a:ext cx="219755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9 · POST /auth/token/refresh</a:t>
            </a:r>
            <a:endParaRPr lang="en-US" sz="1200" dirty="0"/>
          </a:p>
        </p:txBody>
      </p:sp>
      <p:sp>
        <p:nvSpPr>
          <p:cNvPr id="46" name="Text 44"/>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Sequences</a:t>
            </a:r>
            <a:endParaRPr lang="en-US" sz="1200" dirty="0"/>
          </a:p>
        </p:txBody>
      </p:sp>
      <p:sp>
        <p:nvSpPr>
          <p:cNvPr id="47" name="Text 45"/>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SEQUENCE · BOOKING TO ACCEPTANCE</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Offers go to one provider until someone accepts</a:t>
            </a:r>
            <a:endParaRPr lang="en-US" sz="3000" dirty="0"/>
          </a:p>
        </p:txBody>
      </p:sp>
      <p:sp>
        <p:nvSpPr>
          <p:cNvPr id="4" name="Shape 2"/>
          <p:cNvSpPr/>
          <p:nvPr/>
        </p:nvSpPr>
        <p:spPr>
          <a:xfrm>
            <a:off x="1866853" y="2260543"/>
            <a:ext cx="63" cy="3467013"/>
          </a:xfrm>
          <a:prstGeom prst="line">
            <a:avLst/>
          </a:prstGeom>
          <a:noFill/>
          <a:ln w="12700">
            <a:solidFill>
              <a:srgbClr val="D5DEEC"/>
            </a:solidFill>
            <a:prstDash val="dash"/>
          </a:ln>
        </p:spPr>
      </p:sp>
      <p:sp>
        <p:nvSpPr>
          <p:cNvPr id="5" name="Shape 3"/>
          <p:cNvSpPr/>
          <p:nvPr/>
        </p:nvSpPr>
        <p:spPr>
          <a:xfrm>
            <a:off x="3981350" y="2260543"/>
            <a:ext cx="63" cy="3467013"/>
          </a:xfrm>
          <a:prstGeom prst="line">
            <a:avLst/>
          </a:prstGeom>
          <a:noFill/>
          <a:ln w="12700">
            <a:solidFill>
              <a:srgbClr val="D5DEEC"/>
            </a:solidFill>
            <a:prstDash val="dash"/>
          </a:ln>
        </p:spPr>
      </p:sp>
      <p:sp>
        <p:nvSpPr>
          <p:cNvPr id="6" name="Shape 4"/>
          <p:cNvSpPr/>
          <p:nvPr/>
        </p:nvSpPr>
        <p:spPr>
          <a:xfrm>
            <a:off x="6095848" y="2260543"/>
            <a:ext cx="63" cy="3467013"/>
          </a:xfrm>
          <a:prstGeom prst="line">
            <a:avLst/>
          </a:prstGeom>
          <a:noFill/>
          <a:ln w="12700">
            <a:solidFill>
              <a:srgbClr val="D5DEEC"/>
            </a:solidFill>
            <a:prstDash val="dash"/>
          </a:ln>
        </p:spPr>
      </p:sp>
      <p:sp>
        <p:nvSpPr>
          <p:cNvPr id="7" name="Shape 5"/>
          <p:cNvSpPr/>
          <p:nvPr/>
        </p:nvSpPr>
        <p:spPr>
          <a:xfrm>
            <a:off x="8203995" y="2260543"/>
            <a:ext cx="63" cy="3467013"/>
          </a:xfrm>
          <a:prstGeom prst="line">
            <a:avLst/>
          </a:prstGeom>
          <a:noFill/>
          <a:ln w="12700">
            <a:solidFill>
              <a:srgbClr val="D5DEEC"/>
            </a:solidFill>
            <a:prstDash val="dash"/>
          </a:ln>
        </p:spPr>
      </p:sp>
      <p:sp>
        <p:nvSpPr>
          <p:cNvPr id="8" name="Shape 6"/>
          <p:cNvSpPr/>
          <p:nvPr/>
        </p:nvSpPr>
        <p:spPr>
          <a:xfrm>
            <a:off x="10318492" y="2260543"/>
            <a:ext cx="63" cy="3467013"/>
          </a:xfrm>
          <a:prstGeom prst="line">
            <a:avLst/>
          </a:prstGeom>
          <a:noFill/>
          <a:ln w="12700">
            <a:solidFill>
              <a:srgbClr val="D5DEEC"/>
            </a:solidFill>
            <a:prstDash val="dash"/>
          </a:ln>
        </p:spPr>
      </p:sp>
      <p:sp>
        <p:nvSpPr>
          <p:cNvPr id="9" name="Shape 7"/>
          <p:cNvSpPr/>
          <p:nvPr/>
        </p:nvSpPr>
        <p:spPr>
          <a:xfrm>
            <a:off x="977876" y="1803355"/>
            <a:ext cx="1777956" cy="457189"/>
          </a:xfrm>
          <a:prstGeom prst="roundRect">
            <a:avLst>
              <a:gd name="adj" fmla="val 19444"/>
            </a:avLst>
          </a:prstGeom>
          <a:solidFill>
            <a:srgbClr val="E3EBFA"/>
          </a:solidFill>
          <a:ln w="12700">
            <a:solidFill>
              <a:srgbClr val="2454C5"/>
            </a:solidFill>
            <a:prstDash val="solid"/>
          </a:ln>
        </p:spPr>
      </p:sp>
      <p:sp>
        <p:nvSpPr>
          <p:cNvPr id="10" name="Text 8"/>
          <p:cNvSpPr txBox="1"/>
          <p:nvPr/>
        </p:nvSpPr>
        <p:spPr>
          <a:xfrm>
            <a:off x="1269911" y="1916362"/>
            <a:ext cx="1193786"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Customer app</a:t>
            </a:r>
            <a:endParaRPr lang="en-US" sz="1300" dirty="0"/>
          </a:p>
        </p:txBody>
      </p:sp>
      <p:sp>
        <p:nvSpPr>
          <p:cNvPr id="11" name="Shape 9"/>
          <p:cNvSpPr/>
          <p:nvPr/>
        </p:nvSpPr>
        <p:spPr>
          <a:xfrm>
            <a:off x="3092373" y="1803355"/>
            <a:ext cx="1777956" cy="457189"/>
          </a:xfrm>
          <a:prstGeom prst="roundRect">
            <a:avLst>
              <a:gd name="adj" fmla="val 19444"/>
            </a:avLst>
          </a:prstGeom>
          <a:solidFill>
            <a:srgbClr val="DDF2EF"/>
          </a:solidFill>
          <a:ln w="12700">
            <a:solidFill>
              <a:srgbClr val="0B7F74"/>
            </a:solidFill>
            <a:prstDash val="solid"/>
          </a:ln>
        </p:spPr>
      </p:sp>
      <p:sp>
        <p:nvSpPr>
          <p:cNvPr id="12" name="Text 10"/>
          <p:cNvSpPr txBox="1"/>
          <p:nvPr/>
        </p:nvSpPr>
        <p:spPr>
          <a:xfrm>
            <a:off x="3297615" y="1916362"/>
            <a:ext cx="1367470"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booking-service</a:t>
            </a:r>
            <a:endParaRPr lang="en-US" sz="1300" dirty="0"/>
          </a:p>
        </p:txBody>
      </p:sp>
      <p:sp>
        <p:nvSpPr>
          <p:cNvPr id="13" name="Shape 11"/>
          <p:cNvSpPr/>
          <p:nvPr/>
        </p:nvSpPr>
        <p:spPr>
          <a:xfrm>
            <a:off x="5206870" y="1803355"/>
            <a:ext cx="1777956" cy="457189"/>
          </a:xfrm>
          <a:prstGeom prst="roundRect">
            <a:avLst>
              <a:gd name="adj" fmla="val 19444"/>
            </a:avLst>
          </a:prstGeom>
          <a:solidFill>
            <a:srgbClr val="E7E7F6"/>
          </a:solidFill>
          <a:ln w="12700">
            <a:solidFill>
              <a:srgbClr val="4B4B9A"/>
            </a:solidFill>
            <a:prstDash val="solid"/>
          </a:ln>
        </p:spPr>
      </p:sp>
      <p:sp>
        <p:nvSpPr>
          <p:cNvPr id="14" name="Text 12"/>
          <p:cNvSpPr txBox="1"/>
          <p:nvPr/>
        </p:nvSpPr>
        <p:spPr>
          <a:xfrm>
            <a:off x="5845624" y="1916362"/>
            <a:ext cx="500348"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Kafka</a:t>
            </a:r>
            <a:endParaRPr lang="en-US" sz="1300" dirty="0"/>
          </a:p>
        </p:txBody>
      </p:sp>
      <p:sp>
        <p:nvSpPr>
          <p:cNvPr id="15" name="Shape 13"/>
          <p:cNvSpPr/>
          <p:nvPr/>
        </p:nvSpPr>
        <p:spPr>
          <a:xfrm>
            <a:off x="7315017" y="1803355"/>
            <a:ext cx="1777956" cy="457189"/>
          </a:xfrm>
          <a:prstGeom prst="roundRect">
            <a:avLst>
              <a:gd name="adj" fmla="val 19444"/>
            </a:avLst>
          </a:prstGeom>
          <a:solidFill>
            <a:srgbClr val="DDF2EF"/>
          </a:solidFill>
          <a:ln w="12700">
            <a:solidFill>
              <a:srgbClr val="0B7F74"/>
            </a:solidFill>
            <a:prstDash val="solid"/>
          </a:ln>
        </p:spPr>
      </p:sp>
      <p:sp>
        <p:nvSpPr>
          <p:cNvPr id="16" name="Text 14"/>
          <p:cNvSpPr txBox="1"/>
          <p:nvPr/>
        </p:nvSpPr>
        <p:spPr>
          <a:xfrm>
            <a:off x="7517599" y="1916362"/>
            <a:ext cx="1372693"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dispatch-engine</a:t>
            </a:r>
            <a:endParaRPr lang="en-US" sz="1300" dirty="0"/>
          </a:p>
        </p:txBody>
      </p:sp>
      <p:sp>
        <p:nvSpPr>
          <p:cNvPr id="17" name="Shape 15"/>
          <p:cNvSpPr/>
          <p:nvPr/>
        </p:nvSpPr>
        <p:spPr>
          <a:xfrm>
            <a:off x="9429514" y="1803355"/>
            <a:ext cx="1777956" cy="457189"/>
          </a:xfrm>
          <a:prstGeom prst="roundRect">
            <a:avLst>
              <a:gd name="adj" fmla="val 19444"/>
            </a:avLst>
          </a:prstGeom>
          <a:solidFill>
            <a:srgbClr val="DDF2EF"/>
          </a:solidFill>
          <a:ln w="12700">
            <a:solidFill>
              <a:srgbClr val="0B7F74"/>
            </a:solidFill>
            <a:prstDash val="solid"/>
          </a:ln>
        </p:spPr>
      </p:sp>
      <p:sp>
        <p:nvSpPr>
          <p:cNvPr id="18" name="Text 16"/>
          <p:cNvSpPr txBox="1"/>
          <p:nvPr/>
        </p:nvSpPr>
        <p:spPr>
          <a:xfrm>
            <a:off x="9761998" y="1916362"/>
            <a:ext cx="1112889"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Provider app</a:t>
            </a:r>
            <a:endParaRPr lang="en-US" sz="1300" dirty="0"/>
          </a:p>
        </p:txBody>
      </p:sp>
      <p:sp>
        <p:nvSpPr>
          <p:cNvPr id="19" name="Shape 17"/>
          <p:cNvSpPr/>
          <p:nvPr/>
        </p:nvSpPr>
        <p:spPr>
          <a:xfrm>
            <a:off x="1892253" y="2730432"/>
            <a:ext cx="2050999" cy="63"/>
          </a:xfrm>
          <a:prstGeom prst="line">
            <a:avLst/>
          </a:prstGeom>
          <a:noFill/>
          <a:ln w="19050">
            <a:solidFill>
              <a:srgbClr val="2454C5"/>
            </a:solidFill>
            <a:prstDash val="solid"/>
            <a:tailEnd type="triangle"/>
          </a:ln>
        </p:spPr>
      </p:sp>
      <p:sp>
        <p:nvSpPr>
          <p:cNvPr id="20" name="Shape 18"/>
          <p:cNvSpPr/>
          <p:nvPr/>
        </p:nvSpPr>
        <p:spPr>
          <a:xfrm>
            <a:off x="2063698" y="2476438"/>
            <a:ext cx="1720807" cy="213315"/>
          </a:xfrm>
          <a:prstGeom prst="roundRect">
            <a:avLst>
              <a:gd name="adj" fmla="val 17860"/>
            </a:avLst>
          </a:prstGeom>
          <a:solidFill>
            <a:srgbClr val="F5F7FB"/>
          </a:solidFill>
          <a:ln/>
        </p:spPr>
      </p:sp>
      <p:sp>
        <p:nvSpPr>
          <p:cNvPr id="21" name="Text 19"/>
          <p:cNvSpPr txBox="1"/>
          <p:nvPr/>
        </p:nvSpPr>
        <p:spPr>
          <a:xfrm>
            <a:off x="1960450" y="2476438"/>
            <a:ext cx="1927304"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1 · POST /bookings</a:t>
            </a:r>
            <a:endParaRPr lang="en-US" sz="1200" dirty="0"/>
          </a:p>
        </p:txBody>
      </p:sp>
      <p:sp>
        <p:nvSpPr>
          <p:cNvPr id="22" name="Shape 20"/>
          <p:cNvSpPr/>
          <p:nvPr/>
        </p:nvSpPr>
        <p:spPr>
          <a:xfrm>
            <a:off x="1892253" y="3086023"/>
            <a:ext cx="2050999" cy="63"/>
          </a:xfrm>
          <a:prstGeom prst="line">
            <a:avLst/>
          </a:prstGeom>
          <a:noFill/>
          <a:ln w="19050">
            <a:solidFill>
              <a:srgbClr val="2454C5"/>
            </a:solidFill>
            <a:prstDash val="solid"/>
            <a:tailEnd type="triangle"/>
          </a:ln>
        </p:spPr>
      </p:sp>
      <p:sp>
        <p:nvSpPr>
          <p:cNvPr id="23" name="Shape 21"/>
          <p:cNvSpPr/>
          <p:nvPr/>
        </p:nvSpPr>
        <p:spPr>
          <a:xfrm>
            <a:off x="1943051" y="2832029"/>
            <a:ext cx="1962101" cy="213315"/>
          </a:xfrm>
          <a:prstGeom prst="roundRect">
            <a:avLst>
              <a:gd name="adj" fmla="val 17860"/>
            </a:avLst>
          </a:prstGeom>
          <a:solidFill>
            <a:srgbClr val="F5F7FB"/>
          </a:solidFill>
          <a:ln/>
        </p:spPr>
      </p:sp>
      <p:sp>
        <p:nvSpPr>
          <p:cNvPr id="24" name="Text 22"/>
          <p:cNvSpPr txBox="1"/>
          <p:nvPr/>
        </p:nvSpPr>
        <p:spPr>
          <a:xfrm>
            <a:off x="1825325" y="2832029"/>
            <a:ext cx="219755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2 · POST …/confirmation</a:t>
            </a:r>
            <a:endParaRPr lang="en-US" sz="1200" dirty="0"/>
          </a:p>
        </p:txBody>
      </p:sp>
      <p:sp>
        <p:nvSpPr>
          <p:cNvPr id="25" name="Shape 23"/>
          <p:cNvSpPr/>
          <p:nvPr/>
        </p:nvSpPr>
        <p:spPr>
          <a:xfrm>
            <a:off x="4006750" y="3441614"/>
            <a:ext cx="2050999" cy="63"/>
          </a:xfrm>
          <a:prstGeom prst="line">
            <a:avLst/>
          </a:prstGeom>
          <a:noFill/>
          <a:ln w="19050">
            <a:solidFill>
              <a:srgbClr val="4B4B9A"/>
            </a:solidFill>
            <a:prstDash val="solid"/>
            <a:tailEnd type="triangle"/>
          </a:ln>
        </p:spPr>
      </p:sp>
      <p:sp>
        <p:nvSpPr>
          <p:cNvPr id="26" name="Shape 24"/>
          <p:cNvSpPr/>
          <p:nvPr/>
        </p:nvSpPr>
        <p:spPr>
          <a:xfrm>
            <a:off x="4178196" y="3187620"/>
            <a:ext cx="1720807" cy="213315"/>
          </a:xfrm>
          <a:prstGeom prst="roundRect">
            <a:avLst>
              <a:gd name="adj" fmla="val 17860"/>
            </a:avLst>
          </a:prstGeom>
          <a:solidFill>
            <a:srgbClr val="F5F7FB"/>
          </a:solidFill>
          <a:ln/>
        </p:spPr>
      </p:sp>
      <p:sp>
        <p:nvSpPr>
          <p:cNvPr id="27" name="Text 25"/>
          <p:cNvSpPr txBox="1"/>
          <p:nvPr/>
        </p:nvSpPr>
        <p:spPr>
          <a:xfrm>
            <a:off x="4074947" y="3187620"/>
            <a:ext cx="1927304"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3 · BookingCreated</a:t>
            </a:r>
            <a:endParaRPr lang="en-US" sz="1200" dirty="0"/>
          </a:p>
        </p:txBody>
      </p:sp>
      <p:sp>
        <p:nvSpPr>
          <p:cNvPr id="28" name="Shape 26"/>
          <p:cNvSpPr/>
          <p:nvPr/>
        </p:nvSpPr>
        <p:spPr>
          <a:xfrm>
            <a:off x="6121247" y="3797205"/>
            <a:ext cx="2044649" cy="63"/>
          </a:xfrm>
          <a:prstGeom prst="line">
            <a:avLst/>
          </a:prstGeom>
          <a:noFill/>
          <a:ln w="19050">
            <a:solidFill>
              <a:srgbClr val="4B4B9A"/>
            </a:solidFill>
            <a:prstDash val="solid"/>
            <a:tailEnd type="triangle"/>
          </a:ln>
        </p:spPr>
      </p:sp>
      <p:sp>
        <p:nvSpPr>
          <p:cNvPr id="29" name="Shape 27"/>
          <p:cNvSpPr/>
          <p:nvPr/>
        </p:nvSpPr>
        <p:spPr>
          <a:xfrm>
            <a:off x="6286343" y="3543211"/>
            <a:ext cx="1720807" cy="213315"/>
          </a:xfrm>
          <a:prstGeom prst="roundRect">
            <a:avLst>
              <a:gd name="adj" fmla="val 17860"/>
            </a:avLst>
          </a:prstGeom>
          <a:solidFill>
            <a:srgbClr val="F5F7FB"/>
          </a:solidFill>
          <a:ln/>
        </p:spPr>
      </p:sp>
      <p:sp>
        <p:nvSpPr>
          <p:cNvPr id="30" name="Text 28"/>
          <p:cNvSpPr txBox="1"/>
          <p:nvPr/>
        </p:nvSpPr>
        <p:spPr>
          <a:xfrm>
            <a:off x="6183094" y="3543211"/>
            <a:ext cx="1927304"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4 · consume, score</a:t>
            </a:r>
            <a:endParaRPr lang="en-US" sz="1200" dirty="0"/>
          </a:p>
        </p:txBody>
      </p:sp>
      <p:sp>
        <p:nvSpPr>
          <p:cNvPr id="31" name="Shape 29"/>
          <p:cNvSpPr/>
          <p:nvPr/>
        </p:nvSpPr>
        <p:spPr>
          <a:xfrm flipH="1">
            <a:off x="8242094" y="4159146"/>
            <a:ext cx="2050999" cy="63"/>
          </a:xfrm>
          <a:prstGeom prst="line">
            <a:avLst/>
          </a:prstGeom>
          <a:noFill/>
          <a:ln w="19050">
            <a:solidFill>
              <a:srgbClr val="2454C5"/>
            </a:solidFill>
            <a:prstDash val="solid"/>
            <a:tailEnd type="triangle"/>
          </a:ln>
        </p:spPr>
      </p:sp>
      <p:sp>
        <p:nvSpPr>
          <p:cNvPr id="32" name="Shape 30"/>
          <p:cNvSpPr/>
          <p:nvPr/>
        </p:nvSpPr>
        <p:spPr>
          <a:xfrm>
            <a:off x="8280193" y="3905152"/>
            <a:ext cx="1962101" cy="426630"/>
          </a:xfrm>
          <a:prstGeom prst="roundRect">
            <a:avLst>
              <a:gd name="adj" fmla="val 8930"/>
            </a:avLst>
          </a:prstGeom>
          <a:solidFill>
            <a:srgbClr val="F5F7FB"/>
          </a:solidFill>
          <a:ln/>
        </p:spPr>
      </p:sp>
      <p:sp>
        <p:nvSpPr>
          <p:cNvPr id="33" name="Text 31"/>
          <p:cNvSpPr txBox="1"/>
          <p:nvPr/>
        </p:nvSpPr>
        <p:spPr>
          <a:xfrm>
            <a:off x="8162467" y="3905152"/>
            <a:ext cx="2197553" cy="426630"/>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5 · GET /dispatch/offers (every 5 s)</a:t>
            </a:r>
            <a:endParaRPr lang="en-US" sz="1200" dirty="0"/>
          </a:p>
        </p:txBody>
      </p:sp>
      <p:sp>
        <p:nvSpPr>
          <p:cNvPr id="34" name="Shape 32"/>
          <p:cNvSpPr/>
          <p:nvPr/>
        </p:nvSpPr>
        <p:spPr>
          <a:xfrm flipH="1">
            <a:off x="8242094" y="4514737"/>
            <a:ext cx="2050999" cy="63"/>
          </a:xfrm>
          <a:prstGeom prst="line">
            <a:avLst/>
          </a:prstGeom>
          <a:noFill/>
          <a:ln w="19050">
            <a:solidFill>
              <a:srgbClr val="2454C5"/>
            </a:solidFill>
            <a:prstDash val="solid"/>
            <a:tailEnd type="triangle"/>
          </a:ln>
        </p:spPr>
      </p:sp>
      <p:sp>
        <p:nvSpPr>
          <p:cNvPr id="35" name="Shape 33"/>
          <p:cNvSpPr/>
          <p:nvPr/>
        </p:nvSpPr>
        <p:spPr>
          <a:xfrm>
            <a:off x="8445289" y="4260743"/>
            <a:ext cx="1631909" cy="213315"/>
          </a:xfrm>
          <a:prstGeom prst="roundRect">
            <a:avLst>
              <a:gd name="adj" fmla="val 17860"/>
            </a:avLst>
          </a:prstGeom>
          <a:solidFill>
            <a:srgbClr val="F5F7FB"/>
          </a:solidFill>
          <a:ln/>
        </p:spPr>
      </p:sp>
      <p:sp>
        <p:nvSpPr>
          <p:cNvPr id="36" name="Text 34"/>
          <p:cNvSpPr txBox="1"/>
          <p:nvPr/>
        </p:nvSpPr>
        <p:spPr>
          <a:xfrm>
            <a:off x="8347374" y="4260743"/>
            <a:ext cx="1827738"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6 · POST …/accept</a:t>
            </a:r>
            <a:endParaRPr lang="en-US" sz="1200" dirty="0"/>
          </a:p>
        </p:txBody>
      </p:sp>
      <p:sp>
        <p:nvSpPr>
          <p:cNvPr id="37" name="Shape 35"/>
          <p:cNvSpPr/>
          <p:nvPr/>
        </p:nvSpPr>
        <p:spPr>
          <a:xfrm flipH="1">
            <a:off x="4019450" y="4870328"/>
            <a:ext cx="4159146" cy="63"/>
          </a:xfrm>
          <a:prstGeom prst="line">
            <a:avLst/>
          </a:prstGeom>
          <a:noFill/>
          <a:ln w="19050">
            <a:solidFill>
              <a:srgbClr val="2454C5"/>
            </a:solidFill>
            <a:prstDash val="solid"/>
            <a:tailEnd type="triangle"/>
          </a:ln>
        </p:spPr>
      </p:sp>
      <p:sp>
        <p:nvSpPr>
          <p:cNvPr id="38" name="Shape 36"/>
          <p:cNvSpPr/>
          <p:nvPr/>
        </p:nvSpPr>
        <p:spPr>
          <a:xfrm>
            <a:off x="4673483" y="4616335"/>
            <a:ext cx="2832029" cy="213315"/>
          </a:xfrm>
          <a:prstGeom prst="roundRect">
            <a:avLst>
              <a:gd name="adj" fmla="val 17860"/>
            </a:avLst>
          </a:prstGeom>
          <a:solidFill>
            <a:srgbClr val="F5F7FB"/>
          </a:solidFill>
          <a:ln/>
        </p:spPr>
      </p:sp>
      <p:sp>
        <p:nvSpPr>
          <p:cNvPr id="39" name="Text 37"/>
          <p:cNvSpPr txBox="1"/>
          <p:nvPr/>
        </p:nvSpPr>
        <p:spPr>
          <a:xfrm>
            <a:off x="4503561" y="4616335"/>
            <a:ext cx="317187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7 · internal: provider-accepted</a:t>
            </a:r>
            <a:endParaRPr lang="en-US" sz="1200" dirty="0"/>
          </a:p>
        </p:txBody>
      </p:sp>
      <p:sp>
        <p:nvSpPr>
          <p:cNvPr id="40" name="Shape 38"/>
          <p:cNvSpPr/>
          <p:nvPr/>
        </p:nvSpPr>
        <p:spPr>
          <a:xfrm>
            <a:off x="4006750" y="5225919"/>
            <a:ext cx="2050999" cy="63"/>
          </a:xfrm>
          <a:prstGeom prst="line">
            <a:avLst/>
          </a:prstGeom>
          <a:noFill/>
          <a:ln w="19050">
            <a:solidFill>
              <a:srgbClr val="4B4B9A"/>
            </a:solidFill>
            <a:prstDash val="solid"/>
            <a:tailEnd type="triangle"/>
          </a:ln>
        </p:spPr>
      </p:sp>
      <p:sp>
        <p:nvSpPr>
          <p:cNvPr id="41" name="Shape 39"/>
          <p:cNvSpPr/>
          <p:nvPr/>
        </p:nvSpPr>
        <p:spPr>
          <a:xfrm>
            <a:off x="4089298" y="4971926"/>
            <a:ext cx="1892253" cy="213315"/>
          </a:xfrm>
          <a:prstGeom prst="roundRect">
            <a:avLst>
              <a:gd name="adj" fmla="val 17860"/>
            </a:avLst>
          </a:prstGeom>
          <a:solidFill>
            <a:srgbClr val="F5F7FB"/>
          </a:solidFill>
          <a:ln/>
        </p:spPr>
      </p:sp>
      <p:sp>
        <p:nvSpPr>
          <p:cNvPr id="42" name="Text 40"/>
          <p:cNvSpPr txBox="1"/>
          <p:nvPr/>
        </p:nvSpPr>
        <p:spPr>
          <a:xfrm>
            <a:off x="3975763" y="4971926"/>
            <a:ext cx="211932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8 · ProviderAccepted</a:t>
            </a:r>
            <a:endParaRPr lang="en-US" sz="1200" dirty="0"/>
          </a:p>
        </p:txBody>
      </p:sp>
      <p:sp>
        <p:nvSpPr>
          <p:cNvPr id="43" name="Shape 41"/>
          <p:cNvSpPr/>
          <p:nvPr/>
        </p:nvSpPr>
        <p:spPr>
          <a:xfrm flipH="1">
            <a:off x="1904952" y="5587860"/>
            <a:ext cx="2050999" cy="63"/>
          </a:xfrm>
          <a:prstGeom prst="line">
            <a:avLst/>
          </a:prstGeom>
          <a:noFill/>
          <a:ln w="19050">
            <a:solidFill>
              <a:srgbClr val="5C6B8A"/>
            </a:solidFill>
            <a:prstDash val="dash"/>
            <a:tailEnd type="triangle"/>
          </a:ln>
        </p:spPr>
      </p:sp>
      <p:sp>
        <p:nvSpPr>
          <p:cNvPr id="44" name="Shape 42"/>
          <p:cNvSpPr/>
          <p:nvPr/>
        </p:nvSpPr>
        <p:spPr>
          <a:xfrm>
            <a:off x="1974801" y="5333867"/>
            <a:ext cx="1892253" cy="213315"/>
          </a:xfrm>
          <a:prstGeom prst="roundRect">
            <a:avLst>
              <a:gd name="adj" fmla="val 17860"/>
            </a:avLst>
          </a:prstGeom>
          <a:solidFill>
            <a:srgbClr val="F5F7FB"/>
          </a:solidFill>
          <a:ln/>
        </p:spPr>
      </p:sp>
      <p:sp>
        <p:nvSpPr>
          <p:cNvPr id="45" name="Text 43"/>
          <p:cNvSpPr txBox="1"/>
          <p:nvPr/>
        </p:nvSpPr>
        <p:spPr>
          <a:xfrm>
            <a:off x="1861265" y="5333867"/>
            <a:ext cx="211932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9 · status: accepted</a:t>
            </a:r>
            <a:endParaRPr lang="en-US" sz="1200" dirty="0"/>
          </a:p>
        </p:txBody>
      </p:sp>
      <p:sp>
        <p:nvSpPr>
          <p:cNvPr id="46" name="Text 44"/>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Sequences</a:t>
            </a:r>
            <a:endParaRPr lang="en-US" sz="1200" dirty="0"/>
          </a:p>
        </p:txBody>
      </p:sp>
      <p:sp>
        <p:nvSpPr>
          <p:cNvPr id="47" name="Text 45"/>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SEQUENCE · PAYMENT</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Verify and webhook settle each payment once</a:t>
            </a:r>
            <a:endParaRPr lang="en-US" sz="3000" dirty="0"/>
          </a:p>
        </p:txBody>
      </p:sp>
      <p:sp>
        <p:nvSpPr>
          <p:cNvPr id="4" name="Shape 2"/>
          <p:cNvSpPr/>
          <p:nvPr/>
        </p:nvSpPr>
        <p:spPr>
          <a:xfrm>
            <a:off x="1866853" y="2260543"/>
            <a:ext cx="63" cy="3467013"/>
          </a:xfrm>
          <a:prstGeom prst="line">
            <a:avLst/>
          </a:prstGeom>
          <a:noFill/>
          <a:ln w="12700">
            <a:solidFill>
              <a:srgbClr val="D5DEEC"/>
            </a:solidFill>
            <a:prstDash val="dash"/>
          </a:ln>
        </p:spPr>
      </p:sp>
      <p:sp>
        <p:nvSpPr>
          <p:cNvPr id="5" name="Shape 3"/>
          <p:cNvSpPr/>
          <p:nvPr/>
        </p:nvSpPr>
        <p:spPr>
          <a:xfrm>
            <a:off x="3981350" y="2260543"/>
            <a:ext cx="63" cy="3467013"/>
          </a:xfrm>
          <a:prstGeom prst="line">
            <a:avLst/>
          </a:prstGeom>
          <a:noFill/>
          <a:ln w="12700">
            <a:solidFill>
              <a:srgbClr val="D5DEEC"/>
            </a:solidFill>
            <a:prstDash val="dash"/>
          </a:ln>
        </p:spPr>
      </p:sp>
      <p:sp>
        <p:nvSpPr>
          <p:cNvPr id="6" name="Shape 4"/>
          <p:cNvSpPr/>
          <p:nvPr/>
        </p:nvSpPr>
        <p:spPr>
          <a:xfrm>
            <a:off x="6095848" y="2260543"/>
            <a:ext cx="63" cy="3467013"/>
          </a:xfrm>
          <a:prstGeom prst="line">
            <a:avLst/>
          </a:prstGeom>
          <a:noFill/>
          <a:ln w="12700">
            <a:solidFill>
              <a:srgbClr val="D5DEEC"/>
            </a:solidFill>
            <a:prstDash val="dash"/>
          </a:ln>
        </p:spPr>
      </p:sp>
      <p:sp>
        <p:nvSpPr>
          <p:cNvPr id="7" name="Shape 5"/>
          <p:cNvSpPr/>
          <p:nvPr/>
        </p:nvSpPr>
        <p:spPr>
          <a:xfrm>
            <a:off x="8203995" y="2260543"/>
            <a:ext cx="63" cy="3467013"/>
          </a:xfrm>
          <a:prstGeom prst="line">
            <a:avLst/>
          </a:prstGeom>
          <a:noFill/>
          <a:ln w="12700">
            <a:solidFill>
              <a:srgbClr val="D5DEEC"/>
            </a:solidFill>
            <a:prstDash val="dash"/>
          </a:ln>
        </p:spPr>
      </p:sp>
      <p:sp>
        <p:nvSpPr>
          <p:cNvPr id="8" name="Shape 6"/>
          <p:cNvSpPr/>
          <p:nvPr/>
        </p:nvSpPr>
        <p:spPr>
          <a:xfrm>
            <a:off x="10318492" y="2260543"/>
            <a:ext cx="63" cy="3467013"/>
          </a:xfrm>
          <a:prstGeom prst="line">
            <a:avLst/>
          </a:prstGeom>
          <a:noFill/>
          <a:ln w="12700">
            <a:solidFill>
              <a:srgbClr val="D5DEEC"/>
            </a:solidFill>
            <a:prstDash val="dash"/>
          </a:ln>
        </p:spPr>
      </p:sp>
      <p:sp>
        <p:nvSpPr>
          <p:cNvPr id="9" name="Shape 7"/>
          <p:cNvSpPr/>
          <p:nvPr/>
        </p:nvSpPr>
        <p:spPr>
          <a:xfrm>
            <a:off x="977876" y="1803355"/>
            <a:ext cx="1777956" cy="457189"/>
          </a:xfrm>
          <a:prstGeom prst="roundRect">
            <a:avLst>
              <a:gd name="adj" fmla="val 19444"/>
            </a:avLst>
          </a:prstGeom>
          <a:solidFill>
            <a:srgbClr val="E3EBFA"/>
          </a:solidFill>
          <a:ln w="12700">
            <a:solidFill>
              <a:srgbClr val="2454C5"/>
            </a:solidFill>
            <a:prstDash val="solid"/>
          </a:ln>
        </p:spPr>
      </p:sp>
      <p:sp>
        <p:nvSpPr>
          <p:cNvPr id="10" name="Text 8"/>
          <p:cNvSpPr txBox="1"/>
          <p:nvPr/>
        </p:nvSpPr>
        <p:spPr>
          <a:xfrm>
            <a:off x="1269911" y="1916362"/>
            <a:ext cx="1193786"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Customer app</a:t>
            </a:r>
            <a:endParaRPr lang="en-US" sz="1300" dirty="0"/>
          </a:p>
        </p:txBody>
      </p:sp>
      <p:sp>
        <p:nvSpPr>
          <p:cNvPr id="11" name="Shape 9"/>
          <p:cNvSpPr/>
          <p:nvPr/>
        </p:nvSpPr>
        <p:spPr>
          <a:xfrm>
            <a:off x="3092373" y="1803355"/>
            <a:ext cx="1777956" cy="457189"/>
          </a:xfrm>
          <a:prstGeom prst="roundRect">
            <a:avLst>
              <a:gd name="adj" fmla="val 19444"/>
            </a:avLst>
          </a:prstGeom>
          <a:solidFill>
            <a:srgbClr val="FCEBDD"/>
          </a:solidFill>
          <a:ln w="12700">
            <a:solidFill>
              <a:srgbClr val="B4530F"/>
            </a:solidFill>
            <a:prstDash val="solid"/>
          </a:ln>
        </p:spPr>
      </p:sp>
      <p:sp>
        <p:nvSpPr>
          <p:cNvPr id="12" name="Text 10"/>
          <p:cNvSpPr txBox="1"/>
          <p:nvPr/>
        </p:nvSpPr>
        <p:spPr>
          <a:xfrm>
            <a:off x="3258951" y="1916362"/>
            <a:ext cx="1444700"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payment-service</a:t>
            </a:r>
            <a:endParaRPr lang="en-US" sz="1300" dirty="0"/>
          </a:p>
        </p:txBody>
      </p:sp>
      <p:sp>
        <p:nvSpPr>
          <p:cNvPr id="13" name="Shape 11"/>
          <p:cNvSpPr/>
          <p:nvPr/>
        </p:nvSpPr>
        <p:spPr>
          <a:xfrm>
            <a:off x="5206870" y="1803355"/>
            <a:ext cx="1777956" cy="457189"/>
          </a:xfrm>
          <a:prstGeom prst="roundRect">
            <a:avLst>
              <a:gd name="adj" fmla="val 19444"/>
            </a:avLst>
          </a:prstGeom>
          <a:solidFill>
            <a:srgbClr val="DDF2EF"/>
          </a:solidFill>
          <a:ln w="12700">
            <a:solidFill>
              <a:srgbClr val="0B7F74"/>
            </a:solidFill>
            <a:prstDash val="solid"/>
          </a:ln>
        </p:spPr>
      </p:sp>
      <p:sp>
        <p:nvSpPr>
          <p:cNvPr id="14" name="Text 12"/>
          <p:cNvSpPr txBox="1"/>
          <p:nvPr/>
        </p:nvSpPr>
        <p:spPr>
          <a:xfrm>
            <a:off x="5412113" y="1916362"/>
            <a:ext cx="1367470"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booking-service</a:t>
            </a:r>
            <a:endParaRPr lang="en-US" sz="1300" dirty="0"/>
          </a:p>
        </p:txBody>
      </p:sp>
      <p:sp>
        <p:nvSpPr>
          <p:cNvPr id="15" name="Shape 13"/>
          <p:cNvSpPr/>
          <p:nvPr/>
        </p:nvSpPr>
        <p:spPr>
          <a:xfrm>
            <a:off x="7315017" y="1803355"/>
            <a:ext cx="1777956" cy="457189"/>
          </a:xfrm>
          <a:prstGeom prst="roundRect">
            <a:avLst>
              <a:gd name="adj" fmla="val 19444"/>
            </a:avLst>
          </a:prstGeom>
          <a:solidFill>
            <a:srgbClr val="EEF1F6"/>
          </a:solidFill>
          <a:ln w="12700">
            <a:solidFill>
              <a:srgbClr val="5C6B8A"/>
            </a:solidFill>
            <a:prstDash val="solid"/>
          </a:ln>
        </p:spPr>
      </p:sp>
      <p:sp>
        <p:nvSpPr>
          <p:cNvPr id="16" name="Text 14"/>
          <p:cNvSpPr txBox="1"/>
          <p:nvPr/>
        </p:nvSpPr>
        <p:spPr>
          <a:xfrm>
            <a:off x="7805072" y="1916362"/>
            <a:ext cx="797746"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Razorpay</a:t>
            </a:r>
            <a:endParaRPr lang="en-US" sz="1300" dirty="0"/>
          </a:p>
        </p:txBody>
      </p:sp>
      <p:sp>
        <p:nvSpPr>
          <p:cNvPr id="17" name="Shape 15"/>
          <p:cNvSpPr/>
          <p:nvPr/>
        </p:nvSpPr>
        <p:spPr>
          <a:xfrm>
            <a:off x="9429514" y="1803355"/>
            <a:ext cx="1777956" cy="457189"/>
          </a:xfrm>
          <a:prstGeom prst="roundRect">
            <a:avLst>
              <a:gd name="adj" fmla="val 19444"/>
            </a:avLst>
          </a:prstGeom>
          <a:solidFill>
            <a:srgbClr val="E7E7F6"/>
          </a:solidFill>
          <a:ln w="12700">
            <a:solidFill>
              <a:srgbClr val="4B4B9A"/>
            </a:solidFill>
            <a:prstDash val="solid"/>
          </a:ln>
        </p:spPr>
      </p:sp>
      <p:sp>
        <p:nvSpPr>
          <p:cNvPr id="18" name="Text 16"/>
          <p:cNvSpPr txBox="1"/>
          <p:nvPr/>
        </p:nvSpPr>
        <p:spPr>
          <a:xfrm>
            <a:off x="10068269" y="1916362"/>
            <a:ext cx="500348"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Kafka</a:t>
            </a:r>
            <a:endParaRPr lang="en-US" sz="1300" dirty="0"/>
          </a:p>
        </p:txBody>
      </p:sp>
      <p:sp>
        <p:nvSpPr>
          <p:cNvPr id="19" name="Shape 17"/>
          <p:cNvSpPr/>
          <p:nvPr/>
        </p:nvSpPr>
        <p:spPr>
          <a:xfrm>
            <a:off x="1892253" y="2730432"/>
            <a:ext cx="2050999" cy="63"/>
          </a:xfrm>
          <a:prstGeom prst="line">
            <a:avLst/>
          </a:prstGeom>
          <a:noFill/>
          <a:ln w="19050">
            <a:solidFill>
              <a:srgbClr val="2454C5"/>
            </a:solidFill>
            <a:prstDash val="solid"/>
            <a:tailEnd type="triangle"/>
          </a:ln>
        </p:spPr>
      </p:sp>
      <p:sp>
        <p:nvSpPr>
          <p:cNvPr id="20" name="Shape 18"/>
          <p:cNvSpPr/>
          <p:nvPr/>
        </p:nvSpPr>
        <p:spPr>
          <a:xfrm>
            <a:off x="2063698" y="2476438"/>
            <a:ext cx="1720807" cy="213315"/>
          </a:xfrm>
          <a:prstGeom prst="roundRect">
            <a:avLst>
              <a:gd name="adj" fmla="val 17860"/>
            </a:avLst>
          </a:prstGeom>
          <a:solidFill>
            <a:srgbClr val="F5F7FB"/>
          </a:solidFill>
          <a:ln/>
        </p:spPr>
      </p:sp>
      <p:sp>
        <p:nvSpPr>
          <p:cNvPr id="21" name="Text 19"/>
          <p:cNvSpPr txBox="1"/>
          <p:nvPr/>
        </p:nvSpPr>
        <p:spPr>
          <a:xfrm>
            <a:off x="1960450" y="2476438"/>
            <a:ext cx="1927304"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1 · POST /payments</a:t>
            </a:r>
            <a:endParaRPr lang="en-US" sz="1200" dirty="0"/>
          </a:p>
        </p:txBody>
      </p:sp>
      <p:sp>
        <p:nvSpPr>
          <p:cNvPr id="22" name="Shape 20"/>
          <p:cNvSpPr/>
          <p:nvPr/>
        </p:nvSpPr>
        <p:spPr>
          <a:xfrm>
            <a:off x="4006750" y="3047924"/>
            <a:ext cx="2050999" cy="63"/>
          </a:xfrm>
          <a:prstGeom prst="line">
            <a:avLst/>
          </a:prstGeom>
          <a:noFill/>
          <a:ln w="19050">
            <a:solidFill>
              <a:srgbClr val="2454C5"/>
            </a:solidFill>
            <a:prstDash val="solid"/>
            <a:tailEnd type="triangle"/>
          </a:ln>
        </p:spPr>
      </p:sp>
      <p:sp>
        <p:nvSpPr>
          <p:cNvPr id="23" name="Shape 21"/>
          <p:cNvSpPr/>
          <p:nvPr/>
        </p:nvSpPr>
        <p:spPr>
          <a:xfrm>
            <a:off x="4260743" y="2793930"/>
            <a:ext cx="1549361" cy="213315"/>
          </a:xfrm>
          <a:prstGeom prst="roundRect">
            <a:avLst>
              <a:gd name="adj" fmla="val 17860"/>
            </a:avLst>
          </a:prstGeom>
          <a:solidFill>
            <a:srgbClr val="F5F7FB"/>
          </a:solidFill>
          <a:ln/>
        </p:spPr>
      </p:sp>
      <p:sp>
        <p:nvSpPr>
          <p:cNvPr id="24" name="Text 22"/>
          <p:cNvSpPr txBox="1"/>
          <p:nvPr/>
        </p:nvSpPr>
        <p:spPr>
          <a:xfrm>
            <a:off x="4167782" y="2793930"/>
            <a:ext cx="1735285"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2 · amount facts</a:t>
            </a:r>
            <a:endParaRPr lang="en-US" sz="1200" dirty="0"/>
          </a:p>
        </p:txBody>
      </p:sp>
      <p:sp>
        <p:nvSpPr>
          <p:cNvPr id="25" name="Shape 23"/>
          <p:cNvSpPr/>
          <p:nvPr/>
        </p:nvSpPr>
        <p:spPr>
          <a:xfrm>
            <a:off x="4006750" y="3365416"/>
            <a:ext cx="4159146" cy="63"/>
          </a:xfrm>
          <a:prstGeom prst="line">
            <a:avLst/>
          </a:prstGeom>
          <a:noFill/>
          <a:ln w="19050">
            <a:solidFill>
              <a:srgbClr val="B4530F"/>
            </a:solidFill>
            <a:prstDash val="solid"/>
            <a:tailEnd type="triangle"/>
          </a:ln>
        </p:spPr>
      </p:sp>
      <p:sp>
        <p:nvSpPr>
          <p:cNvPr id="26" name="Shape 24"/>
          <p:cNvSpPr/>
          <p:nvPr/>
        </p:nvSpPr>
        <p:spPr>
          <a:xfrm>
            <a:off x="4971926" y="3111422"/>
            <a:ext cx="2235144" cy="213315"/>
          </a:xfrm>
          <a:prstGeom prst="roundRect">
            <a:avLst>
              <a:gd name="adj" fmla="val 17860"/>
            </a:avLst>
          </a:prstGeom>
          <a:solidFill>
            <a:srgbClr val="F5F7FB"/>
          </a:solidFill>
          <a:ln/>
        </p:spPr>
      </p:sp>
      <p:sp>
        <p:nvSpPr>
          <p:cNvPr id="27" name="Text 25"/>
          <p:cNvSpPr txBox="1"/>
          <p:nvPr/>
        </p:nvSpPr>
        <p:spPr>
          <a:xfrm>
            <a:off x="4837817" y="3111422"/>
            <a:ext cx="2503361"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3 · create order (paise)</a:t>
            </a:r>
            <a:endParaRPr lang="en-US" sz="1200" dirty="0"/>
          </a:p>
        </p:txBody>
      </p:sp>
      <p:sp>
        <p:nvSpPr>
          <p:cNvPr id="28" name="Shape 26"/>
          <p:cNvSpPr/>
          <p:nvPr/>
        </p:nvSpPr>
        <p:spPr>
          <a:xfrm flipH="1">
            <a:off x="1904952" y="3682908"/>
            <a:ext cx="2050999" cy="63"/>
          </a:xfrm>
          <a:prstGeom prst="line">
            <a:avLst/>
          </a:prstGeom>
          <a:noFill/>
          <a:ln w="19050">
            <a:solidFill>
              <a:srgbClr val="5C6B8A"/>
            </a:solidFill>
            <a:prstDash val="dash"/>
            <a:tailEnd type="triangle"/>
          </a:ln>
        </p:spPr>
      </p:sp>
      <p:sp>
        <p:nvSpPr>
          <p:cNvPr id="29" name="Shape 27"/>
          <p:cNvSpPr/>
          <p:nvPr/>
        </p:nvSpPr>
        <p:spPr>
          <a:xfrm>
            <a:off x="2063698" y="3428914"/>
            <a:ext cx="1720807" cy="213315"/>
          </a:xfrm>
          <a:prstGeom prst="roundRect">
            <a:avLst>
              <a:gd name="adj" fmla="val 17860"/>
            </a:avLst>
          </a:prstGeom>
          <a:solidFill>
            <a:srgbClr val="F5F7FB"/>
          </a:solidFill>
          <a:ln/>
        </p:spPr>
      </p:sp>
      <p:sp>
        <p:nvSpPr>
          <p:cNvPr id="30" name="Text 28"/>
          <p:cNvSpPr txBox="1"/>
          <p:nvPr/>
        </p:nvSpPr>
        <p:spPr>
          <a:xfrm>
            <a:off x="1960450" y="3428914"/>
            <a:ext cx="1927304"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4 · order + key id</a:t>
            </a:r>
            <a:endParaRPr lang="en-US" sz="1200" dirty="0"/>
          </a:p>
        </p:txBody>
      </p:sp>
      <p:sp>
        <p:nvSpPr>
          <p:cNvPr id="31" name="Shape 29"/>
          <p:cNvSpPr/>
          <p:nvPr/>
        </p:nvSpPr>
        <p:spPr>
          <a:xfrm>
            <a:off x="1892253" y="4000400"/>
            <a:ext cx="6273643" cy="63"/>
          </a:xfrm>
          <a:prstGeom prst="line">
            <a:avLst/>
          </a:prstGeom>
          <a:noFill/>
          <a:ln w="19050">
            <a:solidFill>
              <a:srgbClr val="B4530F"/>
            </a:solidFill>
            <a:prstDash val="solid"/>
            <a:tailEnd type="triangle"/>
          </a:ln>
        </p:spPr>
      </p:sp>
      <p:sp>
        <p:nvSpPr>
          <p:cNvPr id="32" name="Shape 30"/>
          <p:cNvSpPr/>
          <p:nvPr/>
        </p:nvSpPr>
        <p:spPr>
          <a:xfrm>
            <a:off x="4044849" y="3746406"/>
            <a:ext cx="1974801" cy="213315"/>
          </a:xfrm>
          <a:prstGeom prst="roundRect">
            <a:avLst>
              <a:gd name="adj" fmla="val 17860"/>
            </a:avLst>
          </a:prstGeom>
          <a:solidFill>
            <a:srgbClr val="F5F7FB"/>
          </a:solidFill>
          <a:ln/>
        </p:spPr>
      </p:sp>
      <p:sp>
        <p:nvSpPr>
          <p:cNvPr id="33" name="Text 31"/>
          <p:cNvSpPr txBox="1"/>
          <p:nvPr/>
        </p:nvSpPr>
        <p:spPr>
          <a:xfrm>
            <a:off x="3926361" y="3746406"/>
            <a:ext cx="2211777"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5 · Razorpay Checkout</a:t>
            </a:r>
            <a:endParaRPr lang="en-US" sz="1200" dirty="0"/>
          </a:p>
        </p:txBody>
      </p:sp>
      <p:sp>
        <p:nvSpPr>
          <p:cNvPr id="34" name="Shape 32"/>
          <p:cNvSpPr/>
          <p:nvPr/>
        </p:nvSpPr>
        <p:spPr>
          <a:xfrm flipH="1">
            <a:off x="1904952" y="4317892"/>
            <a:ext cx="6273643" cy="63"/>
          </a:xfrm>
          <a:prstGeom prst="line">
            <a:avLst/>
          </a:prstGeom>
          <a:noFill/>
          <a:ln w="19050">
            <a:solidFill>
              <a:srgbClr val="5C6B8A"/>
            </a:solidFill>
            <a:prstDash val="dash"/>
            <a:tailEnd type="triangle"/>
          </a:ln>
        </p:spPr>
      </p:sp>
      <p:sp>
        <p:nvSpPr>
          <p:cNvPr id="35" name="Shape 33"/>
          <p:cNvSpPr/>
          <p:nvPr/>
        </p:nvSpPr>
        <p:spPr>
          <a:xfrm>
            <a:off x="3828954" y="4063898"/>
            <a:ext cx="2406590" cy="213315"/>
          </a:xfrm>
          <a:prstGeom prst="roundRect">
            <a:avLst>
              <a:gd name="adj" fmla="val 17860"/>
            </a:avLst>
          </a:prstGeom>
          <a:solidFill>
            <a:srgbClr val="F5F7FB"/>
          </a:solidFill>
          <a:ln/>
        </p:spPr>
      </p:sp>
      <p:sp>
        <p:nvSpPr>
          <p:cNvPr id="36" name="Text 34"/>
          <p:cNvSpPr txBox="1"/>
          <p:nvPr/>
        </p:nvSpPr>
        <p:spPr>
          <a:xfrm>
            <a:off x="3684559" y="4063898"/>
            <a:ext cx="2695381"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6 · payment id + signature</a:t>
            </a:r>
            <a:endParaRPr lang="en-US" sz="1200" dirty="0"/>
          </a:p>
        </p:txBody>
      </p:sp>
      <p:sp>
        <p:nvSpPr>
          <p:cNvPr id="37" name="Shape 35"/>
          <p:cNvSpPr/>
          <p:nvPr/>
        </p:nvSpPr>
        <p:spPr>
          <a:xfrm>
            <a:off x="1892253" y="4635384"/>
            <a:ext cx="2050999" cy="63"/>
          </a:xfrm>
          <a:prstGeom prst="line">
            <a:avLst/>
          </a:prstGeom>
          <a:noFill/>
          <a:ln w="19050">
            <a:solidFill>
              <a:srgbClr val="2454C5"/>
            </a:solidFill>
            <a:prstDash val="solid"/>
            <a:tailEnd type="triangle"/>
          </a:ln>
        </p:spPr>
      </p:sp>
      <p:sp>
        <p:nvSpPr>
          <p:cNvPr id="38" name="Shape 36"/>
          <p:cNvSpPr/>
          <p:nvPr/>
        </p:nvSpPr>
        <p:spPr>
          <a:xfrm>
            <a:off x="2108147" y="4381390"/>
            <a:ext cx="1631909" cy="213315"/>
          </a:xfrm>
          <a:prstGeom prst="roundRect">
            <a:avLst>
              <a:gd name="adj" fmla="val 17860"/>
            </a:avLst>
          </a:prstGeom>
          <a:solidFill>
            <a:srgbClr val="F5F7FB"/>
          </a:solidFill>
          <a:ln/>
        </p:spPr>
      </p:sp>
      <p:sp>
        <p:nvSpPr>
          <p:cNvPr id="39" name="Text 37"/>
          <p:cNvSpPr txBox="1"/>
          <p:nvPr/>
        </p:nvSpPr>
        <p:spPr>
          <a:xfrm>
            <a:off x="2010233" y="4381390"/>
            <a:ext cx="1827738"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7 · POST …/verify</a:t>
            </a:r>
            <a:endParaRPr lang="en-US" sz="1200" dirty="0"/>
          </a:p>
        </p:txBody>
      </p:sp>
      <p:sp>
        <p:nvSpPr>
          <p:cNvPr id="40" name="Shape 38"/>
          <p:cNvSpPr/>
          <p:nvPr/>
        </p:nvSpPr>
        <p:spPr>
          <a:xfrm flipH="1">
            <a:off x="4019450" y="4952876"/>
            <a:ext cx="4159146" cy="63"/>
          </a:xfrm>
          <a:prstGeom prst="line">
            <a:avLst/>
          </a:prstGeom>
          <a:noFill/>
          <a:ln w="19050">
            <a:solidFill>
              <a:srgbClr val="B4530F"/>
            </a:solidFill>
            <a:prstDash val="solid"/>
            <a:tailEnd type="triangle"/>
          </a:ln>
        </p:spPr>
      </p:sp>
      <p:sp>
        <p:nvSpPr>
          <p:cNvPr id="41" name="Shape 39"/>
          <p:cNvSpPr/>
          <p:nvPr/>
        </p:nvSpPr>
        <p:spPr>
          <a:xfrm>
            <a:off x="5143371" y="4698883"/>
            <a:ext cx="1892253" cy="213315"/>
          </a:xfrm>
          <a:prstGeom prst="roundRect">
            <a:avLst>
              <a:gd name="adj" fmla="val 17860"/>
            </a:avLst>
          </a:prstGeom>
          <a:solidFill>
            <a:srgbClr val="F5F7FB"/>
          </a:solidFill>
          <a:ln/>
        </p:spPr>
      </p:sp>
      <p:sp>
        <p:nvSpPr>
          <p:cNvPr id="42" name="Text 40"/>
          <p:cNvSpPr txBox="1"/>
          <p:nvPr/>
        </p:nvSpPr>
        <p:spPr>
          <a:xfrm>
            <a:off x="5029836" y="4698883"/>
            <a:ext cx="211932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8 · webhook (signed)</a:t>
            </a:r>
            <a:endParaRPr lang="en-US" sz="1200" dirty="0"/>
          </a:p>
        </p:txBody>
      </p:sp>
      <p:sp>
        <p:nvSpPr>
          <p:cNvPr id="43" name="Shape 41"/>
          <p:cNvSpPr/>
          <p:nvPr/>
        </p:nvSpPr>
        <p:spPr>
          <a:xfrm>
            <a:off x="4006750" y="5270368"/>
            <a:ext cx="6273643" cy="63"/>
          </a:xfrm>
          <a:prstGeom prst="line">
            <a:avLst/>
          </a:prstGeom>
          <a:noFill/>
          <a:ln w="19050">
            <a:solidFill>
              <a:srgbClr val="4B4B9A"/>
            </a:solidFill>
            <a:prstDash val="solid"/>
            <a:tailEnd type="triangle"/>
          </a:ln>
        </p:spPr>
      </p:sp>
      <p:sp>
        <p:nvSpPr>
          <p:cNvPr id="44" name="Shape 42"/>
          <p:cNvSpPr/>
          <p:nvPr/>
        </p:nvSpPr>
        <p:spPr>
          <a:xfrm>
            <a:off x="6203795" y="5016375"/>
            <a:ext cx="1892253" cy="213315"/>
          </a:xfrm>
          <a:prstGeom prst="roundRect">
            <a:avLst>
              <a:gd name="adj" fmla="val 17860"/>
            </a:avLst>
          </a:prstGeom>
          <a:solidFill>
            <a:srgbClr val="F5F7FB"/>
          </a:solidFill>
          <a:ln/>
        </p:spPr>
      </p:sp>
      <p:sp>
        <p:nvSpPr>
          <p:cNvPr id="45" name="Text 43"/>
          <p:cNvSpPr txBox="1"/>
          <p:nvPr/>
        </p:nvSpPr>
        <p:spPr>
          <a:xfrm>
            <a:off x="6090260" y="5016375"/>
            <a:ext cx="2119323"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9 · PaymentCompleted</a:t>
            </a:r>
            <a:endParaRPr lang="en-US" sz="1200" dirty="0"/>
          </a:p>
        </p:txBody>
      </p:sp>
      <p:sp>
        <p:nvSpPr>
          <p:cNvPr id="46" name="Shape 44"/>
          <p:cNvSpPr/>
          <p:nvPr/>
        </p:nvSpPr>
        <p:spPr>
          <a:xfrm flipH="1">
            <a:off x="6133947" y="5587860"/>
            <a:ext cx="4159146" cy="63"/>
          </a:xfrm>
          <a:prstGeom prst="line">
            <a:avLst/>
          </a:prstGeom>
          <a:noFill/>
          <a:ln w="19050">
            <a:solidFill>
              <a:srgbClr val="4B4B9A"/>
            </a:solidFill>
            <a:prstDash val="solid"/>
            <a:tailEnd type="triangle"/>
          </a:ln>
        </p:spPr>
      </p:sp>
      <p:sp>
        <p:nvSpPr>
          <p:cNvPr id="47" name="Shape 45"/>
          <p:cNvSpPr/>
          <p:nvPr/>
        </p:nvSpPr>
        <p:spPr>
          <a:xfrm>
            <a:off x="7175321" y="5333867"/>
            <a:ext cx="2063698" cy="213315"/>
          </a:xfrm>
          <a:prstGeom prst="roundRect">
            <a:avLst>
              <a:gd name="adj" fmla="val 17860"/>
            </a:avLst>
          </a:prstGeom>
          <a:solidFill>
            <a:srgbClr val="F5F7FB"/>
          </a:solidFill>
          <a:ln/>
        </p:spPr>
      </p:sp>
      <p:sp>
        <p:nvSpPr>
          <p:cNvPr id="48" name="Text 46"/>
          <p:cNvSpPr txBox="1"/>
          <p:nvPr/>
        </p:nvSpPr>
        <p:spPr>
          <a:xfrm>
            <a:off x="7051499" y="5333867"/>
            <a:ext cx="2311342" cy="213355"/>
          </a:xfrm>
          <a:prstGeom prst="rect">
            <a:avLst/>
          </a:prstGeom>
          <a:noFill/>
          <a:ln/>
        </p:spPr>
        <p:txBody>
          <a:bodyPr wrap="square" lIns="0" tIns="0" rIns="0" bIns="0" rtlCol="0" anchor="t"/>
          <a:lstStyle/>
          <a:p>
            <a:pPr algn="ctr" indent="0" marL="0">
              <a:lnSpc>
                <a:spcPct val="116667"/>
              </a:lnSpc>
              <a:buNone/>
            </a:pPr>
            <a:r>
              <a:rPr lang="en-US" sz="1200" dirty="0">
                <a:solidFill>
                  <a:srgbClr val="1F3A70"/>
                </a:solidFill>
                <a:latin typeface="Calibri" pitchFamily="34" charset="0"/>
                <a:ea typeface="Calibri" pitchFamily="34" charset="-122"/>
                <a:cs typeface="Calibri" pitchFamily="34" charset="-120"/>
              </a:rPr>
              <a:t>10 · PAYMENT_COMPLETED</a:t>
            </a:r>
            <a:endParaRPr lang="en-US" sz="1200" dirty="0"/>
          </a:p>
        </p:txBody>
      </p:sp>
      <p:sp>
        <p:nvSpPr>
          <p:cNvPr id="49" name="Text 47"/>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Sequences</a:t>
            </a:r>
            <a:endParaRPr lang="en-US" sz="1200" dirty="0"/>
          </a:p>
        </p:txBody>
      </p:sp>
      <p:sp>
        <p:nvSpPr>
          <p:cNvPr id="50" name="Text 48"/>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BOOKING STATE MACHINE</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Ten states on the happy path, five ways off it</a:t>
            </a:r>
            <a:endParaRPr lang="en-US" sz="3000" dirty="0"/>
          </a:p>
        </p:txBody>
      </p:sp>
      <p:sp>
        <p:nvSpPr>
          <p:cNvPr id="4" name="Shape 2"/>
          <p:cNvSpPr/>
          <p:nvPr/>
        </p:nvSpPr>
        <p:spPr>
          <a:xfrm>
            <a:off x="812780" y="1904952"/>
            <a:ext cx="1904952" cy="698483"/>
          </a:xfrm>
          <a:prstGeom prst="roundRect">
            <a:avLst>
              <a:gd name="adj" fmla="val 50000"/>
            </a:avLst>
          </a:prstGeom>
          <a:solidFill>
            <a:srgbClr val="E3EBFA"/>
          </a:solidFill>
          <a:ln w="12700">
            <a:solidFill>
              <a:srgbClr val="2454C5"/>
            </a:solidFill>
            <a:prstDash val="solid"/>
          </a:ln>
        </p:spPr>
      </p:sp>
      <p:sp>
        <p:nvSpPr>
          <p:cNvPr id="5" name="Text 3"/>
          <p:cNvSpPr txBox="1"/>
          <p:nvPr/>
        </p:nvSpPr>
        <p:spPr>
          <a:xfrm>
            <a:off x="1358999" y="2034529"/>
            <a:ext cx="812415"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CREATED</a:t>
            </a:r>
            <a:endParaRPr lang="en-US" sz="1200" dirty="0"/>
          </a:p>
        </p:txBody>
      </p:sp>
      <p:sp>
        <p:nvSpPr>
          <p:cNvPr id="6" name="Text 4"/>
          <p:cNvSpPr txBox="1"/>
          <p:nvPr/>
        </p:nvSpPr>
        <p:spPr>
          <a:xfrm>
            <a:off x="1650959" y="2260543"/>
            <a:ext cx="228594" cy="213355"/>
          </a:xfrm>
          <a:prstGeom prst="rect">
            <a:avLst/>
          </a:prstGeom>
          <a:noFill/>
          <a:ln/>
        </p:spPr>
        <p:txBody>
          <a:bodyPr wrap="square" lIns="0" tIns="0" rIns="0" bIns="0" rtlCol="0" anchor="t"/>
          <a:lstStyle/>
          <a:p>
            <a:pPr algn="ctr" indent="0" marL="0">
              <a:lnSpc>
                <a:spcPct val="116667"/>
              </a:lnSpc>
              <a:buNone/>
            </a:pPr>
            <a:r>
              <a:rPr lang="en-US" sz="1200" dirty="0">
                <a:solidFill>
                  <a:srgbClr val="2454C5"/>
                </a:solidFill>
                <a:latin typeface="Calibri" pitchFamily="34" charset="0"/>
                <a:ea typeface="Calibri" pitchFamily="34" charset="-122"/>
                <a:cs typeface="Calibri" pitchFamily="34" charset="-120"/>
              </a:rPr>
              <a:t>—</a:t>
            </a:r>
            <a:endParaRPr lang="en-US" sz="1200" dirty="0"/>
          </a:p>
        </p:txBody>
      </p:sp>
      <p:sp>
        <p:nvSpPr>
          <p:cNvPr id="7" name="Shape 5"/>
          <p:cNvSpPr/>
          <p:nvPr/>
        </p:nvSpPr>
        <p:spPr>
          <a:xfrm>
            <a:off x="2978076" y="1904952"/>
            <a:ext cx="1904952" cy="698483"/>
          </a:xfrm>
          <a:prstGeom prst="roundRect">
            <a:avLst>
              <a:gd name="adj" fmla="val 50000"/>
            </a:avLst>
          </a:prstGeom>
          <a:solidFill>
            <a:srgbClr val="FCFDFF"/>
          </a:solidFill>
          <a:ln w="12700">
            <a:solidFill>
              <a:srgbClr val="0B7F74"/>
            </a:solidFill>
            <a:prstDash val="solid"/>
          </a:ln>
        </p:spPr>
      </p:sp>
      <p:sp>
        <p:nvSpPr>
          <p:cNvPr id="8" name="Text 6"/>
          <p:cNvSpPr txBox="1"/>
          <p:nvPr/>
        </p:nvSpPr>
        <p:spPr>
          <a:xfrm>
            <a:off x="2925229" y="2034529"/>
            <a:ext cx="2010645"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SEARCHING_PROVIDER</a:t>
            </a:r>
            <a:endParaRPr lang="en-US" sz="1200" dirty="0"/>
          </a:p>
        </p:txBody>
      </p:sp>
      <p:sp>
        <p:nvSpPr>
          <p:cNvPr id="9" name="Text 7"/>
          <p:cNvSpPr txBox="1"/>
          <p:nvPr/>
        </p:nvSpPr>
        <p:spPr>
          <a:xfrm>
            <a:off x="3318491" y="2260543"/>
            <a:ext cx="1224122" cy="213355"/>
          </a:xfrm>
          <a:prstGeom prst="rect">
            <a:avLst/>
          </a:prstGeom>
          <a:noFill/>
          <a:ln/>
        </p:spPr>
        <p:txBody>
          <a:bodyPr wrap="square" lIns="0" tIns="0" rIns="0" bIns="0" rtlCol="0" anchor="t"/>
          <a:lstStyle/>
          <a:p>
            <a:pPr algn="ctr" indent="0" marL="0">
              <a:lnSpc>
                <a:spcPct val="116667"/>
              </a:lnSpc>
              <a:buNone/>
            </a:pPr>
            <a:r>
              <a:rPr lang="en-US" sz="1200" dirty="0">
                <a:solidFill>
                  <a:srgbClr val="0B7F74"/>
                </a:solidFill>
                <a:latin typeface="Calibri" pitchFamily="34" charset="0"/>
                <a:ea typeface="Calibri" pitchFamily="34" charset="-122"/>
                <a:cs typeface="Calibri" pitchFamily="34" charset="-120"/>
              </a:rPr>
              <a:t>BookingCreated</a:t>
            </a:r>
            <a:endParaRPr lang="en-US" sz="1200" dirty="0"/>
          </a:p>
        </p:txBody>
      </p:sp>
      <p:sp>
        <p:nvSpPr>
          <p:cNvPr id="10" name="Shape 8"/>
          <p:cNvSpPr/>
          <p:nvPr/>
        </p:nvSpPr>
        <p:spPr>
          <a:xfrm>
            <a:off x="5143371" y="1904952"/>
            <a:ext cx="1904952" cy="698483"/>
          </a:xfrm>
          <a:prstGeom prst="roundRect">
            <a:avLst>
              <a:gd name="adj" fmla="val 50000"/>
            </a:avLst>
          </a:prstGeom>
          <a:solidFill>
            <a:srgbClr val="FCFDFF"/>
          </a:solidFill>
          <a:ln w="12700">
            <a:solidFill>
              <a:srgbClr val="0B7F74"/>
            </a:solidFill>
            <a:prstDash val="solid"/>
          </a:ln>
        </p:spPr>
      </p:sp>
      <p:sp>
        <p:nvSpPr>
          <p:cNvPr id="11" name="Text 9"/>
          <p:cNvSpPr txBox="1"/>
          <p:nvPr/>
        </p:nvSpPr>
        <p:spPr>
          <a:xfrm>
            <a:off x="5133196" y="2034529"/>
            <a:ext cx="1925304"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PROVIDER_ACCEPTED</a:t>
            </a:r>
            <a:endParaRPr lang="en-US" sz="1200" dirty="0"/>
          </a:p>
        </p:txBody>
      </p:sp>
      <p:sp>
        <p:nvSpPr>
          <p:cNvPr id="12" name="Text 10"/>
          <p:cNvSpPr txBox="1"/>
          <p:nvPr/>
        </p:nvSpPr>
        <p:spPr>
          <a:xfrm>
            <a:off x="5422225" y="2260543"/>
            <a:ext cx="1347246" cy="213355"/>
          </a:xfrm>
          <a:prstGeom prst="rect">
            <a:avLst/>
          </a:prstGeom>
          <a:noFill/>
          <a:ln/>
        </p:spPr>
        <p:txBody>
          <a:bodyPr wrap="square" lIns="0" tIns="0" rIns="0" bIns="0" rtlCol="0" anchor="t"/>
          <a:lstStyle/>
          <a:p>
            <a:pPr algn="ctr" indent="0" marL="0">
              <a:lnSpc>
                <a:spcPct val="116667"/>
              </a:lnSpc>
              <a:buNone/>
            </a:pPr>
            <a:r>
              <a:rPr lang="en-US" sz="1200" dirty="0">
                <a:solidFill>
                  <a:srgbClr val="0B7F74"/>
                </a:solidFill>
                <a:latin typeface="Calibri" pitchFamily="34" charset="0"/>
                <a:ea typeface="Calibri" pitchFamily="34" charset="-122"/>
                <a:cs typeface="Calibri" pitchFamily="34" charset="-120"/>
              </a:rPr>
              <a:t>ProviderAccepted</a:t>
            </a:r>
            <a:endParaRPr lang="en-US" sz="1200" dirty="0"/>
          </a:p>
        </p:txBody>
      </p:sp>
      <p:sp>
        <p:nvSpPr>
          <p:cNvPr id="13" name="Shape 11"/>
          <p:cNvSpPr/>
          <p:nvPr/>
        </p:nvSpPr>
        <p:spPr>
          <a:xfrm>
            <a:off x="7308667" y="1904952"/>
            <a:ext cx="1904952" cy="698483"/>
          </a:xfrm>
          <a:prstGeom prst="roundRect">
            <a:avLst>
              <a:gd name="adj" fmla="val 50000"/>
            </a:avLst>
          </a:prstGeom>
          <a:solidFill>
            <a:srgbClr val="FCFDFF"/>
          </a:solidFill>
          <a:ln w="12700">
            <a:solidFill>
              <a:srgbClr val="0B7F74"/>
            </a:solidFill>
            <a:prstDash val="solid"/>
          </a:ln>
        </p:spPr>
      </p:sp>
      <p:sp>
        <p:nvSpPr>
          <p:cNvPr id="14" name="Text 12"/>
          <p:cNvSpPr txBox="1"/>
          <p:nvPr/>
        </p:nvSpPr>
        <p:spPr>
          <a:xfrm>
            <a:off x="7187703" y="2034529"/>
            <a:ext cx="2146881"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PROVIDER_ON_THE_WAY</a:t>
            </a:r>
            <a:endParaRPr lang="en-US" sz="1200" dirty="0"/>
          </a:p>
        </p:txBody>
      </p:sp>
      <p:sp>
        <p:nvSpPr>
          <p:cNvPr id="15" name="Text 13"/>
          <p:cNvSpPr txBox="1"/>
          <p:nvPr/>
        </p:nvSpPr>
        <p:spPr>
          <a:xfrm>
            <a:off x="7654083" y="2260543"/>
            <a:ext cx="1214121" cy="213355"/>
          </a:xfrm>
          <a:prstGeom prst="rect">
            <a:avLst/>
          </a:prstGeom>
          <a:noFill/>
          <a:ln/>
        </p:spPr>
        <p:txBody>
          <a:bodyPr wrap="square" lIns="0" tIns="0" rIns="0" bIns="0" rtlCol="0" anchor="t"/>
          <a:lstStyle/>
          <a:p>
            <a:pPr algn="ctr" indent="0" marL="0">
              <a:lnSpc>
                <a:spcPct val="116667"/>
              </a:lnSpc>
              <a:buNone/>
            </a:pPr>
            <a:r>
              <a:rPr lang="en-US" sz="1200" dirty="0">
                <a:solidFill>
                  <a:srgbClr val="0B7F74"/>
                </a:solidFill>
                <a:latin typeface="Calibri" pitchFamily="34" charset="0"/>
                <a:ea typeface="Calibri" pitchFamily="34" charset="-122"/>
                <a:cs typeface="Calibri" pitchFamily="34" charset="-120"/>
              </a:rPr>
              <a:t>ProviderArriving</a:t>
            </a:r>
            <a:endParaRPr lang="en-US" sz="1200" dirty="0"/>
          </a:p>
        </p:txBody>
      </p:sp>
      <p:sp>
        <p:nvSpPr>
          <p:cNvPr id="16" name="Shape 14"/>
          <p:cNvSpPr/>
          <p:nvPr/>
        </p:nvSpPr>
        <p:spPr>
          <a:xfrm>
            <a:off x="9473963" y="1904952"/>
            <a:ext cx="1904952" cy="698483"/>
          </a:xfrm>
          <a:prstGeom prst="roundRect">
            <a:avLst>
              <a:gd name="adj" fmla="val 50000"/>
            </a:avLst>
          </a:prstGeom>
          <a:solidFill>
            <a:srgbClr val="FCFDFF"/>
          </a:solidFill>
          <a:ln w="12700">
            <a:solidFill>
              <a:srgbClr val="0B7F74"/>
            </a:solidFill>
            <a:prstDash val="solid"/>
          </a:ln>
        </p:spPr>
      </p:sp>
      <p:sp>
        <p:nvSpPr>
          <p:cNvPr id="17" name="Text 15"/>
          <p:cNvSpPr txBox="1"/>
          <p:nvPr/>
        </p:nvSpPr>
        <p:spPr>
          <a:xfrm>
            <a:off x="9549129" y="2034529"/>
            <a:ext cx="1754620"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PROVIDER_ARRIVED</a:t>
            </a:r>
            <a:endParaRPr lang="en-US" sz="1200" dirty="0"/>
          </a:p>
        </p:txBody>
      </p:sp>
      <p:sp>
        <p:nvSpPr>
          <p:cNvPr id="18" name="Text 16"/>
          <p:cNvSpPr txBox="1"/>
          <p:nvPr/>
        </p:nvSpPr>
        <p:spPr>
          <a:xfrm>
            <a:off x="9838275" y="2260543"/>
            <a:ext cx="1176229" cy="213355"/>
          </a:xfrm>
          <a:prstGeom prst="rect">
            <a:avLst/>
          </a:prstGeom>
          <a:noFill/>
          <a:ln/>
        </p:spPr>
        <p:txBody>
          <a:bodyPr wrap="square" lIns="0" tIns="0" rIns="0" bIns="0" rtlCol="0" anchor="t"/>
          <a:lstStyle/>
          <a:p>
            <a:pPr algn="ctr" indent="0" marL="0">
              <a:lnSpc>
                <a:spcPct val="116667"/>
              </a:lnSpc>
              <a:buNone/>
            </a:pPr>
            <a:r>
              <a:rPr lang="en-US" sz="1200" dirty="0">
                <a:solidFill>
                  <a:srgbClr val="0B7F74"/>
                </a:solidFill>
                <a:latin typeface="Calibri" pitchFamily="34" charset="0"/>
                <a:ea typeface="Calibri" pitchFamily="34" charset="-122"/>
                <a:cs typeface="Calibri" pitchFamily="34" charset="-120"/>
              </a:rPr>
              <a:t>ProviderArrived</a:t>
            </a:r>
            <a:endParaRPr lang="en-US" sz="1200" dirty="0"/>
          </a:p>
        </p:txBody>
      </p:sp>
      <p:sp>
        <p:nvSpPr>
          <p:cNvPr id="19" name="Shape 17"/>
          <p:cNvSpPr/>
          <p:nvPr/>
        </p:nvSpPr>
        <p:spPr>
          <a:xfrm>
            <a:off x="812780" y="3174921"/>
            <a:ext cx="1904952" cy="698483"/>
          </a:xfrm>
          <a:prstGeom prst="roundRect">
            <a:avLst>
              <a:gd name="adj" fmla="val 50000"/>
            </a:avLst>
          </a:prstGeom>
          <a:solidFill>
            <a:srgbClr val="E0F2E8"/>
          </a:solidFill>
          <a:ln w="12700">
            <a:solidFill>
              <a:srgbClr val="2E7D4F"/>
            </a:solidFill>
            <a:prstDash val="solid"/>
          </a:ln>
        </p:spPr>
      </p:sp>
      <p:sp>
        <p:nvSpPr>
          <p:cNvPr id="20" name="Text 18"/>
          <p:cNvSpPr txBox="1"/>
          <p:nvPr/>
        </p:nvSpPr>
        <p:spPr>
          <a:xfrm>
            <a:off x="778935" y="3304497"/>
            <a:ext cx="1972642"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PAYMENT_COMPLETED</a:t>
            </a:r>
            <a:endParaRPr lang="en-US" sz="1200" dirty="0"/>
          </a:p>
        </p:txBody>
      </p:sp>
      <p:sp>
        <p:nvSpPr>
          <p:cNvPr id="21" name="Text 19"/>
          <p:cNvSpPr txBox="1"/>
          <p:nvPr/>
        </p:nvSpPr>
        <p:spPr>
          <a:xfrm>
            <a:off x="1015736" y="3530512"/>
            <a:ext cx="1499039" cy="213355"/>
          </a:xfrm>
          <a:prstGeom prst="rect">
            <a:avLst/>
          </a:prstGeom>
          <a:noFill/>
          <a:ln/>
        </p:spPr>
        <p:txBody>
          <a:bodyPr wrap="square" lIns="0" tIns="0" rIns="0" bIns="0" rtlCol="0" anchor="t"/>
          <a:lstStyle/>
          <a:p>
            <a:pPr algn="ctr" indent="0" marL="0">
              <a:lnSpc>
                <a:spcPct val="116667"/>
              </a:lnSpc>
              <a:buNone/>
            </a:pPr>
            <a:r>
              <a:rPr lang="en-US" sz="1200" dirty="0">
                <a:solidFill>
                  <a:srgbClr val="2E7D4F"/>
                </a:solidFill>
                <a:latin typeface="Calibri" pitchFamily="34" charset="0"/>
                <a:ea typeface="Calibri" pitchFamily="34" charset="-122"/>
                <a:cs typeface="Calibri" pitchFamily="34" charset="-120"/>
              </a:rPr>
              <a:t>PaymentCompleted</a:t>
            </a:r>
            <a:endParaRPr lang="en-US" sz="1200" dirty="0"/>
          </a:p>
        </p:txBody>
      </p:sp>
      <p:sp>
        <p:nvSpPr>
          <p:cNvPr id="22" name="Shape 20"/>
          <p:cNvSpPr/>
          <p:nvPr/>
        </p:nvSpPr>
        <p:spPr>
          <a:xfrm>
            <a:off x="2978076" y="3174921"/>
            <a:ext cx="1904952" cy="698483"/>
          </a:xfrm>
          <a:prstGeom prst="roundRect">
            <a:avLst>
              <a:gd name="adj" fmla="val 50000"/>
            </a:avLst>
          </a:prstGeom>
          <a:solidFill>
            <a:srgbClr val="FCFDFF"/>
          </a:solidFill>
          <a:ln w="12700">
            <a:solidFill>
              <a:srgbClr val="B4530F"/>
            </a:solidFill>
            <a:prstDash val="solid"/>
          </a:ln>
        </p:spPr>
      </p:sp>
      <p:sp>
        <p:nvSpPr>
          <p:cNvPr id="23" name="Text 21"/>
          <p:cNvSpPr txBox="1"/>
          <p:nvPr/>
        </p:nvSpPr>
        <p:spPr>
          <a:xfrm>
            <a:off x="3091134" y="3304497"/>
            <a:ext cx="1678835"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PAYMENT_PENDING</a:t>
            </a:r>
            <a:endParaRPr lang="en-US" sz="1200" dirty="0"/>
          </a:p>
        </p:txBody>
      </p:sp>
      <p:sp>
        <p:nvSpPr>
          <p:cNvPr id="24" name="Text 22"/>
          <p:cNvSpPr txBox="1"/>
          <p:nvPr/>
        </p:nvSpPr>
        <p:spPr>
          <a:xfrm>
            <a:off x="3342277" y="3530512"/>
            <a:ext cx="1176451" cy="213355"/>
          </a:xfrm>
          <a:prstGeom prst="rect">
            <a:avLst/>
          </a:prstGeom>
          <a:noFill/>
          <a:ln/>
        </p:spPr>
        <p:txBody>
          <a:bodyPr wrap="square" lIns="0" tIns="0" rIns="0" bIns="0" rtlCol="0" anchor="t"/>
          <a:lstStyle/>
          <a:p>
            <a:pPr algn="ctr" indent="0" marL="0">
              <a:lnSpc>
                <a:spcPct val="116667"/>
              </a:lnSpc>
              <a:buNone/>
            </a:pPr>
            <a:r>
              <a:rPr lang="en-US" sz="1200" dirty="0">
                <a:solidFill>
                  <a:srgbClr val="B4530F"/>
                </a:solidFill>
                <a:latin typeface="Calibri" pitchFamily="34" charset="0"/>
                <a:ea typeface="Calibri" pitchFamily="34" charset="-122"/>
                <a:cs typeface="Calibri" pitchFamily="34" charset="-120"/>
              </a:rPr>
              <a:t>Razorpay order</a:t>
            </a:r>
            <a:endParaRPr lang="en-US" sz="1200" dirty="0"/>
          </a:p>
        </p:txBody>
      </p:sp>
      <p:sp>
        <p:nvSpPr>
          <p:cNvPr id="25" name="Shape 23"/>
          <p:cNvSpPr/>
          <p:nvPr/>
        </p:nvSpPr>
        <p:spPr>
          <a:xfrm>
            <a:off x="5143371" y="3174921"/>
            <a:ext cx="1904952" cy="698483"/>
          </a:xfrm>
          <a:prstGeom prst="roundRect">
            <a:avLst>
              <a:gd name="adj" fmla="val 50000"/>
            </a:avLst>
          </a:prstGeom>
          <a:solidFill>
            <a:srgbClr val="FCFDFF"/>
          </a:solidFill>
          <a:ln w="12700">
            <a:solidFill>
              <a:srgbClr val="B4530F"/>
            </a:solidFill>
            <a:prstDash val="solid"/>
          </a:ln>
        </p:spPr>
      </p:sp>
      <p:sp>
        <p:nvSpPr>
          <p:cNvPr id="26" name="Text 24"/>
          <p:cNvSpPr txBox="1"/>
          <p:nvPr/>
        </p:nvSpPr>
        <p:spPr>
          <a:xfrm>
            <a:off x="5044848" y="3304497"/>
            <a:ext cx="2102099"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CUSTOMER_CONFIRMED</a:t>
            </a:r>
            <a:endParaRPr lang="en-US" sz="1200" dirty="0"/>
          </a:p>
        </p:txBody>
      </p:sp>
      <p:sp>
        <p:nvSpPr>
          <p:cNvPr id="27" name="Text 25"/>
          <p:cNvSpPr txBox="1"/>
          <p:nvPr/>
        </p:nvSpPr>
        <p:spPr>
          <a:xfrm>
            <a:off x="5981550" y="3530512"/>
            <a:ext cx="228594" cy="213355"/>
          </a:xfrm>
          <a:prstGeom prst="rect">
            <a:avLst/>
          </a:prstGeom>
          <a:noFill/>
          <a:ln/>
        </p:spPr>
        <p:txBody>
          <a:bodyPr wrap="square" lIns="0" tIns="0" rIns="0" bIns="0" rtlCol="0" anchor="t"/>
          <a:lstStyle/>
          <a:p>
            <a:pPr algn="ctr" indent="0" marL="0">
              <a:lnSpc>
                <a:spcPct val="116667"/>
              </a:lnSpc>
              <a:buNone/>
            </a:pPr>
            <a:r>
              <a:rPr lang="en-US" sz="1200" dirty="0">
                <a:solidFill>
                  <a:srgbClr val="B4530F"/>
                </a:solidFill>
                <a:latin typeface="Calibri" pitchFamily="34" charset="0"/>
                <a:ea typeface="Calibri" pitchFamily="34" charset="-122"/>
                <a:cs typeface="Calibri" pitchFamily="34" charset="-120"/>
              </a:rPr>
              <a:t>—</a:t>
            </a:r>
            <a:endParaRPr lang="en-US" sz="1200" dirty="0"/>
          </a:p>
        </p:txBody>
      </p:sp>
      <p:sp>
        <p:nvSpPr>
          <p:cNvPr id="28" name="Shape 26"/>
          <p:cNvSpPr/>
          <p:nvPr/>
        </p:nvSpPr>
        <p:spPr>
          <a:xfrm>
            <a:off x="7308667" y="3174921"/>
            <a:ext cx="1904952" cy="698483"/>
          </a:xfrm>
          <a:prstGeom prst="roundRect">
            <a:avLst>
              <a:gd name="adj" fmla="val 50000"/>
            </a:avLst>
          </a:prstGeom>
          <a:solidFill>
            <a:srgbClr val="FCFDFF"/>
          </a:solidFill>
          <a:ln w="12700">
            <a:solidFill>
              <a:srgbClr val="0B7F74"/>
            </a:solidFill>
            <a:prstDash val="solid"/>
          </a:ln>
        </p:spPr>
      </p:sp>
      <p:sp>
        <p:nvSpPr>
          <p:cNvPr id="29" name="Text 27"/>
          <p:cNvSpPr txBox="1"/>
          <p:nvPr/>
        </p:nvSpPr>
        <p:spPr>
          <a:xfrm>
            <a:off x="7502401" y="3304497"/>
            <a:ext cx="1517485"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JOB_COMPLETED</a:t>
            </a:r>
            <a:endParaRPr lang="en-US" sz="1200" dirty="0"/>
          </a:p>
        </p:txBody>
      </p:sp>
      <p:sp>
        <p:nvSpPr>
          <p:cNvPr id="30" name="Text 28"/>
          <p:cNvSpPr txBox="1"/>
          <p:nvPr/>
        </p:nvSpPr>
        <p:spPr>
          <a:xfrm>
            <a:off x="7710761" y="3530512"/>
            <a:ext cx="1100666" cy="213355"/>
          </a:xfrm>
          <a:prstGeom prst="rect">
            <a:avLst/>
          </a:prstGeom>
          <a:noFill/>
          <a:ln/>
        </p:spPr>
        <p:txBody>
          <a:bodyPr wrap="square" lIns="0" tIns="0" rIns="0" bIns="0" rtlCol="0" anchor="t"/>
          <a:lstStyle/>
          <a:p>
            <a:pPr algn="ctr" indent="0" marL="0">
              <a:lnSpc>
                <a:spcPct val="116667"/>
              </a:lnSpc>
              <a:buNone/>
            </a:pPr>
            <a:r>
              <a:rPr lang="en-US" sz="1200" dirty="0">
                <a:solidFill>
                  <a:srgbClr val="0B7F74"/>
                </a:solidFill>
                <a:latin typeface="Calibri" pitchFamily="34" charset="0"/>
                <a:ea typeface="Calibri" pitchFamily="34" charset="-122"/>
                <a:cs typeface="Calibri" pitchFamily="34" charset="-120"/>
              </a:rPr>
              <a:t>JobCompleted</a:t>
            </a:r>
            <a:endParaRPr lang="en-US" sz="1200" dirty="0"/>
          </a:p>
        </p:txBody>
      </p:sp>
      <p:sp>
        <p:nvSpPr>
          <p:cNvPr id="31" name="Shape 29"/>
          <p:cNvSpPr/>
          <p:nvPr/>
        </p:nvSpPr>
        <p:spPr>
          <a:xfrm>
            <a:off x="9473963" y="3174921"/>
            <a:ext cx="1904952" cy="698483"/>
          </a:xfrm>
          <a:prstGeom prst="roundRect">
            <a:avLst>
              <a:gd name="adj" fmla="val 50000"/>
            </a:avLst>
          </a:prstGeom>
          <a:solidFill>
            <a:srgbClr val="FCFDFF"/>
          </a:solidFill>
          <a:ln w="12700">
            <a:solidFill>
              <a:srgbClr val="0B7F74"/>
            </a:solidFill>
            <a:prstDash val="solid"/>
          </a:ln>
        </p:spPr>
      </p:sp>
      <p:sp>
        <p:nvSpPr>
          <p:cNvPr id="32" name="Text 30"/>
          <p:cNvSpPr txBox="1"/>
          <p:nvPr/>
        </p:nvSpPr>
        <p:spPr>
          <a:xfrm>
            <a:off x="9806822" y="3304497"/>
            <a:ext cx="1239235"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JOB_STARTED</a:t>
            </a:r>
            <a:endParaRPr lang="en-US" sz="1200" dirty="0"/>
          </a:p>
        </p:txBody>
      </p:sp>
      <p:sp>
        <p:nvSpPr>
          <p:cNvPr id="33" name="Text 31"/>
          <p:cNvSpPr txBox="1"/>
          <p:nvPr/>
        </p:nvSpPr>
        <p:spPr>
          <a:xfrm>
            <a:off x="10013626" y="3530512"/>
            <a:ext cx="825527" cy="213355"/>
          </a:xfrm>
          <a:prstGeom prst="rect">
            <a:avLst/>
          </a:prstGeom>
          <a:noFill/>
          <a:ln/>
        </p:spPr>
        <p:txBody>
          <a:bodyPr wrap="square" lIns="0" tIns="0" rIns="0" bIns="0" rtlCol="0" anchor="t"/>
          <a:lstStyle/>
          <a:p>
            <a:pPr algn="ctr" indent="0" marL="0">
              <a:lnSpc>
                <a:spcPct val="116667"/>
              </a:lnSpc>
              <a:buNone/>
            </a:pPr>
            <a:r>
              <a:rPr lang="en-US" sz="1200" dirty="0">
                <a:solidFill>
                  <a:srgbClr val="0B7F74"/>
                </a:solidFill>
                <a:latin typeface="Calibri" pitchFamily="34" charset="0"/>
                <a:ea typeface="Calibri" pitchFamily="34" charset="-122"/>
                <a:cs typeface="Calibri" pitchFamily="34" charset="-120"/>
              </a:rPr>
              <a:t>JobStarted</a:t>
            </a:r>
            <a:endParaRPr lang="en-US" sz="1200" dirty="0"/>
          </a:p>
        </p:txBody>
      </p:sp>
      <p:sp>
        <p:nvSpPr>
          <p:cNvPr id="34" name="Shape 32"/>
          <p:cNvSpPr/>
          <p:nvPr/>
        </p:nvSpPr>
        <p:spPr>
          <a:xfrm>
            <a:off x="2717732" y="2254194"/>
            <a:ext cx="260343" cy="63"/>
          </a:xfrm>
          <a:prstGeom prst="line">
            <a:avLst/>
          </a:prstGeom>
          <a:noFill/>
          <a:ln w="19050">
            <a:solidFill>
              <a:srgbClr val="0B7F74"/>
            </a:solidFill>
            <a:prstDash val="solid"/>
            <a:tailEnd type="triangle"/>
          </a:ln>
        </p:spPr>
      </p:sp>
      <p:sp>
        <p:nvSpPr>
          <p:cNvPr id="35" name="Shape 33"/>
          <p:cNvSpPr/>
          <p:nvPr/>
        </p:nvSpPr>
        <p:spPr>
          <a:xfrm flipH="1">
            <a:off x="2717732" y="3524162"/>
            <a:ext cx="260343" cy="63"/>
          </a:xfrm>
          <a:prstGeom prst="line">
            <a:avLst/>
          </a:prstGeom>
          <a:noFill/>
          <a:ln w="19050">
            <a:solidFill>
              <a:srgbClr val="B4530F"/>
            </a:solidFill>
            <a:prstDash val="solid"/>
            <a:tailEnd type="triangle"/>
          </a:ln>
        </p:spPr>
      </p:sp>
      <p:sp>
        <p:nvSpPr>
          <p:cNvPr id="36" name="Shape 34"/>
          <p:cNvSpPr/>
          <p:nvPr/>
        </p:nvSpPr>
        <p:spPr>
          <a:xfrm>
            <a:off x="4883028" y="2254194"/>
            <a:ext cx="260343" cy="63"/>
          </a:xfrm>
          <a:prstGeom prst="line">
            <a:avLst/>
          </a:prstGeom>
          <a:noFill/>
          <a:ln w="19050">
            <a:solidFill>
              <a:srgbClr val="0B7F74"/>
            </a:solidFill>
            <a:prstDash val="solid"/>
            <a:tailEnd type="triangle"/>
          </a:ln>
        </p:spPr>
      </p:sp>
      <p:sp>
        <p:nvSpPr>
          <p:cNvPr id="37" name="Shape 35"/>
          <p:cNvSpPr/>
          <p:nvPr/>
        </p:nvSpPr>
        <p:spPr>
          <a:xfrm flipH="1">
            <a:off x="4883028" y="3524162"/>
            <a:ext cx="260343" cy="63"/>
          </a:xfrm>
          <a:prstGeom prst="line">
            <a:avLst/>
          </a:prstGeom>
          <a:noFill/>
          <a:ln w="19050">
            <a:solidFill>
              <a:srgbClr val="B4530F"/>
            </a:solidFill>
            <a:prstDash val="solid"/>
            <a:tailEnd type="triangle"/>
          </a:ln>
        </p:spPr>
      </p:sp>
      <p:sp>
        <p:nvSpPr>
          <p:cNvPr id="38" name="Shape 36"/>
          <p:cNvSpPr/>
          <p:nvPr/>
        </p:nvSpPr>
        <p:spPr>
          <a:xfrm>
            <a:off x="7048324" y="2254194"/>
            <a:ext cx="260343" cy="63"/>
          </a:xfrm>
          <a:prstGeom prst="line">
            <a:avLst/>
          </a:prstGeom>
          <a:noFill/>
          <a:ln w="19050">
            <a:solidFill>
              <a:srgbClr val="0B7F74"/>
            </a:solidFill>
            <a:prstDash val="solid"/>
            <a:tailEnd type="triangle"/>
          </a:ln>
        </p:spPr>
      </p:sp>
      <p:sp>
        <p:nvSpPr>
          <p:cNvPr id="39" name="Shape 37"/>
          <p:cNvSpPr/>
          <p:nvPr/>
        </p:nvSpPr>
        <p:spPr>
          <a:xfrm flipH="1">
            <a:off x="7048324" y="3524162"/>
            <a:ext cx="260343" cy="63"/>
          </a:xfrm>
          <a:prstGeom prst="line">
            <a:avLst/>
          </a:prstGeom>
          <a:noFill/>
          <a:ln w="19050">
            <a:solidFill>
              <a:srgbClr val="0B7F74"/>
            </a:solidFill>
            <a:prstDash val="solid"/>
            <a:tailEnd type="triangle"/>
          </a:ln>
        </p:spPr>
      </p:sp>
      <p:sp>
        <p:nvSpPr>
          <p:cNvPr id="40" name="Shape 38"/>
          <p:cNvSpPr/>
          <p:nvPr/>
        </p:nvSpPr>
        <p:spPr>
          <a:xfrm>
            <a:off x="9213620" y="2254194"/>
            <a:ext cx="260343" cy="63"/>
          </a:xfrm>
          <a:prstGeom prst="line">
            <a:avLst/>
          </a:prstGeom>
          <a:noFill/>
          <a:ln w="19050">
            <a:solidFill>
              <a:srgbClr val="0B7F74"/>
            </a:solidFill>
            <a:prstDash val="solid"/>
            <a:tailEnd type="triangle"/>
          </a:ln>
        </p:spPr>
      </p:sp>
      <p:sp>
        <p:nvSpPr>
          <p:cNvPr id="41" name="Shape 39"/>
          <p:cNvSpPr/>
          <p:nvPr/>
        </p:nvSpPr>
        <p:spPr>
          <a:xfrm flipH="1">
            <a:off x="9213620" y="3524162"/>
            <a:ext cx="260343" cy="63"/>
          </a:xfrm>
          <a:prstGeom prst="line">
            <a:avLst/>
          </a:prstGeom>
          <a:noFill/>
          <a:ln w="19050">
            <a:solidFill>
              <a:srgbClr val="0B7F74"/>
            </a:solidFill>
            <a:prstDash val="solid"/>
            <a:tailEnd type="triangle"/>
          </a:ln>
        </p:spPr>
      </p:sp>
      <p:sp>
        <p:nvSpPr>
          <p:cNvPr id="42" name="Shape 40"/>
          <p:cNvSpPr/>
          <p:nvPr/>
        </p:nvSpPr>
        <p:spPr>
          <a:xfrm>
            <a:off x="10426439" y="2603435"/>
            <a:ext cx="63" cy="571486"/>
          </a:xfrm>
          <a:prstGeom prst="line">
            <a:avLst/>
          </a:prstGeom>
          <a:noFill/>
          <a:ln w="19050">
            <a:solidFill>
              <a:srgbClr val="0B7F74"/>
            </a:solidFill>
            <a:prstDash val="solid"/>
            <a:tailEnd type="triangle"/>
          </a:ln>
        </p:spPr>
      </p:sp>
      <p:sp>
        <p:nvSpPr>
          <p:cNvPr id="43" name="Text 41"/>
          <p:cNvSpPr txBox="1"/>
          <p:nvPr/>
        </p:nvSpPr>
        <p:spPr>
          <a:xfrm>
            <a:off x="812780" y="4127397"/>
            <a:ext cx="4267093" cy="213355"/>
          </a:xfrm>
          <a:prstGeom prst="rect">
            <a:avLst/>
          </a:prstGeom>
          <a:noFill/>
          <a:ln/>
        </p:spPr>
        <p:txBody>
          <a:bodyPr wrap="square" lIns="0" tIns="0" rIns="0" bIns="0" rtlCol="0" anchor="t"/>
          <a:lstStyle/>
          <a:p>
            <a:pPr algn="l" indent="0" marL="0">
              <a:lnSpc>
                <a:spcPct val="116667"/>
              </a:lnSpc>
              <a:buNone/>
            </a:pPr>
            <a:r>
              <a:rPr lang="en-US" sz="1200" b="1" dirty="0">
                <a:solidFill>
                  <a:srgbClr val="B8306E"/>
                </a:solidFill>
                <a:latin typeface="Calibri" pitchFamily="34" charset="0"/>
                <a:ea typeface="Calibri" pitchFamily="34" charset="-122"/>
                <a:cs typeface="Calibri" pitchFamily="34" charset="-120"/>
              </a:rPr>
              <a:t>Side paths</a:t>
            </a:r>
            <a:endParaRPr lang="en-US" sz="1200" dirty="0"/>
          </a:p>
        </p:txBody>
      </p:sp>
      <p:sp>
        <p:nvSpPr>
          <p:cNvPr id="44" name="Shape 42"/>
          <p:cNvSpPr/>
          <p:nvPr/>
        </p:nvSpPr>
        <p:spPr>
          <a:xfrm>
            <a:off x="812780" y="4444889"/>
            <a:ext cx="1987500" cy="952476"/>
          </a:xfrm>
          <a:prstGeom prst="roundRect">
            <a:avLst>
              <a:gd name="adj" fmla="val 9333"/>
            </a:avLst>
          </a:prstGeom>
          <a:solidFill>
            <a:srgbClr val="FAE3ED"/>
          </a:solidFill>
          <a:ln/>
        </p:spPr>
      </p:sp>
      <p:sp>
        <p:nvSpPr>
          <p:cNvPr id="45" name="Text 43"/>
          <p:cNvSpPr txBox="1"/>
          <p:nvPr/>
        </p:nvSpPr>
        <p:spPr>
          <a:xfrm>
            <a:off x="914377" y="4533787"/>
            <a:ext cx="1998422"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AWAITING_ASSIGNMENT</a:t>
            </a:r>
            <a:endParaRPr lang="en-US" sz="1200" dirty="0"/>
          </a:p>
        </p:txBody>
      </p:sp>
      <p:sp>
        <p:nvSpPr>
          <p:cNvPr id="46" name="Text 44"/>
          <p:cNvSpPr txBox="1"/>
          <p:nvPr/>
        </p:nvSpPr>
        <p:spPr>
          <a:xfrm>
            <a:off x="914377" y="4785201"/>
            <a:ext cx="1998422"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no taker, an agency covers it</a:t>
            </a:r>
            <a:endParaRPr lang="en-US" sz="1200" dirty="0"/>
          </a:p>
        </p:txBody>
      </p:sp>
      <p:sp>
        <p:nvSpPr>
          <p:cNvPr id="47" name="Shape 45"/>
          <p:cNvSpPr/>
          <p:nvPr/>
        </p:nvSpPr>
        <p:spPr>
          <a:xfrm>
            <a:off x="2952676" y="4444889"/>
            <a:ext cx="1987500" cy="952476"/>
          </a:xfrm>
          <a:prstGeom prst="roundRect">
            <a:avLst>
              <a:gd name="adj" fmla="val 9333"/>
            </a:avLst>
          </a:prstGeom>
          <a:solidFill>
            <a:srgbClr val="FAE3ED"/>
          </a:solidFill>
          <a:ln/>
        </p:spPr>
      </p:sp>
      <p:sp>
        <p:nvSpPr>
          <p:cNvPr id="48" name="Text 46"/>
          <p:cNvSpPr txBox="1"/>
          <p:nvPr/>
        </p:nvSpPr>
        <p:spPr>
          <a:xfrm>
            <a:off x="3054274" y="4533787"/>
            <a:ext cx="1998422"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SEARCHING_FAILED</a:t>
            </a:r>
            <a:endParaRPr lang="en-US" sz="1200" dirty="0"/>
          </a:p>
        </p:txBody>
      </p:sp>
      <p:sp>
        <p:nvSpPr>
          <p:cNvPr id="49" name="Text 47"/>
          <p:cNvSpPr txBox="1"/>
          <p:nvPr/>
        </p:nvSpPr>
        <p:spPr>
          <a:xfrm>
            <a:off x="3054274" y="4785201"/>
            <a:ext cx="1998422"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no taker, no agency</a:t>
            </a:r>
            <a:endParaRPr lang="en-US" sz="1200" dirty="0"/>
          </a:p>
        </p:txBody>
      </p:sp>
      <p:sp>
        <p:nvSpPr>
          <p:cNvPr id="50" name="Shape 48"/>
          <p:cNvSpPr/>
          <p:nvPr/>
        </p:nvSpPr>
        <p:spPr>
          <a:xfrm>
            <a:off x="5092573" y="4444889"/>
            <a:ext cx="1987500" cy="952476"/>
          </a:xfrm>
          <a:prstGeom prst="roundRect">
            <a:avLst>
              <a:gd name="adj" fmla="val 9333"/>
            </a:avLst>
          </a:prstGeom>
          <a:solidFill>
            <a:srgbClr val="FAE3ED"/>
          </a:solidFill>
          <a:ln/>
        </p:spPr>
      </p:sp>
      <p:sp>
        <p:nvSpPr>
          <p:cNvPr id="51" name="Text 49"/>
          <p:cNvSpPr txBox="1"/>
          <p:nvPr/>
        </p:nvSpPr>
        <p:spPr>
          <a:xfrm>
            <a:off x="5194170" y="4533787"/>
            <a:ext cx="1998422" cy="426630"/>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ADDITIONAL_QUOTE_</a:t>
            </a:r>
            <a:endParaRPr lang="en-US" sz="1200" dirty="0"/>
          </a:p>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REQUIRED</a:t>
            </a:r>
            <a:endParaRPr lang="en-US" sz="1200" dirty="0"/>
          </a:p>
        </p:txBody>
      </p:sp>
      <p:sp>
        <p:nvSpPr>
          <p:cNvPr id="52" name="Text 50"/>
          <p:cNvSpPr txBox="1"/>
          <p:nvPr/>
        </p:nvSpPr>
        <p:spPr>
          <a:xfrm>
            <a:off x="5194170" y="4998516"/>
            <a:ext cx="1998422"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parts quote to approve</a:t>
            </a:r>
            <a:endParaRPr lang="en-US" sz="1200" dirty="0"/>
          </a:p>
        </p:txBody>
      </p:sp>
      <p:sp>
        <p:nvSpPr>
          <p:cNvPr id="53" name="Shape 51"/>
          <p:cNvSpPr/>
          <p:nvPr/>
        </p:nvSpPr>
        <p:spPr>
          <a:xfrm>
            <a:off x="7232469" y="4444889"/>
            <a:ext cx="1987500" cy="952476"/>
          </a:xfrm>
          <a:prstGeom prst="roundRect">
            <a:avLst>
              <a:gd name="adj" fmla="val 9333"/>
            </a:avLst>
          </a:prstGeom>
          <a:solidFill>
            <a:srgbClr val="FAE3ED"/>
          </a:solidFill>
          <a:ln/>
        </p:spPr>
      </p:sp>
      <p:sp>
        <p:nvSpPr>
          <p:cNvPr id="54" name="Text 52"/>
          <p:cNvSpPr txBox="1"/>
          <p:nvPr/>
        </p:nvSpPr>
        <p:spPr>
          <a:xfrm>
            <a:off x="7334067" y="4533787"/>
            <a:ext cx="1998422" cy="426630"/>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DISPUTED → REFUNDED</a:t>
            </a:r>
            <a:endParaRPr lang="en-US" sz="1200" dirty="0"/>
          </a:p>
        </p:txBody>
      </p:sp>
      <p:sp>
        <p:nvSpPr>
          <p:cNvPr id="55" name="Text 53"/>
          <p:cNvSpPr txBox="1"/>
          <p:nvPr/>
        </p:nvSpPr>
        <p:spPr>
          <a:xfrm>
            <a:off x="7334067" y="4998516"/>
            <a:ext cx="1998422"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complaint upheld</a:t>
            </a:r>
            <a:endParaRPr lang="en-US" sz="1200" dirty="0"/>
          </a:p>
        </p:txBody>
      </p:sp>
      <p:sp>
        <p:nvSpPr>
          <p:cNvPr id="56" name="Shape 54"/>
          <p:cNvSpPr/>
          <p:nvPr/>
        </p:nvSpPr>
        <p:spPr>
          <a:xfrm>
            <a:off x="9372366" y="4444889"/>
            <a:ext cx="1987500" cy="952476"/>
          </a:xfrm>
          <a:prstGeom prst="roundRect">
            <a:avLst>
              <a:gd name="adj" fmla="val 9333"/>
            </a:avLst>
          </a:prstGeom>
          <a:solidFill>
            <a:srgbClr val="FAE3ED"/>
          </a:solidFill>
          <a:ln/>
        </p:spPr>
      </p:sp>
      <p:sp>
        <p:nvSpPr>
          <p:cNvPr id="57" name="Text 55"/>
          <p:cNvSpPr txBox="1"/>
          <p:nvPr/>
        </p:nvSpPr>
        <p:spPr>
          <a:xfrm>
            <a:off x="9473963" y="4533787"/>
            <a:ext cx="1998422"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CANCELLED</a:t>
            </a:r>
            <a:endParaRPr lang="en-US" sz="1200" dirty="0"/>
          </a:p>
        </p:txBody>
      </p:sp>
      <p:sp>
        <p:nvSpPr>
          <p:cNvPr id="58" name="Text 56"/>
          <p:cNvSpPr txBox="1"/>
          <p:nvPr/>
        </p:nvSpPr>
        <p:spPr>
          <a:xfrm>
            <a:off x="9473963" y="4785201"/>
            <a:ext cx="1998422"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any time before the job</a:t>
            </a:r>
            <a:endParaRPr lang="en-US" sz="1200" dirty="0"/>
          </a:p>
        </p:txBody>
      </p:sp>
      <p:sp>
        <p:nvSpPr>
          <p:cNvPr id="59" name="Text 57"/>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Flows</a:t>
            </a:r>
            <a:endParaRPr lang="en-US" sz="1200" dirty="0"/>
          </a:p>
        </p:txBody>
      </p:sp>
      <p:sp>
        <p:nvSpPr>
          <p:cNvPr id="60" name="Text 58"/>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LOGICAL DATA MODEL · PEOPLE AND SUPPLY</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Accounts, customers, providers and agencies</a:t>
            </a:r>
            <a:endParaRPr lang="en-US" sz="3000" dirty="0"/>
          </a:p>
        </p:txBody>
      </p:sp>
      <p:sp>
        <p:nvSpPr>
          <p:cNvPr id="4" name="Shape 2"/>
          <p:cNvSpPr/>
          <p:nvPr/>
        </p:nvSpPr>
        <p:spPr>
          <a:xfrm>
            <a:off x="812780" y="1841454"/>
            <a:ext cx="2285943" cy="1079473"/>
          </a:xfrm>
          <a:prstGeom prst="roundRect">
            <a:avLst>
              <a:gd name="adj" fmla="val 7059"/>
            </a:avLst>
          </a:prstGeom>
          <a:solidFill>
            <a:srgbClr val="FCFDFF"/>
          </a:solidFill>
          <a:ln w="12700">
            <a:solidFill>
              <a:srgbClr val="2454C5"/>
            </a:solidFill>
            <a:prstDash val="solid"/>
          </a:ln>
        </p:spPr>
      </p:sp>
      <p:sp>
        <p:nvSpPr>
          <p:cNvPr id="5" name="Shape 3"/>
          <p:cNvSpPr/>
          <p:nvPr/>
        </p:nvSpPr>
        <p:spPr>
          <a:xfrm>
            <a:off x="825479" y="1854154"/>
            <a:ext cx="2260543" cy="289513"/>
          </a:xfrm>
          <a:prstGeom prst="roundRect">
            <a:avLst>
              <a:gd name="adj" fmla="val 21933"/>
            </a:avLst>
          </a:prstGeom>
          <a:solidFill>
            <a:srgbClr val="E3EBFA"/>
          </a:solidFill>
          <a:ln/>
        </p:spPr>
      </p:sp>
      <p:sp>
        <p:nvSpPr>
          <p:cNvPr id="6" name="Text 4"/>
          <p:cNvSpPr txBox="1"/>
          <p:nvPr/>
        </p:nvSpPr>
        <p:spPr>
          <a:xfrm>
            <a:off x="914377" y="1892253"/>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auth.user_account_role</a:t>
            </a:r>
            <a:endParaRPr lang="en-US" sz="1200" dirty="0"/>
          </a:p>
        </p:txBody>
      </p:sp>
      <p:sp>
        <p:nvSpPr>
          <p:cNvPr id="7" name="Text 5"/>
          <p:cNvSpPr txBox="1"/>
          <p:nvPr/>
        </p:nvSpPr>
        <p:spPr>
          <a:xfrm>
            <a:off x="914377" y="218176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PK user_id, role</a:t>
            </a:r>
            <a:endParaRPr lang="en-US" sz="1200" dirty="0"/>
          </a:p>
        </p:txBody>
      </p:sp>
      <p:sp>
        <p:nvSpPr>
          <p:cNvPr id="8" name="Text 6"/>
          <p:cNvSpPr txBox="1"/>
          <p:nvPr/>
        </p:nvSpPr>
        <p:spPr>
          <a:xfrm>
            <a:off x="914377" y="2387441"/>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role: Role enum</a:t>
            </a:r>
            <a:endParaRPr lang="en-US" sz="1200" dirty="0"/>
          </a:p>
        </p:txBody>
      </p:sp>
      <p:sp>
        <p:nvSpPr>
          <p:cNvPr id="9" name="Shape 7"/>
          <p:cNvSpPr/>
          <p:nvPr/>
        </p:nvSpPr>
        <p:spPr>
          <a:xfrm>
            <a:off x="3574961" y="1841454"/>
            <a:ext cx="2285943" cy="1079473"/>
          </a:xfrm>
          <a:prstGeom prst="roundRect">
            <a:avLst>
              <a:gd name="adj" fmla="val 7059"/>
            </a:avLst>
          </a:prstGeom>
          <a:solidFill>
            <a:srgbClr val="FCFDFF"/>
          </a:solidFill>
          <a:ln w="12700">
            <a:solidFill>
              <a:srgbClr val="2454C5"/>
            </a:solidFill>
            <a:prstDash val="solid"/>
          </a:ln>
        </p:spPr>
      </p:sp>
      <p:sp>
        <p:nvSpPr>
          <p:cNvPr id="10" name="Shape 8"/>
          <p:cNvSpPr/>
          <p:nvPr/>
        </p:nvSpPr>
        <p:spPr>
          <a:xfrm>
            <a:off x="3587660" y="1854154"/>
            <a:ext cx="2260543" cy="289513"/>
          </a:xfrm>
          <a:prstGeom prst="roundRect">
            <a:avLst>
              <a:gd name="adj" fmla="val 21933"/>
            </a:avLst>
          </a:prstGeom>
          <a:solidFill>
            <a:srgbClr val="E3EBFA"/>
          </a:solidFill>
          <a:ln/>
        </p:spPr>
      </p:sp>
      <p:sp>
        <p:nvSpPr>
          <p:cNvPr id="11" name="Text 9"/>
          <p:cNvSpPr txBox="1"/>
          <p:nvPr/>
        </p:nvSpPr>
        <p:spPr>
          <a:xfrm>
            <a:off x="3676558" y="1892253"/>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auth.user_account</a:t>
            </a:r>
            <a:endParaRPr lang="en-US" sz="1200" dirty="0"/>
          </a:p>
        </p:txBody>
      </p:sp>
      <p:sp>
        <p:nvSpPr>
          <p:cNvPr id="12" name="Text 10"/>
          <p:cNvSpPr txBox="1"/>
          <p:nvPr/>
        </p:nvSpPr>
        <p:spPr>
          <a:xfrm>
            <a:off x="3676558" y="218176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13" name="Text 11"/>
          <p:cNvSpPr txBox="1"/>
          <p:nvPr/>
        </p:nvSpPr>
        <p:spPr>
          <a:xfrm>
            <a:off x="3676558" y="2387441"/>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mobile, email, username</a:t>
            </a:r>
            <a:endParaRPr lang="en-US" sz="1200" dirty="0"/>
          </a:p>
        </p:txBody>
      </p:sp>
      <p:sp>
        <p:nvSpPr>
          <p:cNvPr id="14" name="Text 12"/>
          <p:cNvSpPr txBox="1"/>
          <p:nvPr/>
        </p:nvSpPr>
        <p:spPr>
          <a:xfrm>
            <a:off x="3676558" y="259311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status AccountStatus</a:t>
            </a:r>
            <a:endParaRPr lang="en-US" sz="1200" dirty="0"/>
          </a:p>
        </p:txBody>
      </p:sp>
      <p:sp>
        <p:nvSpPr>
          <p:cNvPr id="15" name="Shape 13"/>
          <p:cNvSpPr/>
          <p:nvPr/>
        </p:nvSpPr>
        <p:spPr>
          <a:xfrm>
            <a:off x="6330792" y="1841454"/>
            <a:ext cx="2285943" cy="1079473"/>
          </a:xfrm>
          <a:prstGeom prst="roundRect">
            <a:avLst>
              <a:gd name="adj" fmla="val 7059"/>
            </a:avLst>
          </a:prstGeom>
          <a:solidFill>
            <a:srgbClr val="FCFDFF"/>
          </a:solidFill>
          <a:ln w="12700">
            <a:solidFill>
              <a:srgbClr val="2454C5"/>
            </a:solidFill>
            <a:prstDash val="solid"/>
          </a:ln>
        </p:spPr>
      </p:sp>
      <p:sp>
        <p:nvSpPr>
          <p:cNvPr id="16" name="Shape 14"/>
          <p:cNvSpPr/>
          <p:nvPr/>
        </p:nvSpPr>
        <p:spPr>
          <a:xfrm>
            <a:off x="6343491" y="1854154"/>
            <a:ext cx="2260543" cy="289513"/>
          </a:xfrm>
          <a:prstGeom prst="roundRect">
            <a:avLst>
              <a:gd name="adj" fmla="val 21933"/>
            </a:avLst>
          </a:prstGeom>
          <a:solidFill>
            <a:srgbClr val="E3EBFA"/>
          </a:solidFill>
          <a:ln/>
        </p:spPr>
      </p:sp>
      <p:sp>
        <p:nvSpPr>
          <p:cNvPr id="17" name="Text 15"/>
          <p:cNvSpPr txBox="1"/>
          <p:nvPr/>
        </p:nvSpPr>
        <p:spPr>
          <a:xfrm>
            <a:off x="6432389" y="1892253"/>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customer.customer_profile</a:t>
            </a:r>
            <a:endParaRPr lang="en-US" sz="1200" dirty="0"/>
          </a:p>
        </p:txBody>
      </p:sp>
      <p:sp>
        <p:nvSpPr>
          <p:cNvPr id="18" name="Text 16"/>
          <p:cNvSpPr txBox="1"/>
          <p:nvPr/>
        </p:nvSpPr>
        <p:spPr>
          <a:xfrm>
            <a:off x="6432389" y="218176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19" name="Text 17"/>
          <p:cNvSpPr txBox="1"/>
          <p:nvPr/>
        </p:nvSpPr>
        <p:spPr>
          <a:xfrm>
            <a:off x="6432389" y="2387441"/>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user_id → auth</a:t>
            </a:r>
            <a:endParaRPr lang="en-US" sz="1200" dirty="0"/>
          </a:p>
        </p:txBody>
      </p:sp>
      <p:sp>
        <p:nvSpPr>
          <p:cNvPr id="20" name="Text 18"/>
          <p:cNvSpPr txBox="1"/>
          <p:nvPr/>
        </p:nvSpPr>
        <p:spPr>
          <a:xfrm>
            <a:off x="6432389" y="259311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name, email (encrypted)</a:t>
            </a:r>
            <a:endParaRPr lang="en-US" sz="1200" dirty="0"/>
          </a:p>
        </p:txBody>
      </p:sp>
      <p:sp>
        <p:nvSpPr>
          <p:cNvPr id="21" name="Shape 19"/>
          <p:cNvSpPr/>
          <p:nvPr/>
        </p:nvSpPr>
        <p:spPr>
          <a:xfrm>
            <a:off x="9092973" y="1841454"/>
            <a:ext cx="2285943" cy="1079473"/>
          </a:xfrm>
          <a:prstGeom prst="roundRect">
            <a:avLst>
              <a:gd name="adj" fmla="val 7059"/>
            </a:avLst>
          </a:prstGeom>
          <a:solidFill>
            <a:srgbClr val="FCFDFF"/>
          </a:solidFill>
          <a:ln w="12700">
            <a:solidFill>
              <a:srgbClr val="2454C5"/>
            </a:solidFill>
            <a:prstDash val="solid"/>
          </a:ln>
        </p:spPr>
      </p:sp>
      <p:sp>
        <p:nvSpPr>
          <p:cNvPr id="22" name="Shape 20"/>
          <p:cNvSpPr/>
          <p:nvPr/>
        </p:nvSpPr>
        <p:spPr>
          <a:xfrm>
            <a:off x="9105672" y="1854154"/>
            <a:ext cx="2260543" cy="289513"/>
          </a:xfrm>
          <a:prstGeom prst="roundRect">
            <a:avLst>
              <a:gd name="adj" fmla="val 21933"/>
            </a:avLst>
          </a:prstGeom>
          <a:solidFill>
            <a:srgbClr val="E3EBFA"/>
          </a:solidFill>
          <a:ln/>
        </p:spPr>
      </p:sp>
      <p:sp>
        <p:nvSpPr>
          <p:cNvPr id="23" name="Text 21"/>
          <p:cNvSpPr txBox="1"/>
          <p:nvPr/>
        </p:nvSpPr>
        <p:spPr>
          <a:xfrm>
            <a:off x="9194570" y="1892253"/>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customer.address</a:t>
            </a:r>
            <a:endParaRPr lang="en-US" sz="1200" dirty="0"/>
          </a:p>
        </p:txBody>
      </p:sp>
      <p:sp>
        <p:nvSpPr>
          <p:cNvPr id="24" name="Text 22"/>
          <p:cNvSpPr txBox="1"/>
          <p:nvPr/>
        </p:nvSpPr>
        <p:spPr>
          <a:xfrm>
            <a:off x="9194570" y="218176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25" name="Text 23"/>
          <p:cNvSpPr txBox="1"/>
          <p:nvPr/>
        </p:nvSpPr>
        <p:spPr>
          <a:xfrm>
            <a:off x="9194570" y="2387441"/>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customer_id FK</a:t>
            </a:r>
            <a:endParaRPr lang="en-US" sz="1200" dirty="0"/>
          </a:p>
        </p:txBody>
      </p:sp>
      <p:sp>
        <p:nvSpPr>
          <p:cNvPr id="26" name="Text 24"/>
          <p:cNvSpPr txBox="1"/>
          <p:nvPr/>
        </p:nvSpPr>
        <p:spPr>
          <a:xfrm>
            <a:off x="9194570" y="259311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lat, lng, is_default</a:t>
            </a:r>
            <a:endParaRPr lang="en-US" sz="1200" dirty="0"/>
          </a:p>
        </p:txBody>
      </p:sp>
      <p:sp>
        <p:nvSpPr>
          <p:cNvPr id="27" name="Shape 25"/>
          <p:cNvSpPr/>
          <p:nvPr/>
        </p:nvSpPr>
        <p:spPr>
          <a:xfrm>
            <a:off x="812780" y="3174921"/>
            <a:ext cx="2285943" cy="1079473"/>
          </a:xfrm>
          <a:prstGeom prst="roundRect">
            <a:avLst>
              <a:gd name="adj" fmla="val 7059"/>
            </a:avLst>
          </a:prstGeom>
          <a:solidFill>
            <a:srgbClr val="FCFDFF"/>
          </a:solidFill>
          <a:ln w="12700">
            <a:solidFill>
              <a:srgbClr val="0B7F74"/>
            </a:solidFill>
            <a:prstDash val="solid"/>
          </a:ln>
        </p:spPr>
      </p:sp>
      <p:sp>
        <p:nvSpPr>
          <p:cNvPr id="28" name="Shape 26"/>
          <p:cNvSpPr/>
          <p:nvPr/>
        </p:nvSpPr>
        <p:spPr>
          <a:xfrm>
            <a:off x="825479" y="3187620"/>
            <a:ext cx="2260543" cy="289513"/>
          </a:xfrm>
          <a:prstGeom prst="roundRect">
            <a:avLst>
              <a:gd name="adj" fmla="val 21933"/>
            </a:avLst>
          </a:prstGeom>
          <a:solidFill>
            <a:srgbClr val="DDF2EF"/>
          </a:solidFill>
          <a:ln/>
        </p:spPr>
      </p:sp>
      <p:sp>
        <p:nvSpPr>
          <p:cNvPr id="29" name="Text 27"/>
          <p:cNvSpPr txBox="1"/>
          <p:nvPr/>
        </p:nvSpPr>
        <p:spPr>
          <a:xfrm>
            <a:off x="914377" y="3225719"/>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provider.tenant</a:t>
            </a:r>
            <a:endParaRPr lang="en-US" sz="1200" dirty="0"/>
          </a:p>
        </p:txBody>
      </p:sp>
      <p:sp>
        <p:nvSpPr>
          <p:cNvPr id="30" name="Text 28"/>
          <p:cNvSpPr txBox="1"/>
          <p:nvPr/>
        </p:nvSpPr>
        <p:spPr>
          <a:xfrm>
            <a:off x="914377" y="3515232"/>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 · status</a:t>
            </a:r>
            <a:endParaRPr lang="en-US" sz="1200" dirty="0"/>
          </a:p>
        </p:txBody>
      </p:sp>
      <p:sp>
        <p:nvSpPr>
          <p:cNvPr id="31" name="Text 29"/>
          <p:cNvSpPr txBox="1"/>
          <p:nvPr/>
        </p:nvSpPr>
        <p:spPr>
          <a:xfrm>
            <a:off x="914377" y="3720908"/>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name, base lat/lng</a:t>
            </a:r>
            <a:endParaRPr lang="en-US" sz="1200" dirty="0"/>
          </a:p>
        </p:txBody>
      </p:sp>
      <p:sp>
        <p:nvSpPr>
          <p:cNvPr id="32" name="Text 30"/>
          <p:cNvSpPr txBox="1"/>
          <p:nvPr/>
        </p:nvSpPr>
        <p:spPr>
          <a:xfrm>
            <a:off x="914377" y="3926583"/>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service_radius_km</a:t>
            </a:r>
            <a:endParaRPr lang="en-US" sz="1200" dirty="0"/>
          </a:p>
        </p:txBody>
      </p:sp>
      <p:sp>
        <p:nvSpPr>
          <p:cNvPr id="33" name="Shape 31"/>
          <p:cNvSpPr/>
          <p:nvPr/>
        </p:nvSpPr>
        <p:spPr>
          <a:xfrm>
            <a:off x="3574961" y="3174921"/>
            <a:ext cx="2285943" cy="1079473"/>
          </a:xfrm>
          <a:prstGeom prst="roundRect">
            <a:avLst>
              <a:gd name="adj" fmla="val 7059"/>
            </a:avLst>
          </a:prstGeom>
          <a:solidFill>
            <a:srgbClr val="FCFDFF"/>
          </a:solidFill>
          <a:ln w="12700">
            <a:solidFill>
              <a:srgbClr val="0B7F74"/>
            </a:solidFill>
            <a:prstDash val="solid"/>
          </a:ln>
        </p:spPr>
      </p:sp>
      <p:sp>
        <p:nvSpPr>
          <p:cNvPr id="34" name="Shape 32"/>
          <p:cNvSpPr/>
          <p:nvPr/>
        </p:nvSpPr>
        <p:spPr>
          <a:xfrm>
            <a:off x="3587660" y="3187620"/>
            <a:ext cx="2260543" cy="289513"/>
          </a:xfrm>
          <a:prstGeom prst="roundRect">
            <a:avLst>
              <a:gd name="adj" fmla="val 21933"/>
            </a:avLst>
          </a:prstGeom>
          <a:solidFill>
            <a:srgbClr val="DDF2EF"/>
          </a:solidFill>
          <a:ln/>
        </p:spPr>
      </p:sp>
      <p:sp>
        <p:nvSpPr>
          <p:cNvPr id="35" name="Text 33"/>
          <p:cNvSpPr txBox="1"/>
          <p:nvPr/>
        </p:nvSpPr>
        <p:spPr>
          <a:xfrm>
            <a:off x="3676558" y="3225719"/>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provider.provider_profile</a:t>
            </a:r>
            <a:endParaRPr lang="en-US" sz="1200" dirty="0"/>
          </a:p>
        </p:txBody>
      </p:sp>
      <p:sp>
        <p:nvSpPr>
          <p:cNvPr id="36" name="Text 34"/>
          <p:cNvSpPr txBox="1"/>
          <p:nvPr/>
        </p:nvSpPr>
        <p:spPr>
          <a:xfrm>
            <a:off x="3676558" y="3515232"/>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 · tenant_id FK</a:t>
            </a:r>
            <a:endParaRPr lang="en-US" sz="1200" dirty="0"/>
          </a:p>
        </p:txBody>
      </p:sp>
      <p:sp>
        <p:nvSpPr>
          <p:cNvPr id="37" name="Text 35"/>
          <p:cNvSpPr txBox="1"/>
          <p:nvPr/>
        </p:nvSpPr>
        <p:spPr>
          <a:xfrm>
            <a:off x="3676558" y="3720908"/>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user_id → auth</a:t>
            </a:r>
            <a:endParaRPr lang="en-US" sz="1200" dirty="0"/>
          </a:p>
        </p:txBody>
      </p:sp>
      <p:sp>
        <p:nvSpPr>
          <p:cNvPr id="38" name="Text 36"/>
          <p:cNvSpPr txBox="1"/>
          <p:nvPr/>
        </p:nvSpPr>
        <p:spPr>
          <a:xfrm>
            <a:off x="3676558" y="3926583"/>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wallet_balance, rating</a:t>
            </a:r>
            <a:endParaRPr lang="en-US" sz="1200" dirty="0"/>
          </a:p>
        </p:txBody>
      </p:sp>
      <p:sp>
        <p:nvSpPr>
          <p:cNvPr id="39" name="Shape 37"/>
          <p:cNvSpPr/>
          <p:nvPr/>
        </p:nvSpPr>
        <p:spPr>
          <a:xfrm>
            <a:off x="6330792" y="3174921"/>
            <a:ext cx="2285943" cy="1079473"/>
          </a:xfrm>
          <a:prstGeom prst="roundRect">
            <a:avLst>
              <a:gd name="adj" fmla="val 7059"/>
            </a:avLst>
          </a:prstGeom>
          <a:solidFill>
            <a:srgbClr val="FCFDFF"/>
          </a:solidFill>
          <a:ln w="12700">
            <a:solidFill>
              <a:srgbClr val="6A3FC0"/>
            </a:solidFill>
            <a:prstDash val="solid"/>
          </a:ln>
        </p:spPr>
      </p:sp>
      <p:sp>
        <p:nvSpPr>
          <p:cNvPr id="40" name="Shape 38"/>
          <p:cNvSpPr/>
          <p:nvPr/>
        </p:nvSpPr>
        <p:spPr>
          <a:xfrm>
            <a:off x="6343491" y="3187620"/>
            <a:ext cx="2260543" cy="289513"/>
          </a:xfrm>
          <a:prstGeom prst="roundRect">
            <a:avLst>
              <a:gd name="adj" fmla="val 21933"/>
            </a:avLst>
          </a:prstGeom>
          <a:solidFill>
            <a:srgbClr val="ECE5FA"/>
          </a:solidFill>
          <a:ln/>
        </p:spPr>
      </p:sp>
      <p:sp>
        <p:nvSpPr>
          <p:cNvPr id="41" name="Text 39"/>
          <p:cNvSpPr txBox="1"/>
          <p:nvPr/>
        </p:nvSpPr>
        <p:spPr>
          <a:xfrm>
            <a:off x="6432389" y="3225719"/>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verification.verification</a:t>
            </a:r>
            <a:endParaRPr lang="en-US" sz="1200" dirty="0"/>
          </a:p>
        </p:txBody>
      </p:sp>
      <p:sp>
        <p:nvSpPr>
          <p:cNvPr id="42" name="Text 40"/>
          <p:cNvSpPr txBox="1"/>
          <p:nvPr/>
        </p:nvSpPr>
        <p:spPr>
          <a:xfrm>
            <a:off x="6432389" y="3515232"/>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43" name="Text 41"/>
          <p:cNvSpPr txBox="1"/>
          <p:nvPr/>
        </p:nvSpPr>
        <p:spPr>
          <a:xfrm>
            <a:off x="6432389" y="3720908"/>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provider_id → provider</a:t>
            </a:r>
            <a:endParaRPr lang="en-US" sz="1200" dirty="0"/>
          </a:p>
        </p:txBody>
      </p:sp>
      <p:sp>
        <p:nvSpPr>
          <p:cNvPr id="44" name="Text 42"/>
          <p:cNvSpPr txBox="1"/>
          <p:nvPr/>
        </p:nvSpPr>
        <p:spPr>
          <a:xfrm>
            <a:off x="6432389" y="3926583"/>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status VerificationStatus</a:t>
            </a:r>
            <a:endParaRPr lang="en-US" sz="1200" dirty="0"/>
          </a:p>
        </p:txBody>
      </p:sp>
      <p:sp>
        <p:nvSpPr>
          <p:cNvPr id="45" name="Shape 43"/>
          <p:cNvSpPr/>
          <p:nvPr/>
        </p:nvSpPr>
        <p:spPr>
          <a:xfrm>
            <a:off x="9092973" y="3174921"/>
            <a:ext cx="2285943" cy="1079473"/>
          </a:xfrm>
          <a:prstGeom prst="roundRect">
            <a:avLst>
              <a:gd name="adj" fmla="val 7059"/>
            </a:avLst>
          </a:prstGeom>
          <a:solidFill>
            <a:srgbClr val="FCFDFF"/>
          </a:solidFill>
          <a:ln w="12700">
            <a:solidFill>
              <a:srgbClr val="6A3FC0"/>
            </a:solidFill>
            <a:prstDash val="solid"/>
          </a:ln>
        </p:spPr>
      </p:sp>
      <p:sp>
        <p:nvSpPr>
          <p:cNvPr id="46" name="Shape 44"/>
          <p:cNvSpPr/>
          <p:nvPr/>
        </p:nvSpPr>
        <p:spPr>
          <a:xfrm>
            <a:off x="9105672" y="3187620"/>
            <a:ext cx="2260543" cy="289513"/>
          </a:xfrm>
          <a:prstGeom prst="roundRect">
            <a:avLst>
              <a:gd name="adj" fmla="val 21933"/>
            </a:avLst>
          </a:prstGeom>
          <a:solidFill>
            <a:srgbClr val="ECE5FA"/>
          </a:solidFill>
          <a:ln/>
        </p:spPr>
      </p:sp>
      <p:sp>
        <p:nvSpPr>
          <p:cNvPr id="47" name="Text 45"/>
          <p:cNvSpPr txBox="1"/>
          <p:nvPr/>
        </p:nvSpPr>
        <p:spPr>
          <a:xfrm>
            <a:off x="9194570" y="3225719"/>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verification_document</a:t>
            </a:r>
            <a:endParaRPr lang="en-US" sz="1200" dirty="0"/>
          </a:p>
        </p:txBody>
      </p:sp>
      <p:sp>
        <p:nvSpPr>
          <p:cNvPr id="48" name="Text 46"/>
          <p:cNvSpPr txBox="1"/>
          <p:nvPr/>
        </p:nvSpPr>
        <p:spPr>
          <a:xfrm>
            <a:off x="9194570" y="3515232"/>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49" name="Text 47"/>
          <p:cNvSpPr txBox="1"/>
          <p:nvPr/>
        </p:nvSpPr>
        <p:spPr>
          <a:xfrm>
            <a:off x="9194570" y="3720908"/>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verification_id FK</a:t>
            </a:r>
            <a:endParaRPr lang="en-US" sz="1200" dirty="0"/>
          </a:p>
        </p:txBody>
      </p:sp>
      <p:sp>
        <p:nvSpPr>
          <p:cNvPr id="50" name="Text 48"/>
          <p:cNvSpPr txBox="1"/>
          <p:nvPr/>
        </p:nvSpPr>
        <p:spPr>
          <a:xfrm>
            <a:off x="9194570" y="3926583"/>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document_type, storage_ref</a:t>
            </a:r>
            <a:endParaRPr lang="en-US" sz="1200" dirty="0"/>
          </a:p>
        </p:txBody>
      </p:sp>
      <p:sp>
        <p:nvSpPr>
          <p:cNvPr id="51" name="Shape 49"/>
          <p:cNvSpPr/>
          <p:nvPr/>
        </p:nvSpPr>
        <p:spPr>
          <a:xfrm>
            <a:off x="812780" y="4508387"/>
            <a:ext cx="2285943" cy="1079473"/>
          </a:xfrm>
          <a:prstGeom prst="roundRect">
            <a:avLst>
              <a:gd name="adj" fmla="val 7059"/>
            </a:avLst>
          </a:prstGeom>
          <a:solidFill>
            <a:srgbClr val="FCFDFF"/>
          </a:solidFill>
          <a:ln w="12700">
            <a:solidFill>
              <a:srgbClr val="0B7F74"/>
            </a:solidFill>
            <a:prstDash val="solid"/>
          </a:ln>
        </p:spPr>
      </p:sp>
      <p:sp>
        <p:nvSpPr>
          <p:cNvPr id="52" name="Shape 50"/>
          <p:cNvSpPr/>
          <p:nvPr/>
        </p:nvSpPr>
        <p:spPr>
          <a:xfrm>
            <a:off x="825479" y="4521087"/>
            <a:ext cx="2260543" cy="289513"/>
          </a:xfrm>
          <a:prstGeom prst="roundRect">
            <a:avLst>
              <a:gd name="adj" fmla="val 21933"/>
            </a:avLst>
          </a:prstGeom>
          <a:solidFill>
            <a:srgbClr val="DDF2EF"/>
          </a:solidFill>
          <a:ln/>
        </p:spPr>
      </p:sp>
      <p:sp>
        <p:nvSpPr>
          <p:cNvPr id="53" name="Text 51"/>
          <p:cNvSpPr txBox="1"/>
          <p:nvPr/>
        </p:nvSpPr>
        <p:spPr>
          <a:xfrm>
            <a:off x="914377" y="4559186"/>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provider.tenant_admin</a:t>
            </a:r>
            <a:endParaRPr lang="en-US" sz="1200" dirty="0"/>
          </a:p>
        </p:txBody>
      </p:sp>
      <p:sp>
        <p:nvSpPr>
          <p:cNvPr id="54" name="Text 52"/>
          <p:cNvSpPr txBox="1"/>
          <p:nvPr/>
        </p:nvSpPr>
        <p:spPr>
          <a:xfrm>
            <a:off x="914377" y="4848699"/>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user_id PK → auth</a:t>
            </a:r>
            <a:endParaRPr lang="en-US" sz="1200" dirty="0"/>
          </a:p>
        </p:txBody>
      </p:sp>
      <p:sp>
        <p:nvSpPr>
          <p:cNvPr id="55" name="Text 53"/>
          <p:cNvSpPr txBox="1"/>
          <p:nvPr/>
        </p:nvSpPr>
        <p:spPr>
          <a:xfrm>
            <a:off x="914377" y="5054374"/>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tenant_id FK</a:t>
            </a:r>
            <a:endParaRPr lang="en-US" sz="1200" dirty="0"/>
          </a:p>
        </p:txBody>
      </p:sp>
      <p:sp>
        <p:nvSpPr>
          <p:cNvPr id="56" name="Shape 54"/>
          <p:cNvSpPr/>
          <p:nvPr/>
        </p:nvSpPr>
        <p:spPr>
          <a:xfrm>
            <a:off x="3574961" y="4508387"/>
            <a:ext cx="2285943" cy="1079473"/>
          </a:xfrm>
          <a:prstGeom prst="roundRect">
            <a:avLst>
              <a:gd name="adj" fmla="val 7059"/>
            </a:avLst>
          </a:prstGeom>
          <a:solidFill>
            <a:srgbClr val="FCFDFF"/>
          </a:solidFill>
          <a:ln w="12700">
            <a:solidFill>
              <a:srgbClr val="0B7F74"/>
            </a:solidFill>
            <a:prstDash val="solid"/>
          </a:ln>
        </p:spPr>
      </p:sp>
      <p:sp>
        <p:nvSpPr>
          <p:cNvPr id="57" name="Shape 55"/>
          <p:cNvSpPr/>
          <p:nvPr/>
        </p:nvSpPr>
        <p:spPr>
          <a:xfrm>
            <a:off x="3587660" y="4521087"/>
            <a:ext cx="2260543" cy="289513"/>
          </a:xfrm>
          <a:prstGeom prst="roundRect">
            <a:avLst>
              <a:gd name="adj" fmla="val 21933"/>
            </a:avLst>
          </a:prstGeom>
          <a:solidFill>
            <a:srgbClr val="DDF2EF"/>
          </a:solidFill>
          <a:ln/>
        </p:spPr>
      </p:sp>
      <p:sp>
        <p:nvSpPr>
          <p:cNvPr id="58" name="Text 56"/>
          <p:cNvSpPr txBox="1"/>
          <p:nvPr/>
        </p:nvSpPr>
        <p:spPr>
          <a:xfrm>
            <a:off x="3676558" y="4559186"/>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provider.provider_earning</a:t>
            </a:r>
            <a:endParaRPr lang="en-US" sz="1200" dirty="0"/>
          </a:p>
        </p:txBody>
      </p:sp>
      <p:sp>
        <p:nvSpPr>
          <p:cNvPr id="59" name="Text 57"/>
          <p:cNvSpPr txBox="1"/>
          <p:nvPr/>
        </p:nvSpPr>
        <p:spPr>
          <a:xfrm>
            <a:off x="3676558" y="4848699"/>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 · booking_id</a:t>
            </a:r>
            <a:endParaRPr lang="en-US" sz="1200" dirty="0"/>
          </a:p>
        </p:txBody>
      </p:sp>
      <p:sp>
        <p:nvSpPr>
          <p:cNvPr id="60" name="Text 58"/>
          <p:cNvSpPr txBox="1"/>
          <p:nvPr/>
        </p:nvSpPr>
        <p:spPr>
          <a:xfrm>
            <a:off x="3676558" y="5054374"/>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gross, fee, net</a:t>
            </a:r>
            <a:endParaRPr lang="en-US" sz="1200" dirty="0"/>
          </a:p>
        </p:txBody>
      </p:sp>
      <p:sp>
        <p:nvSpPr>
          <p:cNvPr id="61" name="Text 59"/>
          <p:cNvSpPr txBox="1"/>
          <p:nvPr/>
        </p:nvSpPr>
        <p:spPr>
          <a:xfrm>
            <a:off x="3676558" y="5260050"/>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type EarningType</a:t>
            </a:r>
            <a:endParaRPr lang="en-US" sz="1200" dirty="0"/>
          </a:p>
        </p:txBody>
      </p:sp>
      <p:sp>
        <p:nvSpPr>
          <p:cNvPr id="62" name="Shape 60"/>
          <p:cNvSpPr/>
          <p:nvPr/>
        </p:nvSpPr>
        <p:spPr>
          <a:xfrm>
            <a:off x="6330792" y="4508387"/>
            <a:ext cx="2285943" cy="1079473"/>
          </a:xfrm>
          <a:prstGeom prst="roundRect">
            <a:avLst>
              <a:gd name="adj" fmla="val 7059"/>
            </a:avLst>
          </a:prstGeom>
          <a:solidFill>
            <a:srgbClr val="FCFDFF"/>
          </a:solidFill>
          <a:ln w="12700">
            <a:solidFill>
              <a:srgbClr val="6A3FC0"/>
            </a:solidFill>
            <a:prstDash val="solid"/>
          </a:ln>
        </p:spPr>
      </p:sp>
      <p:sp>
        <p:nvSpPr>
          <p:cNvPr id="63" name="Shape 61"/>
          <p:cNvSpPr/>
          <p:nvPr/>
        </p:nvSpPr>
        <p:spPr>
          <a:xfrm>
            <a:off x="6343491" y="4521087"/>
            <a:ext cx="2260543" cy="289513"/>
          </a:xfrm>
          <a:prstGeom prst="roundRect">
            <a:avLst>
              <a:gd name="adj" fmla="val 21933"/>
            </a:avLst>
          </a:prstGeom>
          <a:solidFill>
            <a:srgbClr val="ECE5FA"/>
          </a:solidFill>
          <a:ln/>
        </p:spPr>
      </p:sp>
      <p:sp>
        <p:nvSpPr>
          <p:cNvPr id="64" name="Text 62"/>
          <p:cNvSpPr txBox="1"/>
          <p:nvPr/>
        </p:nvSpPr>
        <p:spPr>
          <a:xfrm>
            <a:off x="6432389" y="4559186"/>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verification_audit_entry</a:t>
            </a:r>
            <a:endParaRPr lang="en-US" sz="1200" dirty="0"/>
          </a:p>
        </p:txBody>
      </p:sp>
      <p:sp>
        <p:nvSpPr>
          <p:cNvPr id="65" name="Text 63"/>
          <p:cNvSpPr txBox="1"/>
          <p:nvPr/>
        </p:nvSpPr>
        <p:spPr>
          <a:xfrm>
            <a:off x="6432389" y="4848699"/>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66" name="Text 64"/>
          <p:cNvSpPr txBox="1"/>
          <p:nvPr/>
        </p:nvSpPr>
        <p:spPr>
          <a:xfrm>
            <a:off x="6432389" y="5054374"/>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verification_id FK</a:t>
            </a:r>
            <a:endParaRPr lang="en-US" sz="1200" dirty="0"/>
          </a:p>
        </p:txBody>
      </p:sp>
      <p:sp>
        <p:nvSpPr>
          <p:cNvPr id="67" name="Text 65"/>
          <p:cNvSpPr txBox="1"/>
          <p:nvPr/>
        </p:nvSpPr>
        <p:spPr>
          <a:xfrm>
            <a:off x="6432389" y="5260050"/>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from_state → to_state</a:t>
            </a:r>
            <a:endParaRPr lang="en-US" sz="1200" dirty="0"/>
          </a:p>
        </p:txBody>
      </p:sp>
      <p:sp>
        <p:nvSpPr>
          <p:cNvPr id="68" name="Shape 66"/>
          <p:cNvSpPr/>
          <p:nvPr/>
        </p:nvSpPr>
        <p:spPr>
          <a:xfrm>
            <a:off x="9092973" y="4508387"/>
            <a:ext cx="2285943" cy="1079473"/>
          </a:xfrm>
          <a:prstGeom prst="roundRect">
            <a:avLst>
              <a:gd name="adj" fmla="val 7059"/>
            </a:avLst>
          </a:prstGeom>
          <a:solidFill>
            <a:srgbClr val="EEF1F6"/>
          </a:solidFill>
          <a:ln/>
        </p:spPr>
      </p:sp>
      <p:sp>
        <p:nvSpPr>
          <p:cNvPr id="69" name="Text 67"/>
          <p:cNvSpPr txBox="1"/>
          <p:nvPr/>
        </p:nvSpPr>
        <p:spPr>
          <a:xfrm>
            <a:off x="9194570" y="4597285"/>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Legend</a:t>
            </a:r>
            <a:endParaRPr lang="en-US" sz="1200" dirty="0"/>
          </a:p>
        </p:txBody>
      </p:sp>
      <p:sp>
        <p:nvSpPr>
          <p:cNvPr id="70" name="Text 68"/>
          <p:cNvSpPr txBox="1"/>
          <p:nvPr/>
        </p:nvSpPr>
        <p:spPr>
          <a:xfrm>
            <a:off x="9194570" y="4848699"/>
            <a:ext cx="2332678" cy="617026"/>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Solid: same schema. Dashed: plain UUID across services, no FK.</a:t>
            </a:r>
            <a:endParaRPr lang="en-US" sz="1200" dirty="0"/>
          </a:p>
        </p:txBody>
      </p:sp>
      <p:sp>
        <p:nvSpPr>
          <p:cNvPr id="71" name="Shape 69"/>
          <p:cNvSpPr/>
          <p:nvPr/>
        </p:nvSpPr>
        <p:spPr>
          <a:xfrm>
            <a:off x="3098723" y="2381190"/>
            <a:ext cx="476238" cy="63"/>
          </a:xfrm>
          <a:prstGeom prst="line">
            <a:avLst/>
          </a:prstGeom>
          <a:noFill/>
          <a:ln w="19050">
            <a:solidFill>
              <a:srgbClr val="5C6B8A"/>
            </a:solidFill>
            <a:prstDash val="solid"/>
          </a:ln>
        </p:spPr>
      </p:sp>
      <p:sp>
        <p:nvSpPr>
          <p:cNvPr id="72" name="Text 70"/>
          <p:cNvSpPr txBox="1"/>
          <p:nvPr/>
        </p:nvSpPr>
        <p:spPr>
          <a:xfrm>
            <a:off x="3086023" y="2127197"/>
            <a:ext cx="501637"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N : 1</a:t>
            </a:r>
            <a:endParaRPr lang="en-US" sz="1200" dirty="0"/>
          </a:p>
        </p:txBody>
      </p:sp>
      <p:sp>
        <p:nvSpPr>
          <p:cNvPr id="73" name="Shape 71"/>
          <p:cNvSpPr/>
          <p:nvPr/>
        </p:nvSpPr>
        <p:spPr>
          <a:xfrm>
            <a:off x="5860903" y="2381190"/>
            <a:ext cx="469888" cy="63"/>
          </a:xfrm>
          <a:prstGeom prst="line">
            <a:avLst/>
          </a:prstGeom>
          <a:noFill/>
          <a:ln w="19050">
            <a:solidFill>
              <a:srgbClr val="5C6B8A"/>
            </a:solidFill>
            <a:prstDash val="dash"/>
          </a:ln>
        </p:spPr>
      </p:sp>
      <p:sp>
        <p:nvSpPr>
          <p:cNvPr id="74" name="Text 72"/>
          <p:cNvSpPr txBox="1"/>
          <p:nvPr/>
        </p:nvSpPr>
        <p:spPr>
          <a:xfrm>
            <a:off x="5848204" y="2127197"/>
            <a:ext cx="495288"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1</a:t>
            </a:r>
            <a:endParaRPr lang="en-US" sz="1200" dirty="0"/>
          </a:p>
        </p:txBody>
      </p:sp>
      <p:sp>
        <p:nvSpPr>
          <p:cNvPr id="75" name="Shape 73"/>
          <p:cNvSpPr/>
          <p:nvPr/>
        </p:nvSpPr>
        <p:spPr>
          <a:xfrm>
            <a:off x="8616735" y="2381190"/>
            <a:ext cx="476238" cy="63"/>
          </a:xfrm>
          <a:prstGeom prst="line">
            <a:avLst/>
          </a:prstGeom>
          <a:noFill/>
          <a:ln w="19050">
            <a:solidFill>
              <a:srgbClr val="5C6B8A"/>
            </a:solidFill>
            <a:prstDash val="solid"/>
          </a:ln>
        </p:spPr>
      </p:sp>
      <p:sp>
        <p:nvSpPr>
          <p:cNvPr id="76" name="Text 74"/>
          <p:cNvSpPr txBox="1"/>
          <p:nvPr/>
        </p:nvSpPr>
        <p:spPr>
          <a:xfrm>
            <a:off x="8604035" y="2127197"/>
            <a:ext cx="501637"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77" name="Shape 75"/>
          <p:cNvSpPr/>
          <p:nvPr/>
        </p:nvSpPr>
        <p:spPr>
          <a:xfrm>
            <a:off x="4717932" y="2920927"/>
            <a:ext cx="63" cy="253994"/>
          </a:xfrm>
          <a:prstGeom prst="line">
            <a:avLst/>
          </a:prstGeom>
          <a:noFill/>
          <a:ln w="19050">
            <a:solidFill>
              <a:srgbClr val="5C6B8A"/>
            </a:solidFill>
            <a:prstDash val="dash"/>
          </a:ln>
        </p:spPr>
      </p:sp>
      <p:sp>
        <p:nvSpPr>
          <p:cNvPr id="78" name="Text 76"/>
          <p:cNvSpPr txBox="1"/>
          <p:nvPr/>
        </p:nvSpPr>
        <p:spPr>
          <a:xfrm>
            <a:off x="4794130" y="2939976"/>
            <a:ext cx="647684"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1</a:t>
            </a:r>
            <a:endParaRPr lang="en-US" sz="1200" dirty="0"/>
          </a:p>
        </p:txBody>
      </p:sp>
      <p:sp>
        <p:nvSpPr>
          <p:cNvPr id="79" name="Shape 77"/>
          <p:cNvSpPr/>
          <p:nvPr/>
        </p:nvSpPr>
        <p:spPr>
          <a:xfrm>
            <a:off x="3098723" y="3714657"/>
            <a:ext cx="476238" cy="63"/>
          </a:xfrm>
          <a:prstGeom prst="line">
            <a:avLst/>
          </a:prstGeom>
          <a:noFill/>
          <a:ln w="19050">
            <a:solidFill>
              <a:srgbClr val="5C6B8A"/>
            </a:solidFill>
            <a:prstDash val="solid"/>
          </a:ln>
        </p:spPr>
      </p:sp>
      <p:sp>
        <p:nvSpPr>
          <p:cNvPr id="80" name="Text 78"/>
          <p:cNvSpPr txBox="1"/>
          <p:nvPr/>
        </p:nvSpPr>
        <p:spPr>
          <a:xfrm>
            <a:off x="3086023" y="3460663"/>
            <a:ext cx="501637"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81" name="Shape 79"/>
          <p:cNvSpPr/>
          <p:nvPr/>
        </p:nvSpPr>
        <p:spPr>
          <a:xfrm>
            <a:off x="5860903" y="3714657"/>
            <a:ext cx="469888" cy="63"/>
          </a:xfrm>
          <a:prstGeom prst="line">
            <a:avLst/>
          </a:prstGeom>
          <a:noFill/>
          <a:ln w="19050">
            <a:solidFill>
              <a:srgbClr val="5C6B8A"/>
            </a:solidFill>
            <a:prstDash val="dash"/>
          </a:ln>
        </p:spPr>
      </p:sp>
      <p:sp>
        <p:nvSpPr>
          <p:cNvPr id="82" name="Text 80"/>
          <p:cNvSpPr txBox="1"/>
          <p:nvPr/>
        </p:nvSpPr>
        <p:spPr>
          <a:xfrm>
            <a:off x="5848204" y="3460663"/>
            <a:ext cx="495288"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1</a:t>
            </a:r>
            <a:endParaRPr lang="en-US" sz="1200" dirty="0"/>
          </a:p>
        </p:txBody>
      </p:sp>
      <p:sp>
        <p:nvSpPr>
          <p:cNvPr id="83" name="Shape 81"/>
          <p:cNvSpPr/>
          <p:nvPr/>
        </p:nvSpPr>
        <p:spPr>
          <a:xfrm>
            <a:off x="8616735" y="3714657"/>
            <a:ext cx="476238" cy="63"/>
          </a:xfrm>
          <a:prstGeom prst="line">
            <a:avLst/>
          </a:prstGeom>
          <a:noFill/>
          <a:ln w="19050">
            <a:solidFill>
              <a:srgbClr val="5C6B8A"/>
            </a:solidFill>
            <a:prstDash val="solid"/>
          </a:ln>
        </p:spPr>
      </p:sp>
      <p:sp>
        <p:nvSpPr>
          <p:cNvPr id="84" name="Text 82"/>
          <p:cNvSpPr txBox="1"/>
          <p:nvPr/>
        </p:nvSpPr>
        <p:spPr>
          <a:xfrm>
            <a:off x="8604035" y="3460663"/>
            <a:ext cx="501637"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85" name="Shape 83"/>
          <p:cNvSpPr/>
          <p:nvPr/>
        </p:nvSpPr>
        <p:spPr>
          <a:xfrm>
            <a:off x="1955751" y="4254394"/>
            <a:ext cx="63" cy="253994"/>
          </a:xfrm>
          <a:prstGeom prst="line">
            <a:avLst/>
          </a:prstGeom>
          <a:noFill/>
          <a:ln w="19050">
            <a:solidFill>
              <a:srgbClr val="5C6B8A"/>
            </a:solidFill>
            <a:prstDash val="solid"/>
          </a:ln>
        </p:spPr>
      </p:sp>
      <p:sp>
        <p:nvSpPr>
          <p:cNvPr id="86" name="Text 84"/>
          <p:cNvSpPr txBox="1"/>
          <p:nvPr/>
        </p:nvSpPr>
        <p:spPr>
          <a:xfrm>
            <a:off x="2031949" y="4273443"/>
            <a:ext cx="647684"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87" name="Shape 85"/>
          <p:cNvSpPr/>
          <p:nvPr/>
        </p:nvSpPr>
        <p:spPr>
          <a:xfrm>
            <a:off x="4717932" y="4254394"/>
            <a:ext cx="63" cy="253994"/>
          </a:xfrm>
          <a:prstGeom prst="line">
            <a:avLst/>
          </a:prstGeom>
          <a:noFill/>
          <a:ln w="19050">
            <a:solidFill>
              <a:srgbClr val="5C6B8A"/>
            </a:solidFill>
            <a:prstDash val="solid"/>
          </a:ln>
        </p:spPr>
      </p:sp>
      <p:sp>
        <p:nvSpPr>
          <p:cNvPr id="88" name="Text 86"/>
          <p:cNvSpPr txBox="1"/>
          <p:nvPr/>
        </p:nvSpPr>
        <p:spPr>
          <a:xfrm>
            <a:off x="4794130" y="4273443"/>
            <a:ext cx="647684"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89" name="Shape 87"/>
          <p:cNvSpPr/>
          <p:nvPr/>
        </p:nvSpPr>
        <p:spPr>
          <a:xfrm>
            <a:off x="7473763" y="4254394"/>
            <a:ext cx="63" cy="253994"/>
          </a:xfrm>
          <a:prstGeom prst="line">
            <a:avLst/>
          </a:prstGeom>
          <a:noFill/>
          <a:ln w="19050">
            <a:solidFill>
              <a:srgbClr val="5C6B8A"/>
            </a:solidFill>
            <a:prstDash val="solid"/>
          </a:ln>
        </p:spPr>
      </p:sp>
      <p:sp>
        <p:nvSpPr>
          <p:cNvPr id="90" name="Text 88"/>
          <p:cNvSpPr txBox="1"/>
          <p:nvPr/>
        </p:nvSpPr>
        <p:spPr>
          <a:xfrm>
            <a:off x="7549961" y="4273443"/>
            <a:ext cx="647684"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91" name="Text 89"/>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Data model</a:t>
            </a:r>
            <a:endParaRPr lang="en-US" sz="1200" dirty="0"/>
          </a:p>
        </p:txBody>
      </p:sp>
      <p:sp>
        <p:nvSpPr>
          <p:cNvPr id="92" name="Text 90"/>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LOGICAL DATA MODEL · JOBS AND MONEY</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Everything after the request hangs off the booking</a:t>
            </a:r>
            <a:endParaRPr lang="en-US" sz="3000" dirty="0"/>
          </a:p>
        </p:txBody>
      </p:sp>
      <p:sp>
        <p:nvSpPr>
          <p:cNvPr id="4" name="Shape 2"/>
          <p:cNvSpPr/>
          <p:nvPr/>
        </p:nvSpPr>
        <p:spPr>
          <a:xfrm>
            <a:off x="812780" y="1841454"/>
            <a:ext cx="2285943" cy="1079473"/>
          </a:xfrm>
          <a:prstGeom prst="roundRect">
            <a:avLst>
              <a:gd name="adj" fmla="val 7059"/>
            </a:avLst>
          </a:prstGeom>
          <a:solidFill>
            <a:srgbClr val="EEF1F6"/>
          </a:solidFill>
          <a:ln/>
        </p:spPr>
      </p:sp>
      <p:sp>
        <p:nvSpPr>
          <p:cNvPr id="5" name="Text 3"/>
          <p:cNvSpPr txBox="1"/>
          <p:nvPr/>
        </p:nvSpPr>
        <p:spPr>
          <a:xfrm>
            <a:off x="914377" y="1930352"/>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Legend</a:t>
            </a:r>
            <a:endParaRPr lang="en-US" sz="1200" dirty="0"/>
          </a:p>
        </p:txBody>
      </p:sp>
      <p:sp>
        <p:nvSpPr>
          <p:cNvPr id="6" name="Text 4"/>
          <p:cNvSpPr txBox="1"/>
          <p:nvPr/>
        </p:nvSpPr>
        <p:spPr>
          <a:xfrm>
            <a:off x="914377" y="2181766"/>
            <a:ext cx="2332678" cy="617026"/>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Booking is the hub. Solid: same schema. Dashed: UUID across services.</a:t>
            </a:r>
            <a:endParaRPr lang="en-US" sz="1200" dirty="0"/>
          </a:p>
        </p:txBody>
      </p:sp>
      <p:sp>
        <p:nvSpPr>
          <p:cNvPr id="7" name="Shape 5"/>
          <p:cNvSpPr/>
          <p:nvPr/>
        </p:nvSpPr>
        <p:spPr>
          <a:xfrm>
            <a:off x="3574961" y="1841454"/>
            <a:ext cx="2285943" cy="1079473"/>
          </a:xfrm>
          <a:prstGeom prst="roundRect">
            <a:avLst>
              <a:gd name="adj" fmla="val 7059"/>
            </a:avLst>
          </a:prstGeom>
          <a:solidFill>
            <a:srgbClr val="FCFDFF"/>
          </a:solidFill>
          <a:ln w="12700">
            <a:solidFill>
              <a:srgbClr val="0B7F74"/>
            </a:solidFill>
            <a:prstDash val="solid"/>
          </a:ln>
        </p:spPr>
      </p:sp>
      <p:sp>
        <p:nvSpPr>
          <p:cNvPr id="8" name="Shape 6"/>
          <p:cNvSpPr/>
          <p:nvPr/>
        </p:nvSpPr>
        <p:spPr>
          <a:xfrm>
            <a:off x="3587660" y="1854154"/>
            <a:ext cx="2260543" cy="289513"/>
          </a:xfrm>
          <a:prstGeom prst="roundRect">
            <a:avLst>
              <a:gd name="adj" fmla="val 21933"/>
            </a:avLst>
          </a:prstGeom>
          <a:solidFill>
            <a:srgbClr val="DDF2EF"/>
          </a:solidFill>
          <a:ln/>
        </p:spPr>
      </p:sp>
      <p:sp>
        <p:nvSpPr>
          <p:cNvPr id="9" name="Text 7"/>
          <p:cNvSpPr txBox="1"/>
          <p:nvPr/>
        </p:nvSpPr>
        <p:spPr>
          <a:xfrm>
            <a:off x="3676558" y="1892253"/>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booking.job_media</a:t>
            </a:r>
            <a:endParaRPr lang="en-US" sz="1200" dirty="0"/>
          </a:p>
        </p:txBody>
      </p:sp>
      <p:sp>
        <p:nvSpPr>
          <p:cNvPr id="10" name="Text 8"/>
          <p:cNvSpPr txBox="1"/>
          <p:nvPr/>
        </p:nvSpPr>
        <p:spPr>
          <a:xfrm>
            <a:off x="3676558" y="218176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11" name="Text 9"/>
          <p:cNvSpPr txBox="1"/>
          <p:nvPr/>
        </p:nvSpPr>
        <p:spPr>
          <a:xfrm>
            <a:off x="3676558" y="2387441"/>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booking_id</a:t>
            </a:r>
            <a:endParaRPr lang="en-US" sz="1200" dirty="0"/>
          </a:p>
        </p:txBody>
      </p:sp>
      <p:sp>
        <p:nvSpPr>
          <p:cNvPr id="12" name="Text 10"/>
          <p:cNvSpPr txBox="1"/>
          <p:nvPr/>
        </p:nvSpPr>
        <p:spPr>
          <a:xfrm>
            <a:off x="3676558" y="259311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type, content_type</a:t>
            </a:r>
            <a:endParaRPr lang="en-US" sz="1200" dirty="0"/>
          </a:p>
        </p:txBody>
      </p:sp>
      <p:sp>
        <p:nvSpPr>
          <p:cNvPr id="13" name="Shape 11"/>
          <p:cNvSpPr/>
          <p:nvPr/>
        </p:nvSpPr>
        <p:spPr>
          <a:xfrm>
            <a:off x="6330792" y="1841454"/>
            <a:ext cx="2285943" cy="1079473"/>
          </a:xfrm>
          <a:prstGeom prst="roundRect">
            <a:avLst>
              <a:gd name="adj" fmla="val 7059"/>
            </a:avLst>
          </a:prstGeom>
          <a:solidFill>
            <a:srgbClr val="FCFDFF"/>
          </a:solidFill>
          <a:ln w="12700">
            <a:solidFill>
              <a:srgbClr val="B8306E"/>
            </a:solidFill>
            <a:prstDash val="solid"/>
          </a:ln>
        </p:spPr>
      </p:sp>
      <p:sp>
        <p:nvSpPr>
          <p:cNvPr id="14" name="Shape 12"/>
          <p:cNvSpPr/>
          <p:nvPr/>
        </p:nvSpPr>
        <p:spPr>
          <a:xfrm>
            <a:off x="6343491" y="1854154"/>
            <a:ext cx="2260543" cy="289513"/>
          </a:xfrm>
          <a:prstGeom prst="roundRect">
            <a:avLst>
              <a:gd name="adj" fmla="val 21933"/>
            </a:avLst>
          </a:prstGeom>
          <a:solidFill>
            <a:srgbClr val="FAE3ED"/>
          </a:solidFill>
          <a:ln/>
        </p:spPr>
      </p:sp>
      <p:sp>
        <p:nvSpPr>
          <p:cNvPr id="15" name="Text 13"/>
          <p:cNvSpPr txBox="1"/>
          <p:nvPr/>
        </p:nvSpPr>
        <p:spPr>
          <a:xfrm>
            <a:off x="6432389" y="1892253"/>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chat.chat_channel</a:t>
            </a:r>
            <a:endParaRPr lang="en-US" sz="1200" dirty="0"/>
          </a:p>
        </p:txBody>
      </p:sp>
      <p:sp>
        <p:nvSpPr>
          <p:cNvPr id="16" name="Text 14"/>
          <p:cNvSpPr txBox="1"/>
          <p:nvPr/>
        </p:nvSpPr>
        <p:spPr>
          <a:xfrm>
            <a:off x="6432389" y="218176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booking_id PK → booking</a:t>
            </a:r>
            <a:endParaRPr lang="en-US" sz="1200" dirty="0"/>
          </a:p>
        </p:txBody>
      </p:sp>
      <p:sp>
        <p:nvSpPr>
          <p:cNvPr id="17" name="Text 15"/>
          <p:cNvSpPr txBox="1"/>
          <p:nvPr/>
        </p:nvSpPr>
        <p:spPr>
          <a:xfrm>
            <a:off x="6432389" y="2387441"/>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customer_id, provider_id</a:t>
            </a:r>
            <a:endParaRPr lang="en-US" sz="1200" dirty="0"/>
          </a:p>
        </p:txBody>
      </p:sp>
      <p:sp>
        <p:nvSpPr>
          <p:cNvPr id="18" name="Text 16"/>
          <p:cNvSpPr txBox="1"/>
          <p:nvPr/>
        </p:nvSpPr>
        <p:spPr>
          <a:xfrm>
            <a:off x="6432389" y="259311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status ChannelStatus</a:t>
            </a:r>
            <a:endParaRPr lang="en-US" sz="1200" dirty="0"/>
          </a:p>
        </p:txBody>
      </p:sp>
      <p:sp>
        <p:nvSpPr>
          <p:cNvPr id="19" name="Shape 17"/>
          <p:cNvSpPr/>
          <p:nvPr/>
        </p:nvSpPr>
        <p:spPr>
          <a:xfrm>
            <a:off x="9092973" y="1841454"/>
            <a:ext cx="2285943" cy="1079473"/>
          </a:xfrm>
          <a:prstGeom prst="roundRect">
            <a:avLst>
              <a:gd name="adj" fmla="val 7059"/>
            </a:avLst>
          </a:prstGeom>
          <a:solidFill>
            <a:srgbClr val="FCFDFF"/>
          </a:solidFill>
          <a:ln w="12700">
            <a:solidFill>
              <a:srgbClr val="B8306E"/>
            </a:solidFill>
            <a:prstDash val="solid"/>
          </a:ln>
        </p:spPr>
      </p:sp>
      <p:sp>
        <p:nvSpPr>
          <p:cNvPr id="20" name="Shape 18"/>
          <p:cNvSpPr/>
          <p:nvPr/>
        </p:nvSpPr>
        <p:spPr>
          <a:xfrm>
            <a:off x="9105672" y="1854154"/>
            <a:ext cx="2260543" cy="289513"/>
          </a:xfrm>
          <a:prstGeom prst="roundRect">
            <a:avLst>
              <a:gd name="adj" fmla="val 21933"/>
            </a:avLst>
          </a:prstGeom>
          <a:solidFill>
            <a:srgbClr val="FAE3ED"/>
          </a:solidFill>
          <a:ln/>
        </p:spPr>
      </p:sp>
      <p:sp>
        <p:nvSpPr>
          <p:cNvPr id="21" name="Text 19"/>
          <p:cNvSpPr txBox="1"/>
          <p:nvPr/>
        </p:nvSpPr>
        <p:spPr>
          <a:xfrm>
            <a:off x="9194570" y="1892253"/>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chat.chat_message</a:t>
            </a:r>
            <a:endParaRPr lang="en-US" sz="1200" dirty="0"/>
          </a:p>
        </p:txBody>
      </p:sp>
      <p:sp>
        <p:nvSpPr>
          <p:cNvPr id="22" name="Text 20"/>
          <p:cNvSpPr txBox="1"/>
          <p:nvPr/>
        </p:nvSpPr>
        <p:spPr>
          <a:xfrm>
            <a:off x="9194570" y="218176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23" name="Text 21"/>
          <p:cNvSpPr txBox="1"/>
          <p:nvPr/>
        </p:nvSpPr>
        <p:spPr>
          <a:xfrm>
            <a:off x="9194570" y="2387441"/>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booking_id FK</a:t>
            </a:r>
            <a:endParaRPr lang="en-US" sz="1200" dirty="0"/>
          </a:p>
        </p:txBody>
      </p:sp>
      <p:sp>
        <p:nvSpPr>
          <p:cNvPr id="24" name="Text 22"/>
          <p:cNvSpPr txBox="1"/>
          <p:nvPr/>
        </p:nvSpPr>
        <p:spPr>
          <a:xfrm>
            <a:off x="9194570" y="2593116"/>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sender_id, body</a:t>
            </a:r>
            <a:endParaRPr lang="en-US" sz="1200" dirty="0"/>
          </a:p>
        </p:txBody>
      </p:sp>
      <p:sp>
        <p:nvSpPr>
          <p:cNvPr id="25" name="Shape 23"/>
          <p:cNvSpPr/>
          <p:nvPr/>
        </p:nvSpPr>
        <p:spPr>
          <a:xfrm>
            <a:off x="812780" y="3174921"/>
            <a:ext cx="2285943" cy="1079473"/>
          </a:xfrm>
          <a:prstGeom prst="roundRect">
            <a:avLst>
              <a:gd name="adj" fmla="val 7059"/>
            </a:avLst>
          </a:prstGeom>
          <a:solidFill>
            <a:srgbClr val="FCFDFF"/>
          </a:solidFill>
          <a:ln w="12700">
            <a:solidFill>
              <a:srgbClr val="B8306E"/>
            </a:solidFill>
            <a:prstDash val="solid"/>
          </a:ln>
        </p:spPr>
      </p:sp>
      <p:sp>
        <p:nvSpPr>
          <p:cNvPr id="26" name="Shape 24"/>
          <p:cNvSpPr/>
          <p:nvPr/>
        </p:nvSpPr>
        <p:spPr>
          <a:xfrm>
            <a:off x="825479" y="3187620"/>
            <a:ext cx="2260543" cy="289513"/>
          </a:xfrm>
          <a:prstGeom prst="roundRect">
            <a:avLst>
              <a:gd name="adj" fmla="val 21933"/>
            </a:avLst>
          </a:prstGeom>
          <a:solidFill>
            <a:srgbClr val="FAE3ED"/>
          </a:solidFill>
          <a:ln/>
        </p:spPr>
      </p:sp>
      <p:sp>
        <p:nvSpPr>
          <p:cNvPr id="27" name="Text 25"/>
          <p:cNvSpPr txBox="1"/>
          <p:nvPr/>
        </p:nvSpPr>
        <p:spPr>
          <a:xfrm>
            <a:off x="914377" y="3225719"/>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complaint.complaint</a:t>
            </a:r>
            <a:endParaRPr lang="en-US" sz="1200" dirty="0"/>
          </a:p>
        </p:txBody>
      </p:sp>
      <p:sp>
        <p:nvSpPr>
          <p:cNvPr id="28" name="Text 26"/>
          <p:cNvSpPr txBox="1"/>
          <p:nvPr/>
        </p:nvSpPr>
        <p:spPr>
          <a:xfrm>
            <a:off x="914377" y="3515232"/>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 · booking_id</a:t>
            </a:r>
            <a:endParaRPr lang="en-US" sz="1200" dirty="0"/>
          </a:p>
        </p:txBody>
      </p:sp>
      <p:sp>
        <p:nvSpPr>
          <p:cNvPr id="29" name="Text 27"/>
          <p:cNvSpPr txBox="1"/>
          <p:nvPr/>
        </p:nvSpPr>
        <p:spPr>
          <a:xfrm>
            <a:off x="914377" y="3720908"/>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category, status</a:t>
            </a:r>
            <a:endParaRPr lang="en-US" sz="1200" dirty="0"/>
          </a:p>
        </p:txBody>
      </p:sp>
      <p:sp>
        <p:nvSpPr>
          <p:cNvPr id="30" name="Text 28"/>
          <p:cNvSpPr txBox="1"/>
          <p:nvPr/>
        </p:nvSpPr>
        <p:spPr>
          <a:xfrm>
            <a:off x="914377" y="3926583"/>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sla_deadline</a:t>
            </a:r>
            <a:endParaRPr lang="en-US" sz="1200" dirty="0"/>
          </a:p>
        </p:txBody>
      </p:sp>
      <p:sp>
        <p:nvSpPr>
          <p:cNvPr id="31" name="Shape 29"/>
          <p:cNvSpPr/>
          <p:nvPr/>
        </p:nvSpPr>
        <p:spPr>
          <a:xfrm>
            <a:off x="3574961" y="3174921"/>
            <a:ext cx="2285943" cy="1079473"/>
          </a:xfrm>
          <a:prstGeom prst="roundRect">
            <a:avLst>
              <a:gd name="adj" fmla="val 7059"/>
            </a:avLst>
          </a:prstGeom>
          <a:solidFill>
            <a:srgbClr val="FCFDFF"/>
          </a:solidFill>
          <a:ln w="12700">
            <a:solidFill>
              <a:srgbClr val="0B7F74"/>
            </a:solidFill>
            <a:prstDash val="solid"/>
          </a:ln>
        </p:spPr>
      </p:sp>
      <p:sp>
        <p:nvSpPr>
          <p:cNvPr id="32" name="Shape 30"/>
          <p:cNvSpPr/>
          <p:nvPr/>
        </p:nvSpPr>
        <p:spPr>
          <a:xfrm>
            <a:off x="3587660" y="3187620"/>
            <a:ext cx="2260543" cy="289513"/>
          </a:xfrm>
          <a:prstGeom prst="roundRect">
            <a:avLst>
              <a:gd name="adj" fmla="val 21933"/>
            </a:avLst>
          </a:prstGeom>
          <a:solidFill>
            <a:srgbClr val="DDF2EF"/>
          </a:solidFill>
          <a:ln/>
        </p:spPr>
      </p:sp>
      <p:sp>
        <p:nvSpPr>
          <p:cNvPr id="33" name="Text 31"/>
          <p:cNvSpPr txBox="1"/>
          <p:nvPr/>
        </p:nvSpPr>
        <p:spPr>
          <a:xfrm>
            <a:off x="3676558" y="3225719"/>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booking.booking</a:t>
            </a:r>
            <a:endParaRPr lang="en-US" sz="1200" dirty="0"/>
          </a:p>
        </p:txBody>
      </p:sp>
      <p:sp>
        <p:nvSpPr>
          <p:cNvPr id="34" name="Text 32"/>
          <p:cNvSpPr txBox="1"/>
          <p:nvPr/>
        </p:nvSpPr>
        <p:spPr>
          <a:xfrm>
            <a:off x="3676558" y="3515232"/>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 · reference</a:t>
            </a:r>
            <a:endParaRPr lang="en-US" sz="1200" dirty="0"/>
          </a:p>
        </p:txBody>
      </p:sp>
      <p:sp>
        <p:nvSpPr>
          <p:cNvPr id="35" name="Text 33"/>
          <p:cNvSpPr txBox="1"/>
          <p:nvPr/>
        </p:nvSpPr>
        <p:spPr>
          <a:xfrm>
            <a:off x="3676558" y="3720908"/>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customer_id, provider_id</a:t>
            </a:r>
            <a:endParaRPr lang="en-US" sz="1200" dirty="0"/>
          </a:p>
        </p:txBody>
      </p:sp>
      <p:sp>
        <p:nvSpPr>
          <p:cNvPr id="36" name="Text 34"/>
          <p:cNvSpPr txBox="1"/>
          <p:nvPr/>
        </p:nvSpPr>
        <p:spPr>
          <a:xfrm>
            <a:off x="3676558" y="3926583"/>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status, estimated_total</a:t>
            </a:r>
            <a:endParaRPr lang="en-US" sz="1200" dirty="0"/>
          </a:p>
        </p:txBody>
      </p:sp>
      <p:sp>
        <p:nvSpPr>
          <p:cNvPr id="37" name="Shape 35"/>
          <p:cNvSpPr/>
          <p:nvPr/>
        </p:nvSpPr>
        <p:spPr>
          <a:xfrm>
            <a:off x="6330792" y="3174921"/>
            <a:ext cx="2285943" cy="1079473"/>
          </a:xfrm>
          <a:prstGeom prst="roundRect">
            <a:avLst>
              <a:gd name="adj" fmla="val 7059"/>
            </a:avLst>
          </a:prstGeom>
          <a:solidFill>
            <a:srgbClr val="FCFDFF"/>
          </a:solidFill>
          <a:ln w="12700">
            <a:solidFill>
              <a:srgbClr val="B4530F"/>
            </a:solidFill>
            <a:prstDash val="solid"/>
          </a:ln>
        </p:spPr>
      </p:sp>
      <p:sp>
        <p:nvSpPr>
          <p:cNvPr id="38" name="Shape 36"/>
          <p:cNvSpPr/>
          <p:nvPr/>
        </p:nvSpPr>
        <p:spPr>
          <a:xfrm>
            <a:off x="6343491" y="3187620"/>
            <a:ext cx="2260543" cy="289513"/>
          </a:xfrm>
          <a:prstGeom prst="roundRect">
            <a:avLst>
              <a:gd name="adj" fmla="val 21933"/>
            </a:avLst>
          </a:prstGeom>
          <a:solidFill>
            <a:srgbClr val="FCEBDD"/>
          </a:solidFill>
          <a:ln/>
        </p:spPr>
      </p:sp>
      <p:sp>
        <p:nvSpPr>
          <p:cNvPr id="39" name="Text 37"/>
          <p:cNvSpPr txBox="1"/>
          <p:nvPr/>
        </p:nvSpPr>
        <p:spPr>
          <a:xfrm>
            <a:off x="6432389" y="3225719"/>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payment.payment_transaction</a:t>
            </a:r>
            <a:endParaRPr lang="en-US" sz="1200" dirty="0"/>
          </a:p>
        </p:txBody>
      </p:sp>
      <p:sp>
        <p:nvSpPr>
          <p:cNvPr id="40" name="Text 38"/>
          <p:cNvSpPr txBox="1"/>
          <p:nvPr/>
        </p:nvSpPr>
        <p:spPr>
          <a:xfrm>
            <a:off x="6432389" y="3515232"/>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 · booking_id</a:t>
            </a:r>
            <a:endParaRPr lang="en-US" sz="1200" dirty="0"/>
          </a:p>
        </p:txBody>
      </p:sp>
      <p:sp>
        <p:nvSpPr>
          <p:cNvPr id="41" name="Text 39"/>
          <p:cNvSpPr txBox="1"/>
          <p:nvPr/>
        </p:nvSpPr>
        <p:spPr>
          <a:xfrm>
            <a:off x="6432389" y="3720908"/>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amount, status</a:t>
            </a:r>
            <a:endParaRPr lang="en-US" sz="1200" dirty="0"/>
          </a:p>
        </p:txBody>
      </p:sp>
      <p:sp>
        <p:nvSpPr>
          <p:cNvPr id="42" name="Text 40"/>
          <p:cNvSpPr txBox="1"/>
          <p:nvPr/>
        </p:nvSpPr>
        <p:spPr>
          <a:xfrm>
            <a:off x="6432389" y="3926583"/>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idempotency_key UQ</a:t>
            </a:r>
            <a:endParaRPr lang="en-US" sz="1200" dirty="0"/>
          </a:p>
        </p:txBody>
      </p:sp>
      <p:sp>
        <p:nvSpPr>
          <p:cNvPr id="43" name="Shape 41"/>
          <p:cNvSpPr/>
          <p:nvPr/>
        </p:nvSpPr>
        <p:spPr>
          <a:xfrm>
            <a:off x="9092973" y="3174921"/>
            <a:ext cx="2285943" cy="1079473"/>
          </a:xfrm>
          <a:prstGeom prst="roundRect">
            <a:avLst>
              <a:gd name="adj" fmla="val 7059"/>
            </a:avLst>
          </a:prstGeom>
          <a:solidFill>
            <a:srgbClr val="FCFDFF"/>
          </a:solidFill>
          <a:ln w="12700">
            <a:solidFill>
              <a:srgbClr val="B4530F"/>
            </a:solidFill>
            <a:prstDash val="solid"/>
          </a:ln>
        </p:spPr>
      </p:sp>
      <p:sp>
        <p:nvSpPr>
          <p:cNvPr id="44" name="Shape 42"/>
          <p:cNvSpPr/>
          <p:nvPr/>
        </p:nvSpPr>
        <p:spPr>
          <a:xfrm>
            <a:off x="9105672" y="3187620"/>
            <a:ext cx="2260543" cy="289513"/>
          </a:xfrm>
          <a:prstGeom prst="roundRect">
            <a:avLst>
              <a:gd name="adj" fmla="val 21933"/>
            </a:avLst>
          </a:prstGeom>
          <a:solidFill>
            <a:srgbClr val="FCEBDD"/>
          </a:solidFill>
          <a:ln/>
        </p:spPr>
      </p:sp>
      <p:sp>
        <p:nvSpPr>
          <p:cNvPr id="45" name="Text 43"/>
          <p:cNvSpPr txBox="1"/>
          <p:nvPr/>
        </p:nvSpPr>
        <p:spPr>
          <a:xfrm>
            <a:off x="9194570" y="3225719"/>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payment.payment_refund</a:t>
            </a:r>
            <a:endParaRPr lang="en-US" sz="1200" dirty="0"/>
          </a:p>
        </p:txBody>
      </p:sp>
      <p:sp>
        <p:nvSpPr>
          <p:cNvPr id="46" name="Text 44"/>
          <p:cNvSpPr txBox="1"/>
          <p:nvPr/>
        </p:nvSpPr>
        <p:spPr>
          <a:xfrm>
            <a:off x="9194570" y="3515232"/>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47" name="Text 45"/>
          <p:cNvSpPr txBox="1"/>
          <p:nvPr/>
        </p:nvSpPr>
        <p:spPr>
          <a:xfrm>
            <a:off x="9194570" y="3720908"/>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transaction_id</a:t>
            </a:r>
            <a:endParaRPr lang="en-US" sz="1200" dirty="0"/>
          </a:p>
        </p:txBody>
      </p:sp>
      <p:sp>
        <p:nvSpPr>
          <p:cNvPr id="48" name="Text 46"/>
          <p:cNvSpPr txBox="1"/>
          <p:nvPr/>
        </p:nvSpPr>
        <p:spPr>
          <a:xfrm>
            <a:off x="9194570" y="3926583"/>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amount, status</a:t>
            </a:r>
            <a:endParaRPr lang="en-US" sz="1200" dirty="0"/>
          </a:p>
        </p:txBody>
      </p:sp>
      <p:sp>
        <p:nvSpPr>
          <p:cNvPr id="49" name="Shape 47"/>
          <p:cNvSpPr/>
          <p:nvPr/>
        </p:nvSpPr>
        <p:spPr>
          <a:xfrm>
            <a:off x="812780" y="4508387"/>
            <a:ext cx="2285943" cy="1079473"/>
          </a:xfrm>
          <a:prstGeom prst="roundRect">
            <a:avLst>
              <a:gd name="adj" fmla="val 7059"/>
            </a:avLst>
          </a:prstGeom>
          <a:solidFill>
            <a:srgbClr val="FCFDFF"/>
          </a:solidFill>
          <a:ln w="12700">
            <a:solidFill>
              <a:srgbClr val="B8306E"/>
            </a:solidFill>
            <a:prstDash val="solid"/>
          </a:ln>
        </p:spPr>
      </p:sp>
      <p:sp>
        <p:nvSpPr>
          <p:cNvPr id="50" name="Shape 48"/>
          <p:cNvSpPr/>
          <p:nvPr/>
        </p:nvSpPr>
        <p:spPr>
          <a:xfrm>
            <a:off x="825479" y="4521087"/>
            <a:ext cx="2260543" cy="289513"/>
          </a:xfrm>
          <a:prstGeom prst="roundRect">
            <a:avLst>
              <a:gd name="adj" fmla="val 21933"/>
            </a:avLst>
          </a:prstGeom>
          <a:solidFill>
            <a:srgbClr val="FAE3ED"/>
          </a:solidFill>
          <a:ln/>
        </p:spPr>
      </p:sp>
      <p:sp>
        <p:nvSpPr>
          <p:cNvPr id="51" name="Text 49"/>
          <p:cNvSpPr txBox="1"/>
          <p:nvPr/>
        </p:nvSpPr>
        <p:spPr>
          <a:xfrm>
            <a:off x="914377" y="4559186"/>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complaint.complaint_refund</a:t>
            </a:r>
            <a:endParaRPr lang="en-US" sz="1200" dirty="0"/>
          </a:p>
        </p:txBody>
      </p:sp>
      <p:sp>
        <p:nvSpPr>
          <p:cNvPr id="52" name="Text 50"/>
          <p:cNvSpPr txBox="1"/>
          <p:nvPr/>
        </p:nvSpPr>
        <p:spPr>
          <a:xfrm>
            <a:off x="914377" y="4848699"/>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a:t>
            </a:r>
            <a:endParaRPr lang="en-US" sz="1200" dirty="0"/>
          </a:p>
        </p:txBody>
      </p:sp>
      <p:sp>
        <p:nvSpPr>
          <p:cNvPr id="53" name="Text 51"/>
          <p:cNvSpPr txBox="1"/>
          <p:nvPr/>
        </p:nvSpPr>
        <p:spPr>
          <a:xfrm>
            <a:off x="914377" y="5054374"/>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complaint_id UQ FK</a:t>
            </a:r>
            <a:endParaRPr lang="en-US" sz="1200" dirty="0"/>
          </a:p>
        </p:txBody>
      </p:sp>
      <p:sp>
        <p:nvSpPr>
          <p:cNvPr id="54" name="Text 52"/>
          <p:cNvSpPr txBox="1"/>
          <p:nvPr/>
        </p:nvSpPr>
        <p:spPr>
          <a:xfrm>
            <a:off x="914377" y="5260050"/>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amount, status</a:t>
            </a:r>
            <a:endParaRPr lang="en-US" sz="1200" dirty="0"/>
          </a:p>
        </p:txBody>
      </p:sp>
      <p:sp>
        <p:nvSpPr>
          <p:cNvPr id="55" name="Shape 53"/>
          <p:cNvSpPr/>
          <p:nvPr/>
        </p:nvSpPr>
        <p:spPr>
          <a:xfrm>
            <a:off x="3574961" y="4508387"/>
            <a:ext cx="2285943" cy="1079473"/>
          </a:xfrm>
          <a:prstGeom prst="roundRect">
            <a:avLst>
              <a:gd name="adj" fmla="val 7059"/>
            </a:avLst>
          </a:prstGeom>
          <a:solidFill>
            <a:srgbClr val="FCFDFF"/>
          </a:solidFill>
          <a:ln w="12700">
            <a:solidFill>
              <a:srgbClr val="B8306E"/>
            </a:solidFill>
            <a:prstDash val="solid"/>
          </a:ln>
        </p:spPr>
      </p:sp>
      <p:sp>
        <p:nvSpPr>
          <p:cNvPr id="56" name="Shape 54"/>
          <p:cNvSpPr/>
          <p:nvPr/>
        </p:nvSpPr>
        <p:spPr>
          <a:xfrm>
            <a:off x="3587660" y="4521087"/>
            <a:ext cx="2260543" cy="289513"/>
          </a:xfrm>
          <a:prstGeom prst="roundRect">
            <a:avLst>
              <a:gd name="adj" fmla="val 21933"/>
            </a:avLst>
          </a:prstGeom>
          <a:solidFill>
            <a:srgbClr val="FAE3ED"/>
          </a:solidFill>
          <a:ln/>
        </p:spPr>
      </p:sp>
      <p:sp>
        <p:nvSpPr>
          <p:cNvPr id="57" name="Text 55"/>
          <p:cNvSpPr txBox="1"/>
          <p:nvPr/>
        </p:nvSpPr>
        <p:spPr>
          <a:xfrm>
            <a:off x="3676558" y="4559186"/>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rating.review</a:t>
            </a:r>
            <a:endParaRPr lang="en-US" sz="1200" dirty="0"/>
          </a:p>
        </p:txBody>
      </p:sp>
      <p:sp>
        <p:nvSpPr>
          <p:cNvPr id="58" name="Text 56"/>
          <p:cNvSpPr txBox="1"/>
          <p:nvPr/>
        </p:nvSpPr>
        <p:spPr>
          <a:xfrm>
            <a:off x="3676558" y="4848699"/>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 · booking_id</a:t>
            </a:r>
            <a:endParaRPr lang="en-US" sz="1200" dirty="0"/>
          </a:p>
        </p:txBody>
      </p:sp>
      <p:sp>
        <p:nvSpPr>
          <p:cNvPr id="59" name="Text 57"/>
          <p:cNvSpPr txBox="1"/>
          <p:nvPr/>
        </p:nvSpPr>
        <p:spPr>
          <a:xfrm>
            <a:off x="3676558" y="5054374"/>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reviewer, reviewee</a:t>
            </a:r>
            <a:endParaRPr lang="en-US" sz="1200" dirty="0"/>
          </a:p>
        </p:txBody>
      </p:sp>
      <p:sp>
        <p:nvSpPr>
          <p:cNvPr id="60" name="Text 58"/>
          <p:cNvSpPr txBox="1"/>
          <p:nvPr/>
        </p:nvSpPr>
        <p:spPr>
          <a:xfrm>
            <a:off x="3676558" y="5260050"/>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overall_rating</a:t>
            </a:r>
            <a:endParaRPr lang="en-US" sz="1200" dirty="0"/>
          </a:p>
        </p:txBody>
      </p:sp>
      <p:sp>
        <p:nvSpPr>
          <p:cNvPr id="61" name="Shape 59"/>
          <p:cNvSpPr/>
          <p:nvPr/>
        </p:nvSpPr>
        <p:spPr>
          <a:xfrm>
            <a:off x="6330792" y="4508387"/>
            <a:ext cx="2285943" cy="1079473"/>
          </a:xfrm>
          <a:prstGeom prst="roundRect">
            <a:avLst>
              <a:gd name="adj" fmla="val 7059"/>
            </a:avLst>
          </a:prstGeom>
          <a:solidFill>
            <a:srgbClr val="FCFDFF"/>
          </a:solidFill>
          <a:ln w="12700">
            <a:solidFill>
              <a:srgbClr val="B4530F"/>
            </a:solidFill>
            <a:prstDash val="solid"/>
          </a:ln>
        </p:spPr>
      </p:sp>
      <p:sp>
        <p:nvSpPr>
          <p:cNvPr id="62" name="Shape 60"/>
          <p:cNvSpPr/>
          <p:nvPr/>
        </p:nvSpPr>
        <p:spPr>
          <a:xfrm>
            <a:off x="6343491" y="4521087"/>
            <a:ext cx="2260543" cy="289513"/>
          </a:xfrm>
          <a:prstGeom prst="roundRect">
            <a:avLst>
              <a:gd name="adj" fmla="val 21933"/>
            </a:avLst>
          </a:prstGeom>
          <a:solidFill>
            <a:srgbClr val="FCEBDD"/>
          </a:solidFill>
          <a:ln/>
        </p:spPr>
      </p:sp>
      <p:sp>
        <p:nvSpPr>
          <p:cNvPr id="63" name="Text 61"/>
          <p:cNvSpPr txBox="1"/>
          <p:nvPr/>
        </p:nvSpPr>
        <p:spPr>
          <a:xfrm>
            <a:off x="6432389" y="4559186"/>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invoice.invoice</a:t>
            </a:r>
            <a:endParaRPr lang="en-US" sz="1200" dirty="0"/>
          </a:p>
        </p:txBody>
      </p:sp>
      <p:sp>
        <p:nvSpPr>
          <p:cNvPr id="64" name="Text 62"/>
          <p:cNvSpPr txBox="1"/>
          <p:nvPr/>
        </p:nvSpPr>
        <p:spPr>
          <a:xfrm>
            <a:off x="6432389" y="4848699"/>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 · invoice_number</a:t>
            </a:r>
            <a:endParaRPr lang="en-US" sz="1200" dirty="0"/>
          </a:p>
        </p:txBody>
      </p:sp>
      <p:sp>
        <p:nvSpPr>
          <p:cNvPr id="65" name="Text 63"/>
          <p:cNvSpPr txBox="1"/>
          <p:nvPr/>
        </p:nvSpPr>
        <p:spPr>
          <a:xfrm>
            <a:off x="6432389" y="5054374"/>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payment_id UQ → payment</a:t>
            </a:r>
            <a:endParaRPr lang="en-US" sz="1200" dirty="0"/>
          </a:p>
        </p:txBody>
      </p:sp>
      <p:sp>
        <p:nvSpPr>
          <p:cNvPr id="66" name="Text 64"/>
          <p:cNvSpPr txBox="1"/>
          <p:nvPr/>
        </p:nvSpPr>
        <p:spPr>
          <a:xfrm>
            <a:off x="6432389" y="5260050"/>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gross, fee, net</a:t>
            </a:r>
            <a:endParaRPr lang="en-US" sz="1200" dirty="0"/>
          </a:p>
        </p:txBody>
      </p:sp>
      <p:sp>
        <p:nvSpPr>
          <p:cNvPr id="67" name="Shape 65"/>
          <p:cNvSpPr/>
          <p:nvPr/>
        </p:nvSpPr>
        <p:spPr>
          <a:xfrm>
            <a:off x="9092973" y="4508387"/>
            <a:ext cx="2285943" cy="1079473"/>
          </a:xfrm>
          <a:prstGeom prst="roundRect">
            <a:avLst>
              <a:gd name="adj" fmla="val 7059"/>
            </a:avLst>
          </a:prstGeom>
          <a:solidFill>
            <a:srgbClr val="FCFDFF"/>
          </a:solidFill>
          <a:ln w="12700">
            <a:solidFill>
              <a:srgbClr val="6A3FC0"/>
            </a:solidFill>
            <a:prstDash val="solid"/>
          </a:ln>
        </p:spPr>
      </p:sp>
      <p:sp>
        <p:nvSpPr>
          <p:cNvPr id="68" name="Shape 66"/>
          <p:cNvSpPr/>
          <p:nvPr/>
        </p:nvSpPr>
        <p:spPr>
          <a:xfrm>
            <a:off x="9105672" y="4521087"/>
            <a:ext cx="2260543" cy="289513"/>
          </a:xfrm>
          <a:prstGeom prst="roundRect">
            <a:avLst>
              <a:gd name="adj" fmla="val 21933"/>
            </a:avLst>
          </a:prstGeom>
          <a:solidFill>
            <a:srgbClr val="ECE5FA"/>
          </a:solidFill>
          <a:ln/>
        </p:spPr>
      </p:sp>
      <p:sp>
        <p:nvSpPr>
          <p:cNvPr id="69" name="Text 67"/>
          <p:cNvSpPr txBox="1"/>
          <p:nvPr/>
        </p:nvSpPr>
        <p:spPr>
          <a:xfrm>
            <a:off x="9194570" y="4559186"/>
            <a:ext cx="2332678"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promotion.coupon</a:t>
            </a:r>
            <a:endParaRPr lang="en-US" sz="1200" dirty="0"/>
          </a:p>
        </p:txBody>
      </p:sp>
      <p:sp>
        <p:nvSpPr>
          <p:cNvPr id="70" name="Text 68"/>
          <p:cNvSpPr txBox="1"/>
          <p:nvPr/>
        </p:nvSpPr>
        <p:spPr>
          <a:xfrm>
            <a:off x="9194570" y="4848699"/>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id PK · code UQ</a:t>
            </a:r>
            <a:endParaRPr lang="en-US" sz="1200" dirty="0"/>
          </a:p>
        </p:txBody>
      </p:sp>
      <p:sp>
        <p:nvSpPr>
          <p:cNvPr id="71" name="Text 69"/>
          <p:cNvSpPr txBox="1"/>
          <p:nvPr/>
        </p:nvSpPr>
        <p:spPr>
          <a:xfrm>
            <a:off x="9194570" y="5054374"/>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discount type, value</a:t>
            </a:r>
            <a:endParaRPr lang="en-US" sz="1200" dirty="0"/>
          </a:p>
        </p:txBody>
      </p:sp>
      <p:sp>
        <p:nvSpPr>
          <p:cNvPr id="72" name="Text 70"/>
          <p:cNvSpPr txBox="1"/>
          <p:nvPr/>
        </p:nvSpPr>
        <p:spPr>
          <a:xfrm>
            <a:off x="9194570" y="5260050"/>
            <a:ext cx="233267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total, per-user limit</a:t>
            </a:r>
            <a:endParaRPr lang="en-US" sz="1200" dirty="0"/>
          </a:p>
        </p:txBody>
      </p:sp>
      <p:sp>
        <p:nvSpPr>
          <p:cNvPr id="73" name="Shape 71"/>
          <p:cNvSpPr/>
          <p:nvPr/>
        </p:nvSpPr>
        <p:spPr>
          <a:xfrm>
            <a:off x="8616735" y="2381190"/>
            <a:ext cx="476238" cy="63"/>
          </a:xfrm>
          <a:prstGeom prst="line">
            <a:avLst/>
          </a:prstGeom>
          <a:noFill/>
          <a:ln w="19050">
            <a:solidFill>
              <a:srgbClr val="5C6B8A"/>
            </a:solidFill>
            <a:prstDash val="solid"/>
          </a:ln>
        </p:spPr>
      </p:sp>
      <p:sp>
        <p:nvSpPr>
          <p:cNvPr id="74" name="Text 72"/>
          <p:cNvSpPr txBox="1"/>
          <p:nvPr/>
        </p:nvSpPr>
        <p:spPr>
          <a:xfrm>
            <a:off x="8604035" y="2127197"/>
            <a:ext cx="501637"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75" name="Shape 73"/>
          <p:cNvSpPr/>
          <p:nvPr/>
        </p:nvSpPr>
        <p:spPr>
          <a:xfrm>
            <a:off x="3098723" y="3714657"/>
            <a:ext cx="476238" cy="63"/>
          </a:xfrm>
          <a:prstGeom prst="line">
            <a:avLst/>
          </a:prstGeom>
          <a:noFill/>
          <a:ln w="19050">
            <a:solidFill>
              <a:srgbClr val="5C6B8A"/>
            </a:solidFill>
            <a:prstDash val="dash"/>
          </a:ln>
        </p:spPr>
      </p:sp>
      <p:sp>
        <p:nvSpPr>
          <p:cNvPr id="76" name="Text 74"/>
          <p:cNvSpPr txBox="1"/>
          <p:nvPr/>
        </p:nvSpPr>
        <p:spPr>
          <a:xfrm>
            <a:off x="3086023" y="3460663"/>
            <a:ext cx="501637"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N : 1</a:t>
            </a:r>
            <a:endParaRPr lang="en-US" sz="1200" dirty="0"/>
          </a:p>
        </p:txBody>
      </p:sp>
      <p:sp>
        <p:nvSpPr>
          <p:cNvPr id="77" name="Shape 75"/>
          <p:cNvSpPr/>
          <p:nvPr/>
        </p:nvSpPr>
        <p:spPr>
          <a:xfrm>
            <a:off x="5860903" y="3714657"/>
            <a:ext cx="469888" cy="63"/>
          </a:xfrm>
          <a:prstGeom prst="line">
            <a:avLst/>
          </a:prstGeom>
          <a:noFill/>
          <a:ln w="19050">
            <a:solidFill>
              <a:srgbClr val="5C6B8A"/>
            </a:solidFill>
            <a:prstDash val="dash"/>
          </a:ln>
        </p:spPr>
      </p:sp>
      <p:sp>
        <p:nvSpPr>
          <p:cNvPr id="78" name="Text 76"/>
          <p:cNvSpPr txBox="1"/>
          <p:nvPr/>
        </p:nvSpPr>
        <p:spPr>
          <a:xfrm>
            <a:off x="5848204" y="3460663"/>
            <a:ext cx="495288"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79" name="Shape 77"/>
          <p:cNvSpPr/>
          <p:nvPr/>
        </p:nvSpPr>
        <p:spPr>
          <a:xfrm>
            <a:off x="8616735" y="3714657"/>
            <a:ext cx="476238" cy="63"/>
          </a:xfrm>
          <a:prstGeom prst="line">
            <a:avLst/>
          </a:prstGeom>
          <a:noFill/>
          <a:ln w="19050">
            <a:solidFill>
              <a:srgbClr val="5C6B8A"/>
            </a:solidFill>
            <a:prstDash val="solid"/>
          </a:ln>
        </p:spPr>
      </p:sp>
      <p:sp>
        <p:nvSpPr>
          <p:cNvPr id="80" name="Text 78"/>
          <p:cNvSpPr txBox="1"/>
          <p:nvPr/>
        </p:nvSpPr>
        <p:spPr>
          <a:xfrm>
            <a:off x="8604035" y="3460663"/>
            <a:ext cx="501637" cy="213355"/>
          </a:xfrm>
          <a:prstGeom prst="rect">
            <a:avLst/>
          </a:prstGeom>
          <a:noFill/>
          <a:ln/>
        </p:spPr>
        <p:txBody>
          <a:bodyPr wrap="square" lIns="0" tIns="0" rIns="0" bIns="0" rtlCol="0" anchor="t"/>
          <a:lstStyle/>
          <a:p>
            <a:pPr algn="ctr"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81" name="Shape 79"/>
          <p:cNvSpPr/>
          <p:nvPr/>
        </p:nvSpPr>
        <p:spPr>
          <a:xfrm>
            <a:off x="4717932" y="2920927"/>
            <a:ext cx="63" cy="253994"/>
          </a:xfrm>
          <a:prstGeom prst="line">
            <a:avLst/>
          </a:prstGeom>
          <a:noFill/>
          <a:ln w="19050">
            <a:solidFill>
              <a:srgbClr val="5C6B8A"/>
            </a:solidFill>
            <a:prstDash val="solid"/>
          </a:ln>
        </p:spPr>
      </p:sp>
      <p:sp>
        <p:nvSpPr>
          <p:cNvPr id="82" name="Text 80"/>
          <p:cNvSpPr txBox="1"/>
          <p:nvPr/>
        </p:nvSpPr>
        <p:spPr>
          <a:xfrm>
            <a:off x="4794130" y="2939976"/>
            <a:ext cx="647684"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N : 1</a:t>
            </a:r>
            <a:endParaRPr lang="en-US" sz="1200" dirty="0"/>
          </a:p>
        </p:txBody>
      </p:sp>
      <p:sp>
        <p:nvSpPr>
          <p:cNvPr id="83" name="Shape 81"/>
          <p:cNvSpPr/>
          <p:nvPr/>
        </p:nvSpPr>
        <p:spPr>
          <a:xfrm>
            <a:off x="1955751" y="4254394"/>
            <a:ext cx="63" cy="253994"/>
          </a:xfrm>
          <a:prstGeom prst="line">
            <a:avLst/>
          </a:prstGeom>
          <a:noFill/>
          <a:ln w="19050">
            <a:solidFill>
              <a:srgbClr val="5C6B8A"/>
            </a:solidFill>
            <a:prstDash val="solid"/>
          </a:ln>
        </p:spPr>
      </p:sp>
      <p:sp>
        <p:nvSpPr>
          <p:cNvPr id="84" name="Text 82"/>
          <p:cNvSpPr txBox="1"/>
          <p:nvPr/>
        </p:nvSpPr>
        <p:spPr>
          <a:xfrm>
            <a:off x="2031949" y="4273443"/>
            <a:ext cx="647684"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1</a:t>
            </a:r>
            <a:endParaRPr lang="en-US" sz="1200" dirty="0"/>
          </a:p>
        </p:txBody>
      </p:sp>
      <p:sp>
        <p:nvSpPr>
          <p:cNvPr id="85" name="Shape 83"/>
          <p:cNvSpPr/>
          <p:nvPr/>
        </p:nvSpPr>
        <p:spPr>
          <a:xfrm>
            <a:off x="4717932" y="4254394"/>
            <a:ext cx="63" cy="253994"/>
          </a:xfrm>
          <a:prstGeom prst="line">
            <a:avLst/>
          </a:prstGeom>
          <a:noFill/>
          <a:ln w="19050">
            <a:solidFill>
              <a:srgbClr val="5C6B8A"/>
            </a:solidFill>
            <a:prstDash val="dash"/>
          </a:ln>
        </p:spPr>
      </p:sp>
      <p:sp>
        <p:nvSpPr>
          <p:cNvPr id="86" name="Text 84"/>
          <p:cNvSpPr txBox="1"/>
          <p:nvPr/>
        </p:nvSpPr>
        <p:spPr>
          <a:xfrm>
            <a:off x="4794130" y="4273443"/>
            <a:ext cx="647684"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N</a:t>
            </a:r>
            <a:endParaRPr lang="en-US" sz="1200" dirty="0"/>
          </a:p>
        </p:txBody>
      </p:sp>
      <p:sp>
        <p:nvSpPr>
          <p:cNvPr id="87" name="Shape 85"/>
          <p:cNvSpPr/>
          <p:nvPr/>
        </p:nvSpPr>
        <p:spPr>
          <a:xfrm>
            <a:off x="7473763" y="4254394"/>
            <a:ext cx="63" cy="253994"/>
          </a:xfrm>
          <a:prstGeom prst="line">
            <a:avLst/>
          </a:prstGeom>
          <a:noFill/>
          <a:ln w="19050">
            <a:solidFill>
              <a:srgbClr val="5C6B8A"/>
            </a:solidFill>
            <a:prstDash val="dash"/>
          </a:ln>
        </p:spPr>
      </p:sp>
      <p:sp>
        <p:nvSpPr>
          <p:cNvPr id="88" name="Text 86"/>
          <p:cNvSpPr txBox="1"/>
          <p:nvPr/>
        </p:nvSpPr>
        <p:spPr>
          <a:xfrm>
            <a:off x="7549961" y="4273443"/>
            <a:ext cx="647684"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1 : 1</a:t>
            </a:r>
            <a:endParaRPr lang="en-US" sz="1200" dirty="0"/>
          </a:p>
        </p:txBody>
      </p:sp>
      <p:sp>
        <p:nvSpPr>
          <p:cNvPr id="89" name="Text 87"/>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Data model</a:t>
            </a:r>
            <a:endParaRPr lang="en-US" sz="1200" dirty="0"/>
          </a:p>
        </p:txBody>
      </p:sp>
      <p:sp>
        <p:nvSpPr>
          <p:cNvPr id="90" name="Text 88"/>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WHERE STATE LIVES</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Postgres keeps records; Redis keeps moments</a:t>
            </a:r>
            <a:endParaRPr lang="en-US" sz="3000" dirty="0"/>
          </a:p>
        </p:txBody>
      </p:sp>
      <p:sp>
        <p:nvSpPr>
          <p:cNvPr id="4" name="Shape 2"/>
          <p:cNvSpPr/>
          <p:nvPr/>
        </p:nvSpPr>
        <p:spPr>
          <a:xfrm>
            <a:off x="812780" y="1775376"/>
            <a:ext cx="3181767" cy="3259453"/>
          </a:xfrm>
          <a:prstGeom prst="roundRect">
            <a:avLst>
              <a:gd name="adj" fmla="val 3193"/>
            </a:avLst>
          </a:prstGeom>
          <a:solidFill>
            <a:srgbClr val="FCFDFF"/>
          </a:solidFill>
          <a:ln w="6350">
            <a:solidFill>
              <a:srgbClr val="D5DEEC"/>
            </a:solidFill>
            <a:prstDash val="solid"/>
          </a:ln>
        </p:spPr>
      </p:sp>
      <p:sp>
        <p:nvSpPr>
          <p:cNvPr id="5" name="Shape 3"/>
          <p:cNvSpPr/>
          <p:nvPr/>
        </p:nvSpPr>
        <p:spPr>
          <a:xfrm>
            <a:off x="812780" y="1775376"/>
            <a:ext cx="3181767" cy="50799"/>
          </a:xfrm>
          <a:prstGeom prst="roundRect">
            <a:avLst>
              <a:gd name="adj" fmla="val 50000"/>
            </a:avLst>
          </a:prstGeom>
          <a:solidFill>
            <a:srgbClr val="2F5C9A"/>
          </a:solidFill>
          <a:ln/>
        </p:spPr>
      </p:sp>
      <p:sp>
        <p:nvSpPr>
          <p:cNvPr id="6" name="Shape 4"/>
          <p:cNvSpPr/>
          <p:nvPr/>
        </p:nvSpPr>
        <p:spPr>
          <a:xfrm>
            <a:off x="971526" y="1978571"/>
            <a:ext cx="330192" cy="330192"/>
          </a:xfrm>
          <a:prstGeom prst="ellipse">
            <a:avLst/>
          </a:prstGeom>
          <a:solidFill>
            <a:srgbClr val="E2EAF6"/>
          </a:solidFill>
          <a:ln/>
        </p:spPr>
      </p:sp>
      <p:pic>
        <p:nvPicPr>
          <p:cNvPr id="7" name="Image 0" descr="preencoded.png">    </p:cNvPr>
          <p:cNvPicPr>
            <a:picLocks noChangeAspect="1"/>
          </p:cNvPicPr>
          <p:nvPr/>
        </p:nvPicPr>
        <p:blipFill>
          <a:blip r:embed="rId1"/>
          <a:stretch>
            <a:fillRect/>
          </a:stretch>
        </p:blipFill>
        <p:spPr>
          <a:xfrm>
            <a:off x="1047724" y="2054769"/>
            <a:ext cx="177796" cy="177796"/>
          </a:xfrm>
          <a:prstGeom prst="rect">
            <a:avLst/>
          </a:prstGeom>
        </p:spPr>
      </p:pic>
      <p:sp>
        <p:nvSpPr>
          <p:cNvPr id="8" name="Text 5"/>
          <p:cNvSpPr txBox="1"/>
          <p:nvPr/>
        </p:nvSpPr>
        <p:spPr>
          <a:xfrm>
            <a:off x="1390615" y="2029370"/>
            <a:ext cx="1111667"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PostgreSQL</a:t>
            </a:r>
            <a:endParaRPr lang="en-US" sz="1500" dirty="0"/>
          </a:p>
        </p:txBody>
      </p:sp>
      <p:sp>
        <p:nvSpPr>
          <p:cNvPr id="9" name="Shape 6"/>
          <p:cNvSpPr/>
          <p:nvPr/>
        </p:nvSpPr>
        <p:spPr>
          <a:xfrm>
            <a:off x="971526" y="2397660"/>
            <a:ext cx="543606" cy="299633"/>
          </a:xfrm>
          <a:prstGeom prst="roundRect">
            <a:avLst>
              <a:gd name="adj" fmla="val 21192"/>
            </a:avLst>
          </a:prstGeom>
          <a:solidFill>
            <a:srgbClr val="E2EAF6"/>
          </a:solidFill>
          <a:ln/>
        </p:spPr>
      </p:sp>
      <p:sp>
        <p:nvSpPr>
          <p:cNvPr id="10" name="Text 7"/>
          <p:cNvSpPr txBox="1"/>
          <p:nvPr/>
        </p:nvSpPr>
        <p:spPr>
          <a:xfrm>
            <a:off x="1060423" y="2448459"/>
            <a:ext cx="442008"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auth</a:t>
            </a:r>
            <a:endParaRPr lang="en-US" sz="1200" dirty="0"/>
          </a:p>
        </p:txBody>
      </p:sp>
      <p:sp>
        <p:nvSpPr>
          <p:cNvPr id="11" name="Shape 8"/>
          <p:cNvSpPr/>
          <p:nvPr/>
        </p:nvSpPr>
        <p:spPr>
          <a:xfrm>
            <a:off x="1578630" y="2397660"/>
            <a:ext cx="909416" cy="299633"/>
          </a:xfrm>
          <a:prstGeom prst="roundRect">
            <a:avLst>
              <a:gd name="adj" fmla="val 21192"/>
            </a:avLst>
          </a:prstGeom>
          <a:solidFill>
            <a:srgbClr val="E2EAF6"/>
          </a:solidFill>
          <a:ln/>
        </p:spPr>
      </p:sp>
      <p:sp>
        <p:nvSpPr>
          <p:cNvPr id="12" name="Text 9"/>
          <p:cNvSpPr txBox="1"/>
          <p:nvPr/>
        </p:nvSpPr>
        <p:spPr>
          <a:xfrm>
            <a:off x="1667528" y="2448459"/>
            <a:ext cx="81941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customer</a:t>
            </a:r>
            <a:endParaRPr lang="en-US" sz="1200" dirty="0"/>
          </a:p>
        </p:txBody>
      </p:sp>
      <p:sp>
        <p:nvSpPr>
          <p:cNvPr id="13" name="Shape 10"/>
          <p:cNvSpPr/>
          <p:nvPr/>
        </p:nvSpPr>
        <p:spPr>
          <a:xfrm>
            <a:off x="2551545" y="2397660"/>
            <a:ext cx="909416" cy="299633"/>
          </a:xfrm>
          <a:prstGeom prst="roundRect">
            <a:avLst>
              <a:gd name="adj" fmla="val 21192"/>
            </a:avLst>
          </a:prstGeom>
          <a:solidFill>
            <a:srgbClr val="E2EAF6"/>
          </a:solidFill>
          <a:ln/>
        </p:spPr>
      </p:sp>
      <p:sp>
        <p:nvSpPr>
          <p:cNvPr id="14" name="Text 11"/>
          <p:cNvSpPr txBox="1"/>
          <p:nvPr/>
        </p:nvSpPr>
        <p:spPr>
          <a:xfrm>
            <a:off x="2640443" y="2448459"/>
            <a:ext cx="81941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provider</a:t>
            </a:r>
            <a:endParaRPr lang="en-US" sz="1200" dirty="0"/>
          </a:p>
        </p:txBody>
      </p:sp>
      <p:sp>
        <p:nvSpPr>
          <p:cNvPr id="15" name="Shape 12"/>
          <p:cNvSpPr/>
          <p:nvPr/>
        </p:nvSpPr>
        <p:spPr>
          <a:xfrm>
            <a:off x="971526" y="2760792"/>
            <a:ext cx="1275227" cy="299633"/>
          </a:xfrm>
          <a:prstGeom prst="roundRect">
            <a:avLst>
              <a:gd name="adj" fmla="val 21192"/>
            </a:avLst>
          </a:prstGeom>
          <a:solidFill>
            <a:srgbClr val="E2EAF6"/>
          </a:solidFill>
          <a:ln/>
        </p:spPr>
      </p:sp>
      <p:sp>
        <p:nvSpPr>
          <p:cNvPr id="16" name="Text 13"/>
          <p:cNvSpPr txBox="1"/>
          <p:nvPr/>
        </p:nvSpPr>
        <p:spPr>
          <a:xfrm>
            <a:off x="1060423" y="2811591"/>
            <a:ext cx="122912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verification</a:t>
            </a:r>
            <a:endParaRPr lang="en-US" sz="1200" dirty="0"/>
          </a:p>
        </p:txBody>
      </p:sp>
      <p:sp>
        <p:nvSpPr>
          <p:cNvPr id="17" name="Shape 14"/>
          <p:cNvSpPr/>
          <p:nvPr/>
        </p:nvSpPr>
        <p:spPr>
          <a:xfrm>
            <a:off x="2310251" y="2760792"/>
            <a:ext cx="818038" cy="299633"/>
          </a:xfrm>
          <a:prstGeom prst="roundRect">
            <a:avLst>
              <a:gd name="adj" fmla="val 21192"/>
            </a:avLst>
          </a:prstGeom>
          <a:solidFill>
            <a:srgbClr val="E2EAF6"/>
          </a:solidFill>
          <a:ln/>
        </p:spPr>
      </p:sp>
      <p:sp>
        <p:nvSpPr>
          <p:cNvPr id="18" name="Text 15"/>
          <p:cNvSpPr txBox="1"/>
          <p:nvPr/>
        </p:nvSpPr>
        <p:spPr>
          <a:xfrm>
            <a:off x="2399149" y="2811591"/>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catalog</a:t>
            </a:r>
            <a:endParaRPr lang="en-US" sz="1200" dirty="0"/>
          </a:p>
        </p:txBody>
      </p:sp>
      <p:sp>
        <p:nvSpPr>
          <p:cNvPr id="19" name="Shape 16"/>
          <p:cNvSpPr/>
          <p:nvPr/>
        </p:nvSpPr>
        <p:spPr>
          <a:xfrm>
            <a:off x="971526" y="3123923"/>
            <a:ext cx="818038" cy="299633"/>
          </a:xfrm>
          <a:prstGeom prst="roundRect">
            <a:avLst>
              <a:gd name="adj" fmla="val 21192"/>
            </a:avLst>
          </a:prstGeom>
          <a:solidFill>
            <a:srgbClr val="E2EAF6"/>
          </a:solidFill>
          <a:ln/>
        </p:spPr>
      </p:sp>
      <p:sp>
        <p:nvSpPr>
          <p:cNvPr id="20" name="Text 17"/>
          <p:cNvSpPr txBox="1"/>
          <p:nvPr/>
        </p:nvSpPr>
        <p:spPr>
          <a:xfrm>
            <a:off x="1060423" y="3174722"/>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pricing</a:t>
            </a:r>
            <a:endParaRPr lang="en-US" sz="1200" dirty="0"/>
          </a:p>
        </p:txBody>
      </p:sp>
      <p:sp>
        <p:nvSpPr>
          <p:cNvPr id="21" name="Shape 18"/>
          <p:cNvSpPr/>
          <p:nvPr/>
        </p:nvSpPr>
        <p:spPr>
          <a:xfrm>
            <a:off x="1853062" y="3123923"/>
            <a:ext cx="1000894" cy="299633"/>
          </a:xfrm>
          <a:prstGeom prst="roundRect">
            <a:avLst>
              <a:gd name="adj" fmla="val 21192"/>
            </a:avLst>
          </a:prstGeom>
          <a:solidFill>
            <a:srgbClr val="E2EAF6"/>
          </a:solidFill>
          <a:ln/>
        </p:spPr>
      </p:sp>
      <p:sp>
        <p:nvSpPr>
          <p:cNvPr id="22" name="Text 19"/>
          <p:cNvSpPr txBox="1"/>
          <p:nvPr/>
        </p:nvSpPr>
        <p:spPr>
          <a:xfrm>
            <a:off x="1941960" y="3174722"/>
            <a:ext cx="921870"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promotion</a:t>
            </a:r>
            <a:endParaRPr lang="en-US" sz="1200" dirty="0"/>
          </a:p>
        </p:txBody>
      </p:sp>
      <p:sp>
        <p:nvSpPr>
          <p:cNvPr id="23" name="Shape 20"/>
          <p:cNvSpPr/>
          <p:nvPr/>
        </p:nvSpPr>
        <p:spPr>
          <a:xfrm>
            <a:off x="2917454" y="3123923"/>
            <a:ext cx="818038" cy="299633"/>
          </a:xfrm>
          <a:prstGeom prst="roundRect">
            <a:avLst>
              <a:gd name="adj" fmla="val 21192"/>
            </a:avLst>
          </a:prstGeom>
          <a:solidFill>
            <a:srgbClr val="E2EAF6"/>
          </a:solidFill>
          <a:ln/>
        </p:spPr>
      </p:sp>
      <p:sp>
        <p:nvSpPr>
          <p:cNvPr id="24" name="Text 21"/>
          <p:cNvSpPr txBox="1"/>
          <p:nvPr/>
        </p:nvSpPr>
        <p:spPr>
          <a:xfrm>
            <a:off x="3006352" y="3174722"/>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booking</a:t>
            </a:r>
            <a:endParaRPr lang="en-US" sz="1200" dirty="0"/>
          </a:p>
        </p:txBody>
      </p:sp>
      <p:sp>
        <p:nvSpPr>
          <p:cNvPr id="25" name="Shape 22"/>
          <p:cNvSpPr/>
          <p:nvPr/>
        </p:nvSpPr>
        <p:spPr>
          <a:xfrm>
            <a:off x="971526" y="3487055"/>
            <a:ext cx="909416" cy="299633"/>
          </a:xfrm>
          <a:prstGeom prst="roundRect">
            <a:avLst>
              <a:gd name="adj" fmla="val 21192"/>
            </a:avLst>
          </a:prstGeom>
          <a:solidFill>
            <a:srgbClr val="E2EAF6"/>
          </a:solidFill>
          <a:ln/>
        </p:spPr>
      </p:sp>
      <p:sp>
        <p:nvSpPr>
          <p:cNvPr id="26" name="Text 23"/>
          <p:cNvSpPr txBox="1"/>
          <p:nvPr/>
        </p:nvSpPr>
        <p:spPr>
          <a:xfrm>
            <a:off x="1060423" y="3537854"/>
            <a:ext cx="81941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dispatch</a:t>
            </a:r>
            <a:endParaRPr lang="en-US" sz="1200" dirty="0"/>
          </a:p>
        </p:txBody>
      </p:sp>
      <p:sp>
        <p:nvSpPr>
          <p:cNvPr id="27" name="Shape 24"/>
          <p:cNvSpPr/>
          <p:nvPr/>
        </p:nvSpPr>
        <p:spPr>
          <a:xfrm>
            <a:off x="1944440" y="3487055"/>
            <a:ext cx="909416" cy="299633"/>
          </a:xfrm>
          <a:prstGeom prst="roundRect">
            <a:avLst>
              <a:gd name="adj" fmla="val 21192"/>
            </a:avLst>
          </a:prstGeom>
          <a:solidFill>
            <a:srgbClr val="E2EAF6"/>
          </a:solidFill>
          <a:ln/>
        </p:spPr>
      </p:sp>
      <p:sp>
        <p:nvSpPr>
          <p:cNvPr id="28" name="Text 25"/>
          <p:cNvSpPr txBox="1"/>
          <p:nvPr/>
        </p:nvSpPr>
        <p:spPr>
          <a:xfrm>
            <a:off x="2033338" y="3537854"/>
            <a:ext cx="81941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location</a:t>
            </a:r>
            <a:endParaRPr lang="en-US" sz="1200" dirty="0"/>
          </a:p>
        </p:txBody>
      </p:sp>
      <p:sp>
        <p:nvSpPr>
          <p:cNvPr id="29" name="Shape 26"/>
          <p:cNvSpPr/>
          <p:nvPr/>
        </p:nvSpPr>
        <p:spPr>
          <a:xfrm>
            <a:off x="2917355" y="3487055"/>
            <a:ext cx="818038" cy="299633"/>
          </a:xfrm>
          <a:prstGeom prst="roundRect">
            <a:avLst>
              <a:gd name="adj" fmla="val 21192"/>
            </a:avLst>
          </a:prstGeom>
          <a:solidFill>
            <a:srgbClr val="E2EAF6"/>
          </a:solidFill>
          <a:ln/>
        </p:spPr>
      </p:sp>
      <p:sp>
        <p:nvSpPr>
          <p:cNvPr id="30" name="Text 27"/>
          <p:cNvSpPr txBox="1"/>
          <p:nvPr/>
        </p:nvSpPr>
        <p:spPr>
          <a:xfrm>
            <a:off x="3006253" y="3537854"/>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payment</a:t>
            </a:r>
            <a:endParaRPr lang="en-US" sz="1200" dirty="0"/>
          </a:p>
        </p:txBody>
      </p:sp>
      <p:sp>
        <p:nvSpPr>
          <p:cNvPr id="31" name="Shape 28"/>
          <p:cNvSpPr/>
          <p:nvPr/>
        </p:nvSpPr>
        <p:spPr>
          <a:xfrm>
            <a:off x="971526" y="3850187"/>
            <a:ext cx="818038" cy="299633"/>
          </a:xfrm>
          <a:prstGeom prst="roundRect">
            <a:avLst>
              <a:gd name="adj" fmla="val 21192"/>
            </a:avLst>
          </a:prstGeom>
          <a:solidFill>
            <a:srgbClr val="E2EAF6"/>
          </a:solidFill>
          <a:ln/>
        </p:spPr>
      </p:sp>
      <p:sp>
        <p:nvSpPr>
          <p:cNvPr id="32" name="Text 29"/>
          <p:cNvSpPr txBox="1"/>
          <p:nvPr/>
        </p:nvSpPr>
        <p:spPr>
          <a:xfrm>
            <a:off x="1060423" y="3900985"/>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invoice</a:t>
            </a:r>
            <a:endParaRPr lang="en-US" sz="1200" dirty="0"/>
          </a:p>
        </p:txBody>
      </p:sp>
      <p:sp>
        <p:nvSpPr>
          <p:cNvPr id="33" name="Shape 30"/>
          <p:cNvSpPr/>
          <p:nvPr/>
        </p:nvSpPr>
        <p:spPr>
          <a:xfrm>
            <a:off x="1853062" y="3850187"/>
            <a:ext cx="1275227" cy="299633"/>
          </a:xfrm>
          <a:prstGeom prst="roundRect">
            <a:avLst>
              <a:gd name="adj" fmla="val 21192"/>
            </a:avLst>
          </a:prstGeom>
          <a:solidFill>
            <a:srgbClr val="E2EAF6"/>
          </a:solidFill>
          <a:ln/>
        </p:spPr>
      </p:sp>
      <p:sp>
        <p:nvSpPr>
          <p:cNvPr id="34" name="Text 31"/>
          <p:cNvSpPr txBox="1"/>
          <p:nvPr/>
        </p:nvSpPr>
        <p:spPr>
          <a:xfrm>
            <a:off x="1941960" y="3900985"/>
            <a:ext cx="122912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notification</a:t>
            </a:r>
            <a:endParaRPr lang="en-US" sz="1200" dirty="0"/>
          </a:p>
        </p:txBody>
      </p:sp>
      <p:sp>
        <p:nvSpPr>
          <p:cNvPr id="35" name="Shape 32"/>
          <p:cNvSpPr/>
          <p:nvPr/>
        </p:nvSpPr>
        <p:spPr>
          <a:xfrm>
            <a:off x="971526" y="4213318"/>
            <a:ext cx="1000894" cy="299633"/>
          </a:xfrm>
          <a:prstGeom prst="roundRect">
            <a:avLst>
              <a:gd name="adj" fmla="val 21192"/>
            </a:avLst>
          </a:prstGeom>
          <a:solidFill>
            <a:srgbClr val="E2EAF6"/>
          </a:solidFill>
          <a:ln/>
        </p:spPr>
      </p:sp>
      <p:sp>
        <p:nvSpPr>
          <p:cNvPr id="36" name="Text 33"/>
          <p:cNvSpPr txBox="1"/>
          <p:nvPr/>
        </p:nvSpPr>
        <p:spPr>
          <a:xfrm>
            <a:off x="1060423" y="4264117"/>
            <a:ext cx="921870"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complaint</a:t>
            </a:r>
            <a:endParaRPr lang="en-US" sz="1200" dirty="0"/>
          </a:p>
        </p:txBody>
      </p:sp>
      <p:sp>
        <p:nvSpPr>
          <p:cNvPr id="37" name="Shape 34"/>
          <p:cNvSpPr/>
          <p:nvPr/>
        </p:nvSpPr>
        <p:spPr>
          <a:xfrm>
            <a:off x="2035918" y="4213318"/>
            <a:ext cx="543606" cy="299633"/>
          </a:xfrm>
          <a:prstGeom prst="roundRect">
            <a:avLst>
              <a:gd name="adj" fmla="val 21192"/>
            </a:avLst>
          </a:prstGeom>
          <a:solidFill>
            <a:srgbClr val="E2EAF6"/>
          </a:solidFill>
          <a:ln/>
        </p:spPr>
      </p:sp>
      <p:sp>
        <p:nvSpPr>
          <p:cNvPr id="38" name="Text 35"/>
          <p:cNvSpPr txBox="1"/>
          <p:nvPr/>
        </p:nvSpPr>
        <p:spPr>
          <a:xfrm>
            <a:off x="2124816" y="4264117"/>
            <a:ext cx="442008"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chat</a:t>
            </a:r>
            <a:endParaRPr lang="en-US" sz="1200" dirty="0"/>
          </a:p>
        </p:txBody>
      </p:sp>
      <p:sp>
        <p:nvSpPr>
          <p:cNvPr id="39" name="Shape 36"/>
          <p:cNvSpPr/>
          <p:nvPr/>
        </p:nvSpPr>
        <p:spPr>
          <a:xfrm>
            <a:off x="2643022" y="4213318"/>
            <a:ext cx="726561" cy="299633"/>
          </a:xfrm>
          <a:prstGeom prst="roundRect">
            <a:avLst>
              <a:gd name="adj" fmla="val 21192"/>
            </a:avLst>
          </a:prstGeom>
          <a:solidFill>
            <a:srgbClr val="E2EAF6"/>
          </a:solidFill>
          <a:ln/>
        </p:spPr>
      </p:sp>
      <p:sp>
        <p:nvSpPr>
          <p:cNvPr id="40" name="Text 37"/>
          <p:cNvSpPr txBox="1"/>
          <p:nvPr/>
        </p:nvSpPr>
        <p:spPr>
          <a:xfrm>
            <a:off x="2731920" y="4264117"/>
            <a:ext cx="62496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rating</a:t>
            </a:r>
            <a:endParaRPr lang="en-US" sz="1200" dirty="0"/>
          </a:p>
        </p:txBody>
      </p:sp>
      <p:sp>
        <p:nvSpPr>
          <p:cNvPr id="41" name="Shape 38"/>
          <p:cNvSpPr/>
          <p:nvPr/>
        </p:nvSpPr>
        <p:spPr>
          <a:xfrm>
            <a:off x="971526" y="4576450"/>
            <a:ext cx="635083" cy="299633"/>
          </a:xfrm>
          <a:prstGeom prst="roundRect">
            <a:avLst>
              <a:gd name="adj" fmla="val 21192"/>
            </a:avLst>
          </a:prstGeom>
          <a:solidFill>
            <a:srgbClr val="E2EAF6"/>
          </a:solidFill>
          <a:ln/>
        </p:spPr>
      </p:sp>
      <p:sp>
        <p:nvSpPr>
          <p:cNvPr id="42" name="Text 39"/>
          <p:cNvSpPr txBox="1"/>
          <p:nvPr/>
        </p:nvSpPr>
        <p:spPr>
          <a:xfrm>
            <a:off x="1060423" y="4627248"/>
            <a:ext cx="53348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admin</a:t>
            </a:r>
            <a:endParaRPr lang="en-US" sz="1200" dirty="0"/>
          </a:p>
        </p:txBody>
      </p:sp>
      <p:sp>
        <p:nvSpPr>
          <p:cNvPr id="43" name="Shape 40"/>
          <p:cNvSpPr/>
          <p:nvPr/>
        </p:nvSpPr>
        <p:spPr>
          <a:xfrm>
            <a:off x="1670107" y="4576450"/>
            <a:ext cx="726561" cy="299633"/>
          </a:xfrm>
          <a:prstGeom prst="roundRect">
            <a:avLst>
              <a:gd name="adj" fmla="val 21192"/>
            </a:avLst>
          </a:prstGeom>
          <a:solidFill>
            <a:srgbClr val="E2EAF6"/>
          </a:solidFill>
          <a:ln/>
        </p:spPr>
      </p:sp>
      <p:sp>
        <p:nvSpPr>
          <p:cNvPr id="44" name="Text 41"/>
          <p:cNvSpPr txBox="1"/>
          <p:nvPr/>
        </p:nvSpPr>
        <p:spPr>
          <a:xfrm>
            <a:off x="1759005" y="4627248"/>
            <a:ext cx="62496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outbox</a:t>
            </a:r>
            <a:endParaRPr lang="en-US" sz="1200" dirty="0"/>
          </a:p>
        </p:txBody>
      </p:sp>
      <p:sp>
        <p:nvSpPr>
          <p:cNvPr id="45" name="Shape 42"/>
          <p:cNvSpPr/>
          <p:nvPr/>
        </p:nvSpPr>
        <p:spPr>
          <a:xfrm>
            <a:off x="4146942" y="1775376"/>
            <a:ext cx="3897810" cy="3259453"/>
          </a:xfrm>
          <a:prstGeom prst="roundRect">
            <a:avLst>
              <a:gd name="adj" fmla="val 3117"/>
            </a:avLst>
          </a:prstGeom>
          <a:solidFill>
            <a:srgbClr val="FCFDFF"/>
          </a:solidFill>
          <a:ln w="6350">
            <a:solidFill>
              <a:srgbClr val="D5DEEC"/>
            </a:solidFill>
            <a:prstDash val="solid"/>
          </a:ln>
        </p:spPr>
      </p:sp>
      <p:sp>
        <p:nvSpPr>
          <p:cNvPr id="46" name="Shape 43"/>
          <p:cNvSpPr/>
          <p:nvPr/>
        </p:nvSpPr>
        <p:spPr>
          <a:xfrm>
            <a:off x="4146942" y="1775376"/>
            <a:ext cx="3897810" cy="50799"/>
          </a:xfrm>
          <a:prstGeom prst="roundRect">
            <a:avLst>
              <a:gd name="adj" fmla="val 50000"/>
            </a:avLst>
          </a:prstGeom>
          <a:solidFill>
            <a:srgbClr val="C0352B"/>
          </a:solidFill>
          <a:ln/>
        </p:spPr>
      </p:sp>
      <p:sp>
        <p:nvSpPr>
          <p:cNvPr id="47" name="Shape 44"/>
          <p:cNvSpPr/>
          <p:nvPr/>
        </p:nvSpPr>
        <p:spPr>
          <a:xfrm>
            <a:off x="4305688" y="1978571"/>
            <a:ext cx="330192" cy="330192"/>
          </a:xfrm>
          <a:prstGeom prst="ellipse">
            <a:avLst/>
          </a:prstGeom>
          <a:solidFill>
            <a:srgbClr val="FBE4E2"/>
          </a:solidFill>
          <a:ln/>
        </p:spPr>
      </p:sp>
      <p:pic>
        <p:nvPicPr>
          <p:cNvPr id="48" name="Image 1" descr="preencoded.png">    </p:cNvPr>
          <p:cNvPicPr>
            <a:picLocks noChangeAspect="1"/>
          </p:cNvPicPr>
          <p:nvPr/>
        </p:nvPicPr>
        <p:blipFill>
          <a:blip r:embed="rId2"/>
          <a:stretch>
            <a:fillRect/>
          </a:stretch>
        </p:blipFill>
        <p:spPr>
          <a:xfrm>
            <a:off x="4381887" y="2054769"/>
            <a:ext cx="177796" cy="177796"/>
          </a:xfrm>
          <a:prstGeom prst="rect">
            <a:avLst/>
          </a:prstGeom>
        </p:spPr>
      </p:pic>
      <p:sp>
        <p:nvSpPr>
          <p:cNvPr id="49" name="Text 45"/>
          <p:cNvSpPr txBox="1"/>
          <p:nvPr/>
        </p:nvSpPr>
        <p:spPr>
          <a:xfrm>
            <a:off x="4724778" y="2029370"/>
            <a:ext cx="551543"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Redis</a:t>
            </a:r>
            <a:endParaRPr lang="en-US" sz="1500" dirty="0"/>
          </a:p>
        </p:txBody>
      </p:sp>
      <p:sp>
        <p:nvSpPr>
          <p:cNvPr id="50" name="Text 46"/>
          <p:cNvSpPr txBox="1"/>
          <p:nvPr/>
        </p:nvSpPr>
        <p:spPr>
          <a:xfrm>
            <a:off x="4305688" y="2397660"/>
            <a:ext cx="400995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ourier New" pitchFamily="34" charset="0"/>
                <a:ea typeface="Courier New" pitchFamily="34" charset="-122"/>
                <a:cs typeface="Courier New" pitchFamily="34" charset="-120"/>
              </a:rPr>
              <a:t>auth:otp:session:{phone}</a:t>
            </a:r>
            <a:endParaRPr lang="en-US" sz="1200" dirty="0"/>
          </a:p>
        </p:txBody>
      </p:sp>
      <p:sp>
        <p:nvSpPr>
          <p:cNvPr id="51" name="Text 47"/>
          <p:cNvSpPr txBox="1"/>
          <p:nvPr/>
        </p:nvSpPr>
        <p:spPr>
          <a:xfrm>
            <a:off x="4305688" y="2641435"/>
            <a:ext cx="400995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ourier New" pitchFamily="34" charset="0"/>
                <a:ea typeface="Courier New" pitchFamily="34" charset="-122"/>
                <a:cs typeface="Courier New" pitchFamily="34" charset="-120"/>
              </a:rPr>
              <a:t>auth:refresh:{sha256}</a:t>
            </a:r>
            <a:endParaRPr lang="en-US" sz="1200" dirty="0"/>
          </a:p>
        </p:txBody>
      </p:sp>
      <p:sp>
        <p:nvSpPr>
          <p:cNvPr id="52" name="Text 48"/>
          <p:cNvSpPr txBox="1"/>
          <p:nvPr/>
        </p:nvSpPr>
        <p:spPr>
          <a:xfrm>
            <a:off x="4305688" y="2885209"/>
            <a:ext cx="400995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ourier New" pitchFamily="34" charset="0"/>
                <a:ea typeface="Courier New" pitchFamily="34" charset="-122"/>
                <a:cs typeface="Courier New" pitchFamily="34" charset="-120"/>
              </a:rPr>
              <a:t>dispatch:offer:booking:{id}</a:t>
            </a:r>
            <a:endParaRPr lang="en-US" sz="1200" dirty="0"/>
          </a:p>
        </p:txBody>
      </p:sp>
      <p:sp>
        <p:nvSpPr>
          <p:cNvPr id="53" name="Text 49"/>
          <p:cNvSpPr txBox="1"/>
          <p:nvPr/>
        </p:nvSpPr>
        <p:spPr>
          <a:xfrm>
            <a:off x="4305688" y="3128983"/>
            <a:ext cx="400995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ourier New" pitchFamily="34" charset="0"/>
                <a:ea typeface="Courier New" pitchFamily="34" charset="-122"/>
                <a:cs typeface="Courier New" pitchFamily="34" charset="-120"/>
              </a:rPr>
              <a:t>dispatch:lock:provider:{id}</a:t>
            </a:r>
            <a:endParaRPr lang="en-US" sz="1200" dirty="0"/>
          </a:p>
        </p:txBody>
      </p:sp>
      <p:sp>
        <p:nvSpPr>
          <p:cNvPr id="54" name="Text 50"/>
          <p:cNvSpPr txBox="1"/>
          <p:nvPr/>
        </p:nvSpPr>
        <p:spPr>
          <a:xfrm>
            <a:off x="4305688" y="3372758"/>
            <a:ext cx="400995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ourier New" pitchFamily="34" charset="0"/>
                <a:ea typeface="Courier New" pitchFamily="34" charset="-122"/>
                <a:cs typeface="Courier New" pitchFamily="34" charset="-120"/>
              </a:rPr>
              <a:t>location:latest:{providerId}</a:t>
            </a:r>
            <a:endParaRPr lang="en-US" sz="1200" dirty="0"/>
          </a:p>
        </p:txBody>
      </p:sp>
      <p:sp>
        <p:nvSpPr>
          <p:cNvPr id="55" name="Text 51"/>
          <p:cNvSpPr txBox="1"/>
          <p:nvPr/>
        </p:nvSpPr>
        <p:spPr>
          <a:xfrm>
            <a:off x="4305688" y="3616532"/>
            <a:ext cx="400995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ourier New" pitchFamily="34" charset="0"/>
                <a:ea typeface="Courier New" pitchFamily="34" charset="-122"/>
                <a:cs typeface="Courier New" pitchFamily="34" charset="-120"/>
              </a:rPr>
              <a:t>payment:idem:{key}</a:t>
            </a:r>
            <a:endParaRPr lang="en-US" sz="1200" dirty="0"/>
          </a:p>
        </p:txBody>
      </p:sp>
      <p:sp>
        <p:nvSpPr>
          <p:cNvPr id="56" name="Text 52"/>
          <p:cNvSpPr txBox="1"/>
          <p:nvPr/>
        </p:nvSpPr>
        <p:spPr>
          <a:xfrm>
            <a:off x="4305688" y="3860307"/>
            <a:ext cx="400995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ourier New" pitchFamily="34" charset="0"/>
                <a:ea typeface="Courier New" pitchFamily="34" charset="-122"/>
                <a:cs typeface="Courier New" pitchFamily="34" charset="-120"/>
              </a:rPr>
              <a:t>gw:ratelimit:user:{sub}</a:t>
            </a:r>
            <a:endParaRPr lang="en-US" sz="1200" dirty="0"/>
          </a:p>
        </p:txBody>
      </p:sp>
      <p:sp>
        <p:nvSpPr>
          <p:cNvPr id="57" name="Shape 53"/>
          <p:cNvSpPr/>
          <p:nvPr/>
        </p:nvSpPr>
        <p:spPr>
          <a:xfrm>
            <a:off x="8197149" y="1775376"/>
            <a:ext cx="3181767" cy="3259453"/>
          </a:xfrm>
          <a:prstGeom prst="roundRect">
            <a:avLst>
              <a:gd name="adj" fmla="val 3193"/>
            </a:avLst>
          </a:prstGeom>
          <a:solidFill>
            <a:srgbClr val="FCFDFF"/>
          </a:solidFill>
          <a:ln w="6350">
            <a:solidFill>
              <a:srgbClr val="D5DEEC"/>
            </a:solidFill>
            <a:prstDash val="solid"/>
          </a:ln>
        </p:spPr>
      </p:sp>
      <p:sp>
        <p:nvSpPr>
          <p:cNvPr id="58" name="Shape 54"/>
          <p:cNvSpPr/>
          <p:nvPr/>
        </p:nvSpPr>
        <p:spPr>
          <a:xfrm>
            <a:off x="8197149" y="1775376"/>
            <a:ext cx="3181767" cy="50799"/>
          </a:xfrm>
          <a:prstGeom prst="roundRect">
            <a:avLst>
              <a:gd name="adj" fmla="val 50000"/>
            </a:avLst>
          </a:prstGeom>
          <a:solidFill>
            <a:srgbClr val="4B4B9A"/>
          </a:solidFill>
          <a:ln/>
        </p:spPr>
      </p:sp>
      <p:sp>
        <p:nvSpPr>
          <p:cNvPr id="59" name="Shape 55"/>
          <p:cNvSpPr/>
          <p:nvPr/>
        </p:nvSpPr>
        <p:spPr>
          <a:xfrm>
            <a:off x="8355895" y="1978571"/>
            <a:ext cx="330192" cy="330192"/>
          </a:xfrm>
          <a:prstGeom prst="ellipse">
            <a:avLst/>
          </a:prstGeom>
          <a:solidFill>
            <a:srgbClr val="E7E7F6"/>
          </a:solidFill>
          <a:ln/>
        </p:spPr>
      </p:sp>
      <p:pic>
        <p:nvPicPr>
          <p:cNvPr id="60" name="Image 2" descr="preencoded.png">    </p:cNvPr>
          <p:cNvPicPr>
            <a:picLocks noChangeAspect="1"/>
          </p:cNvPicPr>
          <p:nvPr/>
        </p:nvPicPr>
        <p:blipFill>
          <a:blip r:embed="rId3"/>
          <a:stretch>
            <a:fillRect/>
          </a:stretch>
        </p:blipFill>
        <p:spPr>
          <a:xfrm>
            <a:off x="8432093" y="2054769"/>
            <a:ext cx="177796" cy="177796"/>
          </a:xfrm>
          <a:prstGeom prst="rect">
            <a:avLst/>
          </a:prstGeom>
        </p:spPr>
      </p:pic>
      <p:sp>
        <p:nvSpPr>
          <p:cNvPr id="61" name="Text 56"/>
          <p:cNvSpPr txBox="1"/>
          <p:nvPr/>
        </p:nvSpPr>
        <p:spPr>
          <a:xfrm>
            <a:off x="8774985" y="2029370"/>
            <a:ext cx="565632"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Kafka</a:t>
            </a:r>
            <a:endParaRPr lang="en-US" sz="1500" dirty="0"/>
          </a:p>
        </p:txBody>
      </p:sp>
      <p:sp>
        <p:nvSpPr>
          <p:cNvPr id="62" name="Shape 57"/>
          <p:cNvSpPr/>
          <p:nvPr/>
        </p:nvSpPr>
        <p:spPr>
          <a:xfrm>
            <a:off x="8355895" y="2397660"/>
            <a:ext cx="1270762" cy="299633"/>
          </a:xfrm>
          <a:prstGeom prst="roundRect">
            <a:avLst>
              <a:gd name="adj" fmla="val 21192"/>
            </a:avLst>
          </a:prstGeom>
          <a:solidFill>
            <a:srgbClr val="E7E7F6"/>
          </a:solidFill>
          <a:ln/>
        </p:spPr>
      </p:sp>
      <p:sp>
        <p:nvSpPr>
          <p:cNvPr id="63" name="Text 58"/>
          <p:cNvSpPr txBox="1"/>
          <p:nvPr/>
        </p:nvSpPr>
        <p:spPr>
          <a:xfrm>
            <a:off x="8444793" y="2448459"/>
            <a:ext cx="122412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BookingCreated</a:t>
            </a:r>
            <a:endParaRPr lang="en-US" sz="1200" dirty="0"/>
          </a:p>
        </p:txBody>
      </p:sp>
      <p:sp>
        <p:nvSpPr>
          <p:cNvPr id="64" name="Shape 59"/>
          <p:cNvSpPr/>
          <p:nvPr/>
        </p:nvSpPr>
        <p:spPr>
          <a:xfrm>
            <a:off x="9690155" y="2397660"/>
            <a:ext cx="1380694" cy="299633"/>
          </a:xfrm>
          <a:prstGeom prst="roundRect">
            <a:avLst>
              <a:gd name="adj" fmla="val 21192"/>
            </a:avLst>
          </a:prstGeom>
          <a:solidFill>
            <a:srgbClr val="E7E7F6"/>
          </a:solidFill>
          <a:ln/>
        </p:spPr>
      </p:sp>
      <p:sp>
        <p:nvSpPr>
          <p:cNvPr id="65" name="Text 60"/>
          <p:cNvSpPr txBox="1"/>
          <p:nvPr/>
        </p:nvSpPr>
        <p:spPr>
          <a:xfrm>
            <a:off x="9779053" y="2448459"/>
            <a:ext cx="134724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ProviderAccepted</a:t>
            </a:r>
            <a:endParaRPr lang="en-US" sz="1200" dirty="0"/>
          </a:p>
        </p:txBody>
      </p:sp>
      <p:sp>
        <p:nvSpPr>
          <p:cNvPr id="66" name="Shape 61"/>
          <p:cNvSpPr/>
          <p:nvPr/>
        </p:nvSpPr>
        <p:spPr>
          <a:xfrm>
            <a:off x="8355895" y="2760792"/>
            <a:ext cx="1346762" cy="299633"/>
          </a:xfrm>
          <a:prstGeom prst="roundRect">
            <a:avLst>
              <a:gd name="adj" fmla="val 21192"/>
            </a:avLst>
          </a:prstGeom>
          <a:solidFill>
            <a:srgbClr val="E7E7F6"/>
          </a:solidFill>
          <a:ln/>
        </p:spPr>
      </p:sp>
      <p:sp>
        <p:nvSpPr>
          <p:cNvPr id="67" name="Text 62"/>
          <p:cNvSpPr txBox="1"/>
          <p:nvPr/>
        </p:nvSpPr>
        <p:spPr>
          <a:xfrm>
            <a:off x="8444793" y="2811591"/>
            <a:ext cx="130924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ProviderRejected</a:t>
            </a:r>
            <a:endParaRPr lang="en-US" sz="1200" dirty="0"/>
          </a:p>
        </p:txBody>
      </p:sp>
      <p:sp>
        <p:nvSpPr>
          <p:cNvPr id="68" name="Shape 63"/>
          <p:cNvSpPr/>
          <p:nvPr/>
        </p:nvSpPr>
        <p:spPr>
          <a:xfrm>
            <a:off x="9766155" y="2760792"/>
            <a:ext cx="914873" cy="299633"/>
          </a:xfrm>
          <a:prstGeom prst="roundRect">
            <a:avLst>
              <a:gd name="adj" fmla="val 21192"/>
            </a:avLst>
          </a:prstGeom>
          <a:solidFill>
            <a:srgbClr val="E7E7F6"/>
          </a:solidFill>
          <a:ln/>
        </p:spPr>
      </p:sp>
      <p:sp>
        <p:nvSpPr>
          <p:cNvPr id="69" name="Text 64"/>
          <p:cNvSpPr txBox="1"/>
          <p:nvPr/>
        </p:nvSpPr>
        <p:spPr>
          <a:xfrm>
            <a:off x="9855053" y="2811591"/>
            <a:ext cx="825527"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JobStarted</a:t>
            </a:r>
            <a:endParaRPr lang="en-US" sz="1200" dirty="0"/>
          </a:p>
        </p:txBody>
      </p:sp>
      <p:sp>
        <p:nvSpPr>
          <p:cNvPr id="70" name="Shape 65"/>
          <p:cNvSpPr/>
          <p:nvPr/>
        </p:nvSpPr>
        <p:spPr>
          <a:xfrm>
            <a:off x="8355895" y="3123923"/>
            <a:ext cx="1160533" cy="299633"/>
          </a:xfrm>
          <a:prstGeom prst="roundRect">
            <a:avLst>
              <a:gd name="adj" fmla="val 21192"/>
            </a:avLst>
          </a:prstGeom>
          <a:solidFill>
            <a:srgbClr val="E7E7F6"/>
          </a:solidFill>
          <a:ln/>
        </p:spPr>
      </p:sp>
      <p:sp>
        <p:nvSpPr>
          <p:cNvPr id="71" name="Text 66"/>
          <p:cNvSpPr txBox="1"/>
          <p:nvPr/>
        </p:nvSpPr>
        <p:spPr>
          <a:xfrm>
            <a:off x="8444793" y="3174722"/>
            <a:ext cx="110066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JobCompleted</a:t>
            </a:r>
            <a:endParaRPr lang="en-US" sz="1200" dirty="0"/>
          </a:p>
        </p:txBody>
      </p:sp>
      <p:sp>
        <p:nvSpPr>
          <p:cNvPr id="72" name="Shape 67"/>
          <p:cNvSpPr/>
          <p:nvPr/>
        </p:nvSpPr>
        <p:spPr>
          <a:xfrm>
            <a:off x="9579926" y="3123923"/>
            <a:ext cx="1516223" cy="299633"/>
          </a:xfrm>
          <a:prstGeom prst="roundRect">
            <a:avLst>
              <a:gd name="adj" fmla="val 21192"/>
            </a:avLst>
          </a:prstGeom>
          <a:solidFill>
            <a:srgbClr val="E7E7F6"/>
          </a:solidFill>
          <a:ln/>
        </p:spPr>
      </p:sp>
      <p:sp>
        <p:nvSpPr>
          <p:cNvPr id="73" name="Text 68"/>
          <p:cNvSpPr txBox="1"/>
          <p:nvPr/>
        </p:nvSpPr>
        <p:spPr>
          <a:xfrm>
            <a:off x="9668824" y="3174722"/>
            <a:ext cx="1499039"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PaymentCompleted</a:t>
            </a:r>
            <a:endParaRPr lang="en-US" sz="1200" dirty="0"/>
          </a:p>
        </p:txBody>
      </p:sp>
      <p:sp>
        <p:nvSpPr>
          <p:cNvPr id="74" name="Shape 69"/>
          <p:cNvSpPr/>
          <p:nvPr/>
        </p:nvSpPr>
        <p:spPr>
          <a:xfrm>
            <a:off x="8355895" y="3487055"/>
            <a:ext cx="1406291" cy="299633"/>
          </a:xfrm>
          <a:prstGeom prst="roundRect">
            <a:avLst>
              <a:gd name="adj" fmla="val 21192"/>
            </a:avLst>
          </a:prstGeom>
          <a:solidFill>
            <a:srgbClr val="E7E7F6"/>
          </a:solidFill>
          <a:ln/>
        </p:spPr>
      </p:sp>
      <p:sp>
        <p:nvSpPr>
          <p:cNvPr id="75" name="Text 70"/>
          <p:cNvSpPr txBox="1"/>
          <p:nvPr/>
        </p:nvSpPr>
        <p:spPr>
          <a:xfrm>
            <a:off x="8444793" y="3537854"/>
            <a:ext cx="137591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BookingCancelled</a:t>
            </a:r>
            <a:endParaRPr lang="en-US" sz="1200" dirty="0"/>
          </a:p>
        </p:txBody>
      </p:sp>
      <p:sp>
        <p:nvSpPr>
          <p:cNvPr id="76" name="Shape 71"/>
          <p:cNvSpPr/>
          <p:nvPr/>
        </p:nvSpPr>
        <p:spPr>
          <a:xfrm>
            <a:off x="9825685" y="3487055"/>
            <a:ext cx="1363628" cy="299633"/>
          </a:xfrm>
          <a:prstGeom prst="roundRect">
            <a:avLst>
              <a:gd name="adj" fmla="val 21192"/>
            </a:avLst>
          </a:prstGeom>
          <a:solidFill>
            <a:srgbClr val="E7E7F6"/>
          </a:solidFill>
          <a:ln/>
        </p:spPr>
      </p:sp>
      <p:sp>
        <p:nvSpPr>
          <p:cNvPr id="77" name="Text 72"/>
          <p:cNvSpPr txBox="1"/>
          <p:nvPr/>
        </p:nvSpPr>
        <p:spPr>
          <a:xfrm>
            <a:off x="9914583" y="3537854"/>
            <a:ext cx="132813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ReviewSubmitted</a:t>
            </a:r>
            <a:endParaRPr lang="en-US" sz="1200" dirty="0"/>
          </a:p>
        </p:txBody>
      </p:sp>
      <p:sp>
        <p:nvSpPr>
          <p:cNvPr id="78" name="Shape 73"/>
          <p:cNvSpPr/>
          <p:nvPr/>
        </p:nvSpPr>
        <p:spPr>
          <a:xfrm>
            <a:off x="8355895" y="3850187"/>
            <a:ext cx="1406093" cy="299633"/>
          </a:xfrm>
          <a:prstGeom prst="roundRect">
            <a:avLst>
              <a:gd name="adj" fmla="val 21192"/>
            </a:avLst>
          </a:prstGeom>
          <a:solidFill>
            <a:srgbClr val="E7E7F6"/>
          </a:solidFill>
          <a:ln/>
        </p:spPr>
      </p:sp>
      <p:sp>
        <p:nvSpPr>
          <p:cNvPr id="79" name="Text 74"/>
          <p:cNvSpPr txBox="1"/>
          <p:nvPr/>
        </p:nvSpPr>
        <p:spPr>
          <a:xfrm>
            <a:off x="8444793" y="3900985"/>
            <a:ext cx="137569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ComplaintCreated</a:t>
            </a:r>
            <a:endParaRPr lang="en-US" sz="1200" dirty="0"/>
          </a:p>
        </p:txBody>
      </p:sp>
      <p:sp>
        <p:nvSpPr>
          <p:cNvPr id="80" name="Shape 75"/>
          <p:cNvSpPr/>
          <p:nvPr/>
        </p:nvSpPr>
        <p:spPr>
          <a:xfrm>
            <a:off x="9825486" y="3850187"/>
            <a:ext cx="783511" cy="299633"/>
          </a:xfrm>
          <a:prstGeom prst="roundRect">
            <a:avLst>
              <a:gd name="adj" fmla="val 21192"/>
            </a:avLst>
          </a:prstGeom>
          <a:solidFill>
            <a:srgbClr val="E7E7F6"/>
          </a:solidFill>
          <a:ln/>
        </p:spPr>
      </p:sp>
      <p:sp>
        <p:nvSpPr>
          <p:cNvPr id="81" name="Text 76"/>
          <p:cNvSpPr txBox="1"/>
          <p:nvPr/>
        </p:nvSpPr>
        <p:spPr>
          <a:xfrm>
            <a:off x="9914384" y="3900985"/>
            <a:ext cx="68191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+ 4 more</a:t>
            </a:r>
            <a:endParaRPr lang="en-US" sz="1200" dirty="0"/>
          </a:p>
        </p:txBody>
      </p:sp>
      <p:sp>
        <p:nvSpPr>
          <p:cNvPr id="82" name="Text 77"/>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Data model</a:t>
            </a:r>
            <a:endParaRPr lang="en-US" sz="1200" dirty="0"/>
          </a:p>
        </p:txBody>
      </p:sp>
      <p:sp>
        <p:nvSpPr>
          <p:cNvPr id="83" name="Text 78"/>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READINESS</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The happy path works; the edges are still stubs</a:t>
            </a:r>
            <a:endParaRPr lang="en-US" sz="3000" dirty="0"/>
          </a:p>
        </p:txBody>
      </p:sp>
      <p:sp>
        <p:nvSpPr>
          <p:cNvPr id="4" name="Shape 2"/>
          <p:cNvSpPr/>
          <p:nvPr/>
        </p:nvSpPr>
        <p:spPr>
          <a:xfrm>
            <a:off x="812780" y="1775376"/>
            <a:ext cx="5181470" cy="2459571"/>
          </a:xfrm>
          <a:prstGeom prst="roundRect">
            <a:avLst>
              <a:gd name="adj" fmla="val 4131"/>
            </a:avLst>
          </a:prstGeom>
          <a:solidFill>
            <a:srgbClr val="FCFDFF"/>
          </a:solidFill>
          <a:ln w="6350">
            <a:solidFill>
              <a:srgbClr val="D5DEEC"/>
            </a:solidFill>
            <a:prstDash val="solid"/>
          </a:ln>
        </p:spPr>
      </p:sp>
      <p:sp>
        <p:nvSpPr>
          <p:cNvPr id="5" name="Shape 3"/>
          <p:cNvSpPr/>
          <p:nvPr/>
        </p:nvSpPr>
        <p:spPr>
          <a:xfrm>
            <a:off x="812780" y="1775376"/>
            <a:ext cx="5181470" cy="50799"/>
          </a:xfrm>
          <a:prstGeom prst="roundRect">
            <a:avLst>
              <a:gd name="adj" fmla="val 50000"/>
            </a:avLst>
          </a:prstGeom>
          <a:solidFill>
            <a:srgbClr val="2E7D4F"/>
          </a:solidFill>
          <a:ln/>
        </p:spPr>
      </p:sp>
      <p:sp>
        <p:nvSpPr>
          <p:cNvPr id="6" name="Shape 4"/>
          <p:cNvSpPr/>
          <p:nvPr/>
        </p:nvSpPr>
        <p:spPr>
          <a:xfrm>
            <a:off x="971526" y="1978571"/>
            <a:ext cx="330192" cy="330192"/>
          </a:xfrm>
          <a:prstGeom prst="ellipse">
            <a:avLst/>
          </a:prstGeom>
          <a:solidFill>
            <a:srgbClr val="E0F2E8"/>
          </a:solidFill>
          <a:ln/>
        </p:spPr>
      </p:sp>
      <p:pic>
        <p:nvPicPr>
          <p:cNvPr id="7" name="Image 0" descr="preencoded.png">    </p:cNvPr>
          <p:cNvPicPr>
            <a:picLocks noChangeAspect="1"/>
          </p:cNvPicPr>
          <p:nvPr/>
        </p:nvPicPr>
        <p:blipFill>
          <a:blip r:embed="rId1"/>
          <a:stretch>
            <a:fillRect/>
          </a:stretch>
        </p:blipFill>
        <p:spPr>
          <a:xfrm>
            <a:off x="1047724" y="2054769"/>
            <a:ext cx="177796" cy="177796"/>
          </a:xfrm>
          <a:prstGeom prst="rect">
            <a:avLst/>
          </a:prstGeom>
        </p:spPr>
      </p:pic>
      <p:sp>
        <p:nvSpPr>
          <p:cNvPr id="8" name="Text 5"/>
          <p:cNvSpPr txBox="1"/>
          <p:nvPr/>
        </p:nvSpPr>
        <p:spPr>
          <a:xfrm>
            <a:off x="1390615" y="2029370"/>
            <a:ext cx="1748508"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Works end to end</a:t>
            </a:r>
            <a:endParaRPr lang="en-US" sz="1500" dirty="0"/>
          </a:p>
        </p:txBody>
      </p:sp>
      <p:pic>
        <p:nvPicPr>
          <p:cNvPr id="9" name="Image 1" descr="preencoded.png">    </p:cNvPr>
          <p:cNvPicPr>
            <a:picLocks noChangeAspect="1"/>
          </p:cNvPicPr>
          <p:nvPr/>
        </p:nvPicPr>
        <p:blipFill>
          <a:blip r:embed="rId2"/>
          <a:stretch>
            <a:fillRect/>
          </a:stretch>
        </p:blipFill>
        <p:spPr>
          <a:xfrm>
            <a:off x="971526" y="2405201"/>
            <a:ext cx="190495" cy="190495"/>
          </a:xfrm>
          <a:prstGeom prst="rect">
            <a:avLst/>
          </a:prstGeom>
        </p:spPr>
      </p:pic>
      <p:sp>
        <p:nvSpPr>
          <p:cNvPr id="10" name="Text 6"/>
          <p:cNvSpPr txBox="1"/>
          <p:nvPr/>
        </p:nvSpPr>
        <p:spPr>
          <a:xfrm>
            <a:off x="1250919" y="2397660"/>
            <a:ext cx="2833839"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OTP, email, Google and Apple sign-in</a:t>
            </a:r>
            <a:endParaRPr lang="en-US" sz="1200" dirty="0"/>
          </a:p>
        </p:txBody>
      </p:sp>
      <p:pic>
        <p:nvPicPr>
          <p:cNvPr id="11" name="Image 2" descr="preencoded.png">    </p:cNvPr>
          <p:cNvPicPr>
            <a:picLocks noChangeAspect="1"/>
          </p:cNvPicPr>
          <p:nvPr/>
        </p:nvPicPr>
        <p:blipFill>
          <a:blip r:embed="rId3"/>
          <a:stretch>
            <a:fillRect/>
          </a:stretch>
        </p:blipFill>
        <p:spPr>
          <a:xfrm>
            <a:off x="971526" y="2699774"/>
            <a:ext cx="190495" cy="190495"/>
          </a:xfrm>
          <a:prstGeom prst="rect">
            <a:avLst/>
          </a:prstGeom>
        </p:spPr>
      </p:pic>
      <p:sp>
        <p:nvSpPr>
          <p:cNvPr id="12" name="Text 7"/>
          <p:cNvSpPr txBox="1"/>
          <p:nvPr/>
        </p:nvSpPr>
        <p:spPr>
          <a:xfrm>
            <a:off x="1250919" y="2692233"/>
            <a:ext cx="293162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Book, dispatch, accept, start, complete</a:t>
            </a:r>
            <a:endParaRPr lang="en-US" sz="1200" dirty="0"/>
          </a:p>
        </p:txBody>
      </p:sp>
      <p:pic>
        <p:nvPicPr>
          <p:cNvPr id="13" name="Image 3" descr="preencoded.png">    </p:cNvPr>
          <p:cNvPicPr>
            <a:picLocks noChangeAspect="1"/>
          </p:cNvPicPr>
          <p:nvPr/>
        </p:nvPicPr>
        <p:blipFill>
          <a:blip r:embed="rId4"/>
          <a:stretch>
            <a:fillRect/>
          </a:stretch>
        </p:blipFill>
        <p:spPr>
          <a:xfrm>
            <a:off x="971526" y="2994347"/>
            <a:ext cx="190495" cy="190495"/>
          </a:xfrm>
          <a:prstGeom prst="rect">
            <a:avLst/>
          </a:prstGeom>
        </p:spPr>
      </p:pic>
      <p:sp>
        <p:nvSpPr>
          <p:cNvPr id="14" name="Text 8"/>
          <p:cNvSpPr txBox="1"/>
          <p:nvPr/>
        </p:nvSpPr>
        <p:spPr>
          <a:xfrm>
            <a:off x="1250919" y="2986807"/>
            <a:ext cx="2767054"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Razorpay Checkout, verify, webhook</a:t>
            </a:r>
            <a:endParaRPr lang="en-US" sz="1200" dirty="0"/>
          </a:p>
        </p:txBody>
      </p:sp>
      <p:pic>
        <p:nvPicPr>
          <p:cNvPr id="15" name="Image 4" descr="preencoded.png">    </p:cNvPr>
          <p:cNvPicPr>
            <a:picLocks noChangeAspect="1"/>
          </p:cNvPicPr>
          <p:nvPr/>
        </p:nvPicPr>
        <p:blipFill>
          <a:blip r:embed="rId5"/>
          <a:stretch>
            <a:fillRect/>
          </a:stretch>
        </p:blipFill>
        <p:spPr>
          <a:xfrm>
            <a:off x="971526" y="3288920"/>
            <a:ext cx="190495" cy="190495"/>
          </a:xfrm>
          <a:prstGeom prst="rect">
            <a:avLst/>
          </a:prstGeom>
        </p:spPr>
      </p:pic>
      <p:sp>
        <p:nvSpPr>
          <p:cNvPr id="16" name="Text 9"/>
          <p:cNvSpPr txBox="1"/>
          <p:nvPr/>
        </p:nvSpPr>
        <p:spPr>
          <a:xfrm>
            <a:off x="1250919" y="3281380"/>
            <a:ext cx="229589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Outbox to Kafka to consumers</a:t>
            </a:r>
            <a:endParaRPr lang="en-US" sz="1200" dirty="0"/>
          </a:p>
        </p:txBody>
      </p:sp>
      <p:pic>
        <p:nvPicPr>
          <p:cNvPr id="17" name="Image 5" descr="preencoded.png">    </p:cNvPr>
          <p:cNvPicPr>
            <a:picLocks noChangeAspect="1"/>
          </p:cNvPicPr>
          <p:nvPr/>
        </p:nvPicPr>
        <p:blipFill>
          <a:blip r:embed="rId6"/>
          <a:stretch>
            <a:fillRect/>
          </a:stretch>
        </p:blipFill>
        <p:spPr>
          <a:xfrm>
            <a:off x="971526" y="3583493"/>
            <a:ext cx="190495" cy="190495"/>
          </a:xfrm>
          <a:prstGeom prst="rect">
            <a:avLst/>
          </a:prstGeom>
        </p:spPr>
      </p:pic>
      <p:sp>
        <p:nvSpPr>
          <p:cNvPr id="18" name="Text 10"/>
          <p:cNvSpPr txBox="1"/>
          <p:nvPr/>
        </p:nvSpPr>
        <p:spPr>
          <a:xfrm>
            <a:off x="1250919" y="3575953"/>
            <a:ext cx="257781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Agency fallback and Tenant Portal</a:t>
            </a:r>
            <a:endParaRPr lang="en-US" sz="1200" dirty="0"/>
          </a:p>
        </p:txBody>
      </p:sp>
      <p:pic>
        <p:nvPicPr>
          <p:cNvPr id="19" name="Image 6" descr="preencoded.png">    </p:cNvPr>
          <p:cNvPicPr>
            <a:picLocks noChangeAspect="1"/>
          </p:cNvPicPr>
          <p:nvPr/>
        </p:nvPicPr>
        <p:blipFill>
          <a:blip r:embed="rId7"/>
          <a:stretch>
            <a:fillRect/>
          </a:stretch>
        </p:blipFill>
        <p:spPr>
          <a:xfrm>
            <a:off x="971526" y="3878066"/>
            <a:ext cx="190495" cy="190495"/>
          </a:xfrm>
          <a:prstGeom prst="rect">
            <a:avLst/>
          </a:prstGeom>
        </p:spPr>
      </p:pic>
      <p:sp>
        <p:nvSpPr>
          <p:cNvPr id="20" name="Text 11"/>
          <p:cNvSpPr txBox="1"/>
          <p:nvPr/>
        </p:nvSpPr>
        <p:spPr>
          <a:xfrm>
            <a:off x="1250919" y="3870526"/>
            <a:ext cx="2587148"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Staff invitations, verification queue</a:t>
            </a:r>
            <a:endParaRPr lang="en-US" sz="1200" dirty="0"/>
          </a:p>
        </p:txBody>
      </p:sp>
      <p:sp>
        <p:nvSpPr>
          <p:cNvPr id="21" name="Shape 12"/>
          <p:cNvSpPr/>
          <p:nvPr/>
        </p:nvSpPr>
        <p:spPr>
          <a:xfrm>
            <a:off x="6197445" y="1775376"/>
            <a:ext cx="5181470" cy="2459571"/>
          </a:xfrm>
          <a:prstGeom prst="roundRect">
            <a:avLst>
              <a:gd name="adj" fmla="val 4131"/>
            </a:avLst>
          </a:prstGeom>
          <a:solidFill>
            <a:srgbClr val="FCFDFF"/>
          </a:solidFill>
          <a:ln w="6350">
            <a:solidFill>
              <a:srgbClr val="D5DEEC"/>
            </a:solidFill>
            <a:prstDash val="solid"/>
          </a:ln>
        </p:spPr>
      </p:sp>
      <p:sp>
        <p:nvSpPr>
          <p:cNvPr id="22" name="Shape 13"/>
          <p:cNvSpPr/>
          <p:nvPr/>
        </p:nvSpPr>
        <p:spPr>
          <a:xfrm>
            <a:off x="6197445" y="1775376"/>
            <a:ext cx="5181470" cy="50799"/>
          </a:xfrm>
          <a:prstGeom prst="roundRect">
            <a:avLst>
              <a:gd name="adj" fmla="val 50000"/>
            </a:avLst>
          </a:prstGeom>
          <a:solidFill>
            <a:srgbClr val="B4530F"/>
          </a:solidFill>
          <a:ln/>
        </p:spPr>
      </p:sp>
      <p:sp>
        <p:nvSpPr>
          <p:cNvPr id="23" name="Shape 14"/>
          <p:cNvSpPr/>
          <p:nvPr/>
        </p:nvSpPr>
        <p:spPr>
          <a:xfrm>
            <a:off x="6356191" y="1978571"/>
            <a:ext cx="330192" cy="330192"/>
          </a:xfrm>
          <a:prstGeom prst="ellipse">
            <a:avLst/>
          </a:prstGeom>
          <a:solidFill>
            <a:srgbClr val="FCEBDD"/>
          </a:solidFill>
          <a:ln/>
        </p:spPr>
      </p:sp>
      <p:pic>
        <p:nvPicPr>
          <p:cNvPr id="24" name="Image 7" descr="preencoded.png">    </p:cNvPr>
          <p:cNvPicPr>
            <a:picLocks noChangeAspect="1"/>
          </p:cNvPicPr>
          <p:nvPr/>
        </p:nvPicPr>
        <p:blipFill>
          <a:blip r:embed="rId8"/>
          <a:stretch>
            <a:fillRect/>
          </a:stretch>
        </p:blipFill>
        <p:spPr>
          <a:xfrm>
            <a:off x="6432389" y="2054769"/>
            <a:ext cx="177796" cy="177796"/>
          </a:xfrm>
          <a:prstGeom prst="rect">
            <a:avLst/>
          </a:prstGeom>
        </p:spPr>
      </p:pic>
      <p:sp>
        <p:nvSpPr>
          <p:cNvPr id="25" name="Text 15"/>
          <p:cNvSpPr txBox="1"/>
          <p:nvPr/>
        </p:nvSpPr>
        <p:spPr>
          <a:xfrm>
            <a:off x="6775281" y="2029370"/>
            <a:ext cx="1856297"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Stubbed or broken</a:t>
            </a:r>
            <a:endParaRPr lang="en-US" sz="1500" dirty="0"/>
          </a:p>
        </p:txBody>
      </p:sp>
      <p:pic>
        <p:nvPicPr>
          <p:cNvPr id="26" name="Image 8" descr="preencoded.png">    </p:cNvPr>
          <p:cNvPicPr>
            <a:picLocks noChangeAspect="1"/>
          </p:cNvPicPr>
          <p:nvPr/>
        </p:nvPicPr>
        <p:blipFill>
          <a:blip r:embed="rId9"/>
          <a:stretch>
            <a:fillRect/>
          </a:stretch>
        </p:blipFill>
        <p:spPr>
          <a:xfrm>
            <a:off x="6356191" y="2405201"/>
            <a:ext cx="190495" cy="190495"/>
          </a:xfrm>
          <a:prstGeom prst="rect">
            <a:avLst/>
          </a:prstGeom>
        </p:spPr>
      </p:pic>
      <p:sp>
        <p:nvSpPr>
          <p:cNvPr id="27" name="Text 16"/>
          <p:cNvSpPr txBox="1"/>
          <p:nvPr/>
        </p:nvSpPr>
        <p:spPr>
          <a:xfrm>
            <a:off x="6635584" y="2397660"/>
            <a:ext cx="176484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Chat: no gateway route</a:t>
            </a:r>
            <a:endParaRPr lang="en-US" sz="1200" dirty="0"/>
          </a:p>
        </p:txBody>
      </p:sp>
      <p:pic>
        <p:nvPicPr>
          <p:cNvPr id="28" name="Image 9" descr="preencoded.png">    </p:cNvPr>
          <p:cNvPicPr>
            <a:picLocks noChangeAspect="1"/>
          </p:cNvPicPr>
          <p:nvPr/>
        </p:nvPicPr>
        <p:blipFill>
          <a:blip r:embed="rId10"/>
          <a:stretch>
            <a:fillRect/>
          </a:stretch>
        </p:blipFill>
        <p:spPr>
          <a:xfrm>
            <a:off x="6356191" y="2699774"/>
            <a:ext cx="190495" cy="190495"/>
          </a:xfrm>
          <a:prstGeom prst="rect">
            <a:avLst/>
          </a:prstGeom>
        </p:spPr>
      </p:pic>
      <p:sp>
        <p:nvSpPr>
          <p:cNvPr id="29" name="Text 17"/>
          <p:cNvSpPr txBox="1"/>
          <p:nvPr/>
        </p:nvSpPr>
        <p:spPr>
          <a:xfrm>
            <a:off x="6635584" y="2692233"/>
            <a:ext cx="1973308"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SMS, email, push only log</a:t>
            </a:r>
            <a:endParaRPr lang="en-US" sz="1200" dirty="0"/>
          </a:p>
        </p:txBody>
      </p:sp>
      <p:pic>
        <p:nvPicPr>
          <p:cNvPr id="30" name="Image 10" descr="preencoded.png">    </p:cNvPr>
          <p:cNvPicPr>
            <a:picLocks noChangeAspect="1"/>
          </p:cNvPicPr>
          <p:nvPr/>
        </p:nvPicPr>
        <p:blipFill>
          <a:blip r:embed="rId11"/>
          <a:stretch>
            <a:fillRect/>
          </a:stretch>
        </p:blipFill>
        <p:spPr>
          <a:xfrm>
            <a:off x="6356191" y="2994347"/>
            <a:ext cx="190495" cy="190495"/>
          </a:xfrm>
          <a:prstGeom prst="rect">
            <a:avLst/>
          </a:prstGeom>
        </p:spPr>
      </p:pic>
      <p:sp>
        <p:nvSpPr>
          <p:cNvPr id="31" name="Text 18"/>
          <p:cNvSpPr txBox="1"/>
          <p:nvPr/>
        </p:nvSpPr>
        <p:spPr>
          <a:xfrm>
            <a:off x="6635584" y="2986807"/>
            <a:ext cx="1480370"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S3 storage stubbed</a:t>
            </a:r>
            <a:endParaRPr lang="en-US" sz="1200" dirty="0"/>
          </a:p>
        </p:txBody>
      </p:sp>
      <p:pic>
        <p:nvPicPr>
          <p:cNvPr id="32" name="Image 11" descr="preencoded.png">    </p:cNvPr>
          <p:cNvPicPr>
            <a:picLocks noChangeAspect="1"/>
          </p:cNvPicPr>
          <p:nvPr/>
        </p:nvPicPr>
        <p:blipFill>
          <a:blip r:embed="rId12"/>
          <a:stretch>
            <a:fillRect/>
          </a:stretch>
        </p:blipFill>
        <p:spPr>
          <a:xfrm>
            <a:off x="6356191" y="3288920"/>
            <a:ext cx="190495" cy="190495"/>
          </a:xfrm>
          <a:prstGeom prst="rect">
            <a:avLst/>
          </a:prstGeom>
        </p:spPr>
      </p:pic>
      <p:sp>
        <p:nvSpPr>
          <p:cNvPr id="33" name="Text 19"/>
          <p:cNvSpPr txBox="1"/>
          <p:nvPr/>
        </p:nvSpPr>
        <p:spPr>
          <a:xfrm>
            <a:off x="6635584" y="3281380"/>
            <a:ext cx="2362570"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Complaint refunds and payouts</a:t>
            </a:r>
            <a:endParaRPr lang="en-US" sz="1200" dirty="0"/>
          </a:p>
        </p:txBody>
      </p:sp>
      <p:pic>
        <p:nvPicPr>
          <p:cNvPr id="34" name="Image 12" descr="preencoded.png">    </p:cNvPr>
          <p:cNvPicPr>
            <a:picLocks noChangeAspect="1"/>
          </p:cNvPicPr>
          <p:nvPr/>
        </p:nvPicPr>
        <p:blipFill>
          <a:blip r:embed="rId13"/>
          <a:stretch>
            <a:fillRect/>
          </a:stretch>
        </p:blipFill>
        <p:spPr>
          <a:xfrm>
            <a:off x="6356191" y="3583493"/>
            <a:ext cx="190495" cy="190495"/>
          </a:xfrm>
          <a:prstGeom prst="rect">
            <a:avLst/>
          </a:prstGeom>
        </p:spPr>
      </p:pic>
      <p:sp>
        <p:nvSpPr>
          <p:cNvPr id="35" name="Text 20"/>
          <p:cNvSpPr txBox="1"/>
          <p:nvPr/>
        </p:nvSpPr>
        <p:spPr>
          <a:xfrm>
            <a:off x="6635584" y="3575953"/>
            <a:ext cx="2467024"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Coupon redemption never called</a:t>
            </a:r>
            <a:endParaRPr lang="en-US" sz="1200" dirty="0"/>
          </a:p>
        </p:txBody>
      </p:sp>
      <p:pic>
        <p:nvPicPr>
          <p:cNvPr id="36" name="Image 13" descr="preencoded.png">    </p:cNvPr>
          <p:cNvPicPr>
            <a:picLocks noChangeAspect="1"/>
          </p:cNvPicPr>
          <p:nvPr/>
        </p:nvPicPr>
        <p:blipFill>
          <a:blip r:embed="rId14"/>
          <a:stretch>
            <a:fillRect/>
          </a:stretch>
        </p:blipFill>
        <p:spPr>
          <a:xfrm>
            <a:off x="6356191" y="3878066"/>
            <a:ext cx="190495" cy="190495"/>
          </a:xfrm>
          <a:prstGeom prst="rect">
            <a:avLst/>
          </a:prstGeom>
        </p:spPr>
      </p:pic>
      <p:sp>
        <p:nvSpPr>
          <p:cNvPr id="37" name="Text 21"/>
          <p:cNvSpPr txBox="1"/>
          <p:nvPr/>
        </p:nvSpPr>
        <p:spPr>
          <a:xfrm>
            <a:off x="6635584" y="3870526"/>
            <a:ext cx="2248558"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Reviews never update ratings</a:t>
            </a:r>
            <a:endParaRPr lang="en-US" sz="1200" dirty="0"/>
          </a:p>
        </p:txBody>
      </p:sp>
      <p:sp>
        <p:nvSpPr>
          <p:cNvPr id="38" name="Text 22"/>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Readiness</a:t>
            </a:r>
            <a:endParaRPr lang="en-US" sz="1200" dirty="0"/>
          </a:p>
        </p:txBody>
      </p:sp>
      <p:sp>
        <p:nvSpPr>
          <p:cNvPr id="39" name="Text 23"/>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LOCAL DEPLOYMENT · TOPOLOGY</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Apps run in Docker; data services run on the host</a:t>
            </a:r>
            <a:endParaRPr lang="en-US" sz="3000" dirty="0"/>
          </a:p>
        </p:txBody>
      </p:sp>
      <p:sp>
        <p:nvSpPr>
          <p:cNvPr id="4" name="Shape 2"/>
          <p:cNvSpPr/>
          <p:nvPr/>
        </p:nvSpPr>
        <p:spPr>
          <a:xfrm>
            <a:off x="812780" y="1803355"/>
            <a:ext cx="10566136" cy="3975001"/>
          </a:xfrm>
          <a:prstGeom prst="roundRect">
            <a:avLst>
              <a:gd name="adj" fmla="val 3195"/>
            </a:avLst>
          </a:prstGeom>
          <a:solidFill>
            <a:srgbClr val="EEF2F8"/>
          </a:solidFill>
          <a:ln w="12700">
            <a:solidFill>
              <a:srgbClr val="5C6B8A"/>
            </a:solidFill>
            <a:prstDash val="dash"/>
          </a:ln>
        </p:spPr>
      </p:sp>
      <p:sp>
        <p:nvSpPr>
          <p:cNvPr id="5" name="Text 3"/>
          <p:cNvSpPr txBox="1"/>
          <p:nvPr/>
        </p:nvSpPr>
        <p:spPr>
          <a:xfrm>
            <a:off x="939777" y="1879553"/>
            <a:ext cx="11549599" cy="213355"/>
          </a:xfrm>
          <a:prstGeom prst="rect">
            <a:avLst/>
          </a:prstGeom>
          <a:noFill/>
          <a:ln/>
        </p:spPr>
        <p:txBody>
          <a:bodyPr wrap="square" lIns="0" tIns="0" rIns="0" bIns="0" rtlCol="0" anchor="t"/>
          <a:lstStyle/>
          <a:p>
            <a:pPr algn="l" indent="0" marL="0">
              <a:lnSpc>
                <a:spcPct val="116667"/>
              </a:lnSpc>
              <a:buNone/>
            </a:pPr>
            <a:r>
              <a:rPr lang="en-US" sz="1200" spc="50" kern="0" dirty="0">
                <a:solidFill>
                  <a:srgbClr val="5C6B8A"/>
                </a:solidFill>
                <a:latin typeface="Courier New" pitchFamily="34" charset="0"/>
                <a:ea typeface="Courier New" pitchFamily="34" charset="-122"/>
                <a:cs typeface="Courier New" pitchFamily="34" charset="-120"/>
              </a:rPr>
              <a:t>Windows 11 host</a:t>
            </a:r>
            <a:endParaRPr lang="en-US" sz="1200" dirty="0"/>
          </a:p>
        </p:txBody>
      </p:sp>
      <p:sp>
        <p:nvSpPr>
          <p:cNvPr id="6" name="Shape 4"/>
          <p:cNvSpPr/>
          <p:nvPr/>
        </p:nvSpPr>
        <p:spPr>
          <a:xfrm>
            <a:off x="1015975" y="2158946"/>
            <a:ext cx="1650959" cy="1396965"/>
          </a:xfrm>
          <a:prstGeom prst="roundRect">
            <a:avLst>
              <a:gd name="adj" fmla="val 6364"/>
            </a:avLst>
          </a:prstGeom>
          <a:solidFill>
            <a:srgbClr val="FCFDFF"/>
          </a:solidFill>
          <a:ln w="12700">
            <a:solidFill>
              <a:srgbClr val="2454C5"/>
            </a:solidFill>
            <a:prstDash val="solid"/>
          </a:ln>
        </p:spPr>
      </p:sp>
      <p:sp>
        <p:nvSpPr>
          <p:cNvPr id="7" name="Shape 5"/>
          <p:cNvSpPr/>
          <p:nvPr/>
        </p:nvSpPr>
        <p:spPr>
          <a:xfrm>
            <a:off x="1015975" y="2158946"/>
            <a:ext cx="50799" cy="1396965"/>
          </a:xfrm>
          <a:prstGeom prst="roundRect">
            <a:avLst>
              <a:gd name="adj" fmla="val 50000"/>
            </a:avLst>
          </a:prstGeom>
          <a:solidFill>
            <a:srgbClr val="2454C5"/>
          </a:solidFill>
          <a:ln/>
        </p:spPr>
      </p:sp>
      <p:pic>
        <p:nvPicPr>
          <p:cNvPr id="8" name="Image 0" descr="preencoded.png">    </p:cNvPr>
          <p:cNvPicPr>
            <a:picLocks noChangeAspect="1"/>
          </p:cNvPicPr>
          <p:nvPr/>
        </p:nvPicPr>
        <p:blipFill>
          <a:blip r:embed="rId1"/>
          <a:stretch>
            <a:fillRect/>
          </a:stretch>
        </p:blipFill>
        <p:spPr>
          <a:xfrm>
            <a:off x="1181070" y="2264314"/>
            <a:ext cx="190495" cy="190495"/>
          </a:xfrm>
          <a:prstGeom prst="rect">
            <a:avLst/>
          </a:prstGeom>
        </p:spPr>
      </p:pic>
      <p:sp>
        <p:nvSpPr>
          <p:cNvPr id="9" name="Text 6"/>
          <p:cNvSpPr txBox="1"/>
          <p:nvPr/>
        </p:nvSpPr>
        <p:spPr>
          <a:xfrm>
            <a:off x="1435064" y="2260543"/>
            <a:ext cx="704336"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Browser</a:t>
            </a:r>
            <a:endParaRPr lang="en-US" sz="1300" dirty="0"/>
          </a:p>
        </p:txBody>
      </p:sp>
      <p:sp>
        <p:nvSpPr>
          <p:cNvPr id="10" name="Text 7"/>
          <p:cNvSpPr txBox="1"/>
          <p:nvPr/>
        </p:nvSpPr>
        <p:spPr>
          <a:xfrm>
            <a:off x="1181070" y="2483979"/>
            <a:ext cx="1521930"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:5173 customer</a:t>
            </a:r>
            <a:endParaRPr lang="en-US" sz="1200" dirty="0"/>
          </a:p>
        </p:txBody>
      </p:sp>
      <p:sp>
        <p:nvSpPr>
          <p:cNvPr id="11" name="Text 8"/>
          <p:cNvSpPr txBox="1"/>
          <p:nvPr/>
        </p:nvSpPr>
        <p:spPr>
          <a:xfrm>
            <a:off x="1181070" y="2715053"/>
            <a:ext cx="1521930"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:5174 provider</a:t>
            </a:r>
            <a:endParaRPr lang="en-US" sz="1200" dirty="0"/>
          </a:p>
        </p:txBody>
      </p:sp>
      <p:sp>
        <p:nvSpPr>
          <p:cNvPr id="12" name="Text 9"/>
          <p:cNvSpPr txBox="1"/>
          <p:nvPr/>
        </p:nvSpPr>
        <p:spPr>
          <a:xfrm>
            <a:off x="1181070" y="2946128"/>
            <a:ext cx="1521930"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:5175 admin</a:t>
            </a:r>
            <a:endParaRPr lang="en-US" sz="1200" dirty="0"/>
          </a:p>
        </p:txBody>
      </p:sp>
      <p:sp>
        <p:nvSpPr>
          <p:cNvPr id="13" name="Shape 10"/>
          <p:cNvSpPr/>
          <p:nvPr/>
        </p:nvSpPr>
        <p:spPr>
          <a:xfrm>
            <a:off x="1015975" y="3809905"/>
            <a:ext cx="1650959" cy="1777956"/>
          </a:xfrm>
          <a:prstGeom prst="roundRect">
            <a:avLst>
              <a:gd name="adj" fmla="val 5385"/>
            </a:avLst>
          </a:prstGeom>
          <a:solidFill>
            <a:srgbClr val="EEF1F6"/>
          </a:solidFill>
          <a:ln w="12700">
            <a:solidFill>
              <a:srgbClr val="5C6B8A"/>
            </a:solidFill>
            <a:prstDash val="dash"/>
          </a:ln>
        </p:spPr>
      </p:sp>
      <p:sp>
        <p:nvSpPr>
          <p:cNvPr id="14" name="Shape 11"/>
          <p:cNvSpPr/>
          <p:nvPr/>
        </p:nvSpPr>
        <p:spPr>
          <a:xfrm>
            <a:off x="1015975" y="3809905"/>
            <a:ext cx="50799" cy="1777956"/>
          </a:xfrm>
          <a:prstGeom prst="roundRect">
            <a:avLst>
              <a:gd name="adj" fmla="val 50000"/>
            </a:avLst>
          </a:prstGeom>
          <a:solidFill>
            <a:srgbClr val="5C6B8A"/>
          </a:solidFill>
          <a:ln/>
        </p:spPr>
      </p:sp>
      <p:pic>
        <p:nvPicPr>
          <p:cNvPr id="15" name="Image 1" descr="preencoded.png">    </p:cNvPr>
          <p:cNvPicPr>
            <a:picLocks noChangeAspect="1"/>
          </p:cNvPicPr>
          <p:nvPr/>
        </p:nvPicPr>
        <p:blipFill>
          <a:blip r:embed="rId2"/>
          <a:stretch>
            <a:fillRect/>
          </a:stretch>
        </p:blipFill>
        <p:spPr>
          <a:xfrm>
            <a:off x="1181070" y="4014290"/>
            <a:ext cx="190495" cy="190495"/>
          </a:xfrm>
          <a:prstGeom prst="rect">
            <a:avLst/>
          </a:prstGeom>
        </p:spPr>
      </p:pic>
      <p:sp>
        <p:nvSpPr>
          <p:cNvPr id="16" name="Text 12"/>
          <p:cNvSpPr txBox="1"/>
          <p:nvPr/>
        </p:nvSpPr>
        <p:spPr>
          <a:xfrm>
            <a:off x="1435064" y="3911502"/>
            <a:ext cx="1237457" cy="396071"/>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Or all in Docker</a:t>
            </a:r>
            <a:endParaRPr lang="en-US" sz="1300" dirty="0"/>
          </a:p>
        </p:txBody>
      </p:sp>
      <p:sp>
        <p:nvSpPr>
          <p:cNvPr id="17" name="Text 13"/>
          <p:cNvSpPr txBox="1"/>
          <p:nvPr/>
        </p:nvSpPr>
        <p:spPr>
          <a:xfrm>
            <a:off x="1181070" y="4332973"/>
            <a:ext cx="1521930" cy="617026"/>
          </a:xfrm>
          <a:prstGeom prst="rect">
            <a:avLst/>
          </a:prstGeom>
          <a:noFill/>
          <a:ln/>
        </p:spPr>
        <p:txBody>
          <a:bodyPr wrap="square" lIns="0" tIns="0" rIns="0" bIns="0" rtlCol="0" anchor="t"/>
          <a:lstStyle/>
          <a:p>
            <a:pPr algn="l" indent="0" marL="0">
              <a:lnSpc>
                <a:spcPct val="112500"/>
              </a:lnSpc>
              <a:buNone/>
            </a:pPr>
            <a:r>
              <a:rPr lang="en-US" sz="1200" dirty="0">
                <a:solidFill>
                  <a:srgbClr val="5C6B8A"/>
                </a:solidFill>
                <a:latin typeface="Calibri" pitchFamily="34" charset="0"/>
                <a:ea typeface="Calibri" pitchFamily="34" charset="-122"/>
                <a:cs typeface="Calibri" pitchFamily="34" charset="-120"/>
              </a:rPr>
              <a:t>infra compose file: PG :5533, Redis :6380, Kafka :9095</a:t>
            </a:r>
            <a:endParaRPr lang="en-US" sz="1200" dirty="0"/>
          </a:p>
        </p:txBody>
      </p:sp>
      <p:sp>
        <p:nvSpPr>
          <p:cNvPr id="18" name="Shape 14"/>
          <p:cNvSpPr/>
          <p:nvPr/>
        </p:nvSpPr>
        <p:spPr>
          <a:xfrm>
            <a:off x="2920927" y="2095448"/>
            <a:ext cx="5587860" cy="3555911"/>
          </a:xfrm>
          <a:prstGeom prst="roundRect">
            <a:avLst>
              <a:gd name="adj" fmla="val 3571"/>
            </a:avLst>
          </a:prstGeom>
          <a:solidFill>
            <a:srgbClr val="E3EBFA"/>
          </a:solidFill>
          <a:ln w="12700">
            <a:solidFill>
              <a:srgbClr val="2454C5"/>
            </a:solidFill>
            <a:prstDash val="solid"/>
          </a:ln>
        </p:spPr>
      </p:sp>
      <p:sp>
        <p:nvSpPr>
          <p:cNvPr id="19" name="Text 15"/>
          <p:cNvSpPr txBox="1"/>
          <p:nvPr/>
        </p:nvSpPr>
        <p:spPr>
          <a:xfrm>
            <a:off x="3047924" y="2171646"/>
            <a:ext cx="5973931" cy="213355"/>
          </a:xfrm>
          <a:prstGeom prst="rect">
            <a:avLst/>
          </a:prstGeom>
          <a:noFill/>
          <a:ln/>
        </p:spPr>
        <p:txBody>
          <a:bodyPr wrap="square" lIns="0" tIns="0" rIns="0" bIns="0" rtlCol="0" anchor="t"/>
          <a:lstStyle/>
          <a:p>
            <a:pPr algn="l" indent="0" marL="0">
              <a:lnSpc>
                <a:spcPct val="116667"/>
              </a:lnSpc>
              <a:buNone/>
            </a:pPr>
            <a:r>
              <a:rPr lang="en-US" sz="1200" spc="50" kern="0" dirty="0">
                <a:solidFill>
                  <a:srgbClr val="2454C5"/>
                </a:solidFill>
                <a:latin typeface="Courier New" pitchFamily="34" charset="0"/>
                <a:ea typeface="Courier New" pitchFamily="34" charset="-122"/>
                <a:cs typeface="Courier New" pitchFamily="34" charset="-120"/>
              </a:rPr>
              <a:t>Docker Desktop · WSL2 · 11 GB</a:t>
            </a:r>
            <a:endParaRPr lang="en-US" sz="1200" dirty="0"/>
          </a:p>
        </p:txBody>
      </p:sp>
      <p:sp>
        <p:nvSpPr>
          <p:cNvPr id="20" name="Shape 16"/>
          <p:cNvSpPr/>
          <p:nvPr/>
        </p:nvSpPr>
        <p:spPr>
          <a:xfrm>
            <a:off x="3073323" y="2476438"/>
            <a:ext cx="1587460" cy="825479"/>
          </a:xfrm>
          <a:prstGeom prst="roundRect">
            <a:avLst>
              <a:gd name="adj" fmla="val 10769"/>
            </a:avLst>
          </a:prstGeom>
          <a:solidFill>
            <a:srgbClr val="FCFDFF"/>
          </a:solidFill>
          <a:ln w="12700">
            <a:solidFill>
              <a:srgbClr val="B8306E"/>
            </a:solidFill>
            <a:prstDash val="solid"/>
          </a:ln>
        </p:spPr>
      </p:sp>
      <p:sp>
        <p:nvSpPr>
          <p:cNvPr id="21" name="Shape 17"/>
          <p:cNvSpPr/>
          <p:nvPr/>
        </p:nvSpPr>
        <p:spPr>
          <a:xfrm>
            <a:off x="3073323" y="2476438"/>
            <a:ext cx="50799" cy="825479"/>
          </a:xfrm>
          <a:prstGeom prst="roundRect">
            <a:avLst>
              <a:gd name="adj" fmla="val 50000"/>
            </a:avLst>
          </a:prstGeom>
          <a:solidFill>
            <a:srgbClr val="B8306E"/>
          </a:solidFill>
          <a:ln/>
        </p:spPr>
      </p:sp>
      <p:pic>
        <p:nvPicPr>
          <p:cNvPr id="22" name="Image 2" descr="preencoded.png">    </p:cNvPr>
          <p:cNvPicPr>
            <a:picLocks noChangeAspect="1"/>
          </p:cNvPicPr>
          <p:nvPr/>
        </p:nvPicPr>
        <p:blipFill>
          <a:blip r:embed="rId3"/>
          <a:stretch>
            <a:fillRect/>
          </a:stretch>
        </p:blipFill>
        <p:spPr>
          <a:xfrm>
            <a:off x="3238419" y="2581806"/>
            <a:ext cx="190495" cy="190495"/>
          </a:xfrm>
          <a:prstGeom prst="rect">
            <a:avLst/>
          </a:prstGeom>
        </p:spPr>
      </p:pic>
      <p:sp>
        <p:nvSpPr>
          <p:cNvPr id="23" name="Text 18"/>
          <p:cNvSpPr txBox="1"/>
          <p:nvPr/>
        </p:nvSpPr>
        <p:spPr>
          <a:xfrm>
            <a:off x="3492413" y="2578036"/>
            <a:ext cx="972097"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3 web apps</a:t>
            </a:r>
            <a:endParaRPr lang="en-US" sz="1300" dirty="0"/>
          </a:p>
        </p:txBody>
      </p:sp>
      <p:sp>
        <p:nvSpPr>
          <p:cNvPr id="24" name="Text 19"/>
          <p:cNvSpPr txBox="1"/>
          <p:nvPr/>
        </p:nvSpPr>
        <p:spPr>
          <a:xfrm>
            <a:off x="3238419" y="2801471"/>
            <a:ext cx="1450812"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nginx :80</a:t>
            </a:r>
            <a:endParaRPr lang="en-US" sz="1200" dirty="0"/>
          </a:p>
        </p:txBody>
      </p:sp>
      <p:sp>
        <p:nvSpPr>
          <p:cNvPr id="25" name="Shape 20"/>
          <p:cNvSpPr/>
          <p:nvPr/>
        </p:nvSpPr>
        <p:spPr>
          <a:xfrm>
            <a:off x="4851279" y="2476438"/>
            <a:ext cx="1587460" cy="825479"/>
          </a:xfrm>
          <a:prstGeom prst="roundRect">
            <a:avLst>
              <a:gd name="adj" fmla="val 10769"/>
            </a:avLst>
          </a:prstGeom>
          <a:solidFill>
            <a:srgbClr val="FCFDFF"/>
          </a:solidFill>
          <a:ln w="12700">
            <a:solidFill>
              <a:srgbClr val="3F5F95"/>
            </a:solidFill>
            <a:prstDash val="solid"/>
          </a:ln>
        </p:spPr>
      </p:sp>
      <p:sp>
        <p:nvSpPr>
          <p:cNvPr id="26" name="Shape 21"/>
          <p:cNvSpPr/>
          <p:nvPr/>
        </p:nvSpPr>
        <p:spPr>
          <a:xfrm>
            <a:off x="4851279" y="2476438"/>
            <a:ext cx="50799" cy="825479"/>
          </a:xfrm>
          <a:prstGeom prst="roundRect">
            <a:avLst>
              <a:gd name="adj" fmla="val 50000"/>
            </a:avLst>
          </a:prstGeom>
          <a:solidFill>
            <a:srgbClr val="3F5F95"/>
          </a:solidFill>
          <a:ln/>
        </p:spPr>
      </p:sp>
      <p:sp>
        <p:nvSpPr>
          <p:cNvPr id="27" name="Text 22"/>
          <p:cNvSpPr txBox="1"/>
          <p:nvPr/>
        </p:nvSpPr>
        <p:spPr>
          <a:xfrm>
            <a:off x="5016375" y="2578036"/>
            <a:ext cx="1450812"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api-gateway</a:t>
            </a:r>
            <a:endParaRPr lang="en-US" sz="1300" dirty="0"/>
          </a:p>
        </p:txBody>
      </p:sp>
      <p:sp>
        <p:nvSpPr>
          <p:cNvPr id="28" name="Text 23"/>
          <p:cNvSpPr txBox="1"/>
          <p:nvPr/>
        </p:nvSpPr>
        <p:spPr>
          <a:xfrm>
            <a:off x="5016375" y="2801471"/>
            <a:ext cx="1450812"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:8080</a:t>
            </a:r>
            <a:endParaRPr lang="en-US" sz="1200" dirty="0"/>
          </a:p>
        </p:txBody>
      </p:sp>
      <p:sp>
        <p:nvSpPr>
          <p:cNvPr id="29" name="Shape 24"/>
          <p:cNvSpPr/>
          <p:nvPr/>
        </p:nvSpPr>
        <p:spPr>
          <a:xfrm>
            <a:off x="6629234" y="2476438"/>
            <a:ext cx="1714457" cy="825479"/>
          </a:xfrm>
          <a:prstGeom prst="roundRect">
            <a:avLst>
              <a:gd name="adj" fmla="val 10769"/>
            </a:avLst>
          </a:prstGeom>
          <a:solidFill>
            <a:srgbClr val="FCFDFF"/>
          </a:solidFill>
          <a:ln w="12700">
            <a:solidFill>
              <a:srgbClr val="2454C5"/>
            </a:solidFill>
            <a:prstDash val="solid"/>
          </a:ln>
        </p:spPr>
      </p:sp>
      <p:sp>
        <p:nvSpPr>
          <p:cNvPr id="30" name="Shape 25"/>
          <p:cNvSpPr/>
          <p:nvPr/>
        </p:nvSpPr>
        <p:spPr>
          <a:xfrm>
            <a:off x="6629234" y="2476438"/>
            <a:ext cx="50799" cy="825479"/>
          </a:xfrm>
          <a:prstGeom prst="roundRect">
            <a:avLst>
              <a:gd name="adj" fmla="val 50000"/>
            </a:avLst>
          </a:prstGeom>
          <a:solidFill>
            <a:srgbClr val="2454C5"/>
          </a:solidFill>
          <a:ln/>
        </p:spPr>
      </p:sp>
      <p:sp>
        <p:nvSpPr>
          <p:cNvPr id="31" name="Text 26"/>
          <p:cNvSpPr txBox="1"/>
          <p:nvPr/>
        </p:nvSpPr>
        <p:spPr>
          <a:xfrm>
            <a:off x="6794330" y="2578036"/>
            <a:ext cx="1593048"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auth-service</a:t>
            </a:r>
            <a:endParaRPr lang="en-US" sz="1300" dirty="0"/>
          </a:p>
        </p:txBody>
      </p:sp>
      <p:sp>
        <p:nvSpPr>
          <p:cNvPr id="32" name="Text 27"/>
          <p:cNvSpPr txBox="1"/>
          <p:nvPr/>
        </p:nvSpPr>
        <p:spPr>
          <a:xfrm>
            <a:off x="6794330" y="2801471"/>
            <a:ext cx="1593048"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:8081</a:t>
            </a:r>
            <a:endParaRPr lang="en-US" sz="1200" dirty="0"/>
          </a:p>
        </p:txBody>
      </p:sp>
      <p:sp>
        <p:nvSpPr>
          <p:cNvPr id="33" name="Shape 28"/>
          <p:cNvSpPr/>
          <p:nvPr/>
        </p:nvSpPr>
        <p:spPr>
          <a:xfrm>
            <a:off x="3073323" y="3492413"/>
            <a:ext cx="5270368" cy="2031949"/>
          </a:xfrm>
          <a:prstGeom prst="roundRect">
            <a:avLst>
              <a:gd name="adj" fmla="val 4375"/>
            </a:avLst>
          </a:prstGeom>
          <a:solidFill>
            <a:srgbClr val="FCFDFF"/>
          </a:solidFill>
          <a:ln w="12700">
            <a:solidFill>
              <a:srgbClr val="2454C5"/>
            </a:solidFill>
            <a:prstDash val="solid"/>
          </a:ln>
        </p:spPr>
      </p:sp>
      <p:sp>
        <p:nvSpPr>
          <p:cNvPr id="34" name="Text 29"/>
          <p:cNvSpPr txBox="1"/>
          <p:nvPr/>
        </p:nvSpPr>
        <p:spPr>
          <a:xfrm>
            <a:off x="3200320" y="3594010"/>
            <a:ext cx="5618340"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18 more services · :8082–8099 · 448 MB each</a:t>
            </a:r>
            <a:endParaRPr lang="en-US" sz="1300" dirty="0"/>
          </a:p>
        </p:txBody>
      </p:sp>
      <p:sp>
        <p:nvSpPr>
          <p:cNvPr id="35" name="Shape 30"/>
          <p:cNvSpPr/>
          <p:nvPr/>
        </p:nvSpPr>
        <p:spPr>
          <a:xfrm>
            <a:off x="3200320" y="3901283"/>
            <a:ext cx="909416" cy="299633"/>
          </a:xfrm>
          <a:prstGeom prst="roundRect">
            <a:avLst>
              <a:gd name="adj" fmla="val 21192"/>
            </a:avLst>
          </a:prstGeom>
          <a:solidFill>
            <a:srgbClr val="FCFDFF"/>
          </a:solidFill>
          <a:ln/>
        </p:spPr>
      </p:sp>
      <p:sp>
        <p:nvSpPr>
          <p:cNvPr id="36" name="Text 31"/>
          <p:cNvSpPr txBox="1"/>
          <p:nvPr/>
        </p:nvSpPr>
        <p:spPr>
          <a:xfrm>
            <a:off x="3289218" y="3952082"/>
            <a:ext cx="81941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customer</a:t>
            </a:r>
            <a:endParaRPr lang="en-US" sz="1200" dirty="0"/>
          </a:p>
        </p:txBody>
      </p:sp>
      <p:sp>
        <p:nvSpPr>
          <p:cNvPr id="37" name="Shape 32"/>
          <p:cNvSpPr/>
          <p:nvPr/>
        </p:nvSpPr>
        <p:spPr>
          <a:xfrm>
            <a:off x="4160535" y="3901283"/>
            <a:ext cx="909416" cy="299633"/>
          </a:xfrm>
          <a:prstGeom prst="roundRect">
            <a:avLst>
              <a:gd name="adj" fmla="val 21192"/>
            </a:avLst>
          </a:prstGeom>
          <a:solidFill>
            <a:srgbClr val="FCFDFF"/>
          </a:solidFill>
          <a:ln/>
        </p:spPr>
      </p:sp>
      <p:sp>
        <p:nvSpPr>
          <p:cNvPr id="38" name="Text 33"/>
          <p:cNvSpPr txBox="1"/>
          <p:nvPr/>
        </p:nvSpPr>
        <p:spPr>
          <a:xfrm>
            <a:off x="4249433" y="3952082"/>
            <a:ext cx="81941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provider</a:t>
            </a:r>
            <a:endParaRPr lang="en-US" sz="1200" dirty="0"/>
          </a:p>
        </p:txBody>
      </p:sp>
      <p:sp>
        <p:nvSpPr>
          <p:cNvPr id="39" name="Shape 34"/>
          <p:cNvSpPr/>
          <p:nvPr/>
        </p:nvSpPr>
        <p:spPr>
          <a:xfrm>
            <a:off x="5120750" y="3901283"/>
            <a:ext cx="818038" cy="299633"/>
          </a:xfrm>
          <a:prstGeom prst="roundRect">
            <a:avLst>
              <a:gd name="adj" fmla="val 21192"/>
            </a:avLst>
          </a:prstGeom>
          <a:solidFill>
            <a:srgbClr val="FCFDFF"/>
          </a:solidFill>
          <a:ln/>
        </p:spPr>
      </p:sp>
      <p:sp>
        <p:nvSpPr>
          <p:cNvPr id="40" name="Text 35"/>
          <p:cNvSpPr txBox="1"/>
          <p:nvPr/>
        </p:nvSpPr>
        <p:spPr>
          <a:xfrm>
            <a:off x="5209648" y="3952082"/>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booking</a:t>
            </a:r>
            <a:endParaRPr lang="en-US" sz="1200" dirty="0"/>
          </a:p>
        </p:txBody>
      </p:sp>
      <p:sp>
        <p:nvSpPr>
          <p:cNvPr id="41" name="Shape 36"/>
          <p:cNvSpPr/>
          <p:nvPr/>
        </p:nvSpPr>
        <p:spPr>
          <a:xfrm>
            <a:off x="5989587" y="3901283"/>
            <a:ext cx="818038" cy="299633"/>
          </a:xfrm>
          <a:prstGeom prst="roundRect">
            <a:avLst>
              <a:gd name="adj" fmla="val 21192"/>
            </a:avLst>
          </a:prstGeom>
          <a:solidFill>
            <a:srgbClr val="FCFDFF"/>
          </a:solidFill>
          <a:ln/>
        </p:spPr>
      </p:sp>
      <p:sp>
        <p:nvSpPr>
          <p:cNvPr id="42" name="Text 37"/>
          <p:cNvSpPr txBox="1"/>
          <p:nvPr/>
        </p:nvSpPr>
        <p:spPr>
          <a:xfrm>
            <a:off x="6078485" y="3952082"/>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catalog</a:t>
            </a:r>
            <a:endParaRPr lang="en-US" sz="1200" dirty="0"/>
          </a:p>
        </p:txBody>
      </p:sp>
      <p:sp>
        <p:nvSpPr>
          <p:cNvPr id="43" name="Shape 38"/>
          <p:cNvSpPr/>
          <p:nvPr/>
        </p:nvSpPr>
        <p:spPr>
          <a:xfrm>
            <a:off x="6858424" y="3901283"/>
            <a:ext cx="818038" cy="299633"/>
          </a:xfrm>
          <a:prstGeom prst="roundRect">
            <a:avLst>
              <a:gd name="adj" fmla="val 21192"/>
            </a:avLst>
          </a:prstGeom>
          <a:solidFill>
            <a:srgbClr val="FCFDFF"/>
          </a:solidFill>
          <a:ln/>
        </p:spPr>
      </p:sp>
      <p:sp>
        <p:nvSpPr>
          <p:cNvPr id="44" name="Text 39"/>
          <p:cNvSpPr txBox="1"/>
          <p:nvPr/>
        </p:nvSpPr>
        <p:spPr>
          <a:xfrm>
            <a:off x="6947322" y="3952082"/>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pricing</a:t>
            </a:r>
            <a:endParaRPr lang="en-US" sz="1200" dirty="0"/>
          </a:p>
        </p:txBody>
      </p:sp>
      <p:sp>
        <p:nvSpPr>
          <p:cNvPr id="45" name="Shape 40"/>
          <p:cNvSpPr/>
          <p:nvPr/>
        </p:nvSpPr>
        <p:spPr>
          <a:xfrm>
            <a:off x="3200320" y="4251715"/>
            <a:ext cx="909416" cy="299633"/>
          </a:xfrm>
          <a:prstGeom prst="roundRect">
            <a:avLst>
              <a:gd name="adj" fmla="val 21192"/>
            </a:avLst>
          </a:prstGeom>
          <a:solidFill>
            <a:srgbClr val="FCFDFF"/>
          </a:solidFill>
          <a:ln/>
        </p:spPr>
      </p:sp>
      <p:sp>
        <p:nvSpPr>
          <p:cNvPr id="46" name="Text 41"/>
          <p:cNvSpPr txBox="1"/>
          <p:nvPr/>
        </p:nvSpPr>
        <p:spPr>
          <a:xfrm>
            <a:off x="3289218" y="4302514"/>
            <a:ext cx="81941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dispatch</a:t>
            </a:r>
            <a:endParaRPr lang="en-US" sz="1200" dirty="0"/>
          </a:p>
        </p:txBody>
      </p:sp>
      <p:sp>
        <p:nvSpPr>
          <p:cNvPr id="47" name="Shape 42"/>
          <p:cNvSpPr/>
          <p:nvPr/>
        </p:nvSpPr>
        <p:spPr>
          <a:xfrm>
            <a:off x="4160535" y="4251715"/>
            <a:ext cx="818038" cy="299633"/>
          </a:xfrm>
          <a:prstGeom prst="roundRect">
            <a:avLst>
              <a:gd name="adj" fmla="val 21192"/>
            </a:avLst>
          </a:prstGeom>
          <a:solidFill>
            <a:srgbClr val="FCFDFF"/>
          </a:solidFill>
          <a:ln/>
        </p:spPr>
      </p:sp>
      <p:sp>
        <p:nvSpPr>
          <p:cNvPr id="48" name="Text 43"/>
          <p:cNvSpPr txBox="1"/>
          <p:nvPr/>
        </p:nvSpPr>
        <p:spPr>
          <a:xfrm>
            <a:off x="4249433" y="4302514"/>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payment</a:t>
            </a:r>
            <a:endParaRPr lang="en-US" sz="1200" dirty="0"/>
          </a:p>
        </p:txBody>
      </p:sp>
      <p:sp>
        <p:nvSpPr>
          <p:cNvPr id="49" name="Shape 44"/>
          <p:cNvSpPr/>
          <p:nvPr/>
        </p:nvSpPr>
        <p:spPr>
          <a:xfrm>
            <a:off x="5029372" y="4251715"/>
            <a:ext cx="818038" cy="299633"/>
          </a:xfrm>
          <a:prstGeom prst="roundRect">
            <a:avLst>
              <a:gd name="adj" fmla="val 21192"/>
            </a:avLst>
          </a:prstGeom>
          <a:solidFill>
            <a:srgbClr val="FCFDFF"/>
          </a:solidFill>
          <a:ln/>
        </p:spPr>
      </p:sp>
      <p:sp>
        <p:nvSpPr>
          <p:cNvPr id="50" name="Text 45"/>
          <p:cNvSpPr txBox="1"/>
          <p:nvPr/>
        </p:nvSpPr>
        <p:spPr>
          <a:xfrm>
            <a:off x="5118270" y="4302514"/>
            <a:ext cx="71707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invoice</a:t>
            </a:r>
            <a:endParaRPr lang="en-US" sz="1200" dirty="0"/>
          </a:p>
        </p:txBody>
      </p:sp>
      <p:sp>
        <p:nvSpPr>
          <p:cNvPr id="51" name="Shape 46"/>
          <p:cNvSpPr/>
          <p:nvPr/>
        </p:nvSpPr>
        <p:spPr>
          <a:xfrm>
            <a:off x="5898209" y="4251715"/>
            <a:ext cx="1275227" cy="299633"/>
          </a:xfrm>
          <a:prstGeom prst="roundRect">
            <a:avLst>
              <a:gd name="adj" fmla="val 21192"/>
            </a:avLst>
          </a:prstGeom>
          <a:solidFill>
            <a:srgbClr val="FCFDFF"/>
          </a:solidFill>
          <a:ln/>
        </p:spPr>
      </p:sp>
      <p:sp>
        <p:nvSpPr>
          <p:cNvPr id="52" name="Text 47"/>
          <p:cNvSpPr txBox="1"/>
          <p:nvPr/>
        </p:nvSpPr>
        <p:spPr>
          <a:xfrm>
            <a:off x="5987107" y="4302514"/>
            <a:ext cx="122912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notification</a:t>
            </a:r>
            <a:endParaRPr lang="en-US" sz="1200" dirty="0"/>
          </a:p>
        </p:txBody>
      </p:sp>
      <p:sp>
        <p:nvSpPr>
          <p:cNvPr id="53" name="Shape 48"/>
          <p:cNvSpPr/>
          <p:nvPr/>
        </p:nvSpPr>
        <p:spPr>
          <a:xfrm>
            <a:off x="3200320" y="4602147"/>
            <a:ext cx="1000894" cy="299633"/>
          </a:xfrm>
          <a:prstGeom prst="roundRect">
            <a:avLst>
              <a:gd name="adj" fmla="val 21192"/>
            </a:avLst>
          </a:prstGeom>
          <a:solidFill>
            <a:srgbClr val="FCFDFF"/>
          </a:solidFill>
          <a:ln/>
        </p:spPr>
      </p:sp>
      <p:sp>
        <p:nvSpPr>
          <p:cNvPr id="54" name="Text 49"/>
          <p:cNvSpPr txBox="1"/>
          <p:nvPr/>
        </p:nvSpPr>
        <p:spPr>
          <a:xfrm>
            <a:off x="3289218" y="4652945"/>
            <a:ext cx="921870"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complaint</a:t>
            </a:r>
            <a:endParaRPr lang="en-US" sz="1200" dirty="0"/>
          </a:p>
        </p:txBody>
      </p:sp>
      <p:sp>
        <p:nvSpPr>
          <p:cNvPr id="55" name="Shape 50"/>
          <p:cNvSpPr/>
          <p:nvPr/>
        </p:nvSpPr>
        <p:spPr>
          <a:xfrm>
            <a:off x="4252012" y="4602147"/>
            <a:ext cx="909416" cy="299633"/>
          </a:xfrm>
          <a:prstGeom prst="roundRect">
            <a:avLst>
              <a:gd name="adj" fmla="val 21192"/>
            </a:avLst>
          </a:prstGeom>
          <a:solidFill>
            <a:srgbClr val="FCFDFF"/>
          </a:solidFill>
          <a:ln/>
        </p:spPr>
      </p:sp>
      <p:sp>
        <p:nvSpPr>
          <p:cNvPr id="56" name="Text 51"/>
          <p:cNvSpPr txBox="1"/>
          <p:nvPr/>
        </p:nvSpPr>
        <p:spPr>
          <a:xfrm>
            <a:off x="4340910" y="4652945"/>
            <a:ext cx="81941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location</a:t>
            </a:r>
            <a:endParaRPr lang="en-US" sz="1200" dirty="0"/>
          </a:p>
        </p:txBody>
      </p:sp>
      <p:sp>
        <p:nvSpPr>
          <p:cNvPr id="57" name="Shape 52"/>
          <p:cNvSpPr/>
          <p:nvPr/>
        </p:nvSpPr>
        <p:spPr>
          <a:xfrm>
            <a:off x="5212228" y="4602147"/>
            <a:ext cx="543606" cy="299633"/>
          </a:xfrm>
          <a:prstGeom prst="roundRect">
            <a:avLst>
              <a:gd name="adj" fmla="val 21192"/>
            </a:avLst>
          </a:prstGeom>
          <a:solidFill>
            <a:srgbClr val="FCFDFF"/>
          </a:solidFill>
          <a:ln/>
        </p:spPr>
      </p:sp>
      <p:sp>
        <p:nvSpPr>
          <p:cNvPr id="58" name="Text 53"/>
          <p:cNvSpPr txBox="1"/>
          <p:nvPr/>
        </p:nvSpPr>
        <p:spPr>
          <a:xfrm>
            <a:off x="5301125" y="4652945"/>
            <a:ext cx="442008"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chat</a:t>
            </a:r>
            <a:endParaRPr lang="en-US" sz="1200" dirty="0"/>
          </a:p>
        </p:txBody>
      </p:sp>
      <p:sp>
        <p:nvSpPr>
          <p:cNvPr id="59" name="Shape 54"/>
          <p:cNvSpPr/>
          <p:nvPr/>
        </p:nvSpPr>
        <p:spPr>
          <a:xfrm>
            <a:off x="5806632" y="4602147"/>
            <a:ext cx="1275227" cy="299633"/>
          </a:xfrm>
          <a:prstGeom prst="roundRect">
            <a:avLst>
              <a:gd name="adj" fmla="val 21192"/>
            </a:avLst>
          </a:prstGeom>
          <a:solidFill>
            <a:srgbClr val="FCFDFF"/>
          </a:solidFill>
          <a:ln/>
        </p:spPr>
      </p:sp>
      <p:sp>
        <p:nvSpPr>
          <p:cNvPr id="60" name="Text 55"/>
          <p:cNvSpPr txBox="1"/>
          <p:nvPr/>
        </p:nvSpPr>
        <p:spPr>
          <a:xfrm>
            <a:off x="5895530" y="4652945"/>
            <a:ext cx="122912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verification</a:t>
            </a:r>
            <a:endParaRPr lang="en-US" sz="1200" dirty="0"/>
          </a:p>
        </p:txBody>
      </p:sp>
      <p:sp>
        <p:nvSpPr>
          <p:cNvPr id="61" name="Shape 56"/>
          <p:cNvSpPr/>
          <p:nvPr/>
        </p:nvSpPr>
        <p:spPr>
          <a:xfrm>
            <a:off x="7132658" y="4602147"/>
            <a:ext cx="635083" cy="299633"/>
          </a:xfrm>
          <a:prstGeom prst="roundRect">
            <a:avLst>
              <a:gd name="adj" fmla="val 21192"/>
            </a:avLst>
          </a:prstGeom>
          <a:solidFill>
            <a:srgbClr val="FCFDFF"/>
          </a:solidFill>
          <a:ln/>
        </p:spPr>
      </p:sp>
      <p:sp>
        <p:nvSpPr>
          <p:cNvPr id="62" name="Text 57"/>
          <p:cNvSpPr txBox="1"/>
          <p:nvPr/>
        </p:nvSpPr>
        <p:spPr>
          <a:xfrm>
            <a:off x="7221555" y="4652945"/>
            <a:ext cx="53348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admin</a:t>
            </a:r>
            <a:endParaRPr lang="en-US" sz="1200" dirty="0"/>
          </a:p>
        </p:txBody>
      </p:sp>
      <p:sp>
        <p:nvSpPr>
          <p:cNvPr id="63" name="Shape 58"/>
          <p:cNvSpPr/>
          <p:nvPr/>
        </p:nvSpPr>
        <p:spPr>
          <a:xfrm>
            <a:off x="3200320" y="4952579"/>
            <a:ext cx="1000894" cy="299633"/>
          </a:xfrm>
          <a:prstGeom prst="roundRect">
            <a:avLst>
              <a:gd name="adj" fmla="val 21192"/>
            </a:avLst>
          </a:prstGeom>
          <a:solidFill>
            <a:srgbClr val="FCFDFF"/>
          </a:solidFill>
          <a:ln/>
        </p:spPr>
      </p:sp>
      <p:sp>
        <p:nvSpPr>
          <p:cNvPr id="64" name="Text 59"/>
          <p:cNvSpPr txBox="1"/>
          <p:nvPr/>
        </p:nvSpPr>
        <p:spPr>
          <a:xfrm>
            <a:off x="3289218" y="5003377"/>
            <a:ext cx="921870"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reporting</a:t>
            </a:r>
            <a:endParaRPr lang="en-US" sz="1200" dirty="0"/>
          </a:p>
        </p:txBody>
      </p:sp>
      <p:sp>
        <p:nvSpPr>
          <p:cNvPr id="65" name="Shape 60"/>
          <p:cNvSpPr/>
          <p:nvPr/>
        </p:nvSpPr>
        <p:spPr>
          <a:xfrm>
            <a:off x="4252012" y="4952579"/>
            <a:ext cx="726561" cy="299633"/>
          </a:xfrm>
          <a:prstGeom prst="roundRect">
            <a:avLst>
              <a:gd name="adj" fmla="val 21192"/>
            </a:avLst>
          </a:prstGeom>
          <a:solidFill>
            <a:srgbClr val="FCFDFF"/>
          </a:solidFill>
          <a:ln/>
        </p:spPr>
      </p:sp>
      <p:sp>
        <p:nvSpPr>
          <p:cNvPr id="66" name="Text 61"/>
          <p:cNvSpPr txBox="1"/>
          <p:nvPr/>
        </p:nvSpPr>
        <p:spPr>
          <a:xfrm>
            <a:off x="4340910" y="5003377"/>
            <a:ext cx="62496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rating</a:t>
            </a:r>
            <a:endParaRPr lang="en-US" sz="1200" dirty="0"/>
          </a:p>
        </p:txBody>
      </p:sp>
      <p:sp>
        <p:nvSpPr>
          <p:cNvPr id="67" name="Shape 62"/>
          <p:cNvSpPr/>
          <p:nvPr/>
        </p:nvSpPr>
        <p:spPr>
          <a:xfrm>
            <a:off x="5029372" y="4952579"/>
            <a:ext cx="1000894" cy="299633"/>
          </a:xfrm>
          <a:prstGeom prst="roundRect">
            <a:avLst>
              <a:gd name="adj" fmla="val 21192"/>
            </a:avLst>
          </a:prstGeom>
          <a:solidFill>
            <a:srgbClr val="FCFDFF"/>
          </a:solidFill>
          <a:ln/>
        </p:spPr>
      </p:sp>
      <p:sp>
        <p:nvSpPr>
          <p:cNvPr id="68" name="Text 63"/>
          <p:cNvSpPr txBox="1"/>
          <p:nvPr/>
        </p:nvSpPr>
        <p:spPr>
          <a:xfrm>
            <a:off x="5118270" y="5003377"/>
            <a:ext cx="921870"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promotion</a:t>
            </a:r>
            <a:endParaRPr lang="en-US" sz="1200" dirty="0"/>
          </a:p>
        </p:txBody>
      </p:sp>
      <p:sp>
        <p:nvSpPr>
          <p:cNvPr id="69" name="Shape 64"/>
          <p:cNvSpPr/>
          <p:nvPr/>
        </p:nvSpPr>
        <p:spPr>
          <a:xfrm>
            <a:off x="6081064" y="4952579"/>
            <a:ext cx="726561" cy="299633"/>
          </a:xfrm>
          <a:prstGeom prst="roundRect">
            <a:avLst>
              <a:gd name="adj" fmla="val 21192"/>
            </a:avLst>
          </a:prstGeom>
          <a:solidFill>
            <a:srgbClr val="FCFDFF"/>
          </a:solidFill>
          <a:ln/>
        </p:spPr>
      </p:sp>
      <p:sp>
        <p:nvSpPr>
          <p:cNvPr id="70" name="Text 65"/>
          <p:cNvSpPr txBox="1"/>
          <p:nvPr/>
        </p:nvSpPr>
        <p:spPr>
          <a:xfrm>
            <a:off x="6169962" y="5003377"/>
            <a:ext cx="62496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ourier New" pitchFamily="34" charset="0"/>
                <a:ea typeface="Courier New" pitchFamily="34" charset="-122"/>
                <a:cs typeface="Courier New" pitchFamily="34" charset="-120"/>
              </a:rPr>
              <a:t>outbox</a:t>
            </a:r>
            <a:endParaRPr lang="en-US" sz="1200" dirty="0"/>
          </a:p>
        </p:txBody>
      </p:sp>
      <p:sp>
        <p:nvSpPr>
          <p:cNvPr id="71" name="Text 66"/>
          <p:cNvSpPr txBox="1"/>
          <p:nvPr/>
        </p:nvSpPr>
        <p:spPr>
          <a:xfrm>
            <a:off x="8762781" y="1904952"/>
            <a:ext cx="2773611"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via host.docker.internal</a:t>
            </a:r>
            <a:endParaRPr lang="en-US" sz="1200" dirty="0"/>
          </a:p>
        </p:txBody>
      </p:sp>
      <p:sp>
        <p:nvSpPr>
          <p:cNvPr id="72" name="Shape 67"/>
          <p:cNvSpPr/>
          <p:nvPr/>
        </p:nvSpPr>
        <p:spPr>
          <a:xfrm>
            <a:off x="8762781" y="2222444"/>
            <a:ext cx="2476438" cy="888978"/>
          </a:xfrm>
          <a:prstGeom prst="roundRect">
            <a:avLst>
              <a:gd name="adj" fmla="val 10000"/>
            </a:avLst>
          </a:prstGeom>
          <a:solidFill>
            <a:srgbClr val="FCFDFF"/>
          </a:solidFill>
          <a:ln w="12700">
            <a:solidFill>
              <a:srgbClr val="2F5C9A"/>
            </a:solidFill>
            <a:prstDash val="solid"/>
          </a:ln>
        </p:spPr>
      </p:sp>
      <p:sp>
        <p:nvSpPr>
          <p:cNvPr id="73" name="Shape 68"/>
          <p:cNvSpPr/>
          <p:nvPr/>
        </p:nvSpPr>
        <p:spPr>
          <a:xfrm>
            <a:off x="8762781" y="2222444"/>
            <a:ext cx="50799" cy="888978"/>
          </a:xfrm>
          <a:prstGeom prst="roundRect">
            <a:avLst>
              <a:gd name="adj" fmla="val 50000"/>
            </a:avLst>
          </a:prstGeom>
          <a:solidFill>
            <a:srgbClr val="2F5C9A"/>
          </a:solidFill>
          <a:ln/>
        </p:spPr>
      </p:sp>
      <p:pic>
        <p:nvPicPr>
          <p:cNvPr id="74" name="Image 3" descr="preencoded.png">    </p:cNvPr>
          <p:cNvPicPr>
            <a:picLocks noChangeAspect="1"/>
          </p:cNvPicPr>
          <p:nvPr/>
        </p:nvPicPr>
        <p:blipFill>
          <a:blip r:embed="rId4"/>
          <a:stretch>
            <a:fillRect/>
          </a:stretch>
        </p:blipFill>
        <p:spPr>
          <a:xfrm>
            <a:off x="8927877" y="2327812"/>
            <a:ext cx="190495" cy="190495"/>
          </a:xfrm>
          <a:prstGeom prst="rect">
            <a:avLst/>
          </a:prstGeom>
        </p:spPr>
      </p:pic>
      <p:sp>
        <p:nvSpPr>
          <p:cNvPr id="75" name="Text 69"/>
          <p:cNvSpPr txBox="1"/>
          <p:nvPr/>
        </p:nvSpPr>
        <p:spPr>
          <a:xfrm>
            <a:off x="9181870" y="2324042"/>
            <a:ext cx="1228901"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PostgreSQL 18</a:t>
            </a:r>
            <a:endParaRPr lang="en-US" sz="1300" dirty="0"/>
          </a:p>
        </p:txBody>
      </p:sp>
      <p:sp>
        <p:nvSpPr>
          <p:cNvPr id="76" name="Text 70"/>
          <p:cNvSpPr txBox="1"/>
          <p:nvPr/>
        </p:nvSpPr>
        <p:spPr>
          <a:xfrm>
            <a:off x="8927877" y="2547477"/>
            <a:ext cx="2446467"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Windows service · :5432</a:t>
            </a:r>
            <a:endParaRPr lang="en-US" sz="1200" dirty="0"/>
          </a:p>
        </p:txBody>
      </p:sp>
      <p:sp>
        <p:nvSpPr>
          <p:cNvPr id="77" name="Shape 71"/>
          <p:cNvSpPr/>
          <p:nvPr/>
        </p:nvSpPr>
        <p:spPr>
          <a:xfrm>
            <a:off x="8762781" y="3301917"/>
            <a:ext cx="2476438" cy="888978"/>
          </a:xfrm>
          <a:prstGeom prst="roundRect">
            <a:avLst>
              <a:gd name="adj" fmla="val 10000"/>
            </a:avLst>
          </a:prstGeom>
          <a:solidFill>
            <a:srgbClr val="FCFDFF"/>
          </a:solidFill>
          <a:ln w="12700">
            <a:solidFill>
              <a:srgbClr val="C0352B"/>
            </a:solidFill>
            <a:prstDash val="solid"/>
          </a:ln>
        </p:spPr>
      </p:sp>
      <p:sp>
        <p:nvSpPr>
          <p:cNvPr id="78" name="Shape 72"/>
          <p:cNvSpPr/>
          <p:nvPr/>
        </p:nvSpPr>
        <p:spPr>
          <a:xfrm>
            <a:off x="8762781" y="3301917"/>
            <a:ext cx="50799" cy="888978"/>
          </a:xfrm>
          <a:prstGeom prst="roundRect">
            <a:avLst>
              <a:gd name="adj" fmla="val 50000"/>
            </a:avLst>
          </a:prstGeom>
          <a:solidFill>
            <a:srgbClr val="C0352B"/>
          </a:solidFill>
          <a:ln/>
        </p:spPr>
      </p:sp>
      <p:pic>
        <p:nvPicPr>
          <p:cNvPr id="79" name="Image 4" descr="preencoded.png">    </p:cNvPr>
          <p:cNvPicPr>
            <a:picLocks noChangeAspect="1"/>
          </p:cNvPicPr>
          <p:nvPr/>
        </p:nvPicPr>
        <p:blipFill>
          <a:blip r:embed="rId5"/>
          <a:stretch>
            <a:fillRect/>
          </a:stretch>
        </p:blipFill>
        <p:spPr>
          <a:xfrm>
            <a:off x="8927877" y="3407285"/>
            <a:ext cx="190495" cy="190495"/>
          </a:xfrm>
          <a:prstGeom prst="rect">
            <a:avLst/>
          </a:prstGeom>
        </p:spPr>
      </p:pic>
      <p:sp>
        <p:nvSpPr>
          <p:cNvPr id="80" name="Text 73"/>
          <p:cNvSpPr txBox="1"/>
          <p:nvPr/>
        </p:nvSpPr>
        <p:spPr>
          <a:xfrm>
            <a:off x="9181870" y="3403515"/>
            <a:ext cx="488144"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Redis</a:t>
            </a:r>
            <a:endParaRPr lang="en-US" sz="1300" dirty="0"/>
          </a:p>
        </p:txBody>
      </p:sp>
      <p:sp>
        <p:nvSpPr>
          <p:cNvPr id="81" name="Text 74"/>
          <p:cNvSpPr txBox="1"/>
          <p:nvPr/>
        </p:nvSpPr>
        <p:spPr>
          <a:xfrm>
            <a:off x="8927877" y="3626950"/>
            <a:ext cx="2446467"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Memurai or container · :6379</a:t>
            </a:r>
            <a:endParaRPr lang="en-US" sz="1200" dirty="0"/>
          </a:p>
        </p:txBody>
      </p:sp>
      <p:sp>
        <p:nvSpPr>
          <p:cNvPr id="82" name="Shape 75"/>
          <p:cNvSpPr/>
          <p:nvPr/>
        </p:nvSpPr>
        <p:spPr>
          <a:xfrm>
            <a:off x="8762781" y="4381390"/>
            <a:ext cx="2476438" cy="1206470"/>
          </a:xfrm>
          <a:prstGeom prst="roundRect">
            <a:avLst>
              <a:gd name="adj" fmla="val 7368"/>
            </a:avLst>
          </a:prstGeom>
          <a:solidFill>
            <a:srgbClr val="FCFDFF"/>
          </a:solidFill>
          <a:ln w="12700">
            <a:solidFill>
              <a:srgbClr val="4B4B9A"/>
            </a:solidFill>
            <a:prstDash val="solid"/>
          </a:ln>
        </p:spPr>
      </p:sp>
      <p:sp>
        <p:nvSpPr>
          <p:cNvPr id="83" name="Shape 76"/>
          <p:cNvSpPr/>
          <p:nvPr/>
        </p:nvSpPr>
        <p:spPr>
          <a:xfrm>
            <a:off x="8762781" y="4381390"/>
            <a:ext cx="50799" cy="1206470"/>
          </a:xfrm>
          <a:prstGeom prst="roundRect">
            <a:avLst>
              <a:gd name="adj" fmla="val 50000"/>
            </a:avLst>
          </a:prstGeom>
          <a:solidFill>
            <a:srgbClr val="4B4B9A"/>
          </a:solidFill>
          <a:ln/>
        </p:spPr>
      </p:sp>
      <p:pic>
        <p:nvPicPr>
          <p:cNvPr id="84" name="Image 5" descr="preencoded.png">    </p:cNvPr>
          <p:cNvPicPr>
            <a:picLocks noChangeAspect="1"/>
          </p:cNvPicPr>
          <p:nvPr/>
        </p:nvPicPr>
        <p:blipFill>
          <a:blip r:embed="rId6"/>
          <a:stretch>
            <a:fillRect/>
          </a:stretch>
        </p:blipFill>
        <p:spPr>
          <a:xfrm>
            <a:off x="8927877" y="4486758"/>
            <a:ext cx="190495" cy="190495"/>
          </a:xfrm>
          <a:prstGeom prst="rect">
            <a:avLst/>
          </a:prstGeom>
        </p:spPr>
      </p:pic>
      <p:sp>
        <p:nvSpPr>
          <p:cNvPr id="85" name="Text 77"/>
          <p:cNvSpPr txBox="1"/>
          <p:nvPr/>
        </p:nvSpPr>
        <p:spPr>
          <a:xfrm>
            <a:off x="9181870" y="4482988"/>
            <a:ext cx="1338245"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Kafka 4.1 KRaft</a:t>
            </a:r>
            <a:endParaRPr lang="en-US" sz="1300" dirty="0"/>
          </a:p>
        </p:txBody>
      </p:sp>
      <p:sp>
        <p:nvSpPr>
          <p:cNvPr id="86" name="Text 78"/>
          <p:cNvSpPr txBox="1"/>
          <p:nvPr/>
        </p:nvSpPr>
        <p:spPr>
          <a:xfrm>
            <a:off x="8927877" y="4706423"/>
            <a:ext cx="2446467"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C:\kafka · :9094</a:t>
            </a:r>
            <a:endParaRPr lang="en-US" sz="1200" dirty="0"/>
          </a:p>
        </p:txBody>
      </p:sp>
      <p:sp>
        <p:nvSpPr>
          <p:cNvPr id="87" name="Text 79"/>
          <p:cNvSpPr txBox="1"/>
          <p:nvPr/>
        </p:nvSpPr>
        <p:spPr>
          <a:xfrm>
            <a:off x="8927877" y="4937498"/>
            <a:ext cx="2446467"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start by hand after reboot</a:t>
            </a:r>
            <a:endParaRPr lang="en-US" sz="1200" dirty="0"/>
          </a:p>
        </p:txBody>
      </p:sp>
      <p:sp>
        <p:nvSpPr>
          <p:cNvPr id="88" name="Shape 80"/>
          <p:cNvSpPr/>
          <p:nvPr/>
        </p:nvSpPr>
        <p:spPr>
          <a:xfrm>
            <a:off x="2666933" y="2889178"/>
            <a:ext cx="406390" cy="63"/>
          </a:xfrm>
          <a:prstGeom prst="line">
            <a:avLst/>
          </a:prstGeom>
          <a:noFill/>
          <a:ln w="19050">
            <a:solidFill>
              <a:srgbClr val="5C6B8A"/>
            </a:solidFill>
            <a:prstDash val="solid"/>
            <a:tailEnd type="triangle"/>
          </a:ln>
        </p:spPr>
      </p:sp>
      <p:sp>
        <p:nvSpPr>
          <p:cNvPr id="89" name="Shape 81"/>
          <p:cNvSpPr/>
          <p:nvPr/>
        </p:nvSpPr>
        <p:spPr>
          <a:xfrm>
            <a:off x="4660783" y="2889178"/>
            <a:ext cx="190495" cy="63"/>
          </a:xfrm>
          <a:prstGeom prst="line">
            <a:avLst/>
          </a:prstGeom>
          <a:noFill/>
          <a:ln w="19050">
            <a:solidFill>
              <a:srgbClr val="5C6B8A"/>
            </a:solidFill>
            <a:prstDash val="solid"/>
            <a:tailEnd type="triangle"/>
          </a:ln>
        </p:spPr>
      </p:sp>
      <p:sp>
        <p:nvSpPr>
          <p:cNvPr id="90" name="Shape 82"/>
          <p:cNvSpPr/>
          <p:nvPr/>
        </p:nvSpPr>
        <p:spPr>
          <a:xfrm>
            <a:off x="6438739" y="2889178"/>
            <a:ext cx="190495" cy="63"/>
          </a:xfrm>
          <a:prstGeom prst="line">
            <a:avLst/>
          </a:prstGeom>
          <a:noFill/>
          <a:ln w="19050">
            <a:solidFill>
              <a:srgbClr val="5C6B8A"/>
            </a:solidFill>
            <a:prstDash val="solid"/>
            <a:tailEnd type="triangle"/>
          </a:ln>
        </p:spPr>
      </p:sp>
      <p:sp>
        <p:nvSpPr>
          <p:cNvPr id="91" name="Shape 83"/>
          <p:cNvSpPr/>
          <p:nvPr/>
        </p:nvSpPr>
        <p:spPr>
          <a:xfrm>
            <a:off x="8508787" y="2666933"/>
            <a:ext cx="253994" cy="63"/>
          </a:xfrm>
          <a:prstGeom prst="line">
            <a:avLst/>
          </a:prstGeom>
          <a:noFill/>
          <a:ln w="19050">
            <a:solidFill>
              <a:srgbClr val="2F5C9A"/>
            </a:solidFill>
            <a:prstDash val="solid"/>
            <a:headEnd type="triangle"/>
            <a:tailEnd type="triangle"/>
          </a:ln>
        </p:spPr>
      </p:sp>
      <p:sp>
        <p:nvSpPr>
          <p:cNvPr id="92" name="Shape 84"/>
          <p:cNvSpPr/>
          <p:nvPr/>
        </p:nvSpPr>
        <p:spPr>
          <a:xfrm>
            <a:off x="8508787" y="3746406"/>
            <a:ext cx="253994" cy="63"/>
          </a:xfrm>
          <a:prstGeom prst="line">
            <a:avLst/>
          </a:prstGeom>
          <a:noFill/>
          <a:ln w="19050">
            <a:solidFill>
              <a:srgbClr val="C0352B"/>
            </a:solidFill>
            <a:prstDash val="solid"/>
            <a:headEnd type="triangle"/>
            <a:tailEnd type="triangle"/>
          </a:ln>
        </p:spPr>
      </p:sp>
      <p:sp>
        <p:nvSpPr>
          <p:cNvPr id="93" name="Shape 85"/>
          <p:cNvSpPr/>
          <p:nvPr/>
        </p:nvSpPr>
        <p:spPr>
          <a:xfrm>
            <a:off x="8508787" y="4984625"/>
            <a:ext cx="253994" cy="63"/>
          </a:xfrm>
          <a:prstGeom prst="line">
            <a:avLst/>
          </a:prstGeom>
          <a:noFill/>
          <a:ln w="19050">
            <a:solidFill>
              <a:srgbClr val="4B4B9A"/>
            </a:solidFill>
            <a:prstDash val="solid"/>
            <a:headEnd type="triangle"/>
            <a:tailEnd type="triangle"/>
          </a:ln>
        </p:spPr>
      </p:sp>
      <p:sp>
        <p:nvSpPr>
          <p:cNvPr id="94" name="Text 86"/>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Local deployment</a:t>
            </a:r>
            <a:endParaRPr lang="en-US" sz="1200" dirty="0"/>
          </a:p>
        </p:txBody>
      </p:sp>
      <p:sp>
        <p:nvSpPr>
          <p:cNvPr id="95" name="Text 87"/>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LOCAL DEPLOYMENT · STEPS 1–5</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Build the jars, then start twenty containers</a:t>
            </a:r>
            <a:endParaRPr lang="en-US" sz="3000" dirty="0"/>
          </a:p>
        </p:txBody>
      </p:sp>
      <p:sp>
        <p:nvSpPr>
          <p:cNvPr id="4" name="Shape 2"/>
          <p:cNvSpPr/>
          <p:nvPr/>
        </p:nvSpPr>
        <p:spPr>
          <a:xfrm>
            <a:off x="812780" y="1775376"/>
            <a:ext cx="10566136" cy="63"/>
          </a:xfrm>
          <a:prstGeom prst="line">
            <a:avLst/>
          </a:prstGeom>
          <a:noFill/>
          <a:ln w="6350">
            <a:solidFill>
              <a:srgbClr val="D5DEEC"/>
            </a:solidFill>
            <a:prstDash val="solid"/>
          </a:ln>
        </p:spPr>
      </p:sp>
      <p:sp>
        <p:nvSpPr>
          <p:cNvPr id="5" name="Text 3"/>
          <p:cNvSpPr txBox="1"/>
          <p:nvPr/>
        </p:nvSpPr>
        <p:spPr>
          <a:xfrm>
            <a:off x="812780" y="1950592"/>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01</a:t>
            </a:r>
            <a:endParaRPr lang="en-US" sz="1600" dirty="0"/>
          </a:p>
        </p:txBody>
      </p:sp>
      <p:sp>
        <p:nvSpPr>
          <p:cNvPr id="6" name="Text 4"/>
          <p:cNvSpPr txBox="1"/>
          <p:nvPr/>
        </p:nvSpPr>
        <p:spPr>
          <a:xfrm>
            <a:off x="1203295" y="1857924"/>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Create .env</a:t>
            </a:r>
            <a:endParaRPr lang="en-US" sz="1300" dirty="0"/>
          </a:p>
        </p:txBody>
      </p:sp>
      <p:sp>
        <p:nvSpPr>
          <p:cNvPr id="7" name="Text 5"/>
          <p:cNvSpPr txBox="1"/>
          <p:nvPr/>
        </p:nvSpPr>
        <p:spPr>
          <a:xfrm>
            <a:off x="1203295" y="2114398"/>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Fill every secret with a fresh value</a:t>
            </a:r>
            <a:endParaRPr lang="en-US" sz="1200" dirty="0"/>
          </a:p>
        </p:txBody>
      </p:sp>
      <p:sp>
        <p:nvSpPr>
          <p:cNvPr id="8" name="Shape 6"/>
          <p:cNvSpPr/>
          <p:nvPr/>
        </p:nvSpPr>
        <p:spPr>
          <a:xfrm>
            <a:off x="5248144" y="1909913"/>
            <a:ext cx="6130772" cy="365711"/>
          </a:xfrm>
          <a:prstGeom prst="roundRect">
            <a:avLst>
              <a:gd name="adj" fmla="val 13890"/>
            </a:avLst>
          </a:prstGeom>
          <a:solidFill>
            <a:srgbClr val="E7EEFA"/>
          </a:solidFill>
          <a:ln/>
        </p:spPr>
      </p:sp>
      <p:sp>
        <p:nvSpPr>
          <p:cNvPr id="9" name="Shape 7"/>
          <p:cNvSpPr/>
          <p:nvPr/>
        </p:nvSpPr>
        <p:spPr>
          <a:xfrm>
            <a:off x="5248144" y="1909913"/>
            <a:ext cx="38099" cy="365711"/>
          </a:xfrm>
          <a:prstGeom prst="roundRect">
            <a:avLst>
              <a:gd name="adj" fmla="val 50000"/>
            </a:avLst>
          </a:prstGeom>
          <a:solidFill>
            <a:srgbClr val="2454C5"/>
          </a:solidFill>
          <a:ln/>
        </p:spPr>
      </p:sp>
      <p:sp>
        <p:nvSpPr>
          <p:cNvPr id="10" name="Text 8"/>
          <p:cNvSpPr txBox="1"/>
          <p:nvPr/>
        </p:nvSpPr>
        <p:spPr>
          <a:xfrm>
            <a:off x="5413240" y="1986111"/>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cp .env.example .env</a:t>
            </a:r>
            <a:endParaRPr lang="en-US" sz="1200" dirty="0"/>
          </a:p>
        </p:txBody>
      </p:sp>
      <p:sp>
        <p:nvSpPr>
          <p:cNvPr id="11" name="Shape 9"/>
          <p:cNvSpPr/>
          <p:nvPr/>
        </p:nvSpPr>
        <p:spPr>
          <a:xfrm>
            <a:off x="812780" y="2403911"/>
            <a:ext cx="10566136" cy="63"/>
          </a:xfrm>
          <a:prstGeom prst="line">
            <a:avLst/>
          </a:prstGeom>
          <a:noFill/>
          <a:ln w="6350">
            <a:solidFill>
              <a:srgbClr val="D5DEEC"/>
            </a:solidFill>
            <a:prstDash val="solid"/>
          </a:ln>
        </p:spPr>
      </p:sp>
      <p:sp>
        <p:nvSpPr>
          <p:cNvPr id="12" name="Text 10"/>
          <p:cNvSpPr txBox="1"/>
          <p:nvPr/>
        </p:nvSpPr>
        <p:spPr>
          <a:xfrm>
            <a:off x="812780" y="2633696"/>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02</a:t>
            </a:r>
            <a:endParaRPr lang="en-US" sz="1600" dirty="0"/>
          </a:p>
        </p:txBody>
      </p:sp>
      <p:sp>
        <p:nvSpPr>
          <p:cNvPr id="13" name="Text 11"/>
          <p:cNvSpPr txBox="1"/>
          <p:nvPr/>
        </p:nvSpPr>
        <p:spPr>
          <a:xfrm>
            <a:off x="1203295" y="2541028"/>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Install shared libraries</a:t>
            </a:r>
            <a:endParaRPr lang="en-US" sz="1300" dirty="0"/>
          </a:p>
        </p:txBody>
      </p:sp>
      <p:sp>
        <p:nvSpPr>
          <p:cNvPr id="14" name="Text 12"/>
          <p:cNvSpPr txBox="1"/>
          <p:nvPr/>
        </p:nvSpPr>
        <p:spPr>
          <a:xfrm>
            <a:off x="1203295" y="2797502"/>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observability, security, resilience, outbox</a:t>
            </a:r>
            <a:endParaRPr lang="en-US" sz="1200" dirty="0"/>
          </a:p>
        </p:txBody>
      </p:sp>
      <p:sp>
        <p:nvSpPr>
          <p:cNvPr id="15" name="Shape 13"/>
          <p:cNvSpPr/>
          <p:nvPr/>
        </p:nvSpPr>
        <p:spPr>
          <a:xfrm>
            <a:off x="5248144" y="2486459"/>
            <a:ext cx="6130772" cy="579026"/>
          </a:xfrm>
          <a:prstGeom prst="roundRect">
            <a:avLst>
              <a:gd name="adj" fmla="val 8773"/>
            </a:avLst>
          </a:prstGeom>
          <a:solidFill>
            <a:srgbClr val="E7EEFA"/>
          </a:solidFill>
          <a:ln/>
        </p:spPr>
      </p:sp>
      <p:sp>
        <p:nvSpPr>
          <p:cNvPr id="16" name="Shape 14"/>
          <p:cNvSpPr/>
          <p:nvPr/>
        </p:nvSpPr>
        <p:spPr>
          <a:xfrm>
            <a:off x="5248144" y="2486459"/>
            <a:ext cx="38099" cy="579026"/>
          </a:xfrm>
          <a:prstGeom prst="roundRect">
            <a:avLst>
              <a:gd name="adj" fmla="val 50000"/>
            </a:avLst>
          </a:prstGeom>
          <a:solidFill>
            <a:srgbClr val="2454C5"/>
          </a:solidFill>
          <a:ln/>
        </p:spPr>
      </p:sp>
      <p:sp>
        <p:nvSpPr>
          <p:cNvPr id="17" name="Text 15"/>
          <p:cNvSpPr txBox="1"/>
          <p:nvPr/>
        </p:nvSpPr>
        <p:spPr>
          <a:xfrm>
            <a:off x="5413240" y="2562657"/>
            <a:ext cx="6539321" cy="426630"/>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cd shared/homefix-shared-&lt;lib&gt;</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mvn -q -DskipTests -Djacoco.skip=true install</a:t>
            </a:r>
            <a:endParaRPr lang="en-US" sz="1200" dirty="0"/>
          </a:p>
        </p:txBody>
      </p:sp>
      <p:sp>
        <p:nvSpPr>
          <p:cNvPr id="18" name="Shape 16"/>
          <p:cNvSpPr/>
          <p:nvPr/>
        </p:nvSpPr>
        <p:spPr>
          <a:xfrm>
            <a:off x="812780" y="3141683"/>
            <a:ext cx="10566136" cy="63"/>
          </a:xfrm>
          <a:prstGeom prst="line">
            <a:avLst/>
          </a:prstGeom>
          <a:noFill/>
          <a:ln w="6350">
            <a:solidFill>
              <a:srgbClr val="D5DEEC"/>
            </a:solidFill>
            <a:prstDash val="solid"/>
          </a:ln>
        </p:spPr>
      </p:sp>
      <p:sp>
        <p:nvSpPr>
          <p:cNvPr id="19" name="Text 17"/>
          <p:cNvSpPr txBox="1"/>
          <p:nvPr/>
        </p:nvSpPr>
        <p:spPr>
          <a:xfrm>
            <a:off x="812780" y="3371468"/>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03</a:t>
            </a:r>
            <a:endParaRPr lang="en-US" sz="1600" dirty="0"/>
          </a:p>
        </p:txBody>
      </p:sp>
      <p:sp>
        <p:nvSpPr>
          <p:cNvPr id="20" name="Text 18"/>
          <p:cNvSpPr txBox="1"/>
          <p:nvPr/>
        </p:nvSpPr>
        <p:spPr>
          <a:xfrm>
            <a:off x="1203295" y="3278800"/>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Package every service</a:t>
            </a:r>
            <a:endParaRPr lang="en-US" sz="1300" dirty="0"/>
          </a:p>
        </p:txBody>
      </p:sp>
      <p:sp>
        <p:nvSpPr>
          <p:cNvPr id="21" name="Text 19"/>
          <p:cNvSpPr txBox="1"/>
          <p:nvPr/>
        </p:nvSpPr>
        <p:spPr>
          <a:xfrm>
            <a:off x="1203295" y="3535274"/>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One at a time; images copy the jar</a:t>
            </a:r>
            <a:endParaRPr lang="en-US" sz="1200" dirty="0"/>
          </a:p>
        </p:txBody>
      </p:sp>
      <p:sp>
        <p:nvSpPr>
          <p:cNvPr id="22" name="Shape 20"/>
          <p:cNvSpPr/>
          <p:nvPr/>
        </p:nvSpPr>
        <p:spPr>
          <a:xfrm>
            <a:off x="5248144" y="3224231"/>
            <a:ext cx="6130772" cy="579026"/>
          </a:xfrm>
          <a:prstGeom prst="roundRect">
            <a:avLst>
              <a:gd name="adj" fmla="val 8773"/>
            </a:avLst>
          </a:prstGeom>
          <a:solidFill>
            <a:srgbClr val="E7EEFA"/>
          </a:solidFill>
          <a:ln/>
        </p:spPr>
      </p:sp>
      <p:sp>
        <p:nvSpPr>
          <p:cNvPr id="23" name="Shape 21"/>
          <p:cNvSpPr/>
          <p:nvPr/>
        </p:nvSpPr>
        <p:spPr>
          <a:xfrm>
            <a:off x="5248144" y="3224231"/>
            <a:ext cx="38099" cy="579026"/>
          </a:xfrm>
          <a:prstGeom prst="roundRect">
            <a:avLst>
              <a:gd name="adj" fmla="val 50000"/>
            </a:avLst>
          </a:prstGeom>
          <a:solidFill>
            <a:srgbClr val="2454C5"/>
          </a:solidFill>
          <a:ln/>
        </p:spPr>
      </p:sp>
      <p:sp>
        <p:nvSpPr>
          <p:cNvPr id="24" name="Text 22"/>
          <p:cNvSpPr txBox="1"/>
          <p:nvPr/>
        </p:nvSpPr>
        <p:spPr>
          <a:xfrm>
            <a:off x="5413240" y="3300429"/>
            <a:ext cx="6539321" cy="426630"/>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cd services/&lt;service&gt;</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mvn -q -DskipTests -Djacoco.skip=true package</a:t>
            </a:r>
            <a:endParaRPr lang="en-US" sz="1200" dirty="0"/>
          </a:p>
        </p:txBody>
      </p:sp>
      <p:sp>
        <p:nvSpPr>
          <p:cNvPr id="25" name="Shape 23"/>
          <p:cNvSpPr/>
          <p:nvPr/>
        </p:nvSpPr>
        <p:spPr>
          <a:xfrm>
            <a:off x="812780" y="3879455"/>
            <a:ext cx="10566136" cy="63"/>
          </a:xfrm>
          <a:prstGeom prst="line">
            <a:avLst/>
          </a:prstGeom>
          <a:noFill/>
          <a:ln w="6350">
            <a:solidFill>
              <a:srgbClr val="D5DEEC"/>
            </a:solidFill>
            <a:prstDash val="solid"/>
          </a:ln>
        </p:spPr>
      </p:sp>
      <p:sp>
        <p:nvSpPr>
          <p:cNvPr id="26" name="Text 24"/>
          <p:cNvSpPr txBox="1"/>
          <p:nvPr/>
        </p:nvSpPr>
        <p:spPr>
          <a:xfrm>
            <a:off x="812780" y="4109240"/>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04</a:t>
            </a:r>
            <a:endParaRPr lang="en-US" sz="1600" dirty="0"/>
          </a:p>
        </p:txBody>
      </p:sp>
      <p:sp>
        <p:nvSpPr>
          <p:cNvPr id="27" name="Text 25"/>
          <p:cNvSpPr txBox="1"/>
          <p:nvPr/>
        </p:nvSpPr>
        <p:spPr>
          <a:xfrm>
            <a:off x="1203295" y="4016572"/>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Start Kafka and Redis</a:t>
            </a:r>
            <a:endParaRPr lang="en-US" sz="1300" dirty="0"/>
          </a:p>
        </p:txBody>
      </p:sp>
      <p:sp>
        <p:nvSpPr>
          <p:cNvPr id="28" name="Text 26"/>
          <p:cNvSpPr txBox="1"/>
          <p:nvPr/>
        </p:nvSpPr>
        <p:spPr>
          <a:xfrm>
            <a:off x="1203295" y="4273046"/>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Postgres runs as a Windows service</a:t>
            </a:r>
            <a:endParaRPr lang="en-US" sz="1200" dirty="0"/>
          </a:p>
        </p:txBody>
      </p:sp>
      <p:sp>
        <p:nvSpPr>
          <p:cNvPr id="29" name="Shape 27"/>
          <p:cNvSpPr/>
          <p:nvPr/>
        </p:nvSpPr>
        <p:spPr>
          <a:xfrm>
            <a:off x="5248144" y="3962003"/>
            <a:ext cx="6130772" cy="579026"/>
          </a:xfrm>
          <a:prstGeom prst="roundRect">
            <a:avLst>
              <a:gd name="adj" fmla="val 8773"/>
            </a:avLst>
          </a:prstGeom>
          <a:solidFill>
            <a:srgbClr val="E7EEFA"/>
          </a:solidFill>
          <a:ln/>
        </p:spPr>
      </p:sp>
      <p:sp>
        <p:nvSpPr>
          <p:cNvPr id="30" name="Shape 28"/>
          <p:cNvSpPr/>
          <p:nvPr/>
        </p:nvSpPr>
        <p:spPr>
          <a:xfrm>
            <a:off x="5248144" y="3962003"/>
            <a:ext cx="38099" cy="579026"/>
          </a:xfrm>
          <a:prstGeom prst="roundRect">
            <a:avLst>
              <a:gd name="adj" fmla="val 50000"/>
            </a:avLst>
          </a:prstGeom>
          <a:solidFill>
            <a:srgbClr val="2454C5"/>
          </a:solidFill>
          <a:ln/>
        </p:spPr>
      </p:sp>
      <p:sp>
        <p:nvSpPr>
          <p:cNvPr id="31" name="Text 29"/>
          <p:cNvSpPr txBox="1"/>
          <p:nvPr/>
        </p:nvSpPr>
        <p:spPr>
          <a:xfrm>
            <a:off x="5413240" y="4038201"/>
            <a:ext cx="6539321" cy="426630"/>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C:\kafka\bin\windows\kafka-server-start.bat C:\kafka\config\server.properties</a:t>
            </a:r>
            <a:endParaRPr lang="en-US" sz="1200" dirty="0"/>
          </a:p>
        </p:txBody>
      </p:sp>
      <p:sp>
        <p:nvSpPr>
          <p:cNvPr id="32" name="Shape 30"/>
          <p:cNvSpPr/>
          <p:nvPr/>
        </p:nvSpPr>
        <p:spPr>
          <a:xfrm>
            <a:off x="812780" y="4617228"/>
            <a:ext cx="10566136" cy="63"/>
          </a:xfrm>
          <a:prstGeom prst="line">
            <a:avLst/>
          </a:prstGeom>
          <a:noFill/>
          <a:ln w="6350">
            <a:solidFill>
              <a:srgbClr val="D5DEEC"/>
            </a:solidFill>
            <a:prstDash val="solid"/>
          </a:ln>
        </p:spPr>
      </p:sp>
      <p:sp>
        <p:nvSpPr>
          <p:cNvPr id="33" name="Text 31"/>
          <p:cNvSpPr txBox="1"/>
          <p:nvPr/>
        </p:nvSpPr>
        <p:spPr>
          <a:xfrm>
            <a:off x="812780" y="4792443"/>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05</a:t>
            </a:r>
            <a:endParaRPr lang="en-US" sz="1600" dirty="0"/>
          </a:p>
        </p:txBody>
      </p:sp>
      <p:sp>
        <p:nvSpPr>
          <p:cNvPr id="34" name="Text 32"/>
          <p:cNvSpPr txBox="1"/>
          <p:nvPr/>
        </p:nvSpPr>
        <p:spPr>
          <a:xfrm>
            <a:off x="1203295" y="4699775"/>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Start the stack</a:t>
            </a:r>
            <a:endParaRPr lang="en-US" sz="1300" dirty="0"/>
          </a:p>
        </p:txBody>
      </p:sp>
      <p:sp>
        <p:nvSpPr>
          <p:cNvPr id="35" name="Text 33"/>
          <p:cNvSpPr txBox="1"/>
          <p:nvPr/>
        </p:nvSpPr>
        <p:spPr>
          <a:xfrm>
            <a:off x="1203295" y="4956250"/>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Waits on every health check</a:t>
            </a:r>
            <a:endParaRPr lang="en-US" sz="1200" dirty="0"/>
          </a:p>
        </p:txBody>
      </p:sp>
      <p:sp>
        <p:nvSpPr>
          <p:cNvPr id="36" name="Shape 34"/>
          <p:cNvSpPr/>
          <p:nvPr/>
        </p:nvSpPr>
        <p:spPr>
          <a:xfrm>
            <a:off x="5248144" y="4751765"/>
            <a:ext cx="6130772" cy="365711"/>
          </a:xfrm>
          <a:prstGeom prst="roundRect">
            <a:avLst>
              <a:gd name="adj" fmla="val 13890"/>
            </a:avLst>
          </a:prstGeom>
          <a:solidFill>
            <a:srgbClr val="E7EEFA"/>
          </a:solidFill>
          <a:ln/>
        </p:spPr>
      </p:sp>
      <p:sp>
        <p:nvSpPr>
          <p:cNvPr id="37" name="Shape 35"/>
          <p:cNvSpPr/>
          <p:nvPr/>
        </p:nvSpPr>
        <p:spPr>
          <a:xfrm>
            <a:off x="5248144" y="4751765"/>
            <a:ext cx="38099" cy="365711"/>
          </a:xfrm>
          <a:prstGeom prst="roundRect">
            <a:avLst>
              <a:gd name="adj" fmla="val 50000"/>
            </a:avLst>
          </a:prstGeom>
          <a:solidFill>
            <a:srgbClr val="2454C5"/>
          </a:solidFill>
          <a:ln/>
        </p:spPr>
      </p:sp>
      <p:sp>
        <p:nvSpPr>
          <p:cNvPr id="38" name="Text 36"/>
          <p:cNvSpPr txBox="1"/>
          <p:nvPr/>
        </p:nvSpPr>
        <p:spPr>
          <a:xfrm>
            <a:off x="5413240" y="4827963"/>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docker compose -f docker-compose.core.yml up -d --build --wait</a:t>
            </a:r>
            <a:endParaRPr lang="en-US" sz="1200" dirty="0"/>
          </a:p>
        </p:txBody>
      </p:sp>
      <p:sp>
        <p:nvSpPr>
          <p:cNvPr id="39" name="Text 37"/>
          <p:cNvSpPr txBox="1"/>
          <p:nvPr/>
        </p:nvSpPr>
        <p:spPr>
          <a:xfrm>
            <a:off x="812780" y="5423558"/>
            <a:ext cx="11834072" cy="213355"/>
          </a:xfrm>
          <a:prstGeom prst="rect">
            <a:avLst/>
          </a:prstGeom>
          <a:noFill/>
          <a:ln/>
        </p:spPr>
        <p:txBody>
          <a:bodyPr wrap="square" lIns="0" tIns="0" rIns="0" bIns="0" rtlCol="0" anchor="t"/>
          <a:lstStyle/>
          <a:p>
            <a:pPr algn="l" indent="0" marL="0">
              <a:lnSpc>
                <a:spcPct val="116667"/>
              </a:lnSpc>
              <a:buNone/>
            </a:pPr>
            <a:r>
              <a:rPr lang="en-US" sz="1200" b="1" dirty="0">
                <a:solidFill>
                  <a:srgbClr val="B4530F"/>
                </a:solidFill>
                <a:latin typeface="Calibri" pitchFamily="34" charset="0"/>
                <a:ea typeface="Calibri" pitchFamily="34" charset="-122"/>
                <a:cs typeface="Calibri" pitchFamily="34" charset="-120"/>
              </a:rPr>
              <a:t>Never keep the .env.example secrets:</a:t>
            </a:r>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 its JWT secret signed the token leaked in commit 1b5656d.</a:t>
            </a:r>
            <a:endParaRPr lang="en-US" sz="1200" dirty="0"/>
          </a:p>
        </p:txBody>
      </p:sp>
      <p:sp>
        <p:nvSpPr>
          <p:cNvPr id="40" name="Text 38"/>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Local deployment</a:t>
            </a:r>
            <a:endParaRPr lang="en-US" sz="1200" dirty="0"/>
          </a:p>
        </p:txBody>
      </p:sp>
      <p:sp>
        <p:nvSpPr>
          <p:cNvPr id="41" name="Text 39"/>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LOCAL DEPLOYMENT · STEPS 6–9</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Seed data, prove the flows, open the apps</a:t>
            </a:r>
            <a:endParaRPr lang="en-US" sz="3000" dirty="0"/>
          </a:p>
        </p:txBody>
      </p:sp>
      <p:sp>
        <p:nvSpPr>
          <p:cNvPr id="4" name="Shape 2"/>
          <p:cNvSpPr/>
          <p:nvPr/>
        </p:nvSpPr>
        <p:spPr>
          <a:xfrm>
            <a:off x="812780" y="1775376"/>
            <a:ext cx="10566136" cy="63"/>
          </a:xfrm>
          <a:prstGeom prst="line">
            <a:avLst/>
          </a:prstGeom>
          <a:noFill/>
          <a:ln w="6350">
            <a:solidFill>
              <a:srgbClr val="D5DEEC"/>
            </a:solidFill>
            <a:prstDash val="solid"/>
          </a:ln>
        </p:spPr>
      </p:sp>
      <p:sp>
        <p:nvSpPr>
          <p:cNvPr id="5" name="Text 3"/>
          <p:cNvSpPr txBox="1"/>
          <p:nvPr/>
        </p:nvSpPr>
        <p:spPr>
          <a:xfrm>
            <a:off x="812780" y="2325133"/>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06</a:t>
            </a:r>
            <a:endParaRPr lang="en-US" sz="1600" dirty="0"/>
          </a:p>
        </p:txBody>
      </p:sp>
      <p:sp>
        <p:nvSpPr>
          <p:cNvPr id="6" name="Text 4"/>
          <p:cNvSpPr txBox="1"/>
          <p:nvPr/>
        </p:nvSpPr>
        <p:spPr>
          <a:xfrm>
            <a:off x="1203295" y="2232465"/>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Seed in this order</a:t>
            </a:r>
            <a:endParaRPr lang="en-US" sz="1300" dirty="0"/>
          </a:p>
        </p:txBody>
      </p:sp>
      <p:sp>
        <p:nvSpPr>
          <p:cNvPr id="7" name="Text 5"/>
          <p:cNvSpPr txBox="1"/>
          <p:nvPr/>
        </p:nvSpPr>
        <p:spPr>
          <a:xfrm>
            <a:off x="1203295" y="2488939"/>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Catalog, pricing, providers, agency</a:t>
            </a:r>
            <a:endParaRPr lang="en-US" sz="1200" dirty="0"/>
          </a:p>
        </p:txBody>
      </p:sp>
      <p:sp>
        <p:nvSpPr>
          <p:cNvPr id="8" name="Shape 6"/>
          <p:cNvSpPr/>
          <p:nvPr/>
        </p:nvSpPr>
        <p:spPr>
          <a:xfrm>
            <a:off x="5248144" y="1857924"/>
            <a:ext cx="6130772" cy="1218971"/>
          </a:xfrm>
          <a:prstGeom prst="roundRect">
            <a:avLst>
              <a:gd name="adj" fmla="val 4167"/>
            </a:avLst>
          </a:prstGeom>
          <a:solidFill>
            <a:srgbClr val="E7EEFA"/>
          </a:solidFill>
          <a:ln/>
        </p:spPr>
      </p:sp>
      <p:sp>
        <p:nvSpPr>
          <p:cNvPr id="9" name="Shape 7"/>
          <p:cNvSpPr/>
          <p:nvPr/>
        </p:nvSpPr>
        <p:spPr>
          <a:xfrm>
            <a:off x="5248144" y="1857924"/>
            <a:ext cx="38099" cy="1218971"/>
          </a:xfrm>
          <a:prstGeom prst="roundRect">
            <a:avLst>
              <a:gd name="adj" fmla="val 50000"/>
            </a:avLst>
          </a:prstGeom>
          <a:solidFill>
            <a:srgbClr val="2454C5"/>
          </a:solidFill>
          <a:ln/>
        </p:spPr>
      </p:sp>
      <p:sp>
        <p:nvSpPr>
          <p:cNvPr id="10" name="Text 8"/>
          <p:cNvSpPr txBox="1"/>
          <p:nvPr/>
        </p:nvSpPr>
        <p:spPr>
          <a:xfrm>
            <a:off x="5413240" y="1934122"/>
            <a:ext cx="6539321" cy="106657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 docker/local-infra.sh</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"$PSQL" -f docker/seed-catalog.sql</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bash docker/seed-pricing.sh</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"$PSQL" -f docker/seed-provider-profiles.sql</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"$PSQL" -f docker/seed-tenants.sql</a:t>
            </a:r>
            <a:endParaRPr lang="en-US" sz="1200" dirty="0"/>
          </a:p>
        </p:txBody>
      </p:sp>
      <p:sp>
        <p:nvSpPr>
          <p:cNvPr id="11" name="Shape 9"/>
          <p:cNvSpPr/>
          <p:nvPr/>
        </p:nvSpPr>
        <p:spPr>
          <a:xfrm>
            <a:off x="812780" y="3153093"/>
            <a:ext cx="10566136" cy="63"/>
          </a:xfrm>
          <a:prstGeom prst="line">
            <a:avLst/>
          </a:prstGeom>
          <a:noFill/>
          <a:ln w="6350">
            <a:solidFill>
              <a:srgbClr val="D5DEEC"/>
            </a:solidFill>
            <a:prstDash val="solid"/>
          </a:ln>
        </p:spPr>
      </p:sp>
      <p:sp>
        <p:nvSpPr>
          <p:cNvPr id="12" name="Text 10"/>
          <p:cNvSpPr txBox="1"/>
          <p:nvPr/>
        </p:nvSpPr>
        <p:spPr>
          <a:xfrm>
            <a:off x="812780" y="3489535"/>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07</a:t>
            </a:r>
            <a:endParaRPr lang="en-US" sz="1600" dirty="0"/>
          </a:p>
        </p:txBody>
      </p:sp>
      <p:sp>
        <p:nvSpPr>
          <p:cNvPr id="13" name="Text 11"/>
          <p:cNvSpPr txBox="1"/>
          <p:nvPr/>
        </p:nvSpPr>
        <p:spPr>
          <a:xfrm>
            <a:off x="1203295" y="3396867"/>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Run the checks</a:t>
            </a:r>
            <a:endParaRPr lang="en-US" sz="1300" dirty="0"/>
          </a:p>
        </p:txBody>
      </p:sp>
      <p:sp>
        <p:nvSpPr>
          <p:cNvPr id="14" name="Text 12"/>
          <p:cNvSpPr txBox="1"/>
          <p:nvPr/>
        </p:nvSpPr>
        <p:spPr>
          <a:xfrm>
            <a:off x="1203295" y="3653341"/>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Booking flow, outbox path, sign-up</a:t>
            </a:r>
            <a:endParaRPr lang="en-US" sz="1200" dirty="0"/>
          </a:p>
        </p:txBody>
      </p:sp>
      <p:sp>
        <p:nvSpPr>
          <p:cNvPr id="15" name="Shape 13"/>
          <p:cNvSpPr/>
          <p:nvPr/>
        </p:nvSpPr>
        <p:spPr>
          <a:xfrm>
            <a:off x="5248144" y="3235641"/>
            <a:ext cx="6130772" cy="792341"/>
          </a:xfrm>
          <a:prstGeom prst="roundRect">
            <a:avLst>
              <a:gd name="adj" fmla="val 6411"/>
            </a:avLst>
          </a:prstGeom>
          <a:solidFill>
            <a:srgbClr val="E7EEFA"/>
          </a:solidFill>
          <a:ln/>
        </p:spPr>
      </p:sp>
      <p:sp>
        <p:nvSpPr>
          <p:cNvPr id="16" name="Shape 14"/>
          <p:cNvSpPr/>
          <p:nvPr/>
        </p:nvSpPr>
        <p:spPr>
          <a:xfrm>
            <a:off x="5248144" y="3235641"/>
            <a:ext cx="38099" cy="792341"/>
          </a:xfrm>
          <a:prstGeom prst="roundRect">
            <a:avLst>
              <a:gd name="adj" fmla="val 50000"/>
            </a:avLst>
          </a:prstGeom>
          <a:solidFill>
            <a:srgbClr val="2454C5"/>
          </a:solidFill>
          <a:ln/>
        </p:spPr>
      </p:sp>
      <p:sp>
        <p:nvSpPr>
          <p:cNvPr id="17" name="Text 15"/>
          <p:cNvSpPr txBox="1"/>
          <p:nvPr/>
        </p:nvSpPr>
        <p:spPr>
          <a:xfrm>
            <a:off x="5413240" y="3311839"/>
            <a:ext cx="6539321" cy="63994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bash docker/smoke-flows.sh</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bash docker/verify-outbox-flow.sh</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bash docker/verify-signup.sh</a:t>
            </a:r>
            <a:endParaRPr lang="en-US" sz="1200" dirty="0"/>
          </a:p>
        </p:txBody>
      </p:sp>
      <p:sp>
        <p:nvSpPr>
          <p:cNvPr id="18" name="Shape 16"/>
          <p:cNvSpPr/>
          <p:nvPr/>
        </p:nvSpPr>
        <p:spPr>
          <a:xfrm>
            <a:off x="812780" y="4104180"/>
            <a:ext cx="10566136" cy="63"/>
          </a:xfrm>
          <a:prstGeom prst="line">
            <a:avLst/>
          </a:prstGeom>
          <a:noFill/>
          <a:ln w="6350">
            <a:solidFill>
              <a:srgbClr val="D5DEEC"/>
            </a:solidFill>
            <a:prstDash val="solid"/>
          </a:ln>
        </p:spPr>
      </p:sp>
      <p:sp>
        <p:nvSpPr>
          <p:cNvPr id="19" name="Text 17"/>
          <p:cNvSpPr txBox="1"/>
          <p:nvPr/>
        </p:nvSpPr>
        <p:spPr>
          <a:xfrm>
            <a:off x="812780" y="4279396"/>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08</a:t>
            </a:r>
            <a:endParaRPr lang="en-US" sz="1600" dirty="0"/>
          </a:p>
        </p:txBody>
      </p:sp>
      <p:sp>
        <p:nvSpPr>
          <p:cNvPr id="20" name="Text 18"/>
          <p:cNvSpPr txBox="1"/>
          <p:nvPr/>
        </p:nvSpPr>
        <p:spPr>
          <a:xfrm>
            <a:off x="1203295" y="4186728"/>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Open the apps</a:t>
            </a:r>
            <a:endParaRPr lang="en-US" sz="1300" dirty="0"/>
          </a:p>
        </p:txBody>
      </p:sp>
      <p:sp>
        <p:nvSpPr>
          <p:cNvPr id="21" name="Text 19"/>
          <p:cNvSpPr txBox="1"/>
          <p:nvPr/>
        </p:nvSpPr>
        <p:spPr>
          <a:xfrm>
            <a:off x="1203295" y="4443202"/>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Test users when DEV_SEED_ENABLED=true</a:t>
            </a:r>
            <a:endParaRPr lang="en-US" sz="1200" dirty="0"/>
          </a:p>
        </p:txBody>
      </p:sp>
      <p:sp>
        <p:nvSpPr>
          <p:cNvPr id="22" name="Shape 20"/>
          <p:cNvSpPr/>
          <p:nvPr/>
        </p:nvSpPr>
        <p:spPr>
          <a:xfrm>
            <a:off x="5248144" y="4238717"/>
            <a:ext cx="6130772" cy="365711"/>
          </a:xfrm>
          <a:prstGeom prst="roundRect">
            <a:avLst>
              <a:gd name="adj" fmla="val 13890"/>
            </a:avLst>
          </a:prstGeom>
          <a:solidFill>
            <a:srgbClr val="E7EEFA"/>
          </a:solidFill>
          <a:ln/>
        </p:spPr>
      </p:sp>
      <p:sp>
        <p:nvSpPr>
          <p:cNvPr id="23" name="Shape 21"/>
          <p:cNvSpPr/>
          <p:nvPr/>
        </p:nvSpPr>
        <p:spPr>
          <a:xfrm>
            <a:off x="5248144" y="4238717"/>
            <a:ext cx="38099" cy="365711"/>
          </a:xfrm>
          <a:prstGeom prst="roundRect">
            <a:avLst>
              <a:gd name="adj" fmla="val 50000"/>
            </a:avLst>
          </a:prstGeom>
          <a:solidFill>
            <a:srgbClr val="2454C5"/>
          </a:solidFill>
          <a:ln/>
        </p:spPr>
      </p:sp>
      <p:sp>
        <p:nvSpPr>
          <p:cNvPr id="24" name="Text 22"/>
          <p:cNvSpPr txBox="1"/>
          <p:nvPr/>
        </p:nvSpPr>
        <p:spPr>
          <a:xfrm>
            <a:off x="5413240" y="4314916"/>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:5173 customer · :5174 provider · :5175 admin</a:t>
            </a:r>
            <a:endParaRPr lang="en-US" sz="1200" dirty="0"/>
          </a:p>
        </p:txBody>
      </p:sp>
      <p:sp>
        <p:nvSpPr>
          <p:cNvPr id="25" name="Shape 23"/>
          <p:cNvSpPr/>
          <p:nvPr/>
        </p:nvSpPr>
        <p:spPr>
          <a:xfrm>
            <a:off x="812780" y="4732715"/>
            <a:ext cx="10566136" cy="63"/>
          </a:xfrm>
          <a:prstGeom prst="line">
            <a:avLst/>
          </a:prstGeom>
          <a:noFill/>
          <a:ln w="6350">
            <a:solidFill>
              <a:srgbClr val="D5DEEC"/>
            </a:solidFill>
            <a:prstDash val="solid"/>
          </a:ln>
        </p:spPr>
      </p:sp>
      <p:sp>
        <p:nvSpPr>
          <p:cNvPr id="26" name="Text 24"/>
          <p:cNvSpPr txBox="1"/>
          <p:nvPr/>
        </p:nvSpPr>
        <p:spPr>
          <a:xfrm>
            <a:off x="812780" y="4962500"/>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09</a:t>
            </a:r>
            <a:endParaRPr lang="en-US" sz="1600" dirty="0"/>
          </a:p>
        </p:txBody>
      </p:sp>
      <p:sp>
        <p:nvSpPr>
          <p:cNvPr id="27" name="Text 25"/>
          <p:cNvSpPr txBox="1"/>
          <p:nvPr/>
        </p:nvSpPr>
        <p:spPr>
          <a:xfrm>
            <a:off x="1203295" y="4869832"/>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Iterate on one app</a:t>
            </a:r>
            <a:endParaRPr lang="en-US" sz="1300" dirty="0"/>
          </a:p>
        </p:txBody>
      </p:sp>
      <p:sp>
        <p:nvSpPr>
          <p:cNvPr id="28" name="Text 26"/>
          <p:cNvSpPr txBox="1"/>
          <p:nvPr/>
        </p:nvSpPr>
        <p:spPr>
          <a:xfrm>
            <a:off x="1203295" y="5126306"/>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Vite proxies /api to the stack</a:t>
            </a:r>
            <a:endParaRPr lang="en-US" sz="1200" dirty="0"/>
          </a:p>
        </p:txBody>
      </p:sp>
      <p:sp>
        <p:nvSpPr>
          <p:cNvPr id="29" name="Shape 27"/>
          <p:cNvSpPr/>
          <p:nvPr/>
        </p:nvSpPr>
        <p:spPr>
          <a:xfrm>
            <a:off x="5248144" y="4815263"/>
            <a:ext cx="6130772" cy="579026"/>
          </a:xfrm>
          <a:prstGeom prst="roundRect">
            <a:avLst>
              <a:gd name="adj" fmla="val 8773"/>
            </a:avLst>
          </a:prstGeom>
          <a:solidFill>
            <a:srgbClr val="E7EEFA"/>
          </a:solidFill>
          <a:ln/>
        </p:spPr>
      </p:sp>
      <p:sp>
        <p:nvSpPr>
          <p:cNvPr id="30" name="Shape 28"/>
          <p:cNvSpPr/>
          <p:nvPr/>
        </p:nvSpPr>
        <p:spPr>
          <a:xfrm>
            <a:off x="5248144" y="4815263"/>
            <a:ext cx="38099" cy="579026"/>
          </a:xfrm>
          <a:prstGeom prst="roundRect">
            <a:avLst>
              <a:gd name="adj" fmla="val 50000"/>
            </a:avLst>
          </a:prstGeom>
          <a:solidFill>
            <a:srgbClr val="2454C5"/>
          </a:solidFill>
          <a:ln/>
        </p:spPr>
      </p:sp>
      <p:sp>
        <p:nvSpPr>
          <p:cNvPr id="31" name="Text 29"/>
          <p:cNvSpPr txBox="1"/>
          <p:nvPr/>
        </p:nvSpPr>
        <p:spPr>
          <a:xfrm>
            <a:off x="5413240" y="4891461"/>
            <a:ext cx="6539321" cy="426630"/>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cd frontend/customer-app</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npm install &amp;&amp; npm run dev</a:t>
            </a:r>
            <a:endParaRPr lang="en-US" sz="1200" dirty="0"/>
          </a:p>
        </p:txBody>
      </p:sp>
      <p:sp>
        <p:nvSpPr>
          <p:cNvPr id="32" name="Text 30"/>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Local deployment</a:t>
            </a:r>
            <a:endParaRPr lang="en-US" sz="1200" dirty="0"/>
          </a:p>
        </p:txBody>
      </p:sp>
      <p:sp>
        <p:nvSpPr>
          <p:cNvPr id="33" name="Text 31"/>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PRODUCTION DEPLOYMENT · TOPOLOGY</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The data tier is ready; the path into the cluster is not</a:t>
            </a:r>
            <a:endParaRPr lang="en-US" sz="3000" dirty="0"/>
          </a:p>
        </p:txBody>
      </p:sp>
      <p:sp>
        <p:nvSpPr>
          <p:cNvPr id="4" name="Shape 2"/>
          <p:cNvSpPr/>
          <p:nvPr/>
        </p:nvSpPr>
        <p:spPr>
          <a:xfrm>
            <a:off x="812780" y="1803355"/>
            <a:ext cx="10566136" cy="3975001"/>
          </a:xfrm>
          <a:prstGeom prst="roundRect">
            <a:avLst>
              <a:gd name="adj" fmla="val 3195"/>
            </a:avLst>
          </a:prstGeom>
          <a:solidFill>
            <a:srgbClr val="F0F4FA"/>
          </a:solidFill>
          <a:ln w="12700">
            <a:solidFill>
              <a:srgbClr val="3F5F95"/>
            </a:solidFill>
            <a:prstDash val="dash"/>
          </a:ln>
        </p:spPr>
      </p:sp>
      <p:sp>
        <p:nvSpPr>
          <p:cNvPr id="5" name="Text 3"/>
          <p:cNvSpPr txBox="1"/>
          <p:nvPr/>
        </p:nvSpPr>
        <p:spPr>
          <a:xfrm>
            <a:off x="939777" y="1879553"/>
            <a:ext cx="11549599" cy="213355"/>
          </a:xfrm>
          <a:prstGeom prst="rect">
            <a:avLst/>
          </a:prstGeom>
          <a:noFill/>
          <a:ln/>
        </p:spPr>
        <p:txBody>
          <a:bodyPr wrap="square" lIns="0" tIns="0" rIns="0" bIns="0" rtlCol="0" anchor="t"/>
          <a:lstStyle/>
          <a:p>
            <a:pPr algn="l" indent="0" marL="0">
              <a:lnSpc>
                <a:spcPct val="116667"/>
              </a:lnSpc>
              <a:buNone/>
            </a:pPr>
            <a:r>
              <a:rPr lang="en-US" sz="1200" spc="50" kern="0" dirty="0">
                <a:solidFill>
                  <a:srgbClr val="3F5F95"/>
                </a:solidFill>
                <a:latin typeface="Courier New" pitchFamily="34" charset="0"/>
                <a:ea typeface="Courier New" pitchFamily="34" charset="-122"/>
                <a:cs typeface="Courier New" pitchFamily="34" charset="-120"/>
              </a:rPr>
              <a:t>AWS · ap-south-1</a:t>
            </a:r>
            <a:endParaRPr lang="en-US" sz="1200" dirty="0"/>
          </a:p>
        </p:txBody>
      </p:sp>
      <p:sp>
        <p:nvSpPr>
          <p:cNvPr id="6" name="Shape 4"/>
          <p:cNvSpPr/>
          <p:nvPr/>
        </p:nvSpPr>
        <p:spPr>
          <a:xfrm>
            <a:off x="965176" y="2158946"/>
            <a:ext cx="1904952" cy="634984"/>
          </a:xfrm>
          <a:prstGeom prst="roundRect">
            <a:avLst>
              <a:gd name="adj" fmla="val 14000"/>
            </a:avLst>
          </a:prstGeom>
          <a:solidFill>
            <a:srgbClr val="FCFDFF"/>
          </a:solidFill>
          <a:ln w="12700">
            <a:solidFill>
              <a:srgbClr val="2454C5"/>
            </a:solidFill>
            <a:prstDash val="solid"/>
          </a:ln>
        </p:spPr>
      </p:sp>
      <p:sp>
        <p:nvSpPr>
          <p:cNvPr id="7" name="Shape 5"/>
          <p:cNvSpPr/>
          <p:nvPr/>
        </p:nvSpPr>
        <p:spPr>
          <a:xfrm>
            <a:off x="965176" y="2158946"/>
            <a:ext cx="50799" cy="634984"/>
          </a:xfrm>
          <a:prstGeom prst="roundRect">
            <a:avLst>
              <a:gd name="adj" fmla="val 50000"/>
            </a:avLst>
          </a:prstGeom>
          <a:solidFill>
            <a:srgbClr val="2454C5"/>
          </a:solidFill>
          <a:ln/>
        </p:spPr>
      </p:sp>
      <p:pic>
        <p:nvPicPr>
          <p:cNvPr id="8" name="Image 0" descr="preencoded.png">    </p:cNvPr>
          <p:cNvPicPr>
            <a:picLocks noChangeAspect="1"/>
          </p:cNvPicPr>
          <p:nvPr/>
        </p:nvPicPr>
        <p:blipFill>
          <a:blip r:embed="rId1"/>
          <a:stretch>
            <a:fillRect/>
          </a:stretch>
        </p:blipFill>
        <p:spPr>
          <a:xfrm>
            <a:off x="1130272" y="2226215"/>
            <a:ext cx="190495" cy="190495"/>
          </a:xfrm>
          <a:prstGeom prst="rect">
            <a:avLst/>
          </a:prstGeom>
        </p:spPr>
      </p:pic>
      <p:sp>
        <p:nvSpPr>
          <p:cNvPr id="9" name="Text 6"/>
          <p:cNvSpPr txBox="1"/>
          <p:nvPr/>
        </p:nvSpPr>
        <p:spPr>
          <a:xfrm>
            <a:off x="1384265" y="2222444"/>
            <a:ext cx="495784"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Users</a:t>
            </a:r>
            <a:endParaRPr lang="en-US" sz="1300" dirty="0"/>
          </a:p>
        </p:txBody>
      </p:sp>
      <p:sp>
        <p:nvSpPr>
          <p:cNvPr id="10" name="Text 7"/>
          <p:cNvSpPr txBox="1"/>
          <p:nvPr/>
        </p:nvSpPr>
        <p:spPr>
          <a:xfrm>
            <a:off x="1130272" y="2445879"/>
            <a:ext cx="180640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web, iOS, Android</a:t>
            </a:r>
            <a:endParaRPr lang="en-US" sz="1200" dirty="0"/>
          </a:p>
        </p:txBody>
      </p:sp>
      <p:sp>
        <p:nvSpPr>
          <p:cNvPr id="11" name="Shape 8"/>
          <p:cNvSpPr/>
          <p:nvPr/>
        </p:nvSpPr>
        <p:spPr>
          <a:xfrm>
            <a:off x="965176" y="2984425"/>
            <a:ext cx="1904952" cy="825479"/>
          </a:xfrm>
          <a:prstGeom prst="roundRect">
            <a:avLst>
              <a:gd name="adj" fmla="val 10769"/>
            </a:avLst>
          </a:prstGeom>
          <a:solidFill>
            <a:srgbClr val="FCFDFF"/>
          </a:solidFill>
          <a:ln w="12700">
            <a:solidFill>
              <a:srgbClr val="3F5F95"/>
            </a:solidFill>
            <a:prstDash val="solid"/>
          </a:ln>
        </p:spPr>
      </p:sp>
      <p:sp>
        <p:nvSpPr>
          <p:cNvPr id="12" name="Shape 9"/>
          <p:cNvSpPr/>
          <p:nvPr/>
        </p:nvSpPr>
        <p:spPr>
          <a:xfrm>
            <a:off x="965176" y="2984425"/>
            <a:ext cx="50799" cy="825479"/>
          </a:xfrm>
          <a:prstGeom prst="roundRect">
            <a:avLst>
              <a:gd name="adj" fmla="val 50000"/>
            </a:avLst>
          </a:prstGeom>
          <a:solidFill>
            <a:srgbClr val="3F5F95"/>
          </a:solidFill>
          <a:ln/>
        </p:spPr>
      </p:sp>
      <p:sp>
        <p:nvSpPr>
          <p:cNvPr id="13" name="Text 10"/>
          <p:cNvSpPr txBox="1"/>
          <p:nvPr/>
        </p:nvSpPr>
        <p:spPr>
          <a:xfrm>
            <a:off x="1130272" y="3060623"/>
            <a:ext cx="180640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API Gateway</a:t>
            </a:r>
            <a:endParaRPr lang="en-US" sz="1300" dirty="0"/>
          </a:p>
        </p:txBody>
      </p:sp>
      <p:sp>
        <p:nvSpPr>
          <p:cNvPr id="14" name="Text 11"/>
          <p:cNvSpPr txBox="1"/>
          <p:nvPr/>
        </p:nvSpPr>
        <p:spPr>
          <a:xfrm>
            <a:off x="1130272" y="3284059"/>
            <a:ext cx="180640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HTTP API + WAF</a:t>
            </a:r>
            <a:endParaRPr lang="en-US" sz="1200" dirty="0"/>
          </a:p>
        </p:txBody>
      </p:sp>
      <p:sp>
        <p:nvSpPr>
          <p:cNvPr id="15" name="Text 12"/>
          <p:cNvSpPr txBox="1"/>
          <p:nvPr/>
        </p:nvSpPr>
        <p:spPr>
          <a:xfrm>
            <a:off x="1130272" y="3515133"/>
            <a:ext cx="180640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no routes yet</a:t>
            </a:r>
            <a:endParaRPr lang="en-US" sz="1200" dirty="0"/>
          </a:p>
        </p:txBody>
      </p:sp>
      <p:sp>
        <p:nvSpPr>
          <p:cNvPr id="16" name="Shape 13"/>
          <p:cNvSpPr/>
          <p:nvPr/>
        </p:nvSpPr>
        <p:spPr>
          <a:xfrm>
            <a:off x="965176" y="4000400"/>
            <a:ext cx="1904952" cy="698483"/>
          </a:xfrm>
          <a:prstGeom prst="roundRect">
            <a:avLst>
              <a:gd name="adj" fmla="val 12727"/>
            </a:avLst>
          </a:prstGeom>
          <a:solidFill>
            <a:srgbClr val="FCEBDD"/>
          </a:solidFill>
          <a:ln w="12700">
            <a:solidFill>
              <a:srgbClr val="B4530F"/>
            </a:solidFill>
            <a:prstDash val="dash"/>
          </a:ln>
        </p:spPr>
      </p:sp>
      <p:sp>
        <p:nvSpPr>
          <p:cNvPr id="17" name="Shape 14"/>
          <p:cNvSpPr/>
          <p:nvPr/>
        </p:nvSpPr>
        <p:spPr>
          <a:xfrm>
            <a:off x="965176" y="4000400"/>
            <a:ext cx="50799" cy="698483"/>
          </a:xfrm>
          <a:prstGeom prst="roundRect">
            <a:avLst>
              <a:gd name="adj" fmla="val 50000"/>
            </a:avLst>
          </a:prstGeom>
          <a:solidFill>
            <a:srgbClr val="B4530F"/>
          </a:solidFill>
          <a:ln/>
        </p:spPr>
      </p:sp>
      <p:sp>
        <p:nvSpPr>
          <p:cNvPr id="18" name="Text 15"/>
          <p:cNvSpPr txBox="1"/>
          <p:nvPr/>
        </p:nvSpPr>
        <p:spPr>
          <a:xfrm>
            <a:off x="1130272" y="4076598"/>
            <a:ext cx="1806403"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CloudFront + S3</a:t>
            </a:r>
            <a:endParaRPr lang="en-US" sz="1300" dirty="0"/>
          </a:p>
        </p:txBody>
      </p:sp>
      <p:sp>
        <p:nvSpPr>
          <p:cNvPr id="19" name="Text 16"/>
          <p:cNvSpPr txBox="1"/>
          <p:nvPr/>
        </p:nvSpPr>
        <p:spPr>
          <a:xfrm>
            <a:off x="1130272" y="4300033"/>
            <a:ext cx="1806403" cy="205735"/>
          </a:xfrm>
          <a:prstGeom prst="rect">
            <a:avLst/>
          </a:prstGeom>
          <a:noFill/>
          <a:ln/>
        </p:spPr>
        <p:txBody>
          <a:bodyPr wrap="square" lIns="0" tIns="0" rIns="0" bIns="0" rtlCol="0" anchor="t"/>
          <a:lstStyle/>
          <a:p>
            <a:pPr algn="l" indent="0" marL="0">
              <a:lnSpc>
                <a:spcPct val="112500"/>
              </a:lnSpc>
              <a:buNone/>
            </a:pPr>
            <a:r>
              <a:rPr lang="en-US" sz="1200" dirty="0">
                <a:solidFill>
                  <a:srgbClr val="B4530F"/>
                </a:solidFill>
                <a:latin typeface="Calibri" pitchFamily="34" charset="0"/>
                <a:ea typeface="Calibri" pitchFamily="34" charset="-122"/>
                <a:cs typeface="Calibri" pitchFamily="34" charset="-120"/>
              </a:rPr>
              <a:t>SPA hosting: missing</a:t>
            </a:r>
            <a:endParaRPr lang="en-US" sz="1200" dirty="0"/>
          </a:p>
        </p:txBody>
      </p:sp>
      <p:sp>
        <p:nvSpPr>
          <p:cNvPr id="20" name="Shape 17"/>
          <p:cNvSpPr/>
          <p:nvPr/>
        </p:nvSpPr>
        <p:spPr>
          <a:xfrm>
            <a:off x="965176" y="4889378"/>
            <a:ext cx="1904952" cy="761981"/>
          </a:xfrm>
          <a:prstGeom prst="roundRect">
            <a:avLst>
              <a:gd name="adj" fmla="val 11667"/>
            </a:avLst>
          </a:prstGeom>
          <a:solidFill>
            <a:srgbClr val="FCFDFF"/>
          </a:solidFill>
          <a:ln w="12700">
            <a:solidFill>
              <a:srgbClr val="5C6B8A"/>
            </a:solidFill>
            <a:prstDash val="solid"/>
          </a:ln>
        </p:spPr>
      </p:sp>
      <p:sp>
        <p:nvSpPr>
          <p:cNvPr id="21" name="Shape 18"/>
          <p:cNvSpPr/>
          <p:nvPr/>
        </p:nvSpPr>
        <p:spPr>
          <a:xfrm>
            <a:off x="965176" y="4889378"/>
            <a:ext cx="50799" cy="761981"/>
          </a:xfrm>
          <a:prstGeom prst="roundRect">
            <a:avLst>
              <a:gd name="adj" fmla="val 50000"/>
            </a:avLst>
          </a:prstGeom>
          <a:solidFill>
            <a:srgbClr val="5C6B8A"/>
          </a:solidFill>
          <a:ln/>
        </p:spPr>
      </p:sp>
      <p:pic>
        <p:nvPicPr>
          <p:cNvPr id="22" name="Image 1" descr="preencoded.png">    </p:cNvPr>
          <p:cNvPicPr>
            <a:picLocks noChangeAspect="1"/>
          </p:cNvPicPr>
          <p:nvPr/>
        </p:nvPicPr>
        <p:blipFill>
          <a:blip r:embed="rId2"/>
          <a:stretch>
            <a:fillRect/>
          </a:stretch>
        </p:blipFill>
        <p:spPr>
          <a:xfrm>
            <a:off x="1130272" y="4969346"/>
            <a:ext cx="190495" cy="190495"/>
          </a:xfrm>
          <a:prstGeom prst="rect">
            <a:avLst/>
          </a:prstGeom>
        </p:spPr>
      </p:pic>
      <p:sp>
        <p:nvSpPr>
          <p:cNvPr id="23" name="Text 19"/>
          <p:cNvSpPr txBox="1"/>
          <p:nvPr/>
        </p:nvSpPr>
        <p:spPr>
          <a:xfrm>
            <a:off x="1384265" y="4965576"/>
            <a:ext cx="1275016" cy="198115"/>
          </a:xfrm>
          <a:prstGeom prst="rect">
            <a:avLst/>
          </a:prstGeom>
          <a:noFill/>
          <a:ln/>
        </p:spPr>
        <p:txBody>
          <a:bodyPr wrap="square" lIns="0" tIns="0" rIns="0" bIns="0" rtlCol="0" anchor="t"/>
          <a:lstStyle/>
          <a:p>
            <a:pPr algn="l" indent="0" marL="0">
              <a:lnSpc>
                <a:spcPct val="100000"/>
              </a:lnSpc>
              <a:buNone/>
            </a:pPr>
            <a:r>
              <a:rPr lang="en-US" sz="1300" b="1" dirty="0">
                <a:solidFill>
                  <a:srgbClr val="1F3A70"/>
                </a:solidFill>
                <a:latin typeface="Calibri" pitchFamily="34" charset="0"/>
                <a:ea typeface="Calibri" pitchFamily="34" charset="-122"/>
                <a:cs typeface="Calibri" pitchFamily="34" charset="-120"/>
              </a:rPr>
              <a:t>GitHub Actions</a:t>
            </a:r>
            <a:endParaRPr lang="en-US" sz="1300" dirty="0"/>
          </a:p>
        </p:txBody>
      </p:sp>
      <p:sp>
        <p:nvSpPr>
          <p:cNvPr id="24" name="Text 20"/>
          <p:cNvSpPr txBox="1"/>
          <p:nvPr/>
        </p:nvSpPr>
        <p:spPr>
          <a:xfrm>
            <a:off x="1130272" y="5189011"/>
            <a:ext cx="1806403" cy="205735"/>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OIDC → ECR (missing)</a:t>
            </a:r>
            <a:endParaRPr lang="en-US" sz="1200" dirty="0"/>
          </a:p>
        </p:txBody>
      </p:sp>
      <p:sp>
        <p:nvSpPr>
          <p:cNvPr id="25" name="Shape 21"/>
          <p:cNvSpPr/>
          <p:nvPr/>
        </p:nvSpPr>
        <p:spPr>
          <a:xfrm>
            <a:off x="3111422" y="2095448"/>
            <a:ext cx="8115097" cy="2743131"/>
          </a:xfrm>
          <a:prstGeom prst="roundRect">
            <a:avLst>
              <a:gd name="adj" fmla="val 4630"/>
            </a:avLst>
          </a:prstGeom>
          <a:solidFill>
            <a:srgbClr val="E6EEF9"/>
          </a:solidFill>
          <a:ln w="12700">
            <a:solidFill>
              <a:srgbClr val="2454C5"/>
            </a:solidFill>
            <a:prstDash val="solid"/>
          </a:ln>
        </p:spPr>
      </p:sp>
      <p:sp>
        <p:nvSpPr>
          <p:cNvPr id="26" name="Text 22"/>
          <p:cNvSpPr txBox="1"/>
          <p:nvPr/>
        </p:nvSpPr>
        <p:spPr>
          <a:xfrm>
            <a:off x="3238419" y="2171646"/>
            <a:ext cx="8804436" cy="213355"/>
          </a:xfrm>
          <a:prstGeom prst="rect">
            <a:avLst/>
          </a:prstGeom>
          <a:noFill/>
          <a:ln/>
        </p:spPr>
        <p:txBody>
          <a:bodyPr wrap="square" lIns="0" tIns="0" rIns="0" bIns="0" rtlCol="0" anchor="t"/>
          <a:lstStyle/>
          <a:p>
            <a:pPr algn="l" indent="0" marL="0">
              <a:lnSpc>
                <a:spcPct val="116667"/>
              </a:lnSpc>
              <a:buNone/>
            </a:pPr>
            <a:r>
              <a:rPr lang="en-US" sz="1200" spc="50" kern="0" dirty="0">
                <a:solidFill>
                  <a:srgbClr val="2454C5"/>
                </a:solidFill>
                <a:latin typeface="Courier New" pitchFamily="34" charset="0"/>
                <a:ea typeface="Courier New" pitchFamily="34" charset="-122"/>
                <a:cs typeface="Courier New" pitchFamily="34" charset="-120"/>
              </a:rPr>
              <a:t>VPC · 3 AZs · flow logs</a:t>
            </a:r>
            <a:endParaRPr lang="en-US" sz="1200" dirty="0"/>
          </a:p>
        </p:txBody>
      </p:sp>
      <p:sp>
        <p:nvSpPr>
          <p:cNvPr id="27" name="Shape 23"/>
          <p:cNvSpPr/>
          <p:nvPr/>
        </p:nvSpPr>
        <p:spPr>
          <a:xfrm>
            <a:off x="3238419" y="2412940"/>
            <a:ext cx="7861103" cy="507987"/>
          </a:xfrm>
          <a:prstGeom prst="roundRect">
            <a:avLst>
              <a:gd name="adj" fmla="val 15000"/>
            </a:avLst>
          </a:prstGeom>
          <a:solidFill>
            <a:srgbClr val="FCFDFF"/>
          </a:solidFill>
          <a:ln w="6350">
            <a:solidFill>
              <a:srgbClr val="D5DEEC"/>
            </a:solidFill>
            <a:prstDash val="solid"/>
          </a:ln>
        </p:spPr>
      </p:sp>
      <p:sp>
        <p:nvSpPr>
          <p:cNvPr id="28" name="Text 24"/>
          <p:cNvSpPr txBox="1"/>
          <p:nvPr/>
        </p:nvSpPr>
        <p:spPr>
          <a:xfrm>
            <a:off x="3346366" y="2560276"/>
            <a:ext cx="924537" cy="213355"/>
          </a:xfrm>
          <a:prstGeom prst="rect">
            <a:avLst/>
          </a:prstGeom>
          <a:noFill/>
          <a:ln/>
        </p:spPr>
        <p:txBody>
          <a:bodyPr wrap="square" lIns="0" tIns="0" rIns="0" bIns="0" rtlCol="0" anchor="t"/>
          <a:lstStyle/>
          <a:p>
            <a:pPr algn="l" indent="0" marL="0">
              <a:lnSpc>
                <a:spcPct val="116667"/>
              </a:lnSpc>
              <a:buNone/>
            </a:pPr>
            <a:r>
              <a:rPr lang="en-US" sz="1200" b="1" dirty="0">
                <a:solidFill>
                  <a:srgbClr val="2454C5"/>
                </a:solidFill>
                <a:latin typeface="Courier New" pitchFamily="34" charset="0"/>
                <a:ea typeface="Courier New" pitchFamily="34" charset="-122"/>
                <a:cs typeface="Courier New" pitchFamily="34" charset="-120"/>
              </a:rPr>
              <a:t>Public</a:t>
            </a:r>
            <a:endParaRPr lang="en-US" sz="1200" dirty="0"/>
          </a:p>
        </p:txBody>
      </p:sp>
      <p:sp>
        <p:nvSpPr>
          <p:cNvPr id="29" name="Shape 25"/>
          <p:cNvSpPr/>
          <p:nvPr/>
        </p:nvSpPr>
        <p:spPr>
          <a:xfrm>
            <a:off x="4248044" y="2517117"/>
            <a:ext cx="1294574" cy="299633"/>
          </a:xfrm>
          <a:prstGeom prst="roundRect">
            <a:avLst>
              <a:gd name="adj" fmla="val 21192"/>
            </a:avLst>
          </a:prstGeom>
          <a:solidFill>
            <a:srgbClr val="E3EBFA"/>
          </a:solidFill>
          <a:ln/>
        </p:spPr>
      </p:sp>
      <p:sp>
        <p:nvSpPr>
          <p:cNvPr id="30" name="Text 26"/>
          <p:cNvSpPr txBox="1"/>
          <p:nvPr/>
        </p:nvSpPr>
        <p:spPr>
          <a:xfrm>
            <a:off x="4336942" y="2567915"/>
            <a:ext cx="1250792"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NAT gateway ×3</a:t>
            </a:r>
            <a:endParaRPr lang="en-US" sz="1200" dirty="0"/>
          </a:p>
        </p:txBody>
      </p:sp>
      <p:sp>
        <p:nvSpPr>
          <p:cNvPr id="31" name="Shape 27"/>
          <p:cNvSpPr/>
          <p:nvPr/>
        </p:nvSpPr>
        <p:spPr>
          <a:xfrm>
            <a:off x="5618816" y="2504417"/>
            <a:ext cx="1609189" cy="325032"/>
          </a:xfrm>
          <a:prstGeom prst="roundRect">
            <a:avLst>
              <a:gd name="adj" fmla="val 19536"/>
            </a:avLst>
          </a:prstGeom>
          <a:solidFill>
            <a:srgbClr val="FCEBDD"/>
          </a:solidFill>
          <a:ln w="12700">
            <a:solidFill>
              <a:srgbClr val="B4530F"/>
            </a:solidFill>
            <a:prstDash val="dash"/>
          </a:ln>
        </p:spPr>
      </p:sp>
      <p:sp>
        <p:nvSpPr>
          <p:cNvPr id="32" name="Text 28"/>
          <p:cNvSpPr txBox="1"/>
          <p:nvPr/>
        </p:nvSpPr>
        <p:spPr>
          <a:xfrm>
            <a:off x="5720413" y="2567915"/>
            <a:ext cx="1574713"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ALB or NLB: missing</a:t>
            </a:r>
            <a:endParaRPr lang="en-US" sz="1200" dirty="0"/>
          </a:p>
        </p:txBody>
      </p:sp>
      <p:sp>
        <p:nvSpPr>
          <p:cNvPr id="33" name="Shape 29"/>
          <p:cNvSpPr/>
          <p:nvPr/>
        </p:nvSpPr>
        <p:spPr>
          <a:xfrm>
            <a:off x="3238419" y="3009825"/>
            <a:ext cx="7861103" cy="952476"/>
          </a:xfrm>
          <a:prstGeom prst="roundRect">
            <a:avLst>
              <a:gd name="adj" fmla="val 8000"/>
            </a:avLst>
          </a:prstGeom>
          <a:solidFill>
            <a:srgbClr val="FCFDFF"/>
          </a:solidFill>
          <a:ln w="6350">
            <a:solidFill>
              <a:srgbClr val="D5DEEC"/>
            </a:solidFill>
            <a:prstDash val="solid"/>
          </a:ln>
        </p:spPr>
      </p:sp>
      <p:sp>
        <p:nvSpPr>
          <p:cNvPr id="34" name="Text 30"/>
          <p:cNvSpPr txBox="1"/>
          <p:nvPr/>
        </p:nvSpPr>
        <p:spPr>
          <a:xfrm>
            <a:off x="3346366" y="3379405"/>
            <a:ext cx="924537" cy="213355"/>
          </a:xfrm>
          <a:prstGeom prst="rect">
            <a:avLst/>
          </a:prstGeom>
          <a:noFill/>
          <a:ln/>
        </p:spPr>
        <p:txBody>
          <a:bodyPr wrap="square" lIns="0" tIns="0" rIns="0" bIns="0" rtlCol="0" anchor="t"/>
          <a:lstStyle/>
          <a:p>
            <a:pPr algn="l" indent="0" marL="0">
              <a:lnSpc>
                <a:spcPct val="116667"/>
              </a:lnSpc>
              <a:buNone/>
            </a:pPr>
            <a:r>
              <a:rPr lang="en-US" sz="1200" b="1" dirty="0">
                <a:solidFill>
                  <a:srgbClr val="0B7F74"/>
                </a:solidFill>
                <a:latin typeface="Courier New" pitchFamily="34" charset="0"/>
                <a:ea typeface="Courier New" pitchFamily="34" charset="-122"/>
                <a:cs typeface="Courier New" pitchFamily="34" charset="-120"/>
              </a:rPr>
              <a:t>Private</a:t>
            </a:r>
            <a:endParaRPr lang="en-US" sz="1200" dirty="0"/>
          </a:p>
        </p:txBody>
      </p:sp>
      <p:sp>
        <p:nvSpPr>
          <p:cNvPr id="35" name="Shape 31"/>
          <p:cNvSpPr/>
          <p:nvPr/>
        </p:nvSpPr>
        <p:spPr>
          <a:xfrm>
            <a:off x="4248044" y="3336246"/>
            <a:ext cx="2418496" cy="299633"/>
          </a:xfrm>
          <a:prstGeom prst="roundRect">
            <a:avLst>
              <a:gd name="adj" fmla="val 21192"/>
            </a:avLst>
          </a:prstGeom>
          <a:solidFill>
            <a:srgbClr val="DDF2EF"/>
          </a:solidFill>
          <a:ln/>
        </p:spPr>
      </p:sp>
      <p:sp>
        <p:nvSpPr>
          <p:cNvPr id="36" name="Text 32"/>
          <p:cNvSpPr txBox="1"/>
          <p:nvPr/>
        </p:nvSpPr>
        <p:spPr>
          <a:xfrm>
            <a:off x="4336942" y="3387045"/>
            <a:ext cx="2509584"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EKS 1.29 · t3.xlarge + c5.2xlarge</a:t>
            </a:r>
            <a:endParaRPr lang="en-US" sz="1200" dirty="0"/>
          </a:p>
        </p:txBody>
      </p:sp>
      <p:sp>
        <p:nvSpPr>
          <p:cNvPr id="37" name="Shape 33"/>
          <p:cNvSpPr/>
          <p:nvPr/>
        </p:nvSpPr>
        <p:spPr>
          <a:xfrm>
            <a:off x="6742738" y="3336246"/>
            <a:ext cx="2075207" cy="299633"/>
          </a:xfrm>
          <a:prstGeom prst="roundRect">
            <a:avLst>
              <a:gd name="adj" fmla="val 21192"/>
            </a:avLst>
          </a:prstGeom>
          <a:solidFill>
            <a:srgbClr val="DDF2EF"/>
          </a:solidFill>
          <a:ln/>
        </p:spPr>
      </p:sp>
      <p:sp>
        <p:nvSpPr>
          <p:cNvPr id="38" name="Text 34"/>
          <p:cNvSpPr txBox="1"/>
          <p:nvPr/>
        </p:nvSpPr>
        <p:spPr>
          <a:xfrm>
            <a:off x="6831635" y="3387045"/>
            <a:ext cx="2125101"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20 services · 6 namespaces</a:t>
            </a:r>
            <a:endParaRPr lang="en-US" sz="1200" dirty="0"/>
          </a:p>
        </p:txBody>
      </p:sp>
      <p:sp>
        <p:nvSpPr>
          <p:cNvPr id="39" name="Shape 35"/>
          <p:cNvSpPr/>
          <p:nvPr/>
        </p:nvSpPr>
        <p:spPr>
          <a:xfrm>
            <a:off x="8894143" y="3336246"/>
            <a:ext cx="1928665" cy="299633"/>
          </a:xfrm>
          <a:prstGeom prst="roundRect">
            <a:avLst>
              <a:gd name="adj" fmla="val 21192"/>
            </a:avLst>
          </a:prstGeom>
          <a:solidFill>
            <a:srgbClr val="DDF2EF"/>
          </a:solidFill>
          <a:ln/>
        </p:spPr>
      </p:sp>
      <p:sp>
        <p:nvSpPr>
          <p:cNvPr id="40" name="Text 36"/>
          <p:cNvSpPr txBox="1"/>
          <p:nvPr/>
        </p:nvSpPr>
        <p:spPr>
          <a:xfrm>
            <a:off x="8983041" y="3387045"/>
            <a:ext cx="1960974"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HPA 3–20 · non-root pods</a:t>
            </a:r>
            <a:endParaRPr lang="en-US" sz="1200" dirty="0"/>
          </a:p>
        </p:txBody>
      </p:sp>
      <p:sp>
        <p:nvSpPr>
          <p:cNvPr id="41" name="Shape 37"/>
          <p:cNvSpPr/>
          <p:nvPr/>
        </p:nvSpPr>
        <p:spPr>
          <a:xfrm>
            <a:off x="3238419" y="4063898"/>
            <a:ext cx="7861103" cy="634984"/>
          </a:xfrm>
          <a:prstGeom prst="roundRect">
            <a:avLst>
              <a:gd name="adj" fmla="val 12000"/>
            </a:avLst>
          </a:prstGeom>
          <a:solidFill>
            <a:srgbClr val="FCFDFF"/>
          </a:solidFill>
          <a:ln w="6350">
            <a:solidFill>
              <a:srgbClr val="D5DEEC"/>
            </a:solidFill>
            <a:prstDash val="solid"/>
          </a:ln>
        </p:spPr>
      </p:sp>
      <p:sp>
        <p:nvSpPr>
          <p:cNvPr id="42" name="Text 38"/>
          <p:cNvSpPr txBox="1"/>
          <p:nvPr/>
        </p:nvSpPr>
        <p:spPr>
          <a:xfrm>
            <a:off x="3346366" y="4274733"/>
            <a:ext cx="924537" cy="213355"/>
          </a:xfrm>
          <a:prstGeom prst="rect">
            <a:avLst/>
          </a:prstGeom>
          <a:noFill/>
          <a:ln/>
        </p:spPr>
        <p:txBody>
          <a:bodyPr wrap="square" lIns="0" tIns="0" rIns="0" bIns="0" rtlCol="0" anchor="t"/>
          <a:lstStyle/>
          <a:p>
            <a:pPr algn="l" indent="0" marL="0">
              <a:lnSpc>
                <a:spcPct val="116667"/>
              </a:lnSpc>
              <a:buNone/>
            </a:pPr>
            <a:r>
              <a:rPr lang="en-US" sz="1200" b="1" dirty="0">
                <a:solidFill>
                  <a:srgbClr val="2F5C9A"/>
                </a:solidFill>
                <a:latin typeface="Courier New" pitchFamily="34" charset="0"/>
                <a:ea typeface="Courier New" pitchFamily="34" charset="-122"/>
                <a:cs typeface="Courier New" pitchFamily="34" charset="-120"/>
              </a:rPr>
              <a:t>Data</a:t>
            </a:r>
            <a:endParaRPr lang="en-US" sz="1200" dirty="0"/>
          </a:p>
        </p:txBody>
      </p:sp>
      <p:sp>
        <p:nvSpPr>
          <p:cNvPr id="43" name="Shape 39"/>
          <p:cNvSpPr/>
          <p:nvPr/>
        </p:nvSpPr>
        <p:spPr>
          <a:xfrm>
            <a:off x="4248044" y="4231574"/>
            <a:ext cx="1846018" cy="299633"/>
          </a:xfrm>
          <a:prstGeom prst="roundRect">
            <a:avLst>
              <a:gd name="adj" fmla="val 21192"/>
            </a:avLst>
          </a:prstGeom>
          <a:solidFill>
            <a:srgbClr val="E2EAF6"/>
          </a:solidFill>
          <a:ln/>
        </p:spPr>
      </p:sp>
      <p:sp>
        <p:nvSpPr>
          <p:cNvPr id="44" name="Text 40"/>
          <p:cNvSpPr txBox="1"/>
          <p:nvPr/>
        </p:nvSpPr>
        <p:spPr>
          <a:xfrm>
            <a:off x="4336942" y="4282373"/>
            <a:ext cx="1868409"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RDS Postgres · Multi-AZ</a:t>
            </a:r>
            <a:endParaRPr lang="en-US" sz="1200" dirty="0"/>
          </a:p>
        </p:txBody>
      </p:sp>
      <p:sp>
        <p:nvSpPr>
          <p:cNvPr id="45" name="Shape 41"/>
          <p:cNvSpPr/>
          <p:nvPr/>
        </p:nvSpPr>
        <p:spPr>
          <a:xfrm>
            <a:off x="6170260" y="4231574"/>
            <a:ext cx="1644311" cy="299633"/>
          </a:xfrm>
          <a:prstGeom prst="roundRect">
            <a:avLst>
              <a:gd name="adj" fmla="val 21192"/>
            </a:avLst>
          </a:prstGeom>
          <a:solidFill>
            <a:srgbClr val="E7E7F6"/>
          </a:solidFill>
          <a:ln/>
        </p:spPr>
      </p:sp>
      <p:sp>
        <p:nvSpPr>
          <p:cNvPr id="46" name="Text 42"/>
          <p:cNvSpPr txBox="1"/>
          <p:nvPr/>
        </p:nvSpPr>
        <p:spPr>
          <a:xfrm>
            <a:off x="6259158" y="4282373"/>
            <a:ext cx="1642498"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MSK · TLS + SCRAM</a:t>
            </a:r>
            <a:endParaRPr lang="en-US" sz="1200" dirty="0"/>
          </a:p>
        </p:txBody>
      </p:sp>
      <p:sp>
        <p:nvSpPr>
          <p:cNvPr id="47" name="Shape 43"/>
          <p:cNvSpPr/>
          <p:nvPr/>
        </p:nvSpPr>
        <p:spPr>
          <a:xfrm>
            <a:off x="7890769" y="4231574"/>
            <a:ext cx="1873501" cy="299633"/>
          </a:xfrm>
          <a:prstGeom prst="roundRect">
            <a:avLst>
              <a:gd name="adj" fmla="val 21192"/>
            </a:avLst>
          </a:prstGeom>
          <a:solidFill>
            <a:srgbClr val="FBE4E2"/>
          </a:solidFill>
          <a:ln/>
        </p:spPr>
      </p:sp>
      <p:sp>
        <p:nvSpPr>
          <p:cNvPr id="48" name="Text 44"/>
          <p:cNvSpPr txBox="1"/>
          <p:nvPr/>
        </p:nvSpPr>
        <p:spPr>
          <a:xfrm>
            <a:off x="7979667" y="4282373"/>
            <a:ext cx="1899190"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ElastiCache · TLS + auth</a:t>
            </a:r>
            <a:endParaRPr lang="en-US" sz="1200" dirty="0"/>
          </a:p>
        </p:txBody>
      </p:sp>
      <p:sp>
        <p:nvSpPr>
          <p:cNvPr id="49" name="Shape 45"/>
          <p:cNvSpPr/>
          <p:nvPr/>
        </p:nvSpPr>
        <p:spPr>
          <a:xfrm>
            <a:off x="3111422" y="5016375"/>
            <a:ext cx="8115097" cy="634984"/>
          </a:xfrm>
          <a:prstGeom prst="roundRect">
            <a:avLst>
              <a:gd name="adj" fmla="val 12000"/>
            </a:avLst>
          </a:prstGeom>
          <a:solidFill>
            <a:srgbClr val="FCFDFF"/>
          </a:solidFill>
          <a:ln w="6350">
            <a:solidFill>
              <a:srgbClr val="D5DEEC"/>
            </a:solidFill>
            <a:prstDash val="solid"/>
          </a:ln>
        </p:spPr>
      </p:sp>
      <p:sp>
        <p:nvSpPr>
          <p:cNvPr id="50" name="Text 46"/>
          <p:cNvSpPr txBox="1"/>
          <p:nvPr/>
        </p:nvSpPr>
        <p:spPr>
          <a:xfrm>
            <a:off x="3219370" y="5227209"/>
            <a:ext cx="924537" cy="213355"/>
          </a:xfrm>
          <a:prstGeom prst="rect">
            <a:avLst/>
          </a:prstGeom>
          <a:noFill/>
          <a:ln/>
        </p:spPr>
        <p:txBody>
          <a:bodyPr wrap="square" lIns="0" tIns="0" rIns="0" bIns="0" rtlCol="0" anchor="t"/>
          <a:lstStyle/>
          <a:p>
            <a:pPr algn="l" indent="0" marL="0">
              <a:lnSpc>
                <a:spcPct val="116667"/>
              </a:lnSpc>
              <a:buNone/>
            </a:pPr>
            <a:r>
              <a:rPr lang="en-US" sz="1200" b="1" dirty="0">
                <a:solidFill>
                  <a:srgbClr val="6A3FC0"/>
                </a:solidFill>
                <a:latin typeface="Courier New" pitchFamily="34" charset="0"/>
                <a:ea typeface="Courier New" pitchFamily="34" charset="-122"/>
                <a:cs typeface="Courier New" pitchFamily="34" charset="-120"/>
              </a:rPr>
              <a:t>Regional</a:t>
            </a:r>
            <a:endParaRPr lang="en-US" sz="1200" dirty="0"/>
          </a:p>
        </p:txBody>
      </p:sp>
      <p:sp>
        <p:nvSpPr>
          <p:cNvPr id="51" name="Shape 47"/>
          <p:cNvSpPr/>
          <p:nvPr/>
        </p:nvSpPr>
        <p:spPr>
          <a:xfrm>
            <a:off x="4121047" y="5184050"/>
            <a:ext cx="1287232" cy="299633"/>
          </a:xfrm>
          <a:prstGeom prst="roundRect">
            <a:avLst>
              <a:gd name="adj" fmla="val 21192"/>
            </a:avLst>
          </a:prstGeom>
          <a:solidFill>
            <a:srgbClr val="ECE5FA"/>
          </a:solidFill>
          <a:ln/>
        </p:spPr>
      </p:sp>
      <p:sp>
        <p:nvSpPr>
          <p:cNvPr id="52" name="Text 48"/>
          <p:cNvSpPr txBox="1"/>
          <p:nvPr/>
        </p:nvSpPr>
        <p:spPr>
          <a:xfrm>
            <a:off x="4209945" y="5234849"/>
            <a:ext cx="1242569"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KMS: rds, s3, pii</a:t>
            </a:r>
            <a:endParaRPr lang="en-US" sz="1200" dirty="0"/>
          </a:p>
        </p:txBody>
      </p:sp>
      <p:sp>
        <p:nvSpPr>
          <p:cNvPr id="53" name="Shape 49"/>
          <p:cNvSpPr/>
          <p:nvPr/>
        </p:nvSpPr>
        <p:spPr>
          <a:xfrm>
            <a:off x="5484477" y="5184050"/>
            <a:ext cx="1338328" cy="299633"/>
          </a:xfrm>
          <a:prstGeom prst="roundRect">
            <a:avLst>
              <a:gd name="adj" fmla="val 21192"/>
            </a:avLst>
          </a:prstGeom>
          <a:solidFill>
            <a:srgbClr val="ECE5FA"/>
          </a:solidFill>
          <a:ln/>
        </p:spPr>
      </p:sp>
      <p:sp>
        <p:nvSpPr>
          <p:cNvPr id="54" name="Text 50"/>
          <p:cNvSpPr txBox="1"/>
          <p:nvPr/>
        </p:nvSpPr>
        <p:spPr>
          <a:xfrm>
            <a:off x="5573375" y="5234849"/>
            <a:ext cx="1299797"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Secrets Manager</a:t>
            </a:r>
            <a:endParaRPr lang="en-US" sz="1200" dirty="0"/>
          </a:p>
        </p:txBody>
      </p:sp>
      <p:sp>
        <p:nvSpPr>
          <p:cNvPr id="55" name="Shape 51"/>
          <p:cNvSpPr/>
          <p:nvPr/>
        </p:nvSpPr>
        <p:spPr>
          <a:xfrm>
            <a:off x="6899003" y="5184050"/>
            <a:ext cx="1058836" cy="299633"/>
          </a:xfrm>
          <a:prstGeom prst="roundRect">
            <a:avLst>
              <a:gd name="adj" fmla="val 21192"/>
            </a:avLst>
          </a:prstGeom>
          <a:solidFill>
            <a:srgbClr val="E0F2E8"/>
          </a:solidFill>
          <a:ln/>
        </p:spPr>
      </p:sp>
      <p:sp>
        <p:nvSpPr>
          <p:cNvPr id="56" name="Text 52"/>
          <p:cNvSpPr txBox="1"/>
          <p:nvPr/>
        </p:nvSpPr>
        <p:spPr>
          <a:xfrm>
            <a:off x="6987901" y="5234849"/>
            <a:ext cx="986765"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4 S3 buckets</a:t>
            </a:r>
            <a:endParaRPr lang="en-US" sz="1200" dirty="0"/>
          </a:p>
        </p:txBody>
      </p:sp>
      <p:sp>
        <p:nvSpPr>
          <p:cNvPr id="57" name="Shape 53"/>
          <p:cNvSpPr/>
          <p:nvPr/>
        </p:nvSpPr>
        <p:spPr>
          <a:xfrm>
            <a:off x="8034037" y="5184050"/>
            <a:ext cx="1002283" cy="299633"/>
          </a:xfrm>
          <a:prstGeom prst="roundRect">
            <a:avLst>
              <a:gd name="adj" fmla="val 21192"/>
            </a:avLst>
          </a:prstGeom>
          <a:solidFill>
            <a:srgbClr val="EEF1F6"/>
          </a:solidFill>
          <a:ln/>
        </p:spPr>
      </p:sp>
      <p:sp>
        <p:nvSpPr>
          <p:cNvPr id="58" name="Text 54"/>
          <p:cNvSpPr txBox="1"/>
          <p:nvPr/>
        </p:nvSpPr>
        <p:spPr>
          <a:xfrm>
            <a:off x="8122935" y="5234849"/>
            <a:ext cx="923426" cy="198115"/>
          </a:xfrm>
          <a:prstGeom prst="rect">
            <a:avLst/>
          </a:prstGeom>
          <a:noFill/>
          <a:ln/>
        </p:spPr>
        <p:txBody>
          <a:bodyPr wrap="square" lIns="0" tIns="0" rIns="0" bIns="0" rtlCol="0" anchor="t"/>
          <a:lstStyle/>
          <a:p>
            <a:pPr algn="l" indent="0" marL="0">
              <a:lnSpc>
                <a:spcPct val="108333"/>
              </a:lnSpc>
              <a:buNone/>
            </a:pPr>
            <a:r>
              <a:rPr lang="en-US" sz="1200" dirty="0">
                <a:solidFill>
                  <a:srgbClr val="1F3A70"/>
                </a:solidFill>
                <a:latin typeface="Calibri" pitchFamily="34" charset="0"/>
                <a:ea typeface="Calibri" pitchFamily="34" charset="-122"/>
                <a:cs typeface="Calibri" pitchFamily="34" charset="-120"/>
              </a:rPr>
              <a:t>CloudWatch</a:t>
            </a:r>
            <a:endParaRPr lang="en-US" sz="1200" dirty="0"/>
          </a:p>
        </p:txBody>
      </p:sp>
      <p:sp>
        <p:nvSpPr>
          <p:cNvPr id="59" name="Shape 55"/>
          <p:cNvSpPr/>
          <p:nvPr/>
        </p:nvSpPr>
        <p:spPr>
          <a:xfrm>
            <a:off x="1917652" y="2793930"/>
            <a:ext cx="63" cy="190495"/>
          </a:xfrm>
          <a:prstGeom prst="line">
            <a:avLst/>
          </a:prstGeom>
          <a:noFill/>
          <a:ln w="19050">
            <a:solidFill>
              <a:srgbClr val="5C6B8A"/>
            </a:solidFill>
            <a:prstDash val="solid"/>
            <a:tailEnd type="triangle"/>
          </a:ln>
        </p:spPr>
      </p:sp>
      <p:sp>
        <p:nvSpPr>
          <p:cNvPr id="60" name="Shape 56"/>
          <p:cNvSpPr/>
          <p:nvPr/>
        </p:nvSpPr>
        <p:spPr>
          <a:xfrm>
            <a:off x="2870128" y="3486063"/>
            <a:ext cx="368291" cy="63"/>
          </a:xfrm>
          <a:prstGeom prst="line">
            <a:avLst/>
          </a:prstGeom>
          <a:noFill/>
          <a:ln w="19050">
            <a:solidFill>
              <a:srgbClr val="B4530F"/>
            </a:solidFill>
            <a:prstDash val="dash"/>
            <a:tailEnd type="triangle"/>
          </a:ln>
        </p:spPr>
      </p:sp>
      <p:sp>
        <p:nvSpPr>
          <p:cNvPr id="61" name="Text 57"/>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Production deployment</a:t>
            </a:r>
            <a:endParaRPr lang="en-US" sz="1200" dirty="0"/>
          </a:p>
        </p:txBody>
      </p:sp>
      <p:sp>
        <p:nvSpPr>
          <p:cNvPr id="62" name="Text 58"/>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PRODUCTION DEPLOYMENT · STEPS 1–6</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Provision AWS in two Terraform phases</a:t>
            </a:r>
            <a:endParaRPr lang="en-US" sz="3000" dirty="0"/>
          </a:p>
        </p:txBody>
      </p:sp>
      <p:sp>
        <p:nvSpPr>
          <p:cNvPr id="4" name="Shape 2"/>
          <p:cNvSpPr/>
          <p:nvPr/>
        </p:nvSpPr>
        <p:spPr>
          <a:xfrm>
            <a:off x="812780" y="1775376"/>
            <a:ext cx="10566136" cy="63"/>
          </a:xfrm>
          <a:prstGeom prst="line">
            <a:avLst/>
          </a:prstGeom>
          <a:noFill/>
          <a:ln w="6350">
            <a:solidFill>
              <a:srgbClr val="D5DEEC"/>
            </a:solidFill>
            <a:prstDash val="solid"/>
          </a:ln>
        </p:spPr>
      </p:sp>
      <p:sp>
        <p:nvSpPr>
          <p:cNvPr id="5" name="Text 3"/>
          <p:cNvSpPr txBox="1"/>
          <p:nvPr/>
        </p:nvSpPr>
        <p:spPr>
          <a:xfrm>
            <a:off x="812780" y="1950592"/>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01</a:t>
            </a:r>
            <a:endParaRPr lang="en-US" sz="1600" dirty="0"/>
          </a:p>
        </p:txBody>
      </p:sp>
      <p:sp>
        <p:nvSpPr>
          <p:cNvPr id="6" name="Text 4"/>
          <p:cNvSpPr txBox="1"/>
          <p:nvPr/>
        </p:nvSpPr>
        <p:spPr>
          <a:xfrm>
            <a:off x="1203295" y="1857924"/>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Clear the blockers</a:t>
            </a:r>
            <a:endParaRPr lang="en-US" sz="1300" dirty="0"/>
          </a:p>
        </p:txBody>
      </p:sp>
      <p:sp>
        <p:nvSpPr>
          <p:cNvPr id="7" name="Text 5"/>
          <p:cNvSpPr txBox="1"/>
          <p:nvPr/>
        </p:nvSpPr>
        <p:spPr>
          <a:xfrm>
            <a:off x="1203295" y="2114398"/>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Start with the stray edit</a:t>
            </a:r>
            <a:endParaRPr lang="en-US" sz="1200" dirty="0"/>
          </a:p>
        </p:txBody>
      </p:sp>
      <p:sp>
        <p:nvSpPr>
          <p:cNvPr id="8" name="Shape 6"/>
          <p:cNvSpPr/>
          <p:nvPr/>
        </p:nvSpPr>
        <p:spPr>
          <a:xfrm>
            <a:off x="5248144" y="1909913"/>
            <a:ext cx="6130772" cy="365711"/>
          </a:xfrm>
          <a:prstGeom prst="roundRect">
            <a:avLst>
              <a:gd name="adj" fmla="val 13890"/>
            </a:avLst>
          </a:prstGeom>
          <a:solidFill>
            <a:srgbClr val="E7EEFA"/>
          </a:solidFill>
          <a:ln/>
        </p:spPr>
      </p:sp>
      <p:sp>
        <p:nvSpPr>
          <p:cNvPr id="9" name="Shape 7"/>
          <p:cNvSpPr/>
          <p:nvPr/>
        </p:nvSpPr>
        <p:spPr>
          <a:xfrm>
            <a:off x="5248144" y="1909913"/>
            <a:ext cx="38099" cy="365711"/>
          </a:xfrm>
          <a:prstGeom prst="roundRect">
            <a:avLst>
              <a:gd name="adj" fmla="val 50000"/>
            </a:avLst>
          </a:prstGeom>
          <a:solidFill>
            <a:srgbClr val="2454C5"/>
          </a:solidFill>
          <a:ln/>
        </p:spPr>
      </p:sp>
      <p:sp>
        <p:nvSpPr>
          <p:cNvPr id="10" name="Text 8"/>
          <p:cNvSpPr txBox="1"/>
          <p:nvPr/>
        </p:nvSpPr>
        <p:spPr>
          <a:xfrm>
            <a:off x="5413240" y="1986111"/>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git checkout -- infra/terraform/modules/api_gateway/main.tf</a:t>
            </a:r>
            <a:endParaRPr lang="en-US" sz="1200" dirty="0"/>
          </a:p>
        </p:txBody>
      </p:sp>
      <p:sp>
        <p:nvSpPr>
          <p:cNvPr id="11" name="Shape 9"/>
          <p:cNvSpPr/>
          <p:nvPr/>
        </p:nvSpPr>
        <p:spPr>
          <a:xfrm>
            <a:off x="812780" y="2403911"/>
            <a:ext cx="10566136" cy="63"/>
          </a:xfrm>
          <a:prstGeom prst="line">
            <a:avLst/>
          </a:prstGeom>
          <a:noFill/>
          <a:ln w="6350">
            <a:solidFill>
              <a:srgbClr val="D5DEEC"/>
            </a:solidFill>
            <a:prstDash val="solid"/>
          </a:ln>
        </p:spPr>
      </p:sp>
      <p:sp>
        <p:nvSpPr>
          <p:cNvPr id="12" name="Text 10"/>
          <p:cNvSpPr txBox="1"/>
          <p:nvPr/>
        </p:nvSpPr>
        <p:spPr>
          <a:xfrm>
            <a:off x="812780" y="2633696"/>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02</a:t>
            </a:r>
            <a:endParaRPr lang="en-US" sz="1600" dirty="0"/>
          </a:p>
        </p:txBody>
      </p:sp>
      <p:sp>
        <p:nvSpPr>
          <p:cNvPr id="13" name="Text 11"/>
          <p:cNvSpPr txBox="1"/>
          <p:nvPr/>
        </p:nvSpPr>
        <p:spPr>
          <a:xfrm>
            <a:off x="1203295" y="2541028"/>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Bootstrap once</a:t>
            </a:r>
            <a:endParaRPr lang="en-US" sz="1300" dirty="0"/>
          </a:p>
        </p:txBody>
      </p:sp>
      <p:sp>
        <p:nvSpPr>
          <p:cNvPr id="14" name="Text 12"/>
          <p:cNvSpPr txBox="1"/>
          <p:nvPr/>
        </p:nvSpPr>
        <p:spPr>
          <a:xfrm>
            <a:off x="1203295" y="2797502"/>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State, locks, ECR, OIDC roles</a:t>
            </a:r>
            <a:endParaRPr lang="en-US" sz="1200" dirty="0"/>
          </a:p>
        </p:txBody>
      </p:sp>
      <p:sp>
        <p:nvSpPr>
          <p:cNvPr id="15" name="Shape 13"/>
          <p:cNvSpPr/>
          <p:nvPr/>
        </p:nvSpPr>
        <p:spPr>
          <a:xfrm>
            <a:off x="5248144" y="2486459"/>
            <a:ext cx="6130772" cy="579026"/>
          </a:xfrm>
          <a:prstGeom prst="roundRect">
            <a:avLst>
              <a:gd name="adj" fmla="val 8773"/>
            </a:avLst>
          </a:prstGeom>
          <a:solidFill>
            <a:srgbClr val="E7EEFA"/>
          </a:solidFill>
          <a:ln/>
        </p:spPr>
      </p:sp>
      <p:sp>
        <p:nvSpPr>
          <p:cNvPr id="16" name="Shape 14"/>
          <p:cNvSpPr/>
          <p:nvPr/>
        </p:nvSpPr>
        <p:spPr>
          <a:xfrm>
            <a:off x="5248144" y="2486459"/>
            <a:ext cx="38099" cy="579026"/>
          </a:xfrm>
          <a:prstGeom prst="roundRect">
            <a:avLst>
              <a:gd name="adj" fmla="val 50000"/>
            </a:avLst>
          </a:prstGeom>
          <a:solidFill>
            <a:srgbClr val="2454C5"/>
          </a:solidFill>
          <a:ln/>
        </p:spPr>
      </p:sp>
      <p:sp>
        <p:nvSpPr>
          <p:cNvPr id="17" name="Text 15"/>
          <p:cNvSpPr txBox="1"/>
          <p:nvPr/>
        </p:nvSpPr>
        <p:spPr>
          <a:xfrm>
            <a:off x="5413240" y="2562657"/>
            <a:ext cx="6539321" cy="426630"/>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homefix-terraform-state (versioned, KMS)</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homefix-terraform-locks (DynamoDB)</a:t>
            </a:r>
            <a:endParaRPr lang="en-US" sz="1200" dirty="0"/>
          </a:p>
        </p:txBody>
      </p:sp>
      <p:sp>
        <p:nvSpPr>
          <p:cNvPr id="18" name="Shape 16"/>
          <p:cNvSpPr/>
          <p:nvPr/>
        </p:nvSpPr>
        <p:spPr>
          <a:xfrm>
            <a:off x="812780" y="3141683"/>
            <a:ext cx="10566136" cy="63"/>
          </a:xfrm>
          <a:prstGeom prst="line">
            <a:avLst/>
          </a:prstGeom>
          <a:noFill/>
          <a:ln w="6350">
            <a:solidFill>
              <a:srgbClr val="D5DEEC"/>
            </a:solidFill>
            <a:prstDash val="solid"/>
          </a:ln>
        </p:spPr>
      </p:sp>
      <p:sp>
        <p:nvSpPr>
          <p:cNvPr id="19" name="Text 17"/>
          <p:cNvSpPr txBox="1"/>
          <p:nvPr/>
        </p:nvSpPr>
        <p:spPr>
          <a:xfrm>
            <a:off x="812780" y="3371468"/>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03</a:t>
            </a:r>
            <a:endParaRPr lang="en-US" sz="1600" dirty="0"/>
          </a:p>
        </p:txBody>
      </p:sp>
      <p:sp>
        <p:nvSpPr>
          <p:cNvPr id="20" name="Text 18"/>
          <p:cNvSpPr txBox="1"/>
          <p:nvPr/>
        </p:nvSpPr>
        <p:spPr>
          <a:xfrm>
            <a:off x="1203295" y="3278800"/>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Phase 1: platform</a:t>
            </a:r>
            <a:endParaRPr lang="en-US" sz="1300" dirty="0"/>
          </a:p>
        </p:txBody>
      </p:sp>
      <p:sp>
        <p:nvSpPr>
          <p:cNvPr id="21" name="Text 19"/>
          <p:cNvSpPr txBox="1"/>
          <p:nvPr/>
        </p:nvSpPr>
        <p:spPr>
          <a:xfrm>
            <a:off x="1203295" y="3535274"/>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Network, EKS, data, edge</a:t>
            </a:r>
            <a:endParaRPr lang="en-US" sz="1200" dirty="0"/>
          </a:p>
        </p:txBody>
      </p:sp>
      <p:sp>
        <p:nvSpPr>
          <p:cNvPr id="22" name="Shape 20"/>
          <p:cNvSpPr/>
          <p:nvPr/>
        </p:nvSpPr>
        <p:spPr>
          <a:xfrm>
            <a:off x="5248144" y="3224231"/>
            <a:ext cx="6130772" cy="579026"/>
          </a:xfrm>
          <a:prstGeom prst="roundRect">
            <a:avLst>
              <a:gd name="adj" fmla="val 8773"/>
            </a:avLst>
          </a:prstGeom>
          <a:solidFill>
            <a:srgbClr val="E7EEFA"/>
          </a:solidFill>
          <a:ln/>
        </p:spPr>
      </p:sp>
      <p:sp>
        <p:nvSpPr>
          <p:cNvPr id="23" name="Shape 21"/>
          <p:cNvSpPr/>
          <p:nvPr/>
        </p:nvSpPr>
        <p:spPr>
          <a:xfrm>
            <a:off x="5248144" y="3224231"/>
            <a:ext cx="38099" cy="579026"/>
          </a:xfrm>
          <a:prstGeom prst="roundRect">
            <a:avLst>
              <a:gd name="adj" fmla="val 50000"/>
            </a:avLst>
          </a:prstGeom>
          <a:solidFill>
            <a:srgbClr val="2454C5"/>
          </a:solidFill>
          <a:ln/>
        </p:spPr>
      </p:sp>
      <p:sp>
        <p:nvSpPr>
          <p:cNvPr id="24" name="Text 22"/>
          <p:cNvSpPr txBox="1"/>
          <p:nvPr/>
        </p:nvSpPr>
        <p:spPr>
          <a:xfrm>
            <a:off x="5413240" y="3300429"/>
            <a:ext cx="6539321" cy="426630"/>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terraform init -backend-config=…</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terraform apply -target=module.kms -target=…</a:t>
            </a:r>
            <a:endParaRPr lang="en-US" sz="1200" dirty="0"/>
          </a:p>
        </p:txBody>
      </p:sp>
      <p:sp>
        <p:nvSpPr>
          <p:cNvPr id="25" name="Shape 23"/>
          <p:cNvSpPr/>
          <p:nvPr/>
        </p:nvSpPr>
        <p:spPr>
          <a:xfrm>
            <a:off x="812780" y="3879455"/>
            <a:ext cx="10566136" cy="63"/>
          </a:xfrm>
          <a:prstGeom prst="line">
            <a:avLst/>
          </a:prstGeom>
          <a:noFill/>
          <a:ln w="6350">
            <a:solidFill>
              <a:srgbClr val="D5DEEC"/>
            </a:solidFill>
            <a:prstDash val="solid"/>
          </a:ln>
        </p:spPr>
      </p:sp>
      <p:sp>
        <p:nvSpPr>
          <p:cNvPr id="26" name="Text 24"/>
          <p:cNvSpPr txBox="1"/>
          <p:nvPr/>
        </p:nvSpPr>
        <p:spPr>
          <a:xfrm>
            <a:off x="812780" y="4109240"/>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04</a:t>
            </a:r>
            <a:endParaRPr lang="en-US" sz="1600" dirty="0"/>
          </a:p>
        </p:txBody>
      </p:sp>
      <p:sp>
        <p:nvSpPr>
          <p:cNvPr id="27" name="Text 25"/>
          <p:cNvSpPr txBox="1"/>
          <p:nvPr/>
        </p:nvSpPr>
        <p:spPr>
          <a:xfrm>
            <a:off x="1203295" y="4016572"/>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Phase 2: IAM, namespaces</a:t>
            </a:r>
            <a:endParaRPr lang="en-US" sz="1300" dirty="0"/>
          </a:p>
        </p:txBody>
      </p:sp>
      <p:sp>
        <p:nvSpPr>
          <p:cNvPr id="28" name="Text 26"/>
          <p:cNvSpPr txBox="1"/>
          <p:nvPr/>
        </p:nvSpPr>
        <p:spPr>
          <a:xfrm>
            <a:off x="1203295" y="4273046"/>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EKS endpoint and CA into tfvars</a:t>
            </a:r>
            <a:endParaRPr lang="en-US" sz="1200" dirty="0"/>
          </a:p>
        </p:txBody>
      </p:sp>
      <p:sp>
        <p:nvSpPr>
          <p:cNvPr id="29" name="Shape 27"/>
          <p:cNvSpPr/>
          <p:nvPr/>
        </p:nvSpPr>
        <p:spPr>
          <a:xfrm>
            <a:off x="5248144" y="3962003"/>
            <a:ext cx="6130772" cy="579026"/>
          </a:xfrm>
          <a:prstGeom prst="roundRect">
            <a:avLst>
              <a:gd name="adj" fmla="val 8773"/>
            </a:avLst>
          </a:prstGeom>
          <a:solidFill>
            <a:srgbClr val="E7EEFA"/>
          </a:solidFill>
          <a:ln/>
        </p:spPr>
      </p:sp>
      <p:sp>
        <p:nvSpPr>
          <p:cNvPr id="30" name="Shape 28"/>
          <p:cNvSpPr/>
          <p:nvPr/>
        </p:nvSpPr>
        <p:spPr>
          <a:xfrm>
            <a:off x="5248144" y="3962003"/>
            <a:ext cx="38099" cy="579026"/>
          </a:xfrm>
          <a:prstGeom prst="roundRect">
            <a:avLst>
              <a:gd name="adj" fmla="val 50000"/>
            </a:avLst>
          </a:prstGeom>
          <a:solidFill>
            <a:srgbClr val="2454C5"/>
          </a:solidFill>
          <a:ln/>
        </p:spPr>
      </p:sp>
      <p:sp>
        <p:nvSpPr>
          <p:cNvPr id="31" name="Text 29"/>
          <p:cNvSpPr txBox="1"/>
          <p:nvPr/>
        </p:nvSpPr>
        <p:spPr>
          <a:xfrm>
            <a:off x="5413240" y="4038201"/>
            <a:ext cx="6539321" cy="426630"/>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terraform apply -target=module.iam -target=module.k8s_namespaces</a:t>
            </a:r>
            <a:endParaRPr lang="en-US" sz="1200" dirty="0"/>
          </a:p>
        </p:txBody>
      </p:sp>
      <p:sp>
        <p:nvSpPr>
          <p:cNvPr id="32" name="Shape 30"/>
          <p:cNvSpPr/>
          <p:nvPr/>
        </p:nvSpPr>
        <p:spPr>
          <a:xfrm>
            <a:off x="812780" y="4617228"/>
            <a:ext cx="10566136" cy="63"/>
          </a:xfrm>
          <a:prstGeom prst="line">
            <a:avLst/>
          </a:prstGeom>
          <a:noFill/>
          <a:ln w="6350">
            <a:solidFill>
              <a:srgbClr val="D5DEEC"/>
            </a:solidFill>
            <a:prstDash val="solid"/>
          </a:ln>
        </p:spPr>
      </p:sp>
      <p:sp>
        <p:nvSpPr>
          <p:cNvPr id="33" name="Text 31"/>
          <p:cNvSpPr txBox="1"/>
          <p:nvPr/>
        </p:nvSpPr>
        <p:spPr>
          <a:xfrm>
            <a:off x="812780" y="4792443"/>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05</a:t>
            </a:r>
            <a:endParaRPr lang="en-US" sz="1600" dirty="0"/>
          </a:p>
        </p:txBody>
      </p:sp>
      <p:sp>
        <p:nvSpPr>
          <p:cNvPr id="34" name="Text 32"/>
          <p:cNvSpPr txBox="1"/>
          <p:nvPr/>
        </p:nvSpPr>
        <p:spPr>
          <a:xfrm>
            <a:off x="1203295" y="4699775"/>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Load real secrets</a:t>
            </a:r>
            <a:endParaRPr lang="en-US" sz="1300" dirty="0"/>
          </a:p>
        </p:txBody>
      </p:sp>
      <p:sp>
        <p:nvSpPr>
          <p:cNvPr id="35" name="Text 33"/>
          <p:cNvSpPr txBox="1"/>
          <p:nvPr/>
        </p:nvSpPr>
        <p:spPr>
          <a:xfrm>
            <a:off x="1203295" y="4956250"/>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Replace the placeholders</a:t>
            </a:r>
            <a:endParaRPr lang="en-US" sz="1200" dirty="0"/>
          </a:p>
        </p:txBody>
      </p:sp>
      <p:sp>
        <p:nvSpPr>
          <p:cNvPr id="36" name="Shape 34"/>
          <p:cNvSpPr/>
          <p:nvPr/>
        </p:nvSpPr>
        <p:spPr>
          <a:xfrm>
            <a:off x="5248144" y="4751765"/>
            <a:ext cx="6130772" cy="365711"/>
          </a:xfrm>
          <a:prstGeom prst="roundRect">
            <a:avLst>
              <a:gd name="adj" fmla="val 13890"/>
            </a:avLst>
          </a:prstGeom>
          <a:solidFill>
            <a:srgbClr val="E7EEFA"/>
          </a:solidFill>
          <a:ln/>
        </p:spPr>
      </p:sp>
      <p:sp>
        <p:nvSpPr>
          <p:cNvPr id="37" name="Shape 35"/>
          <p:cNvSpPr/>
          <p:nvPr/>
        </p:nvSpPr>
        <p:spPr>
          <a:xfrm>
            <a:off x="5248144" y="4751765"/>
            <a:ext cx="38099" cy="365711"/>
          </a:xfrm>
          <a:prstGeom prst="roundRect">
            <a:avLst>
              <a:gd name="adj" fmla="val 50000"/>
            </a:avLst>
          </a:prstGeom>
          <a:solidFill>
            <a:srgbClr val="2454C5"/>
          </a:solidFill>
          <a:ln/>
        </p:spPr>
      </p:sp>
      <p:sp>
        <p:nvSpPr>
          <p:cNvPr id="38" name="Text 36"/>
          <p:cNvSpPr txBox="1"/>
          <p:nvPr/>
        </p:nvSpPr>
        <p:spPr>
          <a:xfrm>
            <a:off x="5413240" y="4827963"/>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Secrets Manager → External Secrets → &lt;svc&gt;-secrets</a:t>
            </a:r>
            <a:endParaRPr lang="en-US" sz="1200" dirty="0"/>
          </a:p>
        </p:txBody>
      </p:sp>
      <p:sp>
        <p:nvSpPr>
          <p:cNvPr id="39" name="Shape 37"/>
          <p:cNvSpPr/>
          <p:nvPr/>
        </p:nvSpPr>
        <p:spPr>
          <a:xfrm>
            <a:off x="812780" y="5245763"/>
            <a:ext cx="10566136" cy="63"/>
          </a:xfrm>
          <a:prstGeom prst="line">
            <a:avLst/>
          </a:prstGeom>
          <a:noFill/>
          <a:ln w="6350">
            <a:solidFill>
              <a:srgbClr val="D5DEEC"/>
            </a:solidFill>
            <a:prstDash val="solid"/>
          </a:ln>
        </p:spPr>
      </p:sp>
      <p:sp>
        <p:nvSpPr>
          <p:cNvPr id="40" name="Text 38"/>
          <p:cNvSpPr txBox="1"/>
          <p:nvPr/>
        </p:nvSpPr>
        <p:spPr>
          <a:xfrm>
            <a:off x="812780" y="5420979"/>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06</a:t>
            </a:r>
            <a:endParaRPr lang="en-US" sz="1600" dirty="0"/>
          </a:p>
        </p:txBody>
      </p:sp>
      <p:sp>
        <p:nvSpPr>
          <p:cNvPr id="41" name="Text 39"/>
          <p:cNvSpPr txBox="1"/>
          <p:nvPr/>
        </p:nvSpPr>
        <p:spPr>
          <a:xfrm>
            <a:off x="1203295" y="5328311"/>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Prepare the database</a:t>
            </a:r>
            <a:endParaRPr lang="en-US" sz="1300" dirty="0"/>
          </a:p>
        </p:txBody>
      </p:sp>
      <p:sp>
        <p:nvSpPr>
          <p:cNvPr id="42" name="Text 40"/>
          <p:cNvSpPr txBox="1"/>
          <p:nvPr/>
        </p:nvSpPr>
        <p:spPr>
          <a:xfrm>
            <a:off x="1203295" y="5584785"/>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Per-service roles and schemas</a:t>
            </a:r>
            <a:endParaRPr lang="en-US" sz="1200" dirty="0"/>
          </a:p>
        </p:txBody>
      </p:sp>
      <p:sp>
        <p:nvSpPr>
          <p:cNvPr id="43" name="Shape 41"/>
          <p:cNvSpPr/>
          <p:nvPr/>
        </p:nvSpPr>
        <p:spPr>
          <a:xfrm>
            <a:off x="5248144" y="5380300"/>
            <a:ext cx="6130772" cy="365711"/>
          </a:xfrm>
          <a:prstGeom prst="roundRect">
            <a:avLst>
              <a:gd name="adj" fmla="val 13890"/>
            </a:avLst>
          </a:prstGeom>
          <a:solidFill>
            <a:srgbClr val="E7EEFA"/>
          </a:solidFill>
          <a:ln/>
        </p:spPr>
      </p:sp>
      <p:sp>
        <p:nvSpPr>
          <p:cNvPr id="44" name="Shape 42"/>
          <p:cNvSpPr/>
          <p:nvPr/>
        </p:nvSpPr>
        <p:spPr>
          <a:xfrm>
            <a:off x="5248144" y="5380300"/>
            <a:ext cx="38099" cy="365711"/>
          </a:xfrm>
          <a:prstGeom prst="roundRect">
            <a:avLst>
              <a:gd name="adj" fmla="val 50000"/>
            </a:avLst>
          </a:prstGeom>
          <a:solidFill>
            <a:srgbClr val="2454C5"/>
          </a:solidFill>
          <a:ln/>
        </p:spPr>
      </p:sp>
      <p:sp>
        <p:nvSpPr>
          <p:cNvPr id="45" name="Text 43"/>
          <p:cNvSpPr txBox="1"/>
          <p:nvPr/>
        </p:nvSpPr>
        <p:spPr>
          <a:xfrm>
            <a:off x="5413240" y="5456498"/>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init-db.sql for RDS, then a Flyway Job</a:t>
            </a:r>
            <a:endParaRPr lang="en-US" sz="1200" dirty="0"/>
          </a:p>
        </p:txBody>
      </p:sp>
      <p:sp>
        <p:nvSpPr>
          <p:cNvPr id="46" name="Text 44"/>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Production deployment</a:t>
            </a:r>
            <a:endParaRPr lang="en-US" sz="1200" dirty="0"/>
          </a:p>
        </p:txBody>
      </p:sp>
      <p:sp>
        <p:nvSpPr>
          <p:cNvPr id="47" name="Text 45"/>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PRODUCTION DEPLOYMENT · STEPS 7–12</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Ship a commit: staging first, production by approval</a:t>
            </a:r>
            <a:endParaRPr lang="en-US" sz="3000" dirty="0"/>
          </a:p>
        </p:txBody>
      </p:sp>
      <p:sp>
        <p:nvSpPr>
          <p:cNvPr id="4" name="Shape 2"/>
          <p:cNvSpPr/>
          <p:nvPr/>
        </p:nvSpPr>
        <p:spPr>
          <a:xfrm>
            <a:off x="812780" y="1775376"/>
            <a:ext cx="10566136" cy="63"/>
          </a:xfrm>
          <a:prstGeom prst="line">
            <a:avLst/>
          </a:prstGeom>
          <a:noFill/>
          <a:ln w="6350">
            <a:solidFill>
              <a:srgbClr val="D5DEEC"/>
            </a:solidFill>
            <a:prstDash val="solid"/>
          </a:ln>
        </p:spPr>
      </p:sp>
      <p:sp>
        <p:nvSpPr>
          <p:cNvPr id="5" name="Text 3"/>
          <p:cNvSpPr txBox="1"/>
          <p:nvPr/>
        </p:nvSpPr>
        <p:spPr>
          <a:xfrm>
            <a:off x="812780" y="1950592"/>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07</a:t>
            </a:r>
            <a:endParaRPr lang="en-US" sz="1600" dirty="0"/>
          </a:p>
        </p:txBody>
      </p:sp>
      <p:sp>
        <p:nvSpPr>
          <p:cNvPr id="6" name="Text 4"/>
          <p:cNvSpPr txBox="1"/>
          <p:nvPr/>
        </p:nvSpPr>
        <p:spPr>
          <a:xfrm>
            <a:off x="1203295" y="1857924"/>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Install cluster add-ons</a:t>
            </a:r>
            <a:endParaRPr lang="en-US" sz="1300" dirty="0"/>
          </a:p>
        </p:txBody>
      </p:sp>
      <p:sp>
        <p:nvSpPr>
          <p:cNvPr id="7" name="Text 5"/>
          <p:cNvSpPr txBox="1"/>
          <p:nvPr/>
        </p:nvSpPr>
        <p:spPr>
          <a:xfrm>
            <a:off x="1203295" y="2114398"/>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LB controller, secrets, monitoring</a:t>
            </a:r>
            <a:endParaRPr lang="en-US" sz="1200" dirty="0"/>
          </a:p>
        </p:txBody>
      </p:sp>
      <p:sp>
        <p:nvSpPr>
          <p:cNvPr id="8" name="Shape 6"/>
          <p:cNvSpPr/>
          <p:nvPr/>
        </p:nvSpPr>
        <p:spPr>
          <a:xfrm>
            <a:off x="5248144" y="1909913"/>
            <a:ext cx="6130772" cy="365711"/>
          </a:xfrm>
          <a:prstGeom prst="roundRect">
            <a:avLst>
              <a:gd name="adj" fmla="val 13890"/>
            </a:avLst>
          </a:prstGeom>
          <a:solidFill>
            <a:srgbClr val="E7EEFA"/>
          </a:solidFill>
          <a:ln/>
        </p:spPr>
      </p:sp>
      <p:sp>
        <p:nvSpPr>
          <p:cNvPr id="9" name="Shape 7"/>
          <p:cNvSpPr/>
          <p:nvPr/>
        </p:nvSpPr>
        <p:spPr>
          <a:xfrm>
            <a:off x="5248144" y="1909913"/>
            <a:ext cx="38099" cy="365711"/>
          </a:xfrm>
          <a:prstGeom prst="roundRect">
            <a:avLst>
              <a:gd name="adj" fmla="val 50000"/>
            </a:avLst>
          </a:prstGeom>
          <a:solidFill>
            <a:srgbClr val="2454C5"/>
          </a:solidFill>
          <a:ln/>
        </p:spPr>
      </p:sp>
      <p:sp>
        <p:nvSpPr>
          <p:cNvPr id="10" name="Text 8"/>
          <p:cNvSpPr txBox="1"/>
          <p:nvPr/>
        </p:nvSpPr>
        <p:spPr>
          <a:xfrm>
            <a:off x="5413240" y="1986111"/>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helm install … infra/k8s/observability/*-values.yaml</a:t>
            </a:r>
            <a:endParaRPr lang="en-US" sz="1200" dirty="0"/>
          </a:p>
        </p:txBody>
      </p:sp>
      <p:sp>
        <p:nvSpPr>
          <p:cNvPr id="11" name="Shape 9"/>
          <p:cNvSpPr/>
          <p:nvPr/>
        </p:nvSpPr>
        <p:spPr>
          <a:xfrm>
            <a:off x="812780" y="2403911"/>
            <a:ext cx="10566136" cy="63"/>
          </a:xfrm>
          <a:prstGeom prst="line">
            <a:avLst/>
          </a:prstGeom>
          <a:noFill/>
          <a:ln w="6350">
            <a:solidFill>
              <a:srgbClr val="D5DEEC"/>
            </a:solidFill>
            <a:prstDash val="solid"/>
          </a:ln>
        </p:spPr>
      </p:sp>
      <p:sp>
        <p:nvSpPr>
          <p:cNvPr id="12" name="Text 10"/>
          <p:cNvSpPr txBox="1"/>
          <p:nvPr/>
        </p:nvSpPr>
        <p:spPr>
          <a:xfrm>
            <a:off x="812780" y="2579127"/>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08</a:t>
            </a:r>
            <a:endParaRPr lang="en-US" sz="1600" dirty="0"/>
          </a:p>
        </p:txBody>
      </p:sp>
      <p:sp>
        <p:nvSpPr>
          <p:cNvPr id="13" name="Text 11"/>
          <p:cNvSpPr txBox="1"/>
          <p:nvPr/>
        </p:nvSpPr>
        <p:spPr>
          <a:xfrm>
            <a:off x="1203295" y="2486459"/>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Merge to main</a:t>
            </a:r>
            <a:endParaRPr lang="en-US" sz="1300" dirty="0"/>
          </a:p>
        </p:txBody>
      </p:sp>
      <p:sp>
        <p:nvSpPr>
          <p:cNvPr id="14" name="Text 12"/>
          <p:cNvSpPr txBox="1"/>
          <p:nvPr/>
        </p:nvSpPr>
        <p:spPr>
          <a:xfrm>
            <a:off x="1203295" y="2742933"/>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Tests, coverage, Trivy, ECR push</a:t>
            </a:r>
            <a:endParaRPr lang="en-US" sz="1200" dirty="0"/>
          </a:p>
        </p:txBody>
      </p:sp>
      <p:sp>
        <p:nvSpPr>
          <p:cNvPr id="15" name="Shape 13"/>
          <p:cNvSpPr/>
          <p:nvPr/>
        </p:nvSpPr>
        <p:spPr>
          <a:xfrm>
            <a:off x="5248144" y="2538448"/>
            <a:ext cx="6130772" cy="365711"/>
          </a:xfrm>
          <a:prstGeom prst="roundRect">
            <a:avLst>
              <a:gd name="adj" fmla="val 13890"/>
            </a:avLst>
          </a:prstGeom>
          <a:solidFill>
            <a:srgbClr val="E7EEFA"/>
          </a:solidFill>
          <a:ln/>
        </p:spPr>
      </p:sp>
      <p:sp>
        <p:nvSpPr>
          <p:cNvPr id="16" name="Shape 14"/>
          <p:cNvSpPr/>
          <p:nvPr/>
        </p:nvSpPr>
        <p:spPr>
          <a:xfrm>
            <a:off x="5248144" y="2538448"/>
            <a:ext cx="38099" cy="365711"/>
          </a:xfrm>
          <a:prstGeom prst="roundRect">
            <a:avLst>
              <a:gd name="adj" fmla="val 50000"/>
            </a:avLst>
          </a:prstGeom>
          <a:solidFill>
            <a:srgbClr val="2454C5"/>
          </a:solidFill>
          <a:ln/>
        </p:spPr>
      </p:sp>
      <p:sp>
        <p:nvSpPr>
          <p:cNvPr id="17" name="Text 15"/>
          <p:cNvSpPr txBox="1"/>
          <p:nvPr/>
        </p:nvSpPr>
        <p:spPr>
          <a:xfrm>
            <a:off x="5413240" y="2614646"/>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vars: IMAGE_PUSH_ENABLED, STAGING_DEPLOY_ENABLED</a:t>
            </a:r>
            <a:endParaRPr lang="en-US" sz="1200" dirty="0"/>
          </a:p>
        </p:txBody>
      </p:sp>
      <p:sp>
        <p:nvSpPr>
          <p:cNvPr id="18" name="Shape 16"/>
          <p:cNvSpPr/>
          <p:nvPr/>
        </p:nvSpPr>
        <p:spPr>
          <a:xfrm>
            <a:off x="812780" y="3032446"/>
            <a:ext cx="10566136" cy="63"/>
          </a:xfrm>
          <a:prstGeom prst="line">
            <a:avLst/>
          </a:prstGeom>
          <a:noFill/>
          <a:ln w="6350">
            <a:solidFill>
              <a:srgbClr val="D5DEEC"/>
            </a:solidFill>
            <a:prstDash val="solid"/>
          </a:ln>
        </p:spPr>
      </p:sp>
      <p:sp>
        <p:nvSpPr>
          <p:cNvPr id="19" name="Text 17"/>
          <p:cNvSpPr txBox="1"/>
          <p:nvPr/>
        </p:nvSpPr>
        <p:spPr>
          <a:xfrm>
            <a:off x="812780" y="3207662"/>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09</a:t>
            </a:r>
            <a:endParaRPr lang="en-US" sz="1600" dirty="0"/>
          </a:p>
        </p:txBody>
      </p:sp>
      <p:sp>
        <p:nvSpPr>
          <p:cNvPr id="20" name="Text 18"/>
          <p:cNvSpPr txBox="1"/>
          <p:nvPr/>
        </p:nvSpPr>
        <p:spPr>
          <a:xfrm>
            <a:off x="1203295" y="3114994"/>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Staging deploys itself</a:t>
            </a:r>
            <a:endParaRPr lang="en-US" sz="1300" dirty="0"/>
          </a:p>
        </p:txBody>
      </p:sp>
      <p:sp>
        <p:nvSpPr>
          <p:cNvPr id="21" name="Text 19"/>
          <p:cNvSpPr txBox="1"/>
          <p:nvPr/>
        </p:nvSpPr>
        <p:spPr>
          <a:xfrm>
            <a:off x="1203295" y="3371468"/>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Preflight, then Helm per service</a:t>
            </a:r>
            <a:endParaRPr lang="en-US" sz="1200" dirty="0"/>
          </a:p>
        </p:txBody>
      </p:sp>
      <p:sp>
        <p:nvSpPr>
          <p:cNvPr id="22" name="Shape 20"/>
          <p:cNvSpPr/>
          <p:nvPr/>
        </p:nvSpPr>
        <p:spPr>
          <a:xfrm>
            <a:off x="5248144" y="3166983"/>
            <a:ext cx="6130772" cy="365711"/>
          </a:xfrm>
          <a:prstGeom prst="roundRect">
            <a:avLst>
              <a:gd name="adj" fmla="val 13890"/>
            </a:avLst>
          </a:prstGeom>
          <a:solidFill>
            <a:srgbClr val="E7EEFA"/>
          </a:solidFill>
          <a:ln/>
        </p:spPr>
      </p:sp>
      <p:sp>
        <p:nvSpPr>
          <p:cNvPr id="23" name="Shape 21"/>
          <p:cNvSpPr/>
          <p:nvPr/>
        </p:nvSpPr>
        <p:spPr>
          <a:xfrm>
            <a:off x="5248144" y="3166983"/>
            <a:ext cx="38099" cy="365711"/>
          </a:xfrm>
          <a:prstGeom prst="roundRect">
            <a:avLst>
              <a:gd name="adj" fmla="val 50000"/>
            </a:avLst>
          </a:prstGeom>
          <a:solidFill>
            <a:srgbClr val="2454C5"/>
          </a:solidFill>
          <a:ln/>
        </p:spPr>
      </p:sp>
      <p:sp>
        <p:nvSpPr>
          <p:cNvPr id="24" name="Text 22"/>
          <p:cNvSpPr txBox="1"/>
          <p:nvPr/>
        </p:nvSpPr>
        <p:spPr>
          <a:xfrm>
            <a:off x="5413240" y="3243181"/>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helm upgrade --install homefix-&lt;svc&gt; --atomic --wait</a:t>
            </a:r>
            <a:endParaRPr lang="en-US" sz="1200" dirty="0"/>
          </a:p>
        </p:txBody>
      </p:sp>
      <p:sp>
        <p:nvSpPr>
          <p:cNvPr id="25" name="Shape 23"/>
          <p:cNvSpPr/>
          <p:nvPr/>
        </p:nvSpPr>
        <p:spPr>
          <a:xfrm>
            <a:off x="812780" y="3660981"/>
            <a:ext cx="10566136" cy="63"/>
          </a:xfrm>
          <a:prstGeom prst="line">
            <a:avLst/>
          </a:prstGeom>
          <a:noFill/>
          <a:ln w="6350">
            <a:solidFill>
              <a:srgbClr val="D5DEEC"/>
            </a:solidFill>
            <a:prstDash val="solid"/>
          </a:ln>
        </p:spPr>
      </p:sp>
      <p:sp>
        <p:nvSpPr>
          <p:cNvPr id="26" name="Text 24"/>
          <p:cNvSpPr txBox="1"/>
          <p:nvPr/>
        </p:nvSpPr>
        <p:spPr>
          <a:xfrm>
            <a:off x="812780" y="3890766"/>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10</a:t>
            </a:r>
            <a:endParaRPr lang="en-US" sz="1600" dirty="0"/>
          </a:p>
        </p:txBody>
      </p:sp>
      <p:sp>
        <p:nvSpPr>
          <p:cNvPr id="27" name="Text 25"/>
          <p:cNvSpPr txBox="1"/>
          <p:nvPr/>
        </p:nvSpPr>
        <p:spPr>
          <a:xfrm>
            <a:off x="1203295" y="3798098"/>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Promote to production</a:t>
            </a:r>
            <a:endParaRPr lang="en-US" sz="1300" dirty="0"/>
          </a:p>
        </p:txBody>
      </p:sp>
      <p:sp>
        <p:nvSpPr>
          <p:cNvPr id="28" name="Text 26"/>
          <p:cNvSpPr txBox="1"/>
          <p:nvPr/>
        </p:nvSpPr>
        <p:spPr>
          <a:xfrm>
            <a:off x="1203295" y="4054572"/>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Same SHA; reviewers approve</a:t>
            </a:r>
            <a:endParaRPr lang="en-US" sz="1200" dirty="0"/>
          </a:p>
        </p:txBody>
      </p:sp>
      <p:sp>
        <p:nvSpPr>
          <p:cNvPr id="29" name="Shape 27"/>
          <p:cNvSpPr/>
          <p:nvPr/>
        </p:nvSpPr>
        <p:spPr>
          <a:xfrm>
            <a:off x="5248144" y="3743529"/>
            <a:ext cx="6130772" cy="579026"/>
          </a:xfrm>
          <a:prstGeom prst="roundRect">
            <a:avLst>
              <a:gd name="adj" fmla="val 8773"/>
            </a:avLst>
          </a:prstGeom>
          <a:solidFill>
            <a:srgbClr val="E7EEFA"/>
          </a:solidFill>
          <a:ln/>
        </p:spPr>
      </p:sp>
      <p:sp>
        <p:nvSpPr>
          <p:cNvPr id="30" name="Shape 28"/>
          <p:cNvSpPr/>
          <p:nvPr/>
        </p:nvSpPr>
        <p:spPr>
          <a:xfrm>
            <a:off x="5248144" y="3743529"/>
            <a:ext cx="38099" cy="579026"/>
          </a:xfrm>
          <a:prstGeom prst="roundRect">
            <a:avLst>
              <a:gd name="adj" fmla="val 50000"/>
            </a:avLst>
          </a:prstGeom>
          <a:solidFill>
            <a:srgbClr val="2454C5"/>
          </a:solidFill>
          <a:ln/>
        </p:spPr>
      </p:sp>
      <p:sp>
        <p:nvSpPr>
          <p:cNvPr id="31" name="Text 29"/>
          <p:cNvSpPr txBox="1"/>
          <p:nvPr/>
        </p:nvSpPr>
        <p:spPr>
          <a:xfrm>
            <a:off x="5413240" y="3819727"/>
            <a:ext cx="6539321" cy="426630"/>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gh workflow run cd-production.yml</a:t>
            </a:r>
            <a:endParaRPr lang="en-US" sz="1200" dirty="0"/>
          </a:p>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-f image_tag=&lt;sha&gt; -f services=all</a:t>
            </a:r>
            <a:endParaRPr lang="en-US" sz="1200" dirty="0"/>
          </a:p>
        </p:txBody>
      </p:sp>
      <p:sp>
        <p:nvSpPr>
          <p:cNvPr id="32" name="Shape 30"/>
          <p:cNvSpPr/>
          <p:nvPr/>
        </p:nvSpPr>
        <p:spPr>
          <a:xfrm>
            <a:off x="812780" y="4398753"/>
            <a:ext cx="10566136" cy="63"/>
          </a:xfrm>
          <a:prstGeom prst="line">
            <a:avLst/>
          </a:prstGeom>
          <a:noFill/>
          <a:ln w="6350">
            <a:solidFill>
              <a:srgbClr val="D5DEEC"/>
            </a:solidFill>
            <a:prstDash val="solid"/>
          </a:ln>
        </p:spPr>
      </p:sp>
      <p:sp>
        <p:nvSpPr>
          <p:cNvPr id="33" name="Text 31"/>
          <p:cNvSpPr txBox="1"/>
          <p:nvPr/>
        </p:nvSpPr>
        <p:spPr>
          <a:xfrm>
            <a:off x="812780" y="4573969"/>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11</a:t>
            </a:r>
            <a:endParaRPr lang="en-US" sz="1600" dirty="0"/>
          </a:p>
        </p:txBody>
      </p:sp>
      <p:sp>
        <p:nvSpPr>
          <p:cNvPr id="34" name="Text 32"/>
          <p:cNvSpPr txBox="1"/>
          <p:nvPr/>
        </p:nvSpPr>
        <p:spPr>
          <a:xfrm>
            <a:off x="1203295" y="4481301"/>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Publish the web apps</a:t>
            </a:r>
            <a:endParaRPr lang="en-US" sz="1300" dirty="0"/>
          </a:p>
        </p:txBody>
      </p:sp>
      <p:sp>
        <p:nvSpPr>
          <p:cNvPr id="35" name="Text 33"/>
          <p:cNvSpPr txBox="1"/>
          <p:nvPr/>
        </p:nvSpPr>
        <p:spPr>
          <a:xfrm>
            <a:off x="1203295" y="4737775"/>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Absolute VITE_* URLs</a:t>
            </a:r>
            <a:endParaRPr lang="en-US" sz="1200" dirty="0"/>
          </a:p>
        </p:txBody>
      </p:sp>
      <p:sp>
        <p:nvSpPr>
          <p:cNvPr id="36" name="Shape 34"/>
          <p:cNvSpPr/>
          <p:nvPr/>
        </p:nvSpPr>
        <p:spPr>
          <a:xfrm>
            <a:off x="5248144" y="4533291"/>
            <a:ext cx="6130772" cy="365711"/>
          </a:xfrm>
          <a:prstGeom prst="roundRect">
            <a:avLst>
              <a:gd name="adj" fmla="val 13890"/>
            </a:avLst>
          </a:prstGeom>
          <a:solidFill>
            <a:srgbClr val="E7EEFA"/>
          </a:solidFill>
          <a:ln/>
        </p:spPr>
      </p:sp>
      <p:sp>
        <p:nvSpPr>
          <p:cNvPr id="37" name="Shape 35"/>
          <p:cNvSpPr/>
          <p:nvPr/>
        </p:nvSpPr>
        <p:spPr>
          <a:xfrm>
            <a:off x="5248144" y="4533291"/>
            <a:ext cx="38099" cy="365711"/>
          </a:xfrm>
          <a:prstGeom prst="roundRect">
            <a:avLst>
              <a:gd name="adj" fmla="val 50000"/>
            </a:avLst>
          </a:prstGeom>
          <a:solidFill>
            <a:srgbClr val="2454C5"/>
          </a:solidFill>
          <a:ln/>
        </p:spPr>
      </p:sp>
      <p:sp>
        <p:nvSpPr>
          <p:cNvPr id="38" name="Text 36"/>
          <p:cNvSpPr txBox="1"/>
          <p:nvPr/>
        </p:nvSpPr>
        <p:spPr>
          <a:xfrm>
            <a:off x="5413240" y="4609489"/>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npm run build &amp;&amp; aws s3 sync dist s3://&lt;bucket&gt;</a:t>
            </a:r>
            <a:endParaRPr lang="en-US" sz="1200" dirty="0"/>
          </a:p>
        </p:txBody>
      </p:sp>
      <p:sp>
        <p:nvSpPr>
          <p:cNvPr id="39" name="Shape 37"/>
          <p:cNvSpPr/>
          <p:nvPr/>
        </p:nvSpPr>
        <p:spPr>
          <a:xfrm>
            <a:off x="812780" y="5027288"/>
            <a:ext cx="10566136" cy="63"/>
          </a:xfrm>
          <a:prstGeom prst="line">
            <a:avLst/>
          </a:prstGeom>
          <a:noFill/>
          <a:ln w="6350">
            <a:solidFill>
              <a:srgbClr val="D5DEEC"/>
            </a:solidFill>
            <a:prstDash val="solid"/>
          </a:ln>
        </p:spPr>
      </p:sp>
      <p:sp>
        <p:nvSpPr>
          <p:cNvPr id="40" name="Text 38"/>
          <p:cNvSpPr txBox="1"/>
          <p:nvPr/>
        </p:nvSpPr>
        <p:spPr>
          <a:xfrm>
            <a:off x="812780" y="5202504"/>
            <a:ext cx="314317" cy="284473"/>
          </a:xfrm>
          <a:prstGeom prst="rect">
            <a:avLst/>
          </a:prstGeom>
          <a:noFill/>
          <a:ln/>
        </p:spPr>
        <p:txBody>
          <a:bodyPr wrap="square" lIns="0" tIns="0" rIns="0" bIns="0" rtlCol="0" anchor="t"/>
          <a:lstStyle/>
          <a:p>
            <a:pPr algn="l" indent="0" marL="0">
              <a:lnSpc>
                <a:spcPct val="116667"/>
              </a:lnSpc>
              <a:buNone/>
            </a:pPr>
            <a:r>
              <a:rPr lang="en-US" sz="1600" b="1" dirty="0">
                <a:solidFill>
                  <a:srgbClr val="0B7F74"/>
                </a:solidFill>
                <a:latin typeface="Calibri" pitchFamily="34" charset="0"/>
                <a:ea typeface="Calibri" pitchFamily="34" charset="-122"/>
                <a:cs typeface="Calibri" pitchFamily="34" charset="-120"/>
              </a:rPr>
              <a:t>12</a:t>
            </a:r>
            <a:endParaRPr lang="en-US" sz="1600" dirty="0"/>
          </a:p>
        </p:txBody>
      </p:sp>
      <p:sp>
        <p:nvSpPr>
          <p:cNvPr id="41" name="Text 39"/>
          <p:cNvSpPr txBox="1"/>
          <p:nvPr/>
        </p:nvSpPr>
        <p:spPr>
          <a:xfrm>
            <a:off x="1203295" y="5109836"/>
            <a:ext cx="4359547" cy="231134"/>
          </a:xfrm>
          <a:prstGeom prst="rect">
            <a:avLst/>
          </a:prstGeom>
          <a:noFill/>
          <a:ln/>
        </p:spPr>
        <p:txBody>
          <a:bodyPr wrap="square" lIns="0" tIns="0" rIns="0" bIns="0" rtlCol="0" anchor="t"/>
          <a:lstStyle/>
          <a:p>
            <a:pPr algn="l" indent="0" marL="0">
              <a:lnSpc>
                <a:spcPct val="116667"/>
              </a:lnSpc>
              <a:buNone/>
            </a:pPr>
            <a:r>
              <a:rPr lang="en-US" sz="1300" b="1" dirty="0">
                <a:solidFill>
                  <a:srgbClr val="1F3A70"/>
                </a:solidFill>
                <a:latin typeface="Calibri" pitchFamily="34" charset="0"/>
                <a:ea typeface="Calibri" pitchFamily="34" charset="-122"/>
                <a:cs typeface="Calibri" pitchFamily="34" charset="-120"/>
              </a:rPr>
              <a:t>Watch, then roll back</a:t>
            </a:r>
            <a:endParaRPr lang="en-US" sz="1300" dirty="0"/>
          </a:p>
        </p:txBody>
      </p:sp>
      <p:sp>
        <p:nvSpPr>
          <p:cNvPr id="42" name="Text 40"/>
          <p:cNvSpPr txBox="1"/>
          <p:nvPr/>
        </p:nvSpPr>
        <p:spPr>
          <a:xfrm>
            <a:off x="1203295" y="5366310"/>
            <a:ext cx="4359547"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Alarms, .DLT topics, errors</a:t>
            </a:r>
            <a:endParaRPr lang="en-US" sz="1200" dirty="0"/>
          </a:p>
        </p:txBody>
      </p:sp>
      <p:sp>
        <p:nvSpPr>
          <p:cNvPr id="43" name="Shape 41"/>
          <p:cNvSpPr/>
          <p:nvPr/>
        </p:nvSpPr>
        <p:spPr>
          <a:xfrm>
            <a:off x="5248144" y="5161826"/>
            <a:ext cx="6130772" cy="365711"/>
          </a:xfrm>
          <a:prstGeom prst="roundRect">
            <a:avLst>
              <a:gd name="adj" fmla="val 13890"/>
            </a:avLst>
          </a:prstGeom>
          <a:solidFill>
            <a:srgbClr val="E7EEFA"/>
          </a:solidFill>
          <a:ln/>
        </p:spPr>
      </p:sp>
      <p:sp>
        <p:nvSpPr>
          <p:cNvPr id="44" name="Shape 42"/>
          <p:cNvSpPr/>
          <p:nvPr/>
        </p:nvSpPr>
        <p:spPr>
          <a:xfrm>
            <a:off x="5248144" y="5161826"/>
            <a:ext cx="38099" cy="365711"/>
          </a:xfrm>
          <a:prstGeom prst="roundRect">
            <a:avLst>
              <a:gd name="adj" fmla="val 50000"/>
            </a:avLst>
          </a:prstGeom>
          <a:solidFill>
            <a:srgbClr val="2454C5"/>
          </a:solidFill>
          <a:ln/>
        </p:spPr>
      </p:sp>
      <p:sp>
        <p:nvSpPr>
          <p:cNvPr id="45" name="Text 43"/>
          <p:cNvSpPr txBox="1"/>
          <p:nvPr/>
        </p:nvSpPr>
        <p:spPr>
          <a:xfrm>
            <a:off x="5413240" y="5238024"/>
            <a:ext cx="6539321" cy="213355"/>
          </a:xfrm>
          <a:prstGeom prst="rect">
            <a:avLst/>
          </a:prstGeom>
          <a:noFill/>
          <a:ln/>
        </p:spPr>
        <p:txBody>
          <a:bodyPr wrap="square" lIns="0" tIns="0" rIns="0" bIns="0" rtlCol="0" anchor="t"/>
          <a:lstStyle/>
          <a:p>
            <a:pPr algn="l" indent="0" marL="0">
              <a:lnSpc>
                <a:spcPct val="116667"/>
              </a:lnSpc>
              <a:buNone/>
            </a:pPr>
            <a:r>
              <a:rPr lang="en-US" sz="1200" dirty="0">
                <a:solidFill>
                  <a:srgbClr val="1F3A70"/>
                </a:solidFill>
                <a:latin typeface="Courier New" pitchFamily="34" charset="0"/>
                <a:ea typeface="Courier New" pitchFamily="34" charset="-122"/>
                <a:cs typeface="Courier New" pitchFamily="34" charset="-120"/>
              </a:rPr>
              <a:t>re-run cd-production with the previous SHA</a:t>
            </a:r>
            <a:endParaRPr lang="en-US" sz="1200" dirty="0"/>
          </a:p>
        </p:txBody>
      </p:sp>
      <p:sp>
        <p:nvSpPr>
          <p:cNvPr id="46" name="Text 44"/>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Production deployment</a:t>
            </a:r>
            <a:endParaRPr lang="en-US" sz="1200" dirty="0"/>
          </a:p>
        </p:txBody>
      </p:sp>
      <p:sp>
        <p:nvSpPr>
          <p:cNvPr id="47" name="Text 45"/>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DELIVERY PIPELINE</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GitHub Actions carries a commit from PR to release</a:t>
            </a:r>
            <a:endParaRPr lang="en-US" sz="3000" dirty="0"/>
          </a:p>
        </p:txBody>
      </p:sp>
      <p:sp>
        <p:nvSpPr>
          <p:cNvPr id="4" name="Shape 2"/>
          <p:cNvSpPr/>
          <p:nvPr/>
        </p:nvSpPr>
        <p:spPr>
          <a:xfrm>
            <a:off x="812780" y="1775376"/>
            <a:ext cx="1788076" cy="1613951"/>
          </a:xfrm>
          <a:prstGeom prst="roundRect">
            <a:avLst>
              <a:gd name="adj" fmla="val 6295"/>
            </a:avLst>
          </a:prstGeom>
          <a:solidFill>
            <a:srgbClr val="FCFDFF"/>
          </a:solidFill>
          <a:ln w="6350">
            <a:solidFill>
              <a:srgbClr val="D5DEEC"/>
            </a:solidFill>
            <a:prstDash val="solid"/>
          </a:ln>
        </p:spPr>
      </p:sp>
      <p:sp>
        <p:nvSpPr>
          <p:cNvPr id="5" name="Shape 3"/>
          <p:cNvSpPr/>
          <p:nvPr/>
        </p:nvSpPr>
        <p:spPr>
          <a:xfrm>
            <a:off x="812780" y="1775376"/>
            <a:ext cx="1788076" cy="50799"/>
          </a:xfrm>
          <a:prstGeom prst="roundRect">
            <a:avLst>
              <a:gd name="adj" fmla="val 50000"/>
            </a:avLst>
          </a:prstGeom>
          <a:solidFill>
            <a:srgbClr val="2454C5"/>
          </a:solidFill>
          <a:ln/>
        </p:spPr>
      </p:sp>
      <p:sp>
        <p:nvSpPr>
          <p:cNvPr id="6" name="Shape 4"/>
          <p:cNvSpPr/>
          <p:nvPr/>
        </p:nvSpPr>
        <p:spPr>
          <a:xfrm>
            <a:off x="1478223" y="1978571"/>
            <a:ext cx="457189" cy="457189"/>
          </a:xfrm>
          <a:prstGeom prst="ellipse">
            <a:avLst/>
          </a:prstGeom>
          <a:solidFill>
            <a:srgbClr val="E3EBFA"/>
          </a:solidFill>
          <a:ln/>
        </p:spPr>
      </p:sp>
      <p:pic>
        <p:nvPicPr>
          <p:cNvPr id="7" name="Image 0" descr="preencoded.png">    </p:cNvPr>
          <p:cNvPicPr>
            <a:picLocks noChangeAspect="1"/>
          </p:cNvPicPr>
          <p:nvPr/>
        </p:nvPicPr>
        <p:blipFill>
          <a:blip r:embed="rId1"/>
          <a:stretch>
            <a:fillRect/>
          </a:stretch>
        </p:blipFill>
        <p:spPr>
          <a:xfrm>
            <a:off x="1586171" y="2086518"/>
            <a:ext cx="241294" cy="241294"/>
          </a:xfrm>
          <a:prstGeom prst="rect">
            <a:avLst/>
          </a:prstGeom>
        </p:spPr>
      </p:pic>
      <p:sp>
        <p:nvSpPr>
          <p:cNvPr id="8" name="Text 5"/>
          <p:cNvSpPr txBox="1"/>
          <p:nvPr/>
        </p:nvSpPr>
        <p:spPr>
          <a:xfrm>
            <a:off x="1184654" y="2511958"/>
            <a:ext cx="1044327"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Pull request</a:t>
            </a:r>
            <a:endParaRPr lang="en-US" sz="1300" dirty="0"/>
          </a:p>
        </p:txBody>
      </p:sp>
      <p:sp>
        <p:nvSpPr>
          <p:cNvPr id="9" name="Text 6"/>
          <p:cNvSpPr txBox="1"/>
          <p:nvPr/>
        </p:nvSpPr>
        <p:spPr>
          <a:xfrm>
            <a:off x="883291" y="2819230"/>
            <a:ext cx="1647054" cy="411351"/>
          </a:xfrm>
          <a:prstGeom prst="rect">
            <a:avLst/>
          </a:prstGeom>
          <a:noFill/>
          <a:ln/>
        </p:spPr>
        <p:txBody>
          <a:bodyPr wrap="square" lIns="0" tIns="0" rIns="0" bIns="0" rtlCol="0" anchor="t"/>
          <a:lstStyle/>
          <a:p>
            <a:pPr algn="ctr" indent="0" marL="0">
              <a:lnSpc>
                <a:spcPct val="112500"/>
              </a:lnSpc>
              <a:buNone/>
            </a:pPr>
            <a:r>
              <a:rPr lang="en-US" sz="1200" dirty="0">
                <a:solidFill>
                  <a:srgbClr val="4A5878"/>
                </a:solidFill>
                <a:latin typeface="Calibri" pitchFamily="34" charset="0"/>
                <a:ea typeface="Calibri" pitchFamily="34" charset="-122"/>
                <a:cs typeface="Calibri" pitchFamily="34" charset="-120"/>
              </a:rPr>
              <a:t>Changed services: lint, Helm, build</a:t>
            </a:r>
            <a:endParaRPr lang="en-US" sz="1200" dirty="0"/>
          </a:p>
        </p:txBody>
      </p:sp>
      <p:sp>
        <p:nvSpPr>
          <p:cNvPr id="10" name="Shape 7"/>
          <p:cNvSpPr/>
          <p:nvPr/>
        </p:nvSpPr>
        <p:spPr>
          <a:xfrm>
            <a:off x="2677053" y="2518803"/>
            <a:ext cx="253994" cy="126997"/>
          </a:xfrm>
          <a:prstGeom prst="rightArrow">
            <a:avLst/>
          </a:prstGeom>
          <a:solidFill>
            <a:srgbClr val="5C6B8A"/>
          </a:solidFill>
          <a:ln/>
        </p:spPr>
      </p:sp>
      <p:sp>
        <p:nvSpPr>
          <p:cNvPr id="11" name="Shape 8"/>
          <p:cNvSpPr/>
          <p:nvPr/>
        </p:nvSpPr>
        <p:spPr>
          <a:xfrm>
            <a:off x="3007245" y="1775376"/>
            <a:ext cx="1788175" cy="1613951"/>
          </a:xfrm>
          <a:prstGeom prst="roundRect">
            <a:avLst>
              <a:gd name="adj" fmla="val 6295"/>
            </a:avLst>
          </a:prstGeom>
          <a:solidFill>
            <a:srgbClr val="FCFDFF"/>
          </a:solidFill>
          <a:ln w="6350">
            <a:solidFill>
              <a:srgbClr val="D5DEEC"/>
            </a:solidFill>
            <a:prstDash val="solid"/>
          </a:ln>
        </p:spPr>
      </p:sp>
      <p:sp>
        <p:nvSpPr>
          <p:cNvPr id="12" name="Shape 9"/>
          <p:cNvSpPr/>
          <p:nvPr/>
        </p:nvSpPr>
        <p:spPr>
          <a:xfrm>
            <a:off x="3007245" y="1775376"/>
            <a:ext cx="1788175" cy="50799"/>
          </a:xfrm>
          <a:prstGeom prst="roundRect">
            <a:avLst>
              <a:gd name="adj" fmla="val 50000"/>
            </a:avLst>
          </a:prstGeom>
          <a:solidFill>
            <a:srgbClr val="0B7F74"/>
          </a:solidFill>
          <a:ln/>
        </p:spPr>
      </p:sp>
      <p:sp>
        <p:nvSpPr>
          <p:cNvPr id="13" name="Shape 10"/>
          <p:cNvSpPr/>
          <p:nvPr/>
        </p:nvSpPr>
        <p:spPr>
          <a:xfrm>
            <a:off x="3672689" y="1978571"/>
            <a:ext cx="457189" cy="457189"/>
          </a:xfrm>
          <a:prstGeom prst="ellipse">
            <a:avLst/>
          </a:prstGeom>
          <a:solidFill>
            <a:srgbClr val="DDF2EF"/>
          </a:solidFill>
          <a:ln/>
        </p:spPr>
      </p:sp>
      <p:pic>
        <p:nvPicPr>
          <p:cNvPr id="14" name="Image 1" descr="preencoded.png">    </p:cNvPr>
          <p:cNvPicPr>
            <a:picLocks noChangeAspect="1"/>
          </p:cNvPicPr>
          <p:nvPr/>
        </p:nvPicPr>
        <p:blipFill>
          <a:blip r:embed="rId2"/>
          <a:stretch>
            <a:fillRect/>
          </a:stretch>
        </p:blipFill>
        <p:spPr>
          <a:xfrm>
            <a:off x="3780636" y="2086518"/>
            <a:ext cx="241294" cy="241294"/>
          </a:xfrm>
          <a:prstGeom prst="rect">
            <a:avLst/>
          </a:prstGeom>
        </p:spPr>
      </p:pic>
      <p:sp>
        <p:nvSpPr>
          <p:cNvPr id="15" name="Text 11"/>
          <p:cNvSpPr txBox="1"/>
          <p:nvPr/>
        </p:nvSpPr>
        <p:spPr>
          <a:xfrm>
            <a:off x="3445565" y="2511958"/>
            <a:ext cx="911536"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CI on main</a:t>
            </a:r>
            <a:endParaRPr lang="en-US" sz="1300" dirty="0"/>
          </a:p>
        </p:txBody>
      </p:sp>
      <p:sp>
        <p:nvSpPr>
          <p:cNvPr id="16" name="Text 12"/>
          <p:cNvSpPr txBox="1"/>
          <p:nvPr/>
        </p:nvSpPr>
        <p:spPr>
          <a:xfrm>
            <a:off x="3077750" y="2819230"/>
            <a:ext cx="1647165" cy="411351"/>
          </a:xfrm>
          <a:prstGeom prst="rect">
            <a:avLst/>
          </a:prstGeom>
          <a:noFill/>
          <a:ln/>
        </p:spPr>
        <p:txBody>
          <a:bodyPr wrap="square" lIns="0" tIns="0" rIns="0" bIns="0" rtlCol="0" anchor="t"/>
          <a:lstStyle/>
          <a:p>
            <a:pPr algn="ctr" indent="0" marL="0">
              <a:lnSpc>
                <a:spcPct val="112500"/>
              </a:lnSpc>
              <a:buNone/>
            </a:pPr>
            <a:r>
              <a:rPr lang="en-US" sz="1200" dirty="0">
                <a:solidFill>
                  <a:srgbClr val="4A5878"/>
                </a:solidFill>
                <a:latin typeface="Calibri" pitchFamily="34" charset="0"/>
                <a:ea typeface="Calibri" pitchFamily="34" charset="-122"/>
                <a:cs typeface="Calibri" pitchFamily="34" charset="-120"/>
              </a:rPr>
              <a:t>Tests, 80% coverage, Trivy, ECR</a:t>
            </a:r>
            <a:endParaRPr lang="en-US" sz="1200" dirty="0"/>
          </a:p>
        </p:txBody>
      </p:sp>
      <p:sp>
        <p:nvSpPr>
          <p:cNvPr id="17" name="Shape 13"/>
          <p:cNvSpPr/>
          <p:nvPr/>
        </p:nvSpPr>
        <p:spPr>
          <a:xfrm>
            <a:off x="4871618" y="2518803"/>
            <a:ext cx="253994" cy="126997"/>
          </a:xfrm>
          <a:prstGeom prst="rightArrow">
            <a:avLst/>
          </a:prstGeom>
          <a:solidFill>
            <a:srgbClr val="5C6B8A"/>
          </a:solidFill>
          <a:ln/>
        </p:spPr>
      </p:sp>
      <p:sp>
        <p:nvSpPr>
          <p:cNvPr id="18" name="Shape 14"/>
          <p:cNvSpPr/>
          <p:nvPr/>
        </p:nvSpPr>
        <p:spPr>
          <a:xfrm>
            <a:off x="5201810" y="1775376"/>
            <a:ext cx="1788076" cy="1613951"/>
          </a:xfrm>
          <a:prstGeom prst="roundRect">
            <a:avLst>
              <a:gd name="adj" fmla="val 6295"/>
            </a:avLst>
          </a:prstGeom>
          <a:solidFill>
            <a:srgbClr val="FCFDFF"/>
          </a:solidFill>
          <a:ln w="6350">
            <a:solidFill>
              <a:srgbClr val="D5DEEC"/>
            </a:solidFill>
            <a:prstDash val="solid"/>
          </a:ln>
        </p:spPr>
      </p:sp>
      <p:sp>
        <p:nvSpPr>
          <p:cNvPr id="19" name="Shape 15"/>
          <p:cNvSpPr/>
          <p:nvPr/>
        </p:nvSpPr>
        <p:spPr>
          <a:xfrm>
            <a:off x="5201810" y="1775376"/>
            <a:ext cx="1788076" cy="50799"/>
          </a:xfrm>
          <a:prstGeom prst="roundRect">
            <a:avLst>
              <a:gd name="adj" fmla="val 50000"/>
            </a:avLst>
          </a:prstGeom>
          <a:solidFill>
            <a:srgbClr val="6A3FC0"/>
          </a:solidFill>
          <a:ln/>
        </p:spPr>
      </p:sp>
      <p:sp>
        <p:nvSpPr>
          <p:cNvPr id="20" name="Shape 16"/>
          <p:cNvSpPr/>
          <p:nvPr/>
        </p:nvSpPr>
        <p:spPr>
          <a:xfrm>
            <a:off x="5867253" y="1978571"/>
            <a:ext cx="457189" cy="457189"/>
          </a:xfrm>
          <a:prstGeom prst="ellipse">
            <a:avLst/>
          </a:prstGeom>
          <a:solidFill>
            <a:srgbClr val="ECE5FA"/>
          </a:solidFill>
          <a:ln/>
        </p:spPr>
      </p:sp>
      <p:pic>
        <p:nvPicPr>
          <p:cNvPr id="21" name="Image 2" descr="preencoded.png">    </p:cNvPr>
          <p:cNvPicPr>
            <a:picLocks noChangeAspect="1"/>
          </p:cNvPicPr>
          <p:nvPr/>
        </p:nvPicPr>
        <p:blipFill>
          <a:blip r:embed="rId3"/>
          <a:stretch>
            <a:fillRect/>
          </a:stretch>
        </p:blipFill>
        <p:spPr>
          <a:xfrm>
            <a:off x="5975201" y="2086518"/>
            <a:ext cx="241294" cy="241294"/>
          </a:xfrm>
          <a:prstGeom prst="rect">
            <a:avLst/>
          </a:prstGeom>
        </p:spPr>
      </p:pic>
      <p:sp>
        <p:nvSpPr>
          <p:cNvPr id="22" name="Text 17"/>
          <p:cNvSpPr txBox="1"/>
          <p:nvPr/>
        </p:nvSpPr>
        <p:spPr>
          <a:xfrm>
            <a:off x="5782523" y="2511958"/>
            <a:ext cx="626551"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Staging</a:t>
            </a:r>
            <a:endParaRPr lang="en-US" sz="1300" dirty="0"/>
          </a:p>
        </p:txBody>
      </p:sp>
      <p:sp>
        <p:nvSpPr>
          <p:cNvPr id="23" name="Text 18"/>
          <p:cNvSpPr txBox="1"/>
          <p:nvPr/>
        </p:nvSpPr>
        <p:spPr>
          <a:xfrm>
            <a:off x="5272321" y="2819230"/>
            <a:ext cx="1647054" cy="411351"/>
          </a:xfrm>
          <a:prstGeom prst="rect">
            <a:avLst/>
          </a:prstGeom>
          <a:noFill/>
          <a:ln/>
        </p:spPr>
        <p:txBody>
          <a:bodyPr wrap="square" lIns="0" tIns="0" rIns="0" bIns="0" rtlCol="0" anchor="t"/>
          <a:lstStyle/>
          <a:p>
            <a:pPr algn="ctr" indent="0" marL="0">
              <a:lnSpc>
                <a:spcPct val="112500"/>
              </a:lnSpc>
              <a:buNone/>
            </a:pPr>
            <a:r>
              <a:rPr lang="en-US" sz="1200" dirty="0">
                <a:solidFill>
                  <a:srgbClr val="4A5878"/>
                </a:solidFill>
                <a:latin typeface="Calibri" pitchFamily="34" charset="0"/>
                <a:ea typeface="Calibri" pitchFamily="34" charset="-122"/>
                <a:cs typeface="Calibri" pitchFamily="34" charset="-120"/>
              </a:rPr>
              <a:t>Preflight, Helm --atomic, health</a:t>
            </a:r>
            <a:endParaRPr lang="en-US" sz="1200" dirty="0"/>
          </a:p>
        </p:txBody>
      </p:sp>
      <p:sp>
        <p:nvSpPr>
          <p:cNvPr id="24" name="Shape 19"/>
          <p:cNvSpPr/>
          <p:nvPr/>
        </p:nvSpPr>
        <p:spPr>
          <a:xfrm>
            <a:off x="7066083" y="2518803"/>
            <a:ext cx="253994" cy="126997"/>
          </a:xfrm>
          <a:prstGeom prst="rightArrow">
            <a:avLst/>
          </a:prstGeom>
          <a:solidFill>
            <a:srgbClr val="5C6B8A"/>
          </a:solidFill>
          <a:ln/>
        </p:spPr>
      </p:sp>
      <p:sp>
        <p:nvSpPr>
          <p:cNvPr id="25" name="Shape 20"/>
          <p:cNvSpPr/>
          <p:nvPr/>
        </p:nvSpPr>
        <p:spPr>
          <a:xfrm>
            <a:off x="7396275" y="1775376"/>
            <a:ext cx="1788175" cy="1613951"/>
          </a:xfrm>
          <a:prstGeom prst="roundRect">
            <a:avLst>
              <a:gd name="adj" fmla="val 6295"/>
            </a:avLst>
          </a:prstGeom>
          <a:solidFill>
            <a:srgbClr val="FCFDFF"/>
          </a:solidFill>
          <a:ln w="6350">
            <a:solidFill>
              <a:srgbClr val="D5DEEC"/>
            </a:solidFill>
            <a:prstDash val="solid"/>
          </a:ln>
        </p:spPr>
      </p:sp>
      <p:sp>
        <p:nvSpPr>
          <p:cNvPr id="26" name="Shape 21"/>
          <p:cNvSpPr/>
          <p:nvPr/>
        </p:nvSpPr>
        <p:spPr>
          <a:xfrm>
            <a:off x="7396275" y="1775376"/>
            <a:ext cx="1788175" cy="50799"/>
          </a:xfrm>
          <a:prstGeom prst="roundRect">
            <a:avLst>
              <a:gd name="adj" fmla="val 50000"/>
            </a:avLst>
          </a:prstGeom>
          <a:solidFill>
            <a:srgbClr val="B4530F"/>
          </a:solidFill>
          <a:ln/>
        </p:spPr>
      </p:sp>
      <p:sp>
        <p:nvSpPr>
          <p:cNvPr id="27" name="Shape 22"/>
          <p:cNvSpPr/>
          <p:nvPr/>
        </p:nvSpPr>
        <p:spPr>
          <a:xfrm>
            <a:off x="8061719" y="1978571"/>
            <a:ext cx="457189" cy="457189"/>
          </a:xfrm>
          <a:prstGeom prst="ellipse">
            <a:avLst/>
          </a:prstGeom>
          <a:solidFill>
            <a:srgbClr val="FCEBDD"/>
          </a:solidFill>
          <a:ln/>
        </p:spPr>
      </p:sp>
      <p:pic>
        <p:nvPicPr>
          <p:cNvPr id="28" name="Image 3" descr="preencoded.png">    </p:cNvPr>
          <p:cNvPicPr>
            <a:picLocks noChangeAspect="1"/>
          </p:cNvPicPr>
          <p:nvPr/>
        </p:nvPicPr>
        <p:blipFill>
          <a:blip r:embed="rId4"/>
          <a:stretch>
            <a:fillRect/>
          </a:stretch>
        </p:blipFill>
        <p:spPr>
          <a:xfrm>
            <a:off x="8169666" y="2086518"/>
            <a:ext cx="241294" cy="241294"/>
          </a:xfrm>
          <a:prstGeom prst="rect">
            <a:avLst/>
          </a:prstGeom>
        </p:spPr>
      </p:pic>
      <p:sp>
        <p:nvSpPr>
          <p:cNvPr id="29" name="Text 23"/>
          <p:cNvSpPr txBox="1"/>
          <p:nvPr/>
        </p:nvSpPr>
        <p:spPr>
          <a:xfrm>
            <a:off x="7817482" y="2511958"/>
            <a:ext cx="945761"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Production</a:t>
            </a:r>
            <a:endParaRPr lang="en-US" sz="1300" dirty="0"/>
          </a:p>
        </p:txBody>
      </p:sp>
      <p:sp>
        <p:nvSpPr>
          <p:cNvPr id="30" name="Text 24"/>
          <p:cNvSpPr txBox="1"/>
          <p:nvPr/>
        </p:nvSpPr>
        <p:spPr>
          <a:xfrm>
            <a:off x="7466780" y="2819230"/>
            <a:ext cx="1647165" cy="411351"/>
          </a:xfrm>
          <a:prstGeom prst="rect">
            <a:avLst/>
          </a:prstGeom>
          <a:noFill/>
          <a:ln/>
        </p:spPr>
        <p:txBody>
          <a:bodyPr wrap="square" lIns="0" tIns="0" rIns="0" bIns="0" rtlCol="0" anchor="t"/>
          <a:lstStyle/>
          <a:p>
            <a:pPr algn="ctr" indent="0" marL="0">
              <a:lnSpc>
                <a:spcPct val="112500"/>
              </a:lnSpc>
              <a:buNone/>
            </a:pPr>
            <a:r>
              <a:rPr lang="en-US" sz="1200" dirty="0">
                <a:solidFill>
                  <a:srgbClr val="4A5878"/>
                </a:solidFill>
                <a:latin typeface="Calibri" pitchFamily="34" charset="0"/>
                <a:ea typeface="Calibri" pitchFamily="34" charset="-122"/>
                <a:cs typeface="Calibri" pitchFamily="34" charset="-120"/>
              </a:rPr>
              <a:t>Manual run, reviewers approve</a:t>
            </a:r>
            <a:endParaRPr lang="en-US" sz="1200" dirty="0"/>
          </a:p>
        </p:txBody>
      </p:sp>
      <p:sp>
        <p:nvSpPr>
          <p:cNvPr id="31" name="Shape 25"/>
          <p:cNvSpPr/>
          <p:nvPr/>
        </p:nvSpPr>
        <p:spPr>
          <a:xfrm>
            <a:off x="9260648" y="2518803"/>
            <a:ext cx="253994" cy="126997"/>
          </a:xfrm>
          <a:prstGeom prst="rightArrow">
            <a:avLst/>
          </a:prstGeom>
          <a:solidFill>
            <a:srgbClr val="5C6B8A"/>
          </a:solidFill>
          <a:ln/>
        </p:spPr>
      </p:sp>
      <p:sp>
        <p:nvSpPr>
          <p:cNvPr id="32" name="Shape 26"/>
          <p:cNvSpPr/>
          <p:nvPr/>
        </p:nvSpPr>
        <p:spPr>
          <a:xfrm>
            <a:off x="9590840" y="1775376"/>
            <a:ext cx="1788076" cy="1613951"/>
          </a:xfrm>
          <a:prstGeom prst="roundRect">
            <a:avLst>
              <a:gd name="adj" fmla="val 6295"/>
            </a:avLst>
          </a:prstGeom>
          <a:solidFill>
            <a:srgbClr val="FCFDFF"/>
          </a:solidFill>
          <a:ln w="6350">
            <a:solidFill>
              <a:srgbClr val="D5DEEC"/>
            </a:solidFill>
            <a:prstDash val="solid"/>
          </a:ln>
        </p:spPr>
      </p:sp>
      <p:sp>
        <p:nvSpPr>
          <p:cNvPr id="33" name="Shape 27"/>
          <p:cNvSpPr/>
          <p:nvPr/>
        </p:nvSpPr>
        <p:spPr>
          <a:xfrm>
            <a:off x="9590840" y="1775376"/>
            <a:ext cx="1788076" cy="50799"/>
          </a:xfrm>
          <a:prstGeom prst="roundRect">
            <a:avLst>
              <a:gd name="adj" fmla="val 50000"/>
            </a:avLst>
          </a:prstGeom>
          <a:solidFill>
            <a:srgbClr val="2E7D4F"/>
          </a:solidFill>
          <a:ln/>
        </p:spPr>
      </p:sp>
      <p:sp>
        <p:nvSpPr>
          <p:cNvPr id="34" name="Shape 28"/>
          <p:cNvSpPr/>
          <p:nvPr/>
        </p:nvSpPr>
        <p:spPr>
          <a:xfrm>
            <a:off x="10256283" y="1978571"/>
            <a:ext cx="457189" cy="457189"/>
          </a:xfrm>
          <a:prstGeom prst="ellipse">
            <a:avLst/>
          </a:prstGeom>
          <a:solidFill>
            <a:srgbClr val="E0F2E8"/>
          </a:solidFill>
          <a:ln/>
        </p:spPr>
      </p:sp>
      <p:pic>
        <p:nvPicPr>
          <p:cNvPr id="35" name="Image 4" descr="preencoded.png">    </p:cNvPr>
          <p:cNvPicPr>
            <a:picLocks noChangeAspect="1"/>
          </p:cNvPicPr>
          <p:nvPr/>
        </p:nvPicPr>
        <p:blipFill>
          <a:blip r:embed="rId5"/>
          <a:stretch>
            <a:fillRect/>
          </a:stretch>
        </p:blipFill>
        <p:spPr>
          <a:xfrm>
            <a:off x="10364231" y="2086518"/>
            <a:ext cx="241294" cy="241294"/>
          </a:xfrm>
          <a:prstGeom prst="rect">
            <a:avLst/>
          </a:prstGeom>
        </p:spPr>
      </p:pic>
      <p:sp>
        <p:nvSpPr>
          <p:cNvPr id="36" name="Text 29"/>
          <p:cNvSpPr txBox="1"/>
          <p:nvPr/>
        </p:nvSpPr>
        <p:spPr>
          <a:xfrm>
            <a:off x="10150122" y="2511958"/>
            <a:ext cx="669511" cy="231134"/>
          </a:xfrm>
          <a:prstGeom prst="rect">
            <a:avLst/>
          </a:prstGeom>
          <a:noFill/>
          <a:ln/>
        </p:spPr>
        <p:txBody>
          <a:bodyPr wrap="square" lIns="0" tIns="0" rIns="0" bIns="0" rtlCol="0" anchor="t"/>
          <a:lstStyle/>
          <a:p>
            <a:pPr algn="ctr" indent="0" marL="0">
              <a:lnSpc>
                <a:spcPct val="116667"/>
              </a:lnSpc>
              <a:buNone/>
            </a:pPr>
            <a:r>
              <a:rPr lang="en-US" sz="1300" b="1" dirty="0">
                <a:solidFill>
                  <a:srgbClr val="1F3A70"/>
                </a:solidFill>
                <a:latin typeface="Calibri" pitchFamily="34" charset="0"/>
                <a:ea typeface="Calibri" pitchFamily="34" charset="-122"/>
                <a:cs typeface="Calibri" pitchFamily="34" charset="-120"/>
              </a:rPr>
              <a:t>Release</a:t>
            </a:r>
            <a:endParaRPr lang="en-US" sz="1300" dirty="0"/>
          </a:p>
        </p:txBody>
      </p:sp>
      <p:sp>
        <p:nvSpPr>
          <p:cNvPr id="37" name="Text 30"/>
          <p:cNvSpPr txBox="1"/>
          <p:nvPr/>
        </p:nvSpPr>
        <p:spPr>
          <a:xfrm>
            <a:off x="9692576" y="2819230"/>
            <a:ext cx="1584603" cy="205735"/>
          </a:xfrm>
          <a:prstGeom prst="rect">
            <a:avLst/>
          </a:prstGeom>
          <a:noFill/>
          <a:ln/>
        </p:spPr>
        <p:txBody>
          <a:bodyPr wrap="square" lIns="0" tIns="0" rIns="0" bIns="0" rtlCol="0" anchor="t"/>
          <a:lstStyle/>
          <a:p>
            <a:pPr algn="ctr" indent="0" marL="0">
              <a:lnSpc>
                <a:spcPct val="112500"/>
              </a:lnSpc>
              <a:buNone/>
            </a:pPr>
            <a:r>
              <a:rPr lang="en-US" sz="1200" dirty="0">
                <a:solidFill>
                  <a:srgbClr val="4A5878"/>
                </a:solidFill>
                <a:latin typeface="Calibri" pitchFamily="34" charset="0"/>
                <a:ea typeface="Calibri" pitchFamily="34" charset="-122"/>
                <a:cs typeface="Calibri" pitchFamily="34" charset="-120"/>
              </a:rPr>
              <a:t>Tagged production-N</a:t>
            </a:r>
            <a:endParaRPr lang="en-US" sz="1200" dirty="0"/>
          </a:p>
        </p:txBody>
      </p:sp>
      <p:sp>
        <p:nvSpPr>
          <p:cNvPr id="38" name="Text 31"/>
          <p:cNvSpPr txBox="1"/>
          <p:nvPr/>
        </p:nvSpPr>
        <p:spPr>
          <a:xfrm>
            <a:off x="812780" y="3643321"/>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B4530F"/>
                </a:solidFill>
                <a:latin typeface="Courier New" pitchFamily="34" charset="0"/>
                <a:ea typeface="Courier New" pitchFamily="34" charset="-122"/>
                <a:cs typeface="Courier New" pitchFamily="34" charset="-120"/>
              </a:rPr>
              <a:t>NOT AUTOMATED YET</a:t>
            </a:r>
            <a:endParaRPr lang="en-US" sz="1200" dirty="0"/>
          </a:p>
        </p:txBody>
      </p:sp>
      <p:sp>
        <p:nvSpPr>
          <p:cNvPr id="39" name="Shape 32"/>
          <p:cNvSpPr/>
          <p:nvPr/>
        </p:nvSpPr>
        <p:spPr>
          <a:xfrm>
            <a:off x="812780" y="3945533"/>
            <a:ext cx="2565336" cy="459669"/>
          </a:xfrm>
          <a:prstGeom prst="roundRect">
            <a:avLst>
              <a:gd name="adj" fmla="val 16577"/>
            </a:avLst>
          </a:prstGeom>
          <a:solidFill>
            <a:srgbClr val="FCEBDD"/>
          </a:solidFill>
          <a:ln w="12700">
            <a:solidFill>
              <a:srgbClr val="B4530F"/>
            </a:solidFill>
            <a:prstDash val="dash"/>
          </a:ln>
        </p:spPr>
      </p:sp>
      <p:sp>
        <p:nvSpPr>
          <p:cNvPr id="40" name="Text 33"/>
          <p:cNvSpPr txBox="1"/>
          <p:nvPr/>
        </p:nvSpPr>
        <p:spPr>
          <a:xfrm>
            <a:off x="939777" y="4072530"/>
            <a:ext cx="258870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Terraform plan and apply</a:t>
            </a:r>
            <a:endParaRPr lang="en-US" sz="1200" dirty="0"/>
          </a:p>
        </p:txBody>
      </p:sp>
      <p:sp>
        <p:nvSpPr>
          <p:cNvPr id="41" name="Shape 34"/>
          <p:cNvSpPr/>
          <p:nvPr/>
        </p:nvSpPr>
        <p:spPr>
          <a:xfrm>
            <a:off x="3479713" y="3945533"/>
            <a:ext cx="2565336" cy="459669"/>
          </a:xfrm>
          <a:prstGeom prst="roundRect">
            <a:avLst>
              <a:gd name="adj" fmla="val 16577"/>
            </a:avLst>
          </a:prstGeom>
          <a:solidFill>
            <a:srgbClr val="FCEBDD"/>
          </a:solidFill>
          <a:ln w="12700">
            <a:solidFill>
              <a:srgbClr val="B4530F"/>
            </a:solidFill>
            <a:prstDash val="dash"/>
          </a:ln>
        </p:spPr>
      </p:sp>
      <p:sp>
        <p:nvSpPr>
          <p:cNvPr id="42" name="Text 35"/>
          <p:cNvSpPr txBox="1"/>
          <p:nvPr/>
        </p:nvSpPr>
        <p:spPr>
          <a:xfrm>
            <a:off x="3606710" y="4072530"/>
            <a:ext cx="258870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Web app deploy</a:t>
            </a:r>
            <a:endParaRPr lang="en-US" sz="1200" dirty="0"/>
          </a:p>
        </p:txBody>
      </p:sp>
      <p:sp>
        <p:nvSpPr>
          <p:cNvPr id="43" name="Shape 36"/>
          <p:cNvSpPr/>
          <p:nvPr/>
        </p:nvSpPr>
        <p:spPr>
          <a:xfrm>
            <a:off x="6146646" y="3945533"/>
            <a:ext cx="2565336" cy="459669"/>
          </a:xfrm>
          <a:prstGeom prst="roundRect">
            <a:avLst>
              <a:gd name="adj" fmla="val 16577"/>
            </a:avLst>
          </a:prstGeom>
          <a:solidFill>
            <a:srgbClr val="FCEBDD"/>
          </a:solidFill>
          <a:ln w="12700">
            <a:solidFill>
              <a:srgbClr val="B4530F"/>
            </a:solidFill>
            <a:prstDash val="dash"/>
          </a:ln>
        </p:spPr>
      </p:sp>
      <p:sp>
        <p:nvSpPr>
          <p:cNvPr id="44" name="Text 37"/>
          <p:cNvSpPr txBox="1"/>
          <p:nvPr/>
        </p:nvSpPr>
        <p:spPr>
          <a:xfrm>
            <a:off x="6273643" y="4072530"/>
            <a:ext cx="258870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Migrations as a Job</a:t>
            </a:r>
            <a:endParaRPr lang="en-US" sz="1200" dirty="0"/>
          </a:p>
        </p:txBody>
      </p:sp>
      <p:sp>
        <p:nvSpPr>
          <p:cNvPr id="45" name="Shape 38"/>
          <p:cNvSpPr/>
          <p:nvPr/>
        </p:nvSpPr>
        <p:spPr>
          <a:xfrm>
            <a:off x="8813580" y="3945533"/>
            <a:ext cx="2565336" cy="459669"/>
          </a:xfrm>
          <a:prstGeom prst="roundRect">
            <a:avLst>
              <a:gd name="adj" fmla="val 16577"/>
            </a:avLst>
          </a:prstGeom>
          <a:solidFill>
            <a:srgbClr val="FCEBDD"/>
          </a:solidFill>
          <a:ln w="12700">
            <a:solidFill>
              <a:srgbClr val="B4530F"/>
            </a:solidFill>
            <a:prstDash val="dash"/>
          </a:ln>
        </p:spPr>
      </p:sp>
      <p:sp>
        <p:nvSpPr>
          <p:cNvPr id="46" name="Text 39"/>
          <p:cNvSpPr txBox="1"/>
          <p:nvPr/>
        </p:nvSpPr>
        <p:spPr>
          <a:xfrm>
            <a:off x="8940576" y="4072530"/>
            <a:ext cx="258870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IaC, secret, npm scans</a:t>
            </a:r>
            <a:endParaRPr lang="en-US" sz="1200" dirty="0"/>
          </a:p>
        </p:txBody>
      </p:sp>
      <p:sp>
        <p:nvSpPr>
          <p:cNvPr id="47" name="Text 40"/>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Production deployment</a:t>
            </a:r>
            <a:endParaRPr lang="en-US" sz="1200" dirty="0"/>
          </a:p>
        </p:txBody>
      </p:sp>
      <p:sp>
        <p:nvSpPr>
          <p:cNvPr id="48" name="Text 41"/>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PRODUCTION DEPLOYMENT</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Ten blockers stand between Terraform and live traffic</a:t>
            </a:r>
            <a:endParaRPr lang="en-US" sz="3000" dirty="0"/>
          </a:p>
        </p:txBody>
      </p:sp>
      <p:sp>
        <p:nvSpPr>
          <p:cNvPr id="4" name="Shape 2"/>
          <p:cNvSpPr/>
          <p:nvPr/>
        </p:nvSpPr>
        <p:spPr>
          <a:xfrm>
            <a:off x="812780" y="1775376"/>
            <a:ext cx="10566136" cy="287529"/>
          </a:xfrm>
          <a:prstGeom prst="rect">
            <a:avLst/>
          </a:prstGeom>
          <a:solidFill>
            <a:srgbClr val="2454C5"/>
          </a:solidFill>
          <a:ln/>
        </p:spPr>
      </p:sp>
      <p:sp>
        <p:nvSpPr>
          <p:cNvPr id="5" name="Shape 3"/>
          <p:cNvSpPr/>
          <p:nvPr/>
        </p:nvSpPr>
        <p:spPr>
          <a:xfrm>
            <a:off x="812780" y="2059730"/>
            <a:ext cx="528227" cy="63"/>
          </a:xfrm>
          <a:prstGeom prst="line">
            <a:avLst/>
          </a:prstGeom>
          <a:noFill/>
          <a:ln w="6350">
            <a:solidFill>
              <a:srgbClr val="D5DEEC"/>
            </a:solidFill>
            <a:prstDash val="solid"/>
          </a:ln>
        </p:spPr>
      </p:sp>
      <p:sp>
        <p:nvSpPr>
          <p:cNvPr id="6" name="Text 4"/>
          <p:cNvSpPr txBox="1"/>
          <p:nvPr/>
        </p:nvSpPr>
        <p:spPr>
          <a:xfrm>
            <a:off x="904217" y="1828715"/>
            <a:ext cx="421550"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a:t>
            </a:r>
            <a:endParaRPr lang="en-US" sz="1200" dirty="0"/>
          </a:p>
        </p:txBody>
      </p:sp>
      <p:sp>
        <p:nvSpPr>
          <p:cNvPr id="7" name="Shape 5"/>
          <p:cNvSpPr/>
          <p:nvPr/>
        </p:nvSpPr>
        <p:spPr>
          <a:xfrm>
            <a:off x="1341007" y="2059730"/>
            <a:ext cx="5600064" cy="63"/>
          </a:xfrm>
          <a:prstGeom prst="line">
            <a:avLst/>
          </a:prstGeom>
          <a:noFill/>
          <a:ln w="6350">
            <a:solidFill>
              <a:srgbClr val="D5DEEC"/>
            </a:solidFill>
            <a:prstDash val="solid"/>
          </a:ln>
        </p:spPr>
      </p:sp>
      <p:sp>
        <p:nvSpPr>
          <p:cNvPr id="8" name="Text 6"/>
          <p:cNvSpPr txBox="1"/>
          <p:nvPr/>
        </p:nvSpPr>
        <p:spPr>
          <a:xfrm>
            <a:off x="1432445" y="1828715"/>
            <a:ext cx="6067251"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Blocker</a:t>
            </a:r>
            <a:endParaRPr lang="en-US" sz="1200" dirty="0"/>
          </a:p>
        </p:txBody>
      </p:sp>
      <p:sp>
        <p:nvSpPr>
          <p:cNvPr id="9" name="Shape 7"/>
          <p:cNvSpPr/>
          <p:nvPr/>
        </p:nvSpPr>
        <p:spPr>
          <a:xfrm>
            <a:off x="6941071" y="2059730"/>
            <a:ext cx="4437845" cy="63"/>
          </a:xfrm>
          <a:prstGeom prst="line">
            <a:avLst/>
          </a:prstGeom>
          <a:noFill/>
          <a:ln w="6350">
            <a:solidFill>
              <a:srgbClr val="D5DEEC"/>
            </a:solidFill>
            <a:prstDash val="solid"/>
          </a:ln>
        </p:spPr>
      </p:sp>
      <p:sp>
        <p:nvSpPr>
          <p:cNvPr id="10" name="Text 8"/>
          <p:cNvSpPr txBox="1"/>
          <p:nvPr/>
        </p:nvSpPr>
        <p:spPr>
          <a:xfrm>
            <a:off x="7032509" y="1828715"/>
            <a:ext cx="4765565"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Fix</a:t>
            </a:r>
            <a:endParaRPr lang="en-US" sz="1200" dirty="0"/>
          </a:p>
        </p:txBody>
      </p:sp>
      <p:sp>
        <p:nvSpPr>
          <p:cNvPr id="11" name="Shape 9"/>
          <p:cNvSpPr/>
          <p:nvPr/>
        </p:nvSpPr>
        <p:spPr>
          <a:xfrm>
            <a:off x="812780" y="2350433"/>
            <a:ext cx="528227" cy="63"/>
          </a:xfrm>
          <a:prstGeom prst="line">
            <a:avLst/>
          </a:prstGeom>
          <a:noFill/>
          <a:ln w="6350">
            <a:solidFill>
              <a:srgbClr val="D5DEEC"/>
            </a:solidFill>
            <a:prstDash val="solid"/>
          </a:ln>
        </p:spPr>
      </p:sp>
      <p:sp>
        <p:nvSpPr>
          <p:cNvPr id="12" name="Text 10"/>
          <p:cNvSpPr txBox="1"/>
          <p:nvPr/>
        </p:nvSpPr>
        <p:spPr>
          <a:xfrm>
            <a:off x="904217" y="2116243"/>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1</a:t>
            </a:r>
            <a:endParaRPr lang="en-US" sz="1200" dirty="0"/>
          </a:p>
        </p:txBody>
      </p:sp>
      <p:sp>
        <p:nvSpPr>
          <p:cNvPr id="13" name="Shape 11"/>
          <p:cNvSpPr/>
          <p:nvPr/>
        </p:nvSpPr>
        <p:spPr>
          <a:xfrm>
            <a:off x="1341007" y="2350433"/>
            <a:ext cx="5600064" cy="63"/>
          </a:xfrm>
          <a:prstGeom prst="line">
            <a:avLst/>
          </a:prstGeom>
          <a:noFill/>
          <a:ln w="6350">
            <a:solidFill>
              <a:srgbClr val="D5DEEC"/>
            </a:solidFill>
            <a:prstDash val="solid"/>
          </a:ln>
        </p:spPr>
      </p:sp>
      <p:sp>
        <p:nvSpPr>
          <p:cNvPr id="14" name="Text 12"/>
          <p:cNvSpPr txBox="1"/>
          <p:nvPr/>
        </p:nvSpPr>
        <p:spPr>
          <a:xfrm>
            <a:off x="1432445" y="2116243"/>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Stray "32wqa" in api_gateway/main.tf breaks plan</a:t>
            </a:r>
            <a:endParaRPr lang="en-US" sz="1200" dirty="0"/>
          </a:p>
        </p:txBody>
      </p:sp>
      <p:sp>
        <p:nvSpPr>
          <p:cNvPr id="15" name="Shape 13"/>
          <p:cNvSpPr/>
          <p:nvPr/>
        </p:nvSpPr>
        <p:spPr>
          <a:xfrm>
            <a:off x="6941071" y="2350433"/>
            <a:ext cx="4437845" cy="63"/>
          </a:xfrm>
          <a:prstGeom prst="line">
            <a:avLst/>
          </a:prstGeom>
          <a:noFill/>
          <a:ln w="6350">
            <a:solidFill>
              <a:srgbClr val="D5DEEC"/>
            </a:solidFill>
            <a:prstDash val="solid"/>
          </a:ln>
        </p:spPr>
      </p:sp>
      <p:sp>
        <p:nvSpPr>
          <p:cNvPr id="16" name="Text 14"/>
          <p:cNvSpPr txBox="1"/>
          <p:nvPr/>
        </p:nvSpPr>
        <p:spPr>
          <a:xfrm>
            <a:off x="7032509" y="2116243"/>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git checkout the file</a:t>
            </a:r>
            <a:endParaRPr lang="en-US" sz="1200" dirty="0"/>
          </a:p>
        </p:txBody>
      </p:sp>
      <p:sp>
        <p:nvSpPr>
          <p:cNvPr id="17" name="Shape 15"/>
          <p:cNvSpPr/>
          <p:nvPr/>
        </p:nvSpPr>
        <p:spPr>
          <a:xfrm>
            <a:off x="812780" y="2353608"/>
            <a:ext cx="10566136" cy="290704"/>
          </a:xfrm>
          <a:prstGeom prst="rect">
            <a:avLst/>
          </a:prstGeom>
          <a:solidFill>
            <a:srgbClr val="EEF2F9"/>
          </a:solidFill>
          <a:ln/>
        </p:spPr>
      </p:sp>
      <p:sp>
        <p:nvSpPr>
          <p:cNvPr id="18" name="Shape 16"/>
          <p:cNvSpPr/>
          <p:nvPr/>
        </p:nvSpPr>
        <p:spPr>
          <a:xfrm>
            <a:off x="812780" y="2641137"/>
            <a:ext cx="528227" cy="63"/>
          </a:xfrm>
          <a:prstGeom prst="line">
            <a:avLst/>
          </a:prstGeom>
          <a:noFill/>
          <a:ln w="6350">
            <a:solidFill>
              <a:srgbClr val="D5DEEC"/>
            </a:solidFill>
            <a:prstDash val="solid"/>
          </a:ln>
        </p:spPr>
      </p:sp>
      <p:sp>
        <p:nvSpPr>
          <p:cNvPr id="19" name="Text 17"/>
          <p:cNvSpPr txBox="1"/>
          <p:nvPr/>
        </p:nvSpPr>
        <p:spPr>
          <a:xfrm>
            <a:off x="904217" y="2406947"/>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2</a:t>
            </a:r>
            <a:endParaRPr lang="en-US" sz="1200" dirty="0"/>
          </a:p>
        </p:txBody>
      </p:sp>
      <p:sp>
        <p:nvSpPr>
          <p:cNvPr id="20" name="Shape 18"/>
          <p:cNvSpPr/>
          <p:nvPr/>
        </p:nvSpPr>
        <p:spPr>
          <a:xfrm>
            <a:off x="1341007" y="2641137"/>
            <a:ext cx="5600064" cy="63"/>
          </a:xfrm>
          <a:prstGeom prst="line">
            <a:avLst/>
          </a:prstGeom>
          <a:noFill/>
          <a:ln w="6350">
            <a:solidFill>
              <a:srgbClr val="D5DEEC"/>
            </a:solidFill>
            <a:prstDash val="solid"/>
          </a:ln>
        </p:spPr>
      </p:sp>
      <p:sp>
        <p:nvSpPr>
          <p:cNvPr id="21" name="Text 19"/>
          <p:cNvSpPr txBox="1"/>
          <p:nvPr/>
        </p:nvSpPr>
        <p:spPr>
          <a:xfrm>
            <a:off x="1432445" y="2406947"/>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HTTP API has no routes, integrations or VPC Link</a:t>
            </a:r>
            <a:endParaRPr lang="en-US" sz="1200" dirty="0"/>
          </a:p>
        </p:txBody>
      </p:sp>
      <p:sp>
        <p:nvSpPr>
          <p:cNvPr id="22" name="Shape 20"/>
          <p:cNvSpPr/>
          <p:nvPr/>
        </p:nvSpPr>
        <p:spPr>
          <a:xfrm>
            <a:off x="6941071" y="2641137"/>
            <a:ext cx="4437845" cy="63"/>
          </a:xfrm>
          <a:prstGeom prst="line">
            <a:avLst/>
          </a:prstGeom>
          <a:noFill/>
          <a:ln w="6350">
            <a:solidFill>
              <a:srgbClr val="D5DEEC"/>
            </a:solidFill>
            <a:prstDash val="solid"/>
          </a:ln>
        </p:spPr>
      </p:sp>
      <p:sp>
        <p:nvSpPr>
          <p:cNvPr id="23" name="Text 21"/>
          <p:cNvSpPr txBox="1"/>
          <p:nvPr/>
        </p:nvSpPr>
        <p:spPr>
          <a:xfrm>
            <a:off x="7032509" y="2406947"/>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ALB ingress, or VPC Link + NLB</a:t>
            </a:r>
            <a:endParaRPr lang="en-US" sz="1200" dirty="0"/>
          </a:p>
        </p:txBody>
      </p:sp>
      <p:sp>
        <p:nvSpPr>
          <p:cNvPr id="24" name="Shape 22"/>
          <p:cNvSpPr/>
          <p:nvPr/>
        </p:nvSpPr>
        <p:spPr>
          <a:xfrm>
            <a:off x="812780" y="2931841"/>
            <a:ext cx="528227" cy="63"/>
          </a:xfrm>
          <a:prstGeom prst="line">
            <a:avLst/>
          </a:prstGeom>
          <a:noFill/>
          <a:ln w="6350">
            <a:solidFill>
              <a:srgbClr val="D5DEEC"/>
            </a:solidFill>
            <a:prstDash val="solid"/>
          </a:ln>
        </p:spPr>
      </p:sp>
      <p:sp>
        <p:nvSpPr>
          <p:cNvPr id="25" name="Text 23"/>
          <p:cNvSpPr txBox="1"/>
          <p:nvPr/>
        </p:nvSpPr>
        <p:spPr>
          <a:xfrm>
            <a:off x="904217" y="2697651"/>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3</a:t>
            </a:r>
            <a:endParaRPr lang="en-US" sz="1200" dirty="0"/>
          </a:p>
        </p:txBody>
      </p:sp>
      <p:sp>
        <p:nvSpPr>
          <p:cNvPr id="26" name="Shape 24"/>
          <p:cNvSpPr/>
          <p:nvPr/>
        </p:nvSpPr>
        <p:spPr>
          <a:xfrm>
            <a:off x="1341007" y="2931841"/>
            <a:ext cx="5600064" cy="63"/>
          </a:xfrm>
          <a:prstGeom prst="line">
            <a:avLst/>
          </a:prstGeom>
          <a:noFill/>
          <a:ln w="6350">
            <a:solidFill>
              <a:srgbClr val="D5DEEC"/>
            </a:solidFill>
            <a:prstDash val="solid"/>
          </a:ln>
        </p:spPr>
      </p:sp>
      <p:sp>
        <p:nvSpPr>
          <p:cNvPr id="27" name="Text 25"/>
          <p:cNvSpPr txBox="1"/>
          <p:nvPr/>
        </p:nvSpPr>
        <p:spPr>
          <a:xfrm>
            <a:off x="1432445" y="2697651"/>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WAFv2 cannot attach to an HTTP API stage</a:t>
            </a:r>
            <a:endParaRPr lang="en-US" sz="1200" dirty="0"/>
          </a:p>
        </p:txBody>
      </p:sp>
      <p:sp>
        <p:nvSpPr>
          <p:cNvPr id="28" name="Shape 26"/>
          <p:cNvSpPr/>
          <p:nvPr/>
        </p:nvSpPr>
        <p:spPr>
          <a:xfrm>
            <a:off x="6941071" y="2931841"/>
            <a:ext cx="4437845" cy="63"/>
          </a:xfrm>
          <a:prstGeom prst="line">
            <a:avLst/>
          </a:prstGeom>
          <a:noFill/>
          <a:ln w="6350">
            <a:solidFill>
              <a:srgbClr val="D5DEEC"/>
            </a:solidFill>
            <a:prstDash val="solid"/>
          </a:ln>
        </p:spPr>
      </p:sp>
      <p:sp>
        <p:nvSpPr>
          <p:cNvPr id="29" name="Text 27"/>
          <p:cNvSpPr txBox="1"/>
          <p:nvPr/>
        </p:nvSpPr>
        <p:spPr>
          <a:xfrm>
            <a:off x="7032509" y="2697651"/>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Move WAF to the ALB or CloudFront</a:t>
            </a:r>
            <a:endParaRPr lang="en-US" sz="1200" dirty="0"/>
          </a:p>
        </p:txBody>
      </p:sp>
      <p:sp>
        <p:nvSpPr>
          <p:cNvPr id="30" name="Shape 28"/>
          <p:cNvSpPr/>
          <p:nvPr/>
        </p:nvSpPr>
        <p:spPr>
          <a:xfrm>
            <a:off x="812780" y="2935016"/>
            <a:ext cx="10566136" cy="290704"/>
          </a:xfrm>
          <a:prstGeom prst="rect">
            <a:avLst/>
          </a:prstGeom>
          <a:solidFill>
            <a:srgbClr val="EEF2F9"/>
          </a:solidFill>
          <a:ln/>
        </p:spPr>
      </p:sp>
      <p:sp>
        <p:nvSpPr>
          <p:cNvPr id="31" name="Shape 29"/>
          <p:cNvSpPr/>
          <p:nvPr/>
        </p:nvSpPr>
        <p:spPr>
          <a:xfrm>
            <a:off x="812780" y="3222544"/>
            <a:ext cx="528227" cy="63"/>
          </a:xfrm>
          <a:prstGeom prst="line">
            <a:avLst/>
          </a:prstGeom>
          <a:noFill/>
          <a:ln w="6350">
            <a:solidFill>
              <a:srgbClr val="D5DEEC"/>
            </a:solidFill>
            <a:prstDash val="solid"/>
          </a:ln>
        </p:spPr>
      </p:sp>
      <p:sp>
        <p:nvSpPr>
          <p:cNvPr id="32" name="Text 30"/>
          <p:cNvSpPr txBox="1"/>
          <p:nvPr/>
        </p:nvSpPr>
        <p:spPr>
          <a:xfrm>
            <a:off x="904217" y="2988354"/>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4</a:t>
            </a:r>
            <a:endParaRPr lang="en-US" sz="1200" dirty="0"/>
          </a:p>
        </p:txBody>
      </p:sp>
      <p:sp>
        <p:nvSpPr>
          <p:cNvPr id="33" name="Shape 31"/>
          <p:cNvSpPr/>
          <p:nvPr/>
        </p:nvSpPr>
        <p:spPr>
          <a:xfrm>
            <a:off x="1341007" y="3222544"/>
            <a:ext cx="5600064" cy="63"/>
          </a:xfrm>
          <a:prstGeom prst="line">
            <a:avLst/>
          </a:prstGeom>
          <a:noFill/>
          <a:ln w="6350">
            <a:solidFill>
              <a:srgbClr val="D5DEEC"/>
            </a:solidFill>
            <a:prstDash val="solid"/>
          </a:ln>
        </p:spPr>
      </p:sp>
      <p:sp>
        <p:nvSpPr>
          <p:cNvPr id="34" name="Text 32"/>
          <p:cNvSpPr txBox="1"/>
          <p:nvPr/>
        </p:nvSpPr>
        <p:spPr>
          <a:xfrm>
            <a:off x="1432445" y="2988354"/>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JWT authorizer needs JWKS; tokens are HMAC</a:t>
            </a:r>
            <a:endParaRPr lang="en-US" sz="1200" dirty="0"/>
          </a:p>
        </p:txBody>
      </p:sp>
      <p:sp>
        <p:nvSpPr>
          <p:cNvPr id="35" name="Shape 33"/>
          <p:cNvSpPr/>
          <p:nvPr/>
        </p:nvSpPr>
        <p:spPr>
          <a:xfrm>
            <a:off x="6941071" y="3222544"/>
            <a:ext cx="4437845" cy="63"/>
          </a:xfrm>
          <a:prstGeom prst="line">
            <a:avLst/>
          </a:prstGeom>
          <a:noFill/>
          <a:ln w="6350">
            <a:solidFill>
              <a:srgbClr val="D5DEEC"/>
            </a:solidFill>
            <a:prstDash val="solid"/>
          </a:ln>
        </p:spPr>
      </p:sp>
      <p:sp>
        <p:nvSpPr>
          <p:cNvPr id="36" name="Text 34"/>
          <p:cNvSpPr txBox="1"/>
          <p:nvPr/>
        </p:nvSpPr>
        <p:spPr>
          <a:xfrm>
            <a:off x="7032509" y="2988354"/>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Drop it, or move auth to RS256</a:t>
            </a:r>
            <a:endParaRPr lang="en-US" sz="1200" dirty="0"/>
          </a:p>
        </p:txBody>
      </p:sp>
      <p:sp>
        <p:nvSpPr>
          <p:cNvPr id="37" name="Shape 35"/>
          <p:cNvSpPr/>
          <p:nvPr/>
        </p:nvSpPr>
        <p:spPr>
          <a:xfrm>
            <a:off x="812780" y="3513248"/>
            <a:ext cx="528227" cy="63"/>
          </a:xfrm>
          <a:prstGeom prst="line">
            <a:avLst/>
          </a:prstGeom>
          <a:noFill/>
          <a:ln w="6350">
            <a:solidFill>
              <a:srgbClr val="D5DEEC"/>
            </a:solidFill>
            <a:prstDash val="solid"/>
          </a:ln>
        </p:spPr>
      </p:sp>
      <p:sp>
        <p:nvSpPr>
          <p:cNvPr id="38" name="Text 36"/>
          <p:cNvSpPr txBox="1"/>
          <p:nvPr/>
        </p:nvSpPr>
        <p:spPr>
          <a:xfrm>
            <a:off x="904217" y="3279058"/>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5</a:t>
            </a:r>
            <a:endParaRPr lang="en-US" sz="1200" dirty="0"/>
          </a:p>
        </p:txBody>
      </p:sp>
      <p:sp>
        <p:nvSpPr>
          <p:cNvPr id="39" name="Shape 37"/>
          <p:cNvSpPr/>
          <p:nvPr/>
        </p:nvSpPr>
        <p:spPr>
          <a:xfrm>
            <a:off x="1341007" y="3513248"/>
            <a:ext cx="5600064" cy="63"/>
          </a:xfrm>
          <a:prstGeom prst="line">
            <a:avLst/>
          </a:prstGeom>
          <a:noFill/>
          <a:ln w="6350">
            <a:solidFill>
              <a:srgbClr val="D5DEEC"/>
            </a:solidFill>
            <a:prstDash val="solid"/>
          </a:ln>
        </p:spPr>
      </p:sp>
      <p:sp>
        <p:nvSpPr>
          <p:cNvPr id="40" name="Text 38"/>
          <p:cNvSpPr txBox="1"/>
          <p:nvPr/>
        </p:nvSpPr>
        <p:spPr>
          <a:xfrm>
            <a:off x="1432445" y="3279058"/>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No ECR, OIDC roles, state bucket or lock table</a:t>
            </a:r>
            <a:endParaRPr lang="en-US" sz="1200" dirty="0"/>
          </a:p>
        </p:txBody>
      </p:sp>
      <p:sp>
        <p:nvSpPr>
          <p:cNvPr id="41" name="Shape 39"/>
          <p:cNvSpPr/>
          <p:nvPr/>
        </p:nvSpPr>
        <p:spPr>
          <a:xfrm>
            <a:off x="6941071" y="3513248"/>
            <a:ext cx="4437845" cy="63"/>
          </a:xfrm>
          <a:prstGeom prst="line">
            <a:avLst/>
          </a:prstGeom>
          <a:noFill/>
          <a:ln w="6350">
            <a:solidFill>
              <a:srgbClr val="D5DEEC"/>
            </a:solidFill>
            <a:prstDash val="solid"/>
          </a:ln>
        </p:spPr>
      </p:sp>
      <p:sp>
        <p:nvSpPr>
          <p:cNvPr id="42" name="Text 40"/>
          <p:cNvSpPr txBox="1"/>
          <p:nvPr/>
        </p:nvSpPr>
        <p:spPr>
          <a:xfrm>
            <a:off x="7032509" y="3279058"/>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Add a bootstrap Terraform stack</a:t>
            </a:r>
            <a:endParaRPr lang="en-US" sz="1200" dirty="0"/>
          </a:p>
        </p:txBody>
      </p:sp>
      <p:sp>
        <p:nvSpPr>
          <p:cNvPr id="43" name="Shape 41"/>
          <p:cNvSpPr/>
          <p:nvPr/>
        </p:nvSpPr>
        <p:spPr>
          <a:xfrm>
            <a:off x="812780" y="3516423"/>
            <a:ext cx="10566136" cy="290704"/>
          </a:xfrm>
          <a:prstGeom prst="rect">
            <a:avLst/>
          </a:prstGeom>
          <a:solidFill>
            <a:srgbClr val="EEF2F9"/>
          </a:solidFill>
          <a:ln/>
        </p:spPr>
      </p:sp>
      <p:sp>
        <p:nvSpPr>
          <p:cNvPr id="44" name="Shape 42"/>
          <p:cNvSpPr/>
          <p:nvPr/>
        </p:nvSpPr>
        <p:spPr>
          <a:xfrm>
            <a:off x="812780" y="3803952"/>
            <a:ext cx="528227" cy="63"/>
          </a:xfrm>
          <a:prstGeom prst="line">
            <a:avLst/>
          </a:prstGeom>
          <a:noFill/>
          <a:ln w="6350">
            <a:solidFill>
              <a:srgbClr val="D5DEEC"/>
            </a:solidFill>
            <a:prstDash val="solid"/>
          </a:ln>
        </p:spPr>
      </p:sp>
      <p:sp>
        <p:nvSpPr>
          <p:cNvPr id="45" name="Text 43"/>
          <p:cNvSpPr txBox="1"/>
          <p:nvPr/>
        </p:nvSpPr>
        <p:spPr>
          <a:xfrm>
            <a:off x="904217" y="3569762"/>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6</a:t>
            </a:r>
            <a:endParaRPr lang="en-US" sz="1200" dirty="0"/>
          </a:p>
        </p:txBody>
      </p:sp>
      <p:sp>
        <p:nvSpPr>
          <p:cNvPr id="46" name="Shape 44"/>
          <p:cNvSpPr/>
          <p:nvPr/>
        </p:nvSpPr>
        <p:spPr>
          <a:xfrm>
            <a:off x="1341007" y="3803952"/>
            <a:ext cx="5600064" cy="63"/>
          </a:xfrm>
          <a:prstGeom prst="line">
            <a:avLst/>
          </a:prstGeom>
          <a:noFill/>
          <a:ln w="6350">
            <a:solidFill>
              <a:srgbClr val="D5DEEC"/>
            </a:solidFill>
            <a:prstDash val="solid"/>
          </a:ln>
        </p:spPr>
      </p:sp>
      <p:sp>
        <p:nvSpPr>
          <p:cNvPr id="47" name="Text 45"/>
          <p:cNvSpPr txBox="1"/>
          <p:nvPr/>
        </p:nvSpPr>
        <p:spPr>
          <a:xfrm>
            <a:off x="1432445" y="3569762"/>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Secrets are placeholders, never synced to K8s</a:t>
            </a:r>
            <a:endParaRPr lang="en-US" sz="1200" dirty="0"/>
          </a:p>
        </p:txBody>
      </p:sp>
      <p:sp>
        <p:nvSpPr>
          <p:cNvPr id="48" name="Shape 46"/>
          <p:cNvSpPr/>
          <p:nvPr/>
        </p:nvSpPr>
        <p:spPr>
          <a:xfrm>
            <a:off x="6941071" y="3803952"/>
            <a:ext cx="4437845" cy="63"/>
          </a:xfrm>
          <a:prstGeom prst="line">
            <a:avLst/>
          </a:prstGeom>
          <a:noFill/>
          <a:ln w="6350">
            <a:solidFill>
              <a:srgbClr val="D5DEEC"/>
            </a:solidFill>
            <a:prstDash val="solid"/>
          </a:ln>
        </p:spPr>
      </p:sp>
      <p:sp>
        <p:nvSpPr>
          <p:cNvPr id="49" name="Text 47"/>
          <p:cNvSpPr txBox="1"/>
          <p:nvPr/>
        </p:nvSpPr>
        <p:spPr>
          <a:xfrm>
            <a:off x="7032509" y="3569762"/>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External Secrets; align key names</a:t>
            </a:r>
            <a:endParaRPr lang="en-US" sz="1200" dirty="0"/>
          </a:p>
        </p:txBody>
      </p:sp>
      <p:sp>
        <p:nvSpPr>
          <p:cNvPr id="50" name="Shape 48"/>
          <p:cNvSpPr/>
          <p:nvPr/>
        </p:nvSpPr>
        <p:spPr>
          <a:xfrm>
            <a:off x="812780" y="4094655"/>
            <a:ext cx="528227" cy="63"/>
          </a:xfrm>
          <a:prstGeom prst="line">
            <a:avLst/>
          </a:prstGeom>
          <a:noFill/>
          <a:ln w="6350">
            <a:solidFill>
              <a:srgbClr val="D5DEEC"/>
            </a:solidFill>
            <a:prstDash val="solid"/>
          </a:ln>
        </p:spPr>
      </p:sp>
      <p:sp>
        <p:nvSpPr>
          <p:cNvPr id="51" name="Text 49"/>
          <p:cNvSpPr txBox="1"/>
          <p:nvPr/>
        </p:nvSpPr>
        <p:spPr>
          <a:xfrm>
            <a:off x="904217" y="3860465"/>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7</a:t>
            </a:r>
            <a:endParaRPr lang="en-US" sz="1200" dirty="0"/>
          </a:p>
        </p:txBody>
      </p:sp>
      <p:sp>
        <p:nvSpPr>
          <p:cNvPr id="52" name="Shape 50"/>
          <p:cNvSpPr/>
          <p:nvPr/>
        </p:nvSpPr>
        <p:spPr>
          <a:xfrm>
            <a:off x="1341007" y="4094655"/>
            <a:ext cx="5600064" cy="63"/>
          </a:xfrm>
          <a:prstGeom prst="line">
            <a:avLst/>
          </a:prstGeom>
          <a:noFill/>
          <a:ln w="6350">
            <a:solidFill>
              <a:srgbClr val="D5DEEC"/>
            </a:solidFill>
            <a:prstDash val="solid"/>
          </a:ln>
        </p:spPr>
      </p:sp>
      <p:sp>
        <p:nvSpPr>
          <p:cNvPr id="53" name="Text 51"/>
          <p:cNvSpPr txBox="1"/>
          <p:nvPr/>
        </p:nvSpPr>
        <p:spPr>
          <a:xfrm>
            <a:off x="1432445" y="3860465"/>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Helm passes no Kafka SASL or Redis TLS settings</a:t>
            </a:r>
            <a:endParaRPr lang="en-US" sz="1200" dirty="0"/>
          </a:p>
        </p:txBody>
      </p:sp>
      <p:sp>
        <p:nvSpPr>
          <p:cNvPr id="54" name="Shape 52"/>
          <p:cNvSpPr/>
          <p:nvPr/>
        </p:nvSpPr>
        <p:spPr>
          <a:xfrm>
            <a:off x="6941071" y="4094655"/>
            <a:ext cx="4437845" cy="63"/>
          </a:xfrm>
          <a:prstGeom prst="line">
            <a:avLst/>
          </a:prstGeom>
          <a:noFill/>
          <a:ln w="6350">
            <a:solidFill>
              <a:srgbClr val="D5DEEC"/>
            </a:solidFill>
            <a:prstDash val="solid"/>
          </a:ln>
        </p:spPr>
      </p:sp>
      <p:sp>
        <p:nvSpPr>
          <p:cNvPr id="55" name="Text 53"/>
          <p:cNvSpPr txBox="1"/>
          <p:nvPr/>
        </p:nvSpPr>
        <p:spPr>
          <a:xfrm>
            <a:off x="7032509" y="3860465"/>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Wire SCRAM, TLS and auth tokens</a:t>
            </a:r>
            <a:endParaRPr lang="en-US" sz="1200" dirty="0"/>
          </a:p>
        </p:txBody>
      </p:sp>
      <p:sp>
        <p:nvSpPr>
          <p:cNvPr id="56" name="Shape 54"/>
          <p:cNvSpPr/>
          <p:nvPr/>
        </p:nvSpPr>
        <p:spPr>
          <a:xfrm>
            <a:off x="812780" y="4097830"/>
            <a:ext cx="10566136" cy="290704"/>
          </a:xfrm>
          <a:prstGeom prst="rect">
            <a:avLst/>
          </a:prstGeom>
          <a:solidFill>
            <a:srgbClr val="EEF2F9"/>
          </a:solidFill>
          <a:ln/>
        </p:spPr>
      </p:sp>
      <p:sp>
        <p:nvSpPr>
          <p:cNvPr id="57" name="Shape 55"/>
          <p:cNvSpPr/>
          <p:nvPr/>
        </p:nvSpPr>
        <p:spPr>
          <a:xfrm>
            <a:off x="812780" y="4385359"/>
            <a:ext cx="528227" cy="63"/>
          </a:xfrm>
          <a:prstGeom prst="line">
            <a:avLst/>
          </a:prstGeom>
          <a:noFill/>
          <a:ln w="6350">
            <a:solidFill>
              <a:srgbClr val="D5DEEC"/>
            </a:solidFill>
            <a:prstDash val="solid"/>
          </a:ln>
        </p:spPr>
      </p:sp>
      <p:sp>
        <p:nvSpPr>
          <p:cNvPr id="58" name="Text 56"/>
          <p:cNvSpPr txBox="1"/>
          <p:nvPr/>
        </p:nvSpPr>
        <p:spPr>
          <a:xfrm>
            <a:off x="904217" y="4151169"/>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8</a:t>
            </a:r>
            <a:endParaRPr lang="en-US" sz="1200" dirty="0"/>
          </a:p>
        </p:txBody>
      </p:sp>
      <p:sp>
        <p:nvSpPr>
          <p:cNvPr id="59" name="Shape 57"/>
          <p:cNvSpPr/>
          <p:nvPr/>
        </p:nvSpPr>
        <p:spPr>
          <a:xfrm>
            <a:off x="1341007" y="4385359"/>
            <a:ext cx="5600064" cy="63"/>
          </a:xfrm>
          <a:prstGeom prst="line">
            <a:avLst/>
          </a:prstGeom>
          <a:noFill/>
          <a:ln w="6350">
            <a:solidFill>
              <a:srgbClr val="D5DEEC"/>
            </a:solidFill>
            <a:prstDash val="solid"/>
          </a:ln>
        </p:spPr>
      </p:sp>
      <p:sp>
        <p:nvSpPr>
          <p:cNvPr id="60" name="Text 58"/>
          <p:cNvSpPr txBox="1"/>
          <p:nvPr/>
        </p:nvSpPr>
        <p:spPr>
          <a:xfrm>
            <a:off x="1432445" y="4151169"/>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Flyway runs in every replica at startup</a:t>
            </a:r>
            <a:endParaRPr lang="en-US" sz="1200" dirty="0"/>
          </a:p>
        </p:txBody>
      </p:sp>
      <p:sp>
        <p:nvSpPr>
          <p:cNvPr id="61" name="Shape 59"/>
          <p:cNvSpPr/>
          <p:nvPr/>
        </p:nvSpPr>
        <p:spPr>
          <a:xfrm>
            <a:off x="6941071" y="4385359"/>
            <a:ext cx="4437845" cy="63"/>
          </a:xfrm>
          <a:prstGeom prst="line">
            <a:avLst/>
          </a:prstGeom>
          <a:noFill/>
          <a:ln w="6350">
            <a:solidFill>
              <a:srgbClr val="D5DEEC"/>
            </a:solidFill>
            <a:prstDash val="solid"/>
          </a:ln>
        </p:spPr>
      </p:sp>
      <p:sp>
        <p:nvSpPr>
          <p:cNvPr id="62" name="Text 60"/>
          <p:cNvSpPr txBox="1"/>
          <p:nvPr/>
        </p:nvSpPr>
        <p:spPr>
          <a:xfrm>
            <a:off x="7032509" y="4151169"/>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Run migrations as a pre-deploy Job</a:t>
            </a:r>
            <a:endParaRPr lang="en-US" sz="1200" dirty="0"/>
          </a:p>
        </p:txBody>
      </p:sp>
      <p:sp>
        <p:nvSpPr>
          <p:cNvPr id="63" name="Shape 61"/>
          <p:cNvSpPr/>
          <p:nvPr/>
        </p:nvSpPr>
        <p:spPr>
          <a:xfrm>
            <a:off x="812780" y="4676063"/>
            <a:ext cx="528227" cy="63"/>
          </a:xfrm>
          <a:prstGeom prst="line">
            <a:avLst/>
          </a:prstGeom>
          <a:noFill/>
          <a:ln w="6350">
            <a:solidFill>
              <a:srgbClr val="D5DEEC"/>
            </a:solidFill>
            <a:prstDash val="solid"/>
          </a:ln>
        </p:spPr>
      </p:sp>
      <p:sp>
        <p:nvSpPr>
          <p:cNvPr id="64" name="Text 62"/>
          <p:cNvSpPr txBox="1"/>
          <p:nvPr/>
        </p:nvSpPr>
        <p:spPr>
          <a:xfrm>
            <a:off x="904217" y="4441873"/>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9</a:t>
            </a:r>
            <a:endParaRPr lang="en-US" sz="1200" dirty="0"/>
          </a:p>
        </p:txBody>
      </p:sp>
      <p:sp>
        <p:nvSpPr>
          <p:cNvPr id="65" name="Shape 63"/>
          <p:cNvSpPr/>
          <p:nvPr/>
        </p:nvSpPr>
        <p:spPr>
          <a:xfrm>
            <a:off x="1341007" y="4676063"/>
            <a:ext cx="5600064" cy="63"/>
          </a:xfrm>
          <a:prstGeom prst="line">
            <a:avLst/>
          </a:prstGeom>
          <a:noFill/>
          <a:ln w="6350">
            <a:solidFill>
              <a:srgbClr val="D5DEEC"/>
            </a:solidFill>
            <a:prstDash val="solid"/>
          </a:ln>
        </p:spPr>
      </p:sp>
      <p:sp>
        <p:nvSpPr>
          <p:cNvPr id="66" name="Text 64"/>
          <p:cNvSpPr txBox="1"/>
          <p:nvPr/>
        </p:nvSpPr>
        <p:spPr>
          <a:xfrm>
            <a:off x="1432445" y="4441873"/>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No hosting or deploy for the web apps</a:t>
            </a:r>
            <a:endParaRPr lang="en-US" sz="1200" dirty="0"/>
          </a:p>
        </p:txBody>
      </p:sp>
      <p:sp>
        <p:nvSpPr>
          <p:cNvPr id="67" name="Shape 65"/>
          <p:cNvSpPr/>
          <p:nvPr/>
        </p:nvSpPr>
        <p:spPr>
          <a:xfrm>
            <a:off x="6941071" y="4676063"/>
            <a:ext cx="4437845" cy="63"/>
          </a:xfrm>
          <a:prstGeom prst="line">
            <a:avLst/>
          </a:prstGeom>
          <a:noFill/>
          <a:ln w="6350">
            <a:solidFill>
              <a:srgbClr val="D5DEEC"/>
            </a:solidFill>
            <a:prstDash val="solid"/>
          </a:ln>
        </p:spPr>
      </p:sp>
      <p:sp>
        <p:nvSpPr>
          <p:cNvPr id="68" name="Text 66"/>
          <p:cNvSpPr txBox="1"/>
          <p:nvPr/>
        </p:nvSpPr>
        <p:spPr>
          <a:xfrm>
            <a:off x="7032509" y="4441873"/>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S3 + CloudFront + a workflow</a:t>
            </a:r>
            <a:endParaRPr lang="en-US" sz="1200" dirty="0"/>
          </a:p>
        </p:txBody>
      </p:sp>
      <p:sp>
        <p:nvSpPr>
          <p:cNvPr id="69" name="Shape 67"/>
          <p:cNvSpPr/>
          <p:nvPr/>
        </p:nvSpPr>
        <p:spPr>
          <a:xfrm>
            <a:off x="812780" y="4679238"/>
            <a:ext cx="10566136" cy="290704"/>
          </a:xfrm>
          <a:prstGeom prst="rect">
            <a:avLst/>
          </a:prstGeom>
          <a:solidFill>
            <a:srgbClr val="EEF2F9"/>
          </a:solidFill>
          <a:ln/>
        </p:spPr>
      </p:sp>
      <p:sp>
        <p:nvSpPr>
          <p:cNvPr id="70" name="Shape 68"/>
          <p:cNvSpPr/>
          <p:nvPr/>
        </p:nvSpPr>
        <p:spPr>
          <a:xfrm>
            <a:off x="812780" y="4966766"/>
            <a:ext cx="528227" cy="63"/>
          </a:xfrm>
          <a:prstGeom prst="line">
            <a:avLst/>
          </a:prstGeom>
          <a:noFill/>
          <a:ln w="6350">
            <a:solidFill>
              <a:srgbClr val="D5DEEC"/>
            </a:solidFill>
            <a:prstDash val="solid"/>
          </a:ln>
        </p:spPr>
      </p:sp>
      <p:sp>
        <p:nvSpPr>
          <p:cNvPr id="71" name="Text 69"/>
          <p:cNvSpPr txBox="1"/>
          <p:nvPr/>
        </p:nvSpPr>
        <p:spPr>
          <a:xfrm>
            <a:off x="904217" y="4732576"/>
            <a:ext cx="421550"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10</a:t>
            </a:r>
            <a:endParaRPr lang="en-US" sz="1200" dirty="0"/>
          </a:p>
        </p:txBody>
      </p:sp>
      <p:sp>
        <p:nvSpPr>
          <p:cNvPr id="72" name="Shape 70"/>
          <p:cNvSpPr/>
          <p:nvPr/>
        </p:nvSpPr>
        <p:spPr>
          <a:xfrm>
            <a:off x="1341007" y="4966766"/>
            <a:ext cx="5600064" cy="63"/>
          </a:xfrm>
          <a:prstGeom prst="line">
            <a:avLst/>
          </a:prstGeom>
          <a:noFill/>
          <a:ln w="6350">
            <a:solidFill>
              <a:srgbClr val="D5DEEC"/>
            </a:solidFill>
            <a:prstDash val="solid"/>
          </a:ln>
        </p:spPr>
      </p:sp>
      <p:sp>
        <p:nvSpPr>
          <p:cNvPr id="73" name="Text 71"/>
          <p:cNvSpPr txBox="1"/>
          <p:nvPr/>
        </p:nvSpPr>
        <p:spPr>
          <a:xfrm>
            <a:off x="1432445" y="4732576"/>
            <a:ext cx="6067251"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NetworkPolicies are not enforced by vpc-cni</a:t>
            </a:r>
            <a:endParaRPr lang="en-US" sz="1200" dirty="0"/>
          </a:p>
        </p:txBody>
      </p:sp>
      <p:sp>
        <p:nvSpPr>
          <p:cNvPr id="74" name="Shape 72"/>
          <p:cNvSpPr/>
          <p:nvPr/>
        </p:nvSpPr>
        <p:spPr>
          <a:xfrm>
            <a:off x="6941071" y="4966766"/>
            <a:ext cx="4437845" cy="63"/>
          </a:xfrm>
          <a:prstGeom prst="line">
            <a:avLst/>
          </a:prstGeom>
          <a:noFill/>
          <a:ln w="6350">
            <a:solidFill>
              <a:srgbClr val="D5DEEC"/>
            </a:solidFill>
            <a:prstDash val="solid"/>
          </a:ln>
        </p:spPr>
      </p:sp>
      <p:sp>
        <p:nvSpPr>
          <p:cNvPr id="75" name="Text 73"/>
          <p:cNvSpPr txBox="1"/>
          <p:nvPr/>
        </p:nvSpPr>
        <p:spPr>
          <a:xfrm>
            <a:off x="7032509" y="4732576"/>
            <a:ext cx="4765565"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Set enableNetworkPolicy</a:t>
            </a:r>
            <a:endParaRPr lang="en-US" sz="1200" dirty="0"/>
          </a:p>
        </p:txBody>
      </p:sp>
      <p:sp>
        <p:nvSpPr>
          <p:cNvPr id="76" name="Text 74"/>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Production deployment</a:t>
            </a:r>
            <a:endParaRPr lang="en-US" sz="1200" dirty="0"/>
          </a:p>
        </p:txBody>
      </p:sp>
      <p:sp>
        <p:nvSpPr>
          <p:cNvPr id="77" name="Text 75"/>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778756" y="634984"/>
            <a:ext cx="1396965" cy="1396965"/>
          </a:xfrm>
          <a:prstGeom prst="ellipse">
            <a:avLst/>
          </a:prstGeom>
          <a:solidFill>
            <a:srgbClr val="FFFFFF">
              <a:alpha val="14000"/>
            </a:srgbClr>
          </a:solidFill>
          <a:ln/>
        </p:spPr>
      </p:sp>
      <p:pic>
        <p:nvPicPr>
          <p:cNvPr id="3" name="Image 0" descr="preencoded.png">    </p:cNvPr>
          <p:cNvPicPr>
            <a:picLocks noChangeAspect="1"/>
          </p:cNvPicPr>
          <p:nvPr/>
        </p:nvPicPr>
        <p:blipFill>
          <a:blip r:embed="rId2"/>
          <a:stretch>
            <a:fillRect/>
          </a:stretch>
        </p:blipFill>
        <p:spPr>
          <a:xfrm>
            <a:off x="10127997" y="984225"/>
            <a:ext cx="698483" cy="698483"/>
          </a:xfrm>
          <a:prstGeom prst="rect">
            <a:avLst/>
          </a:prstGeom>
        </p:spPr>
      </p:pic>
      <p:sp>
        <p:nvSpPr>
          <p:cNvPr id="4" name="Text 1"/>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50" kern="0" dirty="0">
                <a:solidFill>
                  <a:srgbClr val="F8FAFF"/>
                </a:solidFill>
                <a:latin typeface="Courier New" pitchFamily="34" charset="0"/>
                <a:ea typeface="Courier New" pitchFamily="34" charset="-122"/>
                <a:cs typeface="Courier New" pitchFamily="34" charset="-120"/>
              </a:rPr>
              <a:t>SECURITY · FIX TODAY</a:t>
            </a:r>
            <a:endParaRPr lang="en-US" sz="1200" dirty="0"/>
          </a:p>
        </p:txBody>
      </p:sp>
      <p:sp>
        <p:nvSpPr>
          <p:cNvPr id="5" name="Text 2"/>
          <p:cNvSpPr txBox="1"/>
          <p:nvPr/>
        </p:nvSpPr>
        <p:spPr>
          <a:xfrm>
            <a:off x="812780" y="2245363"/>
            <a:ext cx="9600960" cy="2011511"/>
          </a:xfrm>
          <a:prstGeom prst="rect">
            <a:avLst/>
          </a:prstGeom>
          <a:noFill/>
          <a:ln/>
        </p:spPr>
        <p:txBody>
          <a:bodyPr wrap="square" lIns="0" tIns="0" rIns="0" bIns="0" rtlCol="0" anchor="t"/>
          <a:lstStyle/>
          <a:p>
            <a:pPr algn="l" indent="0" marL="0">
              <a:lnSpc>
                <a:spcPct val="91667"/>
              </a:lnSpc>
              <a:buNone/>
            </a:pPr>
            <a:r>
              <a:rPr lang="en-US" sz="4800" b="1" dirty="0">
                <a:solidFill>
                  <a:srgbClr val="F8FAFF"/>
                </a:solidFill>
                <a:latin typeface="Calibri" pitchFamily="34" charset="0"/>
                <a:ea typeface="Calibri" pitchFamily="34" charset="-122"/>
                <a:cs typeface="Calibri" pitchFamily="34" charset="-120"/>
              </a:rPr>
              <a:t>The secret that signed the leaked token is still the committed default</a:t>
            </a:r>
            <a:endParaRPr lang="en-US" sz="4800" dirty="0"/>
          </a:p>
        </p:txBody>
      </p:sp>
      <p:sp>
        <p:nvSpPr>
          <p:cNvPr id="6" name="Text 3"/>
          <p:cNvSpPr txBox="1"/>
          <p:nvPr/>
        </p:nvSpPr>
        <p:spPr>
          <a:xfrm>
            <a:off x="812780" y="5476143"/>
            <a:ext cx="10667733" cy="568906"/>
          </a:xfrm>
          <a:prstGeom prst="rect">
            <a:avLst/>
          </a:prstGeom>
          <a:noFill/>
          <a:ln/>
        </p:spPr>
        <p:txBody>
          <a:bodyPr wrap="square" lIns="0" tIns="0" rIns="0" bIns="0" rtlCol="0" anchor="t"/>
          <a:lstStyle/>
          <a:p>
            <a:pPr algn="l" indent="0" marL="0">
              <a:lnSpc>
                <a:spcPct val="116667"/>
              </a:lnSpc>
              <a:buNone/>
            </a:pPr>
            <a:r>
              <a:rPr lang="en-US" sz="1600" dirty="0">
                <a:solidFill>
                  <a:srgbClr val="F8FAFF"/>
                </a:solidFill>
                <a:latin typeface="Calibri" pitchFamily="34" charset="0"/>
                <a:ea typeface="Calibri" pitchFamily="34" charset="-122"/>
                <a:cs typeface="Calibri" pitchFamily="34" charset="-120"/>
              </a:rPr>
              <a:t>Commit 1b5656d is public on GitHub, and JWT_SECRET in .env.example has not changed since. Any environment that reuses it accepts a SUPER_ADMIN token anyone can mint.</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SECURITY ARCHITECTURE · TRUST BOUNDARIES</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Each boundary has controls and at least one gap</a:t>
            </a:r>
            <a:endParaRPr lang="en-US" sz="3000" dirty="0"/>
          </a:p>
        </p:txBody>
      </p:sp>
      <p:sp>
        <p:nvSpPr>
          <p:cNvPr id="4" name="Shape 2"/>
          <p:cNvSpPr/>
          <p:nvPr/>
        </p:nvSpPr>
        <p:spPr>
          <a:xfrm>
            <a:off x="812780" y="1775376"/>
            <a:ext cx="2374841" cy="2298246"/>
          </a:xfrm>
          <a:prstGeom prst="roundRect">
            <a:avLst>
              <a:gd name="adj" fmla="val 4421"/>
            </a:avLst>
          </a:prstGeom>
          <a:solidFill>
            <a:srgbClr val="FCFDFF"/>
          </a:solidFill>
          <a:ln w="6350">
            <a:solidFill>
              <a:srgbClr val="D5DEEC"/>
            </a:solidFill>
            <a:prstDash val="solid"/>
          </a:ln>
        </p:spPr>
      </p:sp>
      <p:sp>
        <p:nvSpPr>
          <p:cNvPr id="5" name="Shape 3"/>
          <p:cNvSpPr/>
          <p:nvPr/>
        </p:nvSpPr>
        <p:spPr>
          <a:xfrm>
            <a:off x="819130" y="1781726"/>
            <a:ext cx="2362141" cy="426630"/>
          </a:xfrm>
          <a:prstGeom prst="roundRect">
            <a:avLst>
              <a:gd name="adj" fmla="val 22326"/>
            </a:avLst>
          </a:prstGeom>
          <a:solidFill>
            <a:srgbClr val="3F5F95"/>
          </a:solidFill>
          <a:ln/>
        </p:spPr>
      </p:sp>
      <p:pic>
        <p:nvPicPr>
          <p:cNvPr id="6" name="Image 0" descr="preencoded.png">    </p:cNvPr>
          <p:cNvPicPr>
            <a:picLocks noChangeAspect="1"/>
          </p:cNvPicPr>
          <p:nvPr/>
        </p:nvPicPr>
        <p:blipFill>
          <a:blip r:embed="rId1"/>
          <a:stretch>
            <a:fillRect/>
          </a:stretch>
        </p:blipFill>
        <p:spPr>
          <a:xfrm>
            <a:off x="946126" y="1893443"/>
            <a:ext cx="203195" cy="203195"/>
          </a:xfrm>
          <a:prstGeom prst="rect">
            <a:avLst/>
          </a:prstGeom>
        </p:spPr>
      </p:pic>
      <p:sp>
        <p:nvSpPr>
          <p:cNvPr id="7" name="Text 4"/>
          <p:cNvSpPr txBox="1"/>
          <p:nvPr/>
        </p:nvSpPr>
        <p:spPr>
          <a:xfrm>
            <a:off x="1225519" y="1870624"/>
            <a:ext cx="644707" cy="248914"/>
          </a:xfrm>
          <a:prstGeom prst="rect">
            <a:avLst/>
          </a:prstGeom>
          <a:noFill/>
          <a:ln/>
        </p:spPr>
        <p:txBody>
          <a:bodyPr wrap="square" lIns="0" tIns="0" rIns="0" bIns="0" rtlCol="0" anchor="t"/>
          <a:lstStyle/>
          <a:p>
            <a:pPr algn="l" indent="0" marL="0">
              <a:lnSpc>
                <a:spcPct val="116667"/>
              </a:lnSpc>
              <a:buNone/>
            </a:pPr>
            <a:r>
              <a:rPr lang="en-US" sz="1400" b="1" dirty="0">
                <a:solidFill>
                  <a:srgbClr val="F8FAFF"/>
                </a:solidFill>
                <a:latin typeface="Calibri" pitchFamily="34" charset="0"/>
                <a:ea typeface="Calibri" pitchFamily="34" charset="-122"/>
                <a:cs typeface="Calibri" pitchFamily="34" charset="-120"/>
              </a:rPr>
              <a:t>Clients</a:t>
            </a:r>
            <a:endParaRPr lang="en-US" sz="1400" dirty="0"/>
          </a:p>
        </p:txBody>
      </p:sp>
      <p:sp>
        <p:nvSpPr>
          <p:cNvPr id="8" name="Text 5"/>
          <p:cNvSpPr txBox="1"/>
          <p:nvPr/>
        </p:nvSpPr>
        <p:spPr>
          <a:xfrm>
            <a:off x="946126" y="2297254"/>
            <a:ext cx="2361125" cy="213355"/>
          </a:xfrm>
          <a:prstGeom prst="rect">
            <a:avLst/>
          </a:prstGeom>
          <a:noFill/>
          <a:ln/>
        </p:spPr>
        <p:txBody>
          <a:bodyPr wrap="square" lIns="0" tIns="0" rIns="0" bIns="0" rtlCol="0" anchor="t"/>
          <a:lstStyle/>
          <a:p>
            <a:pPr algn="l" indent="0" marL="0">
              <a:lnSpc>
                <a:spcPct val="116667"/>
              </a:lnSpc>
              <a:buNone/>
            </a:pPr>
            <a:r>
              <a:rPr lang="en-US" sz="1200" dirty="0">
                <a:solidFill>
                  <a:srgbClr val="2E7D4F"/>
                </a:solidFill>
                <a:latin typeface="Courier New" pitchFamily="34" charset="0"/>
                <a:ea typeface="Courier New" pitchFamily="34" charset="-122"/>
                <a:cs typeface="Courier New" pitchFamily="34" charset="-120"/>
              </a:rPr>
              <a:t>Controls</a:t>
            </a:r>
            <a:endParaRPr lang="en-US" sz="1200" dirty="0"/>
          </a:p>
        </p:txBody>
      </p:sp>
      <p:pic>
        <p:nvPicPr>
          <p:cNvPr id="9" name="Image 1" descr="preencoded.png">    </p:cNvPr>
          <p:cNvPicPr>
            <a:picLocks noChangeAspect="1"/>
          </p:cNvPicPr>
          <p:nvPr/>
        </p:nvPicPr>
        <p:blipFill>
          <a:blip r:embed="rId2"/>
          <a:stretch>
            <a:fillRect/>
          </a:stretch>
        </p:blipFill>
        <p:spPr>
          <a:xfrm>
            <a:off x="946126" y="2594307"/>
            <a:ext cx="190495" cy="190495"/>
          </a:xfrm>
          <a:prstGeom prst="rect">
            <a:avLst/>
          </a:prstGeom>
        </p:spPr>
      </p:pic>
      <p:sp>
        <p:nvSpPr>
          <p:cNvPr id="10" name="Text 6"/>
          <p:cNvSpPr txBox="1"/>
          <p:nvPr/>
        </p:nvSpPr>
        <p:spPr>
          <a:xfrm>
            <a:off x="1225519" y="2586767"/>
            <a:ext cx="1650721"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15-min access tokens</a:t>
            </a:r>
            <a:endParaRPr lang="en-US" sz="1200" dirty="0"/>
          </a:p>
        </p:txBody>
      </p:sp>
      <p:pic>
        <p:nvPicPr>
          <p:cNvPr id="11" name="Image 2" descr="preencoded.png">    </p:cNvPr>
          <p:cNvPicPr>
            <a:picLocks noChangeAspect="1"/>
          </p:cNvPicPr>
          <p:nvPr/>
        </p:nvPicPr>
        <p:blipFill>
          <a:blip r:embed="rId3"/>
          <a:stretch>
            <a:fillRect/>
          </a:stretch>
        </p:blipFill>
        <p:spPr>
          <a:xfrm>
            <a:off x="946126" y="2876180"/>
            <a:ext cx="190495" cy="190495"/>
          </a:xfrm>
          <a:prstGeom prst="rect">
            <a:avLst/>
          </a:prstGeom>
        </p:spPr>
      </p:pic>
      <p:sp>
        <p:nvSpPr>
          <p:cNvPr id="12" name="Text 7"/>
          <p:cNvSpPr txBox="1"/>
          <p:nvPr/>
        </p:nvSpPr>
        <p:spPr>
          <a:xfrm>
            <a:off x="1225519" y="2868640"/>
            <a:ext cx="1214455"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Refresh rotation</a:t>
            </a:r>
            <a:endParaRPr lang="en-US" sz="1200" dirty="0"/>
          </a:p>
        </p:txBody>
      </p:sp>
      <p:sp>
        <p:nvSpPr>
          <p:cNvPr id="13" name="Text 8"/>
          <p:cNvSpPr txBox="1"/>
          <p:nvPr/>
        </p:nvSpPr>
        <p:spPr>
          <a:xfrm>
            <a:off x="946126" y="3150513"/>
            <a:ext cx="2361125" cy="213355"/>
          </a:xfrm>
          <a:prstGeom prst="rect">
            <a:avLst/>
          </a:prstGeom>
          <a:noFill/>
          <a:ln/>
        </p:spPr>
        <p:txBody>
          <a:bodyPr wrap="square" lIns="0" tIns="0" rIns="0" bIns="0" rtlCol="0" anchor="t"/>
          <a:lstStyle/>
          <a:p>
            <a:pPr algn="l" indent="0" marL="0">
              <a:lnSpc>
                <a:spcPct val="116667"/>
              </a:lnSpc>
              <a:buNone/>
            </a:pPr>
            <a:r>
              <a:rPr lang="en-US" sz="1200" dirty="0">
                <a:solidFill>
                  <a:srgbClr val="C0352B"/>
                </a:solidFill>
                <a:latin typeface="Courier New" pitchFamily="34" charset="0"/>
                <a:ea typeface="Courier New" pitchFamily="34" charset="-122"/>
                <a:cs typeface="Courier New" pitchFamily="34" charset="-120"/>
              </a:rPr>
              <a:t>Gaps</a:t>
            </a:r>
            <a:endParaRPr lang="en-US" sz="1200" dirty="0"/>
          </a:p>
        </p:txBody>
      </p:sp>
      <p:pic>
        <p:nvPicPr>
          <p:cNvPr id="14" name="Image 3" descr="preencoded.png">    </p:cNvPr>
          <p:cNvPicPr>
            <a:picLocks noChangeAspect="1"/>
          </p:cNvPicPr>
          <p:nvPr/>
        </p:nvPicPr>
        <p:blipFill>
          <a:blip r:embed="rId4"/>
          <a:stretch>
            <a:fillRect/>
          </a:stretch>
        </p:blipFill>
        <p:spPr>
          <a:xfrm>
            <a:off x="946126" y="3447567"/>
            <a:ext cx="190495" cy="190495"/>
          </a:xfrm>
          <a:prstGeom prst="rect">
            <a:avLst/>
          </a:prstGeom>
        </p:spPr>
      </p:pic>
      <p:sp>
        <p:nvSpPr>
          <p:cNvPr id="15" name="Text 9"/>
          <p:cNvSpPr txBox="1"/>
          <p:nvPr/>
        </p:nvSpPr>
        <p:spPr>
          <a:xfrm>
            <a:off x="1225519" y="3440026"/>
            <a:ext cx="1774177"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Refresh in localStorage</a:t>
            </a:r>
            <a:endParaRPr lang="en-US" sz="1200" dirty="0"/>
          </a:p>
        </p:txBody>
      </p:sp>
      <p:pic>
        <p:nvPicPr>
          <p:cNvPr id="16" name="Image 4" descr="preencoded.png">    </p:cNvPr>
          <p:cNvPicPr>
            <a:picLocks noChangeAspect="1"/>
          </p:cNvPicPr>
          <p:nvPr/>
        </p:nvPicPr>
        <p:blipFill>
          <a:blip r:embed="rId5"/>
          <a:stretch>
            <a:fillRect/>
          </a:stretch>
        </p:blipFill>
        <p:spPr>
          <a:xfrm>
            <a:off x="946126" y="3729440"/>
            <a:ext cx="190495" cy="190495"/>
          </a:xfrm>
          <a:prstGeom prst="rect">
            <a:avLst/>
          </a:prstGeom>
        </p:spPr>
      </p:pic>
      <p:sp>
        <p:nvSpPr>
          <p:cNvPr id="17" name="Text 10"/>
          <p:cNvSpPr txBox="1"/>
          <p:nvPr/>
        </p:nvSpPr>
        <p:spPr>
          <a:xfrm>
            <a:off x="1225519" y="3721900"/>
            <a:ext cx="1315354"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No CSP or HSTS</a:t>
            </a:r>
            <a:endParaRPr lang="en-US" sz="1200" dirty="0"/>
          </a:p>
        </p:txBody>
      </p:sp>
      <p:sp>
        <p:nvSpPr>
          <p:cNvPr id="18" name="Shape 11"/>
          <p:cNvSpPr/>
          <p:nvPr/>
        </p:nvSpPr>
        <p:spPr>
          <a:xfrm>
            <a:off x="3251119" y="2867350"/>
            <a:ext cx="228594" cy="114297"/>
          </a:xfrm>
          <a:prstGeom prst="rightArrow">
            <a:avLst/>
          </a:prstGeom>
          <a:solidFill>
            <a:srgbClr val="5C6B8A"/>
          </a:solidFill>
          <a:ln/>
        </p:spPr>
      </p:sp>
      <p:sp>
        <p:nvSpPr>
          <p:cNvPr id="19" name="Shape 12"/>
          <p:cNvSpPr/>
          <p:nvPr/>
        </p:nvSpPr>
        <p:spPr>
          <a:xfrm>
            <a:off x="3543211" y="1775376"/>
            <a:ext cx="2374841" cy="2298246"/>
          </a:xfrm>
          <a:prstGeom prst="roundRect">
            <a:avLst>
              <a:gd name="adj" fmla="val 4421"/>
            </a:avLst>
          </a:prstGeom>
          <a:solidFill>
            <a:srgbClr val="FCFDFF"/>
          </a:solidFill>
          <a:ln w="6350">
            <a:solidFill>
              <a:srgbClr val="D5DEEC"/>
            </a:solidFill>
            <a:prstDash val="solid"/>
          </a:ln>
        </p:spPr>
      </p:sp>
      <p:sp>
        <p:nvSpPr>
          <p:cNvPr id="20" name="Shape 13"/>
          <p:cNvSpPr/>
          <p:nvPr/>
        </p:nvSpPr>
        <p:spPr>
          <a:xfrm>
            <a:off x="3549561" y="1781726"/>
            <a:ext cx="2362141" cy="426630"/>
          </a:xfrm>
          <a:prstGeom prst="roundRect">
            <a:avLst>
              <a:gd name="adj" fmla="val 22326"/>
            </a:avLst>
          </a:prstGeom>
          <a:solidFill>
            <a:srgbClr val="2454C5"/>
          </a:solidFill>
          <a:ln/>
        </p:spPr>
      </p:sp>
      <p:pic>
        <p:nvPicPr>
          <p:cNvPr id="21" name="Image 5" descr="preencoded.png">    </p:cNvPr>
          <p:cNvPicPr>
            <a:picLocks noChangeAspect="1"/>
          </p:cNvPicPr>
          <p:nvPr/>
        </p:nvPicPr>
        <p:blipFill>
          <a:blip r:embed="rId6"/>
          <a:stretch>
            <a:fillRect/>
          </a:stretch>
        </p:blipFill>
        <p:spPr>
          <a:xfrm>
            <a:off x="3676558" y="1893443"/>
            <a:ext cx="203195" cy="203195"/>
          </a:xfrm>
          <a:prstGeom prst="rect">
            <a:avLst/>
          </a:prstGeom>
        </p:spPr>
      </p:pic>
      <p:sp>
        <p:nvSpPr>
          <p:cNvPr id="22" name="Text 14"/>
          <p:cNvSpPr txBox="1"/>
          <p:nvPr/>
        </p:nvSpPr>
        <p:spPr>
          <a:xfrm>
            <a:off x="3955951" y="1870624"/>
            <a:ext cx="472071" cy="248914"/>
          </a:xfrm>
          <a:prstGeom prst="rect">
            <a:avLst/>
          </a:prstGeom>
          <a:noFill/>
          <a:ln/>
        </p:spPr>
        <p:txBody>
          <a:bodyPr wrap="square" lIns="0" tIns="0" rIns="0" bIns="0" rtlCol="0" anchor="t"/>
          <a:lstStyle/>
          <a:p>
            <a:pPr algn="l" indent="0" marL="0">
              <a:lnSpc>
                <a:spcPct val="116667"/>
              </a:lnSpc>
              <a:buNone/>
            </a:pPr>
            <a:r>
              <a:rPr lang="en-US" sz="1400" b="1" dirty="0">
                <a:solidFill>
                  <a:srgbClr val="F8FAFF"/>
                </a:solidFill>
                <a:latin typeface="Calibri" pitchFamily="34" charset="0"/>
                <a:ea typeface="Calibri" pitchFamily="34" charset="-122"/>
                <a:cs typeface="Calibri" pitchFamily="34" charset="-120"/>
              </a:rPr>
              <a:t>Edge</a:t>
            </a:r>
            <a:endParaRPr lang="en-US" sz="1400" dirty="0"/>
          </a:p>
        </p:txBody>
      </p:sp>
      <p:sp>
        <p:nvSpPr>
          <p:cNvPr id="23" name="Text 15"/>
          <p:cNvSpPr txBox="1"/>
          <p:nvPr/>
        </p:nvSpPr>
        <p:spPr>
          <a:xfrm>
            <a:off x="3676558" y="2297254"/>
            <a:ext cx="2361125" cy="213355"/>
          </a:xfrm>
          <a:prstGeom prst="rect">
            <a:avLst/>
          </a:prstGeom>
          <a:noFill/>
          <a:ln/>
        </p:spPr>
        <p:txBody>
          <a:bodyPr wrap="square" lIns="0" tIns="0" rIns="0" bIns="0" rtlCol="0" anchor="t"/>
          <a:lstStyle/>
          <a:p>
            <a:pPr algn="l" indent="0" marL="0">
              <a:lnSpc>
                <a:spcPct val="116667"/>
              </a:lnSpc>
              <a:buNone/>
            </a:pPr>
            <a:r>
              <a:rPr lang="en-US" sz="1200" dirty="0">
                <a:solidFill>
                  <a:srgbClr val="2E7D4F"/>
                </a:solidFill>
                <a:latin typeface="Courier New" pitchFamily="34" charset="0"/>
                <a:ea typeface="Courier New" pitchFamily="34" charset="-122"/>
                <a:cs typeface="Courier New" pitchFamily="34" charset="-120"/>
              </a:rPr>
              <a:t>Controls</a:t>
            </a:r>
            <a:endParaRPr lang="en-US" sz="1200" dirty="0"/>
          </a:p>
        </p:txBody>
      </p:sp>
      <p:pic>
        <p:nvPicPr>
          <p:cNvPr id="24" name="Image 6" descr="preencoded.png">    </p:cNvPr>
          <p:cNvPicPr>
            <a:picLocks noChangeAspect="1"/>
          </p:cNvPicPr>
          <p:nvPr/>
        </p:nvPicPr>
        <p:blipFill>
          <a:blip r:embed="rId7"/>
          <a:stretch>
            <a:fillRect/>
          </a:stretch>
        </p:blipFill>
        <p:spPr>
          <a:xfrm>
            <a:off x="3676558" y="2594307"/>
            <a:ext cx="190495" cy="190495"/>
          </a:xfrm>
          <a:prstGeom prst="rect">
            <a:avLst/>
          </a:prstGeom>
        </p:spPr>
      </p:pic>
      <p:sp>
        <p:nvSpPr>
          <p:cNvPr id="25" name="Text 16"/>
          <p:cNvSpPr txBox="1"/>
          <p:nvPr/>
        </p:nvSpPr>
        <p:spPr>
          <a:xfrm>
            <a:off x="3955951" y="2586767"/>
            <a:ext cx="147070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Token introspection</a:t>
            </a:r>
            <a:endParaRPr lang="en-US" sz="1200" dirty="0"/>
          </a:p>
        </p:txBody>
      </p:sp>
      <p:pic>
        <p:nvPicPr>
          <p:cNvPr id="26" name="Image 7" descr="preencoded.png">    </p:cNvPr>
          <p:cNvPicPr>
            <a:picLocks noChangeAspect="1"/>
          </p:cNvPicPr>
          <p:nvPr/>
        </p:nvPicPr>
        <p:blipFill>
          <a:blip r:embed="rId8"/>
          <a:stretch>
            <a:fillRect/>
          </a:stretch>
        </p:blipFill>
        <p:spPr>
          <a:xfrm>
            <a:off x="3676558" y="2876180"/>
            <a:ext cx="190495" cy="190495"/>
          </a:xfrm>
          <a:prstGeom prst="rect">
            <a:avLst/>
          </a:prstGeom>
        </p:spPr>
      </p:pic>
      <p:sp>
        <p:nvSpPr>
          <p:cNvPr id="27" name="Text 17"/>
          <p:cNvSpPr txBox="1"/>
          <p:nvPr/>
        </p:nvSpPr>
        <p:spPr>
          <a:xfrm>
            <a:off x="3955951" y="2868640"/>
            <a:ext cx="143214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Per-user rate limits</a:t>
            </a:r>
            <a:endParaRPr lang="en-US" sz="1200" dirty="0"/>
          </a:p>
        </p:txBody>
      </p:sp>
      <p:sp>
        <p:nvSpPr>
          <p:cNvPr id="28" name="Text 18"/>
          <p:cNvSpPr txBox="1"/>
          <p:nvPr/>
        </p:nvSpPr>
        <p:spPr>
          <a:xfrm>
            <a:off x="3676558" y="3150513"/>
            <a:ext cx="2361125" cy="213355"/>
          </a:xfrm>
          <a:prstGeom prst="rect">
            <a:avLst/>
          </a:prstGeom>
          <a:noFill/>
          <a:ln/>
        </p:spPr>
        <p:txBody>
          <a:bodyPr wrap="square" lIns="0" tIns="0" rIns="0" bIns="0" rtlCol="0" anchor="t"/>
          <a:lstStyle/>
          <a:p>
            <a:pPr algn="l" indent="0" marL="0">
              <a:lnSpc>
                <a:spcPct val="116667"/>
              </a:lnSpc>
              <a:buNone/>
            </a:pPr>
            <a:r>
              <a:rPr lang="en-US" sz="1200" dirty="0">
                <a:solidFill>
                  <a:srgbClr val="C0352B"/>
                </a:solidFill>
                <a:latin typeface="Courier New" pitchFamily="34" charset="0"/>
                <a:ea typeface="Courier New" pitchFamily="34" charset="-122"/>
                <a:cs typeface="Courier New" pitchFamily="34" charset="-120"/>
              </a:rPr>
              <a:t>Gaps</a:t>
            </a:r>
            <a:endParaRPr lang="en-US" sz="1200" dirty="0"/>
          </a:p>
        </p:txBody>
      </p:sp>
      <p:pic>
        <p:nvPicPr>
          <p:cNvPr id="29" name="Image 8" descr="preencoded.png">    </p:cNvPr>
          <p:cNvPicPr>
            <a:picLocks noChangeAspect="1"/>
          </p:cNvPicPr>
          <p:nvPr/>
        </p:nvPicPr>
        <p:blipFill>
          <a:blip r:embed="rId9"/>
          <a:stretch>
            <a:fillRect/>
          </a:stretch>
        </p:blipFill>
        <p:spPr>
          <a:xfrm>
            <a:off x="3676558" y="3447567"/>
            <a:ext cx="190495" cy="190495"/>
          </a:xfrm>
          <a:prstGeom prst="rect">
            <a:avLst/>
          </a:prstGeom>
        </p:spPr>
      </p:pic>
      <p:sp>
        <p:nvSpPr>
          <p:cNvPr id="30" name="Text 19"/>
          <p:cNvSpPr txBox="1"/>
          <p:nvPr/>
        </p:nvSpPr>
        <p:spPr>
          <a:xfrm>
            <a:off x="3955951" y="3440026"/>
            <a:ext cx="1457812"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No per-IP auth limit</a:t>
            </a:r>
            <a:endParaRPr lang="en-US" sz="1200" dirty="0"/>
          </a:p>
        </p:txBody>
      </p:sp>
      <p:pic>
        <p:nvPicPr>
          <p:cNvPr id="31" name="Image 9" descr="preencoded.png">    </p:cNvPr>
          <p:cNvPicPr>
            <a:picLocks noChangeAspect="1"/>
          </p:cNvPicPr>
          <p:nvPr/>
        </p:nvPicPr>
        <p:blipFill>
          <a:blip r:embed="rId10"/>
          <a:stretch>
            <a:fillRect/>
          </a:stretch>
        </p:blipFill>
        <p:spPr>
          <a:xfrm>
            <a:off x="3676558" y="3729440"/>
            <a:ext cx="190495" cy="190495"/>
          </a:xfrm>
          <a:prstGeom prst="rect">
            <a:avLst/>
          </a:prstGeom>
        </p:spPr>
      </p:pic>
      <p:sp>
        <p:nvSpPr>
          <p:cNvPr id="32" name="Text 20"/>
          <p:cNvSpPr txBox="1"/>
          <p:nvPr/>
        </p:nvSpPr>
        <p:spPr>
          <a:xfrm>
            <a:off x="3955951" y="3721900"/>
            <a:ext cx="1287907"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WAF can't attach</a:t>
            </a:r>
            <a:endParaRPr lang="en-US" sz="1200" dirty="0"/>
          </a:p>
        </p:txBody>
      </p:sp>
      <p:sp>
        <p:nvSpPr>
          <p:cNvPr id="33" name="Shape 21"/>
          <p:cNvSpPr/>
          <p:nvPr/>
        </p:nvSpPr>
        <p:spPr>
          <a:xfrm>
            <a:off x="5981550" y="2867350"/>
            <a:ext cx="228594" cy="114297"/>
          </a:xfrm>
          <a:prstGeom prst="rightArrow">
            <a:avLst/>
          </a:prstGeom>
          <a:solidFill>
            <a:srgbClr val="5C6B8A"/>
          </a:solidFill>
          <a:ln/>
        </p:spPr>
      </p:sp>
      <p:sp>
        <p:nvSpPr>
          <p:cNvPr id="34" name="Shape 22"/>
          <p:cNvSpPr/>
          <p:nvPr/>
        </p:nvSpPr>
        <p:spPr>
          <a:xfrm>
            <a:off x="6273643" y="1775376"/>
            <a:ext cx="2374841" cy="2298246"/>
          </a:xfrm>
          <a:prstGeom prst="roundRect">
            <a:avLst>
              <a:gd name="adj" fmla="val 4421"/>
            </a:avLst>
          </a:prstGeom>
          <a:solidFill>
            <a:srgbClr val="FCFDFF"/>
          </a:solidFill>
          <a:ln w="6350">
            <a:solidFill>
              <a:srgbClr val="D5DEEC"/>
            </a:solidFill>
            <a:prstDash val="solid"/>
          </a:ln>
        </p:spPr>
      </p:sp>
      <p:sp>
        <p:nvSpPr>
          <p:cNvPr id="35" name="Shape 23"/>
          <p:cNvSpPr/>
          <p:nvPr/>
        </p:nvSpPr>
        <p:spPr>
          <a:xfrm>
            <a:off x="6279993" y="1781726"/>
            <a:ext cx="2362141" cy="426630"/>
          </a:xfrm>
          <a:prstGeom prst="roundRect">
            <a:avLst>
              <a:gd name="adj" fmla="val 22326"/>
            </a:avLst>
          </a:prstGeom>
          <a:solidFill>
            <a:srgbClr val="0B7F74"/>
          </a:solidFill>
          <a:ln/>
        </p:spPr>
      </p:sp>
      <p:pic>
        <p:nvPicPr>
          <p:cNvPr id="36" name="Image 10" descr="preencoded.png">    </p:cNvPr>
          <p:cNvPicPr>
            <a:picLocks noChangeAspect="1"/>
          </p:cNvPicPr>
          <p:nvPr/>
        </p:nvPicPr>
        <p:blipFill>
          <a:blip r:embed="rId11"/>
          <a:stretch>
            <a:fillRect/>
          </a:stretch>
        </p:blipFill>
        <p:spPr>
          <a:xfrm>
            <a:off x="6406990" y="1893443"/>
            <a:ext cx="203195" cy="203195"/>
          </a:xfrm>
          <a:prstGeom prst="rect">
            <a:avLst/>
          </a:prstGeom>
        </p:spPr>
      </p:pic>
      <p:sp>
        <p:nvSpPr>
          <p:cNvPr id="37" name="Text 24"/>
          <p:cNvSpPr txBox="1"/>
          <p:nvPr/>
        </p:nvSpPr>
        <p:spPr>
          <a:xfrm>
            <a:off x="6686383" y="1870624"/>
            <a:ext cx="774077" cy="248914"/>
          </a:xfrm>
          <a:prstGeom prst="rect">
            <a:avLst/>
          </a:prstGeom>
          <a:noFill/>
          <a:ln/>
        </p:spPr>
        <p:txBody>
          <a:bodyPr wrap="square" lIns="0" tIns="0" rIns="0" bIns="0" rtlCol="0" anchor="t"/>
          <a:lstStyle/>
          <a:p>
            <a:pPr algn="l" indent="0" marL="0">
              <a:lnSpc>
                <a:spcPct val="116667"/>
              </a:lnSpc>
              <a:buNone/>
            </a:pPr>
            <a:r>
              <a:rPr lang="en-US" sz="1400" b="1" dirty="0">
                <a:solidFill>
                  <a:srgbClr val="F8FAFF"/>
                </a:solidFill>
                <a:latin typeface="Calibri" pitchFamily="34" charset="0"/>
                <a:ea typeface="Calibri" pitchFamily="34" charset="-122"/>
                <a:cs typeface="Calibri" pitchFamily="34" charset="-120"/>
              </a:rPr>
              <a:t>Services</a:t>
            </a:r>
            <a:endParaRPr lang="en-US" sz="1400" dirty="0"/>
          </a:p>
        </p:txBody>
      </p:sp>
      <p:sp>
        <p:nvSpPr>
          <p:cNvPr id="38" name="Text 25"/>
          <p:cNvSpPr txBox="1"/>
          <p:nvPr/>
        </p:nvSpPr>
        <p:spPr>
          <a:xfrm>
            <a:off x="6406990" y="2297254"/>
            <a:ext cx="2361125" cy="213355"/>
          </a:xfrm>
          <a:prstGeom prst="rect">
            <a:avLst/>
          </a:prstGeom>
          <a:noFill/>
          <a:ln/>
        </p:spPr>
        <p:txBody>
          <a:bodyPr wrap="square" lIns="0" tIns="0" rIns="0" bIns="0" rtlCol="0" anchor="t"/>
          <a:lstStyle/>
          <a:p>
            <a:pPr algn="l" indent="0" marL="0">
              <a:lnSpc>
                <a:spcPct val="116667"/>
              </a:lnSpc>
              <a:buNone/>
            </a:pPr>
            <a:r>
              <a:rPr lang="en-US" sz="1200" dirty="0">
                <a:solidFill>
                  <a:srgbClr val="2E7D4F"/>
                </a:solidFill>
                <a:latin typeface="Courier New" pitchFamily="34" charset="0"/>
                <a:ea typeface="Courier New" pitchFamily="34" charset="-122"/>
                <a:cs typeface="Courier New" pitchFamily="34" charset="-120"/>
              </a:rPr>
              <a:t>Controls</a:t>
            </a:r>
            <a:endParaRPr lang="en-US" sz="1200" dirty="0"/>
          </a:p>
        </p:txBody>
      </p:sp>
      <p:pic>
        <p:nvPicPr>
          <p:cNvPr id="39" name="Image 11" descr="preencoded.png">    </p:cNvPr>
          <p:cNvPicPr>
            <a:picLocks noChangeAspect="1"/>
          </p:cNvPicPr>
          <p:nvPr/>
        </p:nvPicPr>
        <p:blipFill>
          <a:blip r:embed="rId12"/>
          <a:stretch>
            <a:fillRect/>
          </a:stretch>
        </p:blipFill>
        <p:spPr>
          <a:xfrm>
            <a:off x="6406990" y="2594307"/>
            <a:ext cx="190495" cy="190495"/>
          </a:xfrm>
          <a:prstGeom prst="rect">
            <a:avLst/>
          </a:prstGeom>
        </p:spPr>
      </p:pic>
      <p:sp>
        <p:nvSpPr>
          <p:cNvPr id="40" name="Text 26"/>
          <p:cNvSpPr txBox="1"/>
          <p:nvPr/>
        </p:nvSpPr>
        <p:spPr>
          <a:xfrm>
            <a:off x="6686383" y="2586767"/>
            <a:ext cx="1631830"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RBAC and ownership</a:t>
            </a:r>
            <a:endParaRPr lang="en-US" sz="1200" dirty="0"/>
          </a:p>
        </p:txBody>
      </p:sp>
      <p:pic>
        <p:nvPicPr>
          <p:cNvPr id="41" name="Image 12" descr="preencoded.png">    </p:cNvPr>
          <p:cNvPicPr>
            <a:picLocks noChangeAspect="1"/>
          </p:cNvPicPr>
          <p:nvPr/>
        </p:nvPicPr>
        <p:blipFill>
          <a:blip r:embed="rId13"/>
          <a:stretch>
            <a:fillRect/>
          </a:stretch>
        </p:blipFill>
        <p:spPr>
          <a:xfrm>
            <a:off x="6406990" y="2876180"/>
            <a:ext cx="190495" cy="190495"/>
          </a:xfrm>
          <a:prstGeom prst="rect">
            <a:avLst/>
          </a:prstGeom>
        </p:spPr>
      </p:pic>
      <p:sp>
        <p:nvSpPr>
          <p:cNvPr id="42" name="Text 27"/>
          <p:cNvSpPr txBox="1"/>
          <p:nvPr/>
        </p:nvSpPr>
        <p:spPr>
          <a:xfrm>
            <a:off x="6686383" y="2868640"/>
            <a:ext cx="1537154"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Keyed /internal APIs</a:t>
            </a:r>
            <a:endParaRPr lang="en-US" sz="1200" dirty="0"/>
          </a:p>
        </p:txBody>
      </p:sp>
      <p:sp>
        <p:nvSpPr>
          <p:cNvPr id="43" name="Text 28"/>
          <p:cNvSpPr txBox="1"/>
          <p:nvPr/>
        </p:nvSpPr>
        <p:spPr>
          <a:xfrm>
            <a:off x="6406990" y="3150513"/>
            <a:ext cx="2361125" cy="213355"/>
          </a:xfrm>
          <a:prstGeom prst="rect">
            <a:avLst/>
          </a:prstGeom>
          <a:noFill/>
          <a:ln/>
        </p:spPr>
        <p:txBody>
          <a:bodyPr wrap="square" lIns="0" tIns="0" rIns="0" bIns="0" rtlCol="0" anchor="t"/>
          <a:lstStyle/>
          <a:p>
            <a:pPr algn="l" indent="0" marL="0">
              <a:lnSpc>
                <a:spcPct val="116667"/>
              </a:lnSpc>
              <a:buNone/>
            </a:pPr>
            <a:r>
              <a:rPr lang="en-US" sz="1200" dirty="0">
                <a:solidFill>
                  <a:srgbClr val="C0352B"/>
                </a:solidFill>
                <a:latin typeface="Courier New" pitchFamily="34" charset="0"/>
                <a:ea typeface="Courier New" pitchFamily="34" charset="-122"/>
                <a:cs typeface="Courier New" pitchFamily="34" charset="-120"/>
              </a:rPr>
              <a:t>Gaps</a:t>
            </a:r>
            <a:endParaRPr lang="en-US" sz="1200" dirty="0"/>
          </a:p>
        </p:txBody>
      </p:sp>
      <p:pic>
        <p:nvPicPr>
          <p:cNvPr id="44" name="Image 13" descr="preencoded.png">    </p:cNvPr>
          <p:cNvPicPr>
            <a:picLocks noChangeAspect="1"/>
          </p:cNvPicPr>
          <p:nvPr/>
        </p:nvPicPr>
        <p:blipFill>
          <a:blip r:embed="rId14"/>
          <a:stretch>
            <a:fillRect/>
          </a:stretch>
        </p:blipFill>
        <p:spPr>
          <a:xfrm>
            <a:off x="6406990" y="3447567"/>
            <a:ext cx="190495" cy="190495"/>
          </a:xfrm>
          <a:prstGeom prst="rect">
            <a:avLst/>
          </a:prstGeom>
        </p:spPr>
      </p:pic>
      <p:sp>
        <p:nvSpPr>
          <p:cNvPr id="45" name="Text 29"/>
          <p:cNvSpPr txBox="1"/>
          <p:nvPr/>
        </p:nvSpPr>
        <p:spPr>
          <a:xfrm>
            <a:off x="6686383" y="3440026"/>
            <a:ext cx="175495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One shared HMAC key</a:t>
            </a:r>
            <a:endParaRPr lang="en-US" sz="1200" dirty="0"/>
          </a:p>
        </p:txBody>
      </p:sp>
      <p:pic>
        <p:nvPicPr>
          <p:cNvPr id="46" name="Image 14" descr="preencoded.png">    </p:cNvPr>
          <p:cNvPicPr>
            <a:picLocks noChangeAspect="1"/>
          </p:cNvPicPr>
          <p:nvPr/>
        </p:nvPicPr>
        <p:blipFill>
          <a:blip r:embed="rId15"/>
          <a:stretch>
            <a:fillRect/>
          </a:stretch>
        </p:blipFill>
        <p:spPr>
          <a:xfrm>
            <a:off x="6406990" y="3729440"/>
            <a:ext cx="190495" cy="190495"/>
          </a:xfrm>
          <a:prstGeom prst="rect">
            <a:avLst/>
          </a:prstGeom>
        </p:spPr>
      </p:pic>
      <p:sp>
        <p:nvSpPr>
          <p:cNvPr id="47" name="Text 30"/>
          <p:cNvSpPr txBox="1"/>
          <p:nvPr/>
        </p:nvSpPr>
        <p:spPr>
          <a:xfrm>
            <a:off x="6686383" y="3721900"/>
            <a:ext cx="1470703"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Shared internal key</a:t>
            </a:r>
            <a:endParaRPr lang="en-US" sz="1200" dirty="0"/>
          </a:p>
        </p:txBody>
      </p:sp>
      <p:sp>
        <p:nvSpPr>
          <p:cNvPr id="48" name="Shape 31"/>
          <p:cNvSpPr/>
          <p:nvPr/>
        </p:nvSpPr>
        <p:spPr>
          <a:xfrm>
            <a:off x="8711982" y="2867350"/>
            <a:ext cx="228594" cy="114297"/>
          </a:xfrm>
          <a:prstGeom prst="rightArrow">
            <a:avLst/>
          </a:prstGeom>
          <a:solidFill>
            <a:srgbClr val="5C6B8A"/>
          </a:solidFill>
          <a:ln/>
        </p:spPr>
      </p:sp>
      <p:sp>
        <p:nvSpPr>
          <p:cNvPr id="49" name="Shape 32"/>
          <p:cNvSpPr/>
          <p:nvPr/>
        </p:nvSpPr>
        <p:spPr>
          <a:xfrm>
            <a:off x="9004075" y="1775376"/>
            <a:ext cx="2374841" cy="2298246"/>
          </a:xfrm>
          <a:prstGeom prst="roundRect">
            <a:avLst>
              <a:gd name="adj" fmla="val 4421"/>
            </a:avLst>
          </a:prstGeom>
          <a:solidFill>
            <a:srgbClr val="FCFDFF"/>
          </a:solidFill>
          <a:ln w="6350">
            <a:solidFill>
              <a:srgbClr val="D5DEEC"/>
            </a:solidFill>
            <a:prstDash val="solid"/>
          </a:ln>
        </p:spPr>
      </p:sp>
      <p:sp>
        <p:nvSpPr>
          <p:cNvPr id="50" name="Shape 33"/>
          <p:cNvSpPr/>
          <p:nvPr/>
        </p:nvSpPr>
        <p:spPr>
          <a:xfrm>
            <a:off x="9010425" y="1781726"/>
            <a:ext cx="2362141" cy="426630"/>
          </a:xfrm>
          <a:prstGeom prst="roundRect">
            <a:avLst>
              <a:gd name="adj" fmla="val 22326"/>
            </a:avLst>
          </a:prstGeom>
          <a:solidFill>
            <a:srgbClr val="6A3FC0"/>
          </a:solidFill>
          <a:ln/>
        </p:spPr>
      </p:sp>
      <p:pic>
        <p:nvPicPr>
          <p:cNvPr id="51" name="Image 15" descr="preencoded.png">    </p:cNvPr>
          <p:cNvPicPr>
            <a:picLocks noChangeAspect="1"/>
          </p:cNvPicPr>
          <p:nvPr/>
        </p:nvPicPr>
        <p:blipFill>
          <a:blip r:embed="rId16"/>
          <a:stretch>
            <a:fillRect/>
          </a:stretch>
        </p:blipFill>
        <p:spPr>
          <a:xfrm>
            <a:off x="9137422" y="1893443"/>
            <a:ext cx="203195" cy="203195"/>
          </a:xfrm>
          <a:prstGeom prst="rect">
            <a:avLst/>
          </a:prstGeom>
        </p:spPr>
      </p:pic>
      <p:sp>
        <p:nvSpPr>
          <p:cNvPr id="52" name="Text 34"/>
          <p:cNvSpPr txBox="1"/>
          <p:nvPr/>
        </p:nvSpPr>
        <p:spPr>
          <a:xfrm>
            <a:off x="9416815" y="1870624"/>
            <a:ext cx="450442" cy="248914"/>
          </a:xfrm>
          <a:prstGeom prst="rect">
            <a:avLst/>
          </a:prstGeom>
          <a:noFill/>
          <a:ln/>
        </p:spPr>
        <p:txBody>
          <a:bodyPr wrap="square" lIns="0" tIns="0" rIns="0" bIns="0" rtlCol="0" anchor="t"/>
          <a:lstStyle/>
          <a:p>
            <a:pPr algn="l" indent="0" marL="0">
              <a:lnSpc>
                <a:spcPct val="116667"/>
              </a:lnSpc>
              <a:buNone/>
            </a:pPr>
            <a:r>
              <a:rPr lang="en-US" sz="1400" b="1" dirty="0">
                <a:solidFill>
                  <a:srgbClr val="F8FAFF"/>
                </a:solidFill>
                <a:latin typeface="Calibri" pitchFamily="34" charset="0"/>
                <a:ea typeface="Calibri" pitchFamily="34" charset="-122"/>
                <a:cs typeface="Calibri" pitchFamily="34" charset="-120"/>
              </a:rPr>
              <a:t>Data</a:t>
            </a:r>
            <a:endParaRPr lang="en-US" sz="1400" dirty="0"/>
          </a:p>
        </p:txBody>
      </p:sp>
      <p:sp>
        <p:nvSpPr>
          <p:cNvPr id="53" name="Text 35"/>
          <p:cNvSpPr txBox="1"/>
          <p:nvPr/>
        </p:nvSpPr>
        <p:spPr>
          <a:xfrm>
            <a:off x="9137422" y="2297254"/>
            <a:ext cx="2361125" cy="213355"/>
          </a:xfrm>
          <a:prstGeom prst="rect">
            <a:avLst/>
          </a:prstGeom>
          <a:noFill/>
          <a:ln/>
        </p:spPr>
        <p:txBody>
          <a:bodyPr wrap="square" lIns="0" tIns="0" rIns="0" bIns="0" rtlCol="0" anchor="t"/>
          <a:lstStyle/>
          <a:p>
            <a:pPr algn="l" indent="0" marL="0">
              <a:lnSpc>
                <a:spcPct val="116667"/>
              </a:lnSpc>
              <a:buNone/>
            </a:pPr>
            <a:r>
              <a:rPr lang="en-US" sz="1200" dirty="0">
                <a:solidFill>
                  <a:srgbClr val="2E7D4F"/>
                </a:solidFill>
                <a:latin typeface="Courier New" pitchFamily="34" charset="0"/>
                <a:ea typeface="Courier New" pitchFamily="34" charset="-122"/>
                <a:cs typeface="Courier New" pitchFamily="34" charset="-120"/>
              </a:rPr>
              <a:t>Controls</a:t>
            </a:r>
            <a:endParaRPr lang="en-US" sz="1200" dirty="0"/>
          </a:p>
        </p:txBody>
      </p:sp>
      <p:pic>
        <p:nvPicPr>
          <p:cNvPr id="54" name="Image 16" descr="preencoded.png">    </p:cNvPr>
          <p:cNvPicPr>
            <a:picLocks noChangeAspect="1"/>
          </p:cNvPicPr>
          <p:nvPr/>
        </p:nvPicPr>
        <p:blipFill>
          <a:blip r:embed="rId17"/>
          <a:stretch>
            <a:fillRect/>
          </a:stretch>
        </p:blipFill>
        <p:spPr>
          <a:xfrm>
            <a:off x="9137422" y="2594307"/>
            <a:ext cx="190495" cy="190495"/>
          </a:xfrm>
          <a:prstGeom prst="rect">
            <a:avLst/>
          </a:prstGeom>
        </p:spPr>
      </p:pic>
      <p:sp>
        <p:nvSpPr>
          <p:cNvPr id="55" name="Text 36"/>
          <p:cNvSpPr txBox="1"/>
          <p:nvPr/>
        </p:nvSpPr>
        <p:spPr>
          <a:xfrm>
            <a:off x="9416815" y="2586767"/>
            <a:ext cx="891645"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KMS at rest</a:t>
            </a:r>
            <a:endParaRPr lang="en-US" sz="1200" dirty="0"/>
          </a:p>
        </p:txBody>
      </p:sp>
      <p:pic>
        <p:nvPicPr>
          <p:cNvPr id="56" name="Image 17" descr="preencoded.png">    </p:cNvPr>
          <p:cNvPicPr>
            <a:picLocks noChangeAspect="1"/>
          </p:cNvPicPr>
          <p:nvPr/>
        </p:nvPicPr>
        <p:blipFill>
          <a:blip r:embed="rId18"/>
          <a:stretch>
            <a:fillRect/>
          </a:stretch>
        </p:blipFill>
        <p:spPr>
          <a:xfrm>
            <a:off x="9137422" y="2876180"/>
            <a:ext cx="190495" cy="190495"/>
          </a:xfrm>
          <a:prstGeom prst="rect">
            <a:avLst/>
          </a:prstGeom>
        </p:spPr>
      </p:pic>
      <p:sp>
        <p:nvSpPr>
          <p:cNvPr id="57" name="Text 37"/>
          <p:cNvSpPr txBox="1"/>
          <p:nvPr/>
        </p:nvSpPr>
        <p:spPr>
          <a:xfrm>
            <a:off x="9416815" y="2868640"/>
            <a:ext cx="1546377"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TLS Redis and MSK</a:t>
            </a:r>
            <a:endParaRPr lang="en-US" sz="1200" dirty="0"/>
          </a:p>
        </p:txBody>
      </p:sp>
      <p:sp>
        <p:nvSpPr>
          <p:cNvPr id="58" name="Text 38"/>
          <p:cNvSpPr txBox="1"/>
          <p:nvPr/>
        </p:nvSpPr>
        <p:spPr>
          <a:xfrm>
            <a:off x="9137422" y="3150513"/>
            <a:ext cx="2361125" cy="213355"/>
          </a:xfrm>
          <a:prstGeom prst="rect">
            <a:avLst/>
          </a:prstGeom>
          <a:noFill/>
          <a:ln/>
        </p:spPr>
        <p:txBody>
          <a:bodyPr wrap="square" lIns="0" tIns="0" rIns="0" bIns="0" rtlCol="0" anchor="t"/>
          <a:lstStyle/>
          <a:p>
            <a:pPr algn="l" indent="0" marL="0">
              <a:lnSpc>
                <a:spcPct val="116667"/>
              </a:lnSpc>
              <a:buNone/>
            </a:pPr>
            <a:r>
              <a:rPr lang="en-US" sz="1200" dirty="0">
                <a:solidFill>
                  <a:srgbClr val="C0352B"/>
                </a:solidFill>
                <a:latin typeface="Courier New" pitchFamily="34" charset="0"/>
                <a:ea typeface="Courier New" pitchFamily="34" charset="-122"/>
                <a:cs typeface="Courier New" pitchFamily="34" charset="-120"/>
              </a:rPr>
              <a:t>Gaps</a:t>
            </a:r>
            <a:endParaRPr lang="en-US" sz="1200" dirty="0"/>
          </a:p>
        </p:txBody>
      </p:sp>
      <p:pic>
        <p:nvPicPr>
          <p:cNvPr id="59" name="Image 18" descr="preencoded.png">    </p:cNvPr>
          <p:cNvPicPr>
            <a:picLocks noChangeAspect="1"/>
          </p:cNvPicPr>
          <p:nvPr/>
        </p:nvPicPr>
        <p:blipFill>
          <a:blip r:embed="rId19"/>
          <a:stretch>
            <a:fillRect/>
          </a:stretch>
        </p:blipFill>
        <p:spPr>
          <a:xfrm>
            <a:off x="9137422" y="3447567"/>
            <a:ext cx="190495" cy="190495"/>
          </a:xfrm>
          <a:prstGeom prst="rect">
            <a:avLst/>
          </a:prstGeom>
        </p:spPr>
      </p:pic>
      <p:sp>
        <p:nvSpPr>
          <p:cNvPr id="60" name="Text 39"/>
          <p:cNvSpPr txBox="1"/>
          <p:nvPr/>
        </p:nvSpPr>
        <p:spPr>
          <a:xfrm>
            <a:off x="9416815" y="3440026"/>
            <a:ext cx="1524264"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RDS TLS not forced</a:t>
            </a:r>
            <a:endParaRPr lang="en-US" sz="1200" dirty="0"/>
          </a:p>
        </p:txBody>
      </p:sp>
      <p:pic>
        <p:nvPicPr>
          <p:cNvPr id="61" name="Image 19" descr="preencoded.png">    </p:cNvPr>
          <p:cNvPicPr>
            <a:picLocks noChangeAspect="1"/>
          </p:cNvPicPr>
          <p:nvPr/>
        </p:nvPicPr>
        <p:blipFill>
          <a:blip r:embed="rId20"/>
          <a:stretch>
            <a:fillRect/>
          </a:stretch>
        </p:blipFill>
        <p:spPr>
          <a:xfrm>
            <a:off x="9137422" y="3729440"/>
            <a:ext cx="190495" cy="190495"/>
          </a:xfrm>
          <a:prstGeom prst="rect">
            <a:avLst/>
          </a:prstGeom>
        </p:spPr>
      </p:pic>
      <p:sp>
        <p:nvSpPr>
          <p:cNvPr id="62" name="Text 40"/>
          <p:cNvSpPr txBox="1"/>
          <p:nvPr/>
        </p:nvSpPr>
        <p:spPr>
          <a:xfrm>
            <a:off x="9416815" y="3721900"/>
            <a:ext cx="1593826" cy="205735"/>
          </a:xfrm>
          <a:prstGeom prst="rect">
            <a:avLst/>
          </a:prstGeom>
          <a:noFill/>
          <a:ln/>
        </p:spPr>
        <p:txBody>
          <a:bodyPr wrap="square" lIns="0" tIns="0" rIns="0" bIns="0" rtlCol="0" anchor="t"/>
          <a:lstStyle/>
          <a:p>
            <a:pPr algn="l" indent="0" marL="0">
              <a:lnSpc>
                <a:spcPct val="112500"/>
              </a:lnSpc>
              <a:buNone/>
            </a:pPr>
            <a:r>
              <a:rPr lang="en-US" sz="1200" dirty="0">
                <a:solidFill>
                  <a:srgbClr val="1F3A70"/>
                </a:solidFill>
                <a:latin typeface="Calibri" pitchFamily="34" charset="0"/>
                <a:ea typeface="Calibri" pitchFamily="34" charset="-122"/>
                <a:cs typeface="Calibri" pitchFamily="34" charset="-120"/>
              </a:rPr>
              <a:t>Pods read all secrets</a:t>
            </a:r>
            <a:endParaRPr lang="en-US" sz="1200" dirty="0"/>
          </a:p>
        </p:txBody>
      </p:sp>
      <p:sp>
        <p:nvSpPr>
          <p:cNvPr id="63" name="Shape 41"/>
          <p:cNvSpPr/>
          <p:nvPr/>
        </p:nvSpPr>
        <p:spPr>
          <a:xfrm>
            <a:off x="812780" y="4327615"/>
            <a:ext cx="10566136" cy="482588"/>
          </a:xfrm>
          <a:prstGeom prst="roundRect">
            <a:avLst>
              <a:gd name="adj" fmla="val 18421"/>
            </a:avLst>
          </a:prstGeom>
          <a:solidFill>
            <a:srgbClr val="FBE4E2"/>
          </a:solidFill>
          <a:ln/>
        </p:spPr>
      </p:sp>
      <p:pic>
        <p:nvPicPr>
          <p:cNvPr id="64" name="Image 20" descr="preencoded.png">    </p:cNvPr>
          <p:cNvPicPr>
            <a:picLocks noChangeAspect="1"/>
          </p:cNvPicPr>
          <p:nvPr/>
        </p:nvPicPr>
        <p:blipFill>
          <a:blip r:embed="rId21"/>
          <a:stretch>
            <a:fillRect/>
          </a:stretch>
        </p:blipFill>
        <p:spPr>
          <a:xfrm>
            <a:off x="977876" y="4454612"/>
            <a:ext cx="228594" cy="228594"/>
          </a:xfrm>
          <a:prstGeom prst="rect">
            <a:avLst/>
          </a:prstGeom>
        </p:spPr>
      </p:pic>
      <p:sp>
        <p:nvSpPr>
          <p:cNvPr id="65" name="Text 42"/>
          <p:cNvSpPr txBox="1"/>
          <p:nvPr/>
        </p:nvSpPr>
        <p:spPr>
          <a:xfrm>
            <a:off x="1320767" y="4462252"/>
            <a:ext cx="6391306" cy="213355"/>
          </a:xfrm>
          <a:prstGeom prst="rect">
            <a:avLst/>
          </a:prstGeom>
          <a:noFill/>
          <a:ln/>
        </p:spPr>
        <p:txBody>
          <a:bodyPr wrap="square" lIns="0" tIns="0" rIns="0" bIns="0" rtlCol="0" anchor="t"/>
          <a:lstStyle/>
          <a:p>
            <a:pPr algn="l" indent="0" marL="0">
              <a:lnSpc>
                <a:spcPct val="116667"/>
              </a:lnSpc>
              <a:buNone/>
            </a:pPr>
            <a:r>
              <a:rPr lang="en-US" sz="1200" b="1" dirty="0">
                <a:solidFill>
                  <a:srgbClr val="1F3A70"/>
                </a:solidFill>
                <a:latin typeface="Calibri" pitchFamily="34" charset="0"/>
                <a:ea typeface="Calibri" pitchFamily="34" charset="-122"/>
                <a:cs typeface="Calibri" pitchFamily="34" charset="-120"/>
              </a:rPr>
              <a:t>Operations:</a:t>
            </a:r>
            <a:pPr algn="l" indent="0" marL="0">
              <a:lnSpc>
                <a:spcPct val="116667"/>
              </a:lnSpc>
              <a:buNone/>
            </a:pPr>
            <a:r>
              <a:rPr lang="en-US" sz="1200" dirty="0">
                <a:solidFill>
                  <a:srgbClr val="1F3A70"/>
                </a:solidFill>
                <a:latin typeface="Calibri" pitchFamily="34" charset="0"/>
                <a:ea typeface="Calibri" pitchFamily="34" charset="-122"/>
                <a:cs typeface="Calibri" pitchFamily="34" charset="-120"/>
              </a:rPr>
              <a:t> EKS API open to 0.0.0.0/0, and the leaked JWT secret is still unrotated.</a:t>
            </a:r>
            <a:endParaRPr lang="en-US" sz="1200" dirty="0"/>
          </a:p>
        </p:txBody>
      </p:sp>
      <p:sp>
        <p:nvSpPr>
          <p:cNvPr id="66" name="Text 43"/>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Security</a:t>
            </a:r>
            <a:endParaRPr lang="en-US" sz="1200" dirty="0"/>
          </a:p>
        </p:txBody>
      </p:sp>
      <p:sp>
        <p:nvSpPr>
          <p:cNvPr id="67" name="Text 44"/>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SECURITY · STRENGTHS</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The foundations are solid</a:t>
            </a:r>
            <a:endParaRPr lang="en-US" sz="3000" dirty="0"/>
          </a:p>
        </p:txBody>
      </p:sp>
      <p:sp>
        <p:nvSpPr>
          <p:cNvPr id="4" name="Shape 2"/>
          <p:cNvSpPr/>
          <p:nvPr/>
        </p:nvSpPr>
        <p:spPr>
          <a:xfrm>
            <a:off x="812780" y="1775376"/>
            <a:ext cx="3420382" cy="1233060"/>
          </a:xfrm>
          <a:prstGeom prst="roundRect">
            <a:avLst>
              <a:gd name="adj" fmla="val 8239"/>
            </a:avLst>
          </a:prstGeom>
          <a:solidFill>
            <a:srgbClr val="FCFDFF"/>
          </a:solidFill>
          <a:ln w="6350">
            <a:solidFill>
              <a:srgbClr val="D5DEEC"/>
            </a:solidFill>
            <a:prstDash val="solid"/>
          </a:ln>
        </p:spPr>
      </p:sp>
      <p:sp>
        <p:nvSpPr>
          <p:cNvPr id="5" name="Shape 3"/>
          <p:cNvSpPr/>
          <p:nvPr/>
        </p:nvSpPr>
        <p:spPr>
          <a:xfrm>
            <a:off x="812780" y="1775376"/>
            <a:ext cx="3420382" cy="38099"/>
          </a:xfrm>
          <a:prstGeom prst="roundRect">
            <a:avLst>
              <a:gd name="adj" fmla="val 50000"/>
            </a:avLst>
          </a:prstGeom>
          <a:solidFill>
            <a:srgbClr val="2454C5"/>
          </a:solidFill>
          <a:ln/>
        </p:spPr>
      </p:sp>
      <p:sp>
        <p:nvSpPr>
          <p:cNvPr id="6" name="Shape 4"/>
          <p:cNvSpPr/>
          <p:nvPr/>
        </p:nvSpPr>
        <p:spPr>
          <a:xfrm>
            <a:off x="984225" y="1978571"/>
            <a:ext cx="355591" cy="355591"/>
          </a:xfrm>
          <a:prstGeom prst="ellipse">
            <a:avLst/>
          </a:prstGeom>
          <a:solidFill>
            <a:srgbClr val="E3EBFA"/>
          </a:solidFill>
          <a:ln/>
        </p:spPr>
      </p:sp>
      <p:pic>
        <p:nvPicPr>
          <p:cNvPr id="7" name="Image 0" descr="preencoded.png">    </p:cNvPr>
          <p:cNvPicPr>
            <a:picLocks noChangeAspect="1"/>
          </p:cNvPicPr>
          <p:nvPr/>
        </p:nvPicPr>
        <p:blipFill>
          <a:blip r:embed="rId1"/>
          <a:stretch>
            <a:fillRect/>
          </a:stretch>
        </p:blipFill>
        <p:spPr>
          <a:xfrm>
            <a:off x="1066773" y="2061119"/>
            <a:ext cx="190495" cy="190495"/>
          </a:xfrm>
          <a:prstGeom prst="rect">
            <a:avLst/>
          </a:prstGeom>
        </p:spPr>
      </p:pic>
      <p:sp>
        <p:nvSpPr>
          <p:cNvPr id="8" name="Text 5"/>
          <p:cNvSpPr txBox="1"/>
          <p:nvPr/>
        </p:nvSpPr>
        <p:spPr>
          <a:xfrm>
            <a:off x="1428714" y="2034430"/>
            <a:ext cx="872198" cy="243834"/>
          </a:xfrm>
          <a:prstGeom prst="rect">
            <a:avLst/>
          </a:prstGeom>
          <a:noFill/>
          <a:ln/>
        </p:spPr>
        <p:txBody>
          <a:bodyPr wrap="square" lIns="0" tIns="0" rIns="0" bIns="0" rtlCol="0" anchor="t"/>
          <a:lstStyle/>
          <a:p>
            <a:pPr algn="l" indent="0" marL="0">
              <a:lnSpc>
                <a:spcPct val="100000"/>
              </a:lnSpc>
              <a:buNone/>
            </a:pPr>
            <a:r>
              <a:rPr lang="en-US" sz="1600" b="1" dirty="0">
                <a:solidFill>
                  <a:srgbClr val="1F3A70"/>
                </a:solidFill>
                <a:latin typeface="Calibri" pitchFamily="34" charset="0"/>
                <a:ea typeface="Calibri" pitchFamily="34" charset="-122"/>
                <a:cs typeface="Calibri" pitchFamily="34" charset="-120"/>
              </a:rPr>
              <a:t>Sessions</a:t>
            </a:r>
            <a:endParaRPr lang="en-US" sz="1600" dirty="0"/>
          </a:p>
        </p:txBody>
      </p:sp>
      <p:sp>
        <p:nvSpPr>
          <p:cNvPr id="9" name="Text 6"/>
          <p:cNvSpPr txBox="1"/>
          <p:nvPr/>
        </p:nvSpPr>
        <p:spPr>
          <a:xfrm>
            <a:off x="984225" y="2410360"/>
            <a:ext cx="3446789"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bcrypt 12, timing-safe login, rotating refresh tokens with replay detection</a:t>
            </a:r>
            <a:endParaRPr lang="en-US" sz="1200" dirty="0"/>
          </a:p>
        </p:txBody>
      </p:sp>
      <p:sp>
        <p:nvSpPr>
          <p:cNvPr id="10" name="Shape 7"/>
          <p:cNvSpPr/>
          <p:nvPr/>
        </p:nvSpPr>
        <p:spPr>
          <a:xfrm>
            <a:off x="4385558" y="1775376"/>
            <a:ext cx="3420481" cy="1233060"/>
          </a:xfrm>
          <a:prstGeom prst="roundRect">
            <a:avLst>
              <a:gd name="adj" fmla="val 8239"/>
            </a:avLst>
          </a:prstGeom>
          <a:solidFill>
            <a:srgbClr val="FCFDFF"/>
          </a:solidFill>
          <a:ln w="6350">
            <a:solidFill>
              <a:srgbClr val="D5DEEC"/>
            </a:solidFill>
            <a:prstDash val="solid"/>
          </a:ln>
        </p:spPr>
      </p:sp>
      <p:sp>
        <p:nvSpPr>
          <p:cNvPr id="11" name="Shape 8"/>
          <p:cNvSpPr/>
          <p:nvPr/>
        </p:nvSpPr>
        <p:spPr>
          <a:xfrm>
            <a:off x="4385558" y="1775376"/>
            <a:ext cx="3420481" cy="38099"/>
          </a:xfrm>
          <a:prstGeom prst="roundRect">
            <a:avLst>
              <a:gd name="adj" fmla="val 50000"/>
            </a:avLst>
          </a:prstGeom>
          <a:solidFill>
            <a:srgbClr val="0B7F74"/>
          </a:solidFill>
          <a:ln/>
        </p:spPr>
      </p:sp>
      <p:sp>
        <p:nvSpPr>
          <p:cNvPr id="12" name="Shape 9"/>
          <p:cNvSpPr/>
          <p:nvPr/>
        </p:nvSpPr>
        <p:spPr>
          <a:xfrm>
            <a:off x="4557003" y="1978571"/>
            <a:ext cx="355591" cy="355591"/>
          </a:xfrm>
          <a:prstGeom prst="ellipse">
            <a:avLst/>
          </a:prstGeom>
          <a:solidFill>
            <a:srgbClr val="DDF2EF"/>
          </a:solidFill>
          <a:ln/>
        </p:spPr>
      </p:sp>
      <p:pic>
        <p:nvPicPr>
          <p:cNvPr id="13" name="Image 1" descr="preencoded.png">    </p:cNvPr>
          <p:cNvPicPr>
            <a:picLocks noChangeAspect="1"/>
          </p:cNvPicPr>
          <p:nvPr/>
        </p:nvPicPr>
        <p:blipFill>
          <a:blip r:embed="rId2"/>
          <a:stretch>
            <a:fillRect/>
          </a:stretch>
        </p:blipFill>
        <p:spPr>
          <a:xfrm>
            <a:off x="4639551" y="2061119"/>
            <a:ext cx="190495" cy="190495"/>
          </a:xfrm>
          <a:prstGeom prst="rect">
            <a:avLst/>
          </a:prstGeom>
        </p:spPr>
      </p:pic>
      <p:sp>
        <p:nvSpPr>
          <p:cNvPr id="14" name="Text 10"/>
          <p:cNvSpPr txBox="1"/>
          <p:nvPr/>
        </p:nvSpPr>
        <p:spPr>
          <a:xfrm>
            <a:off x="5001492" y="2034430"/>
            <a:ext cx="704634" cy="243834"/>
          </a:xfrm>
          <a:prstGeom prst="rect">
            <a:avLst/>
          </a:prstGeom>
          <a:noFill/>
          <a:ln/>
        </p:spPr>
        <p:txBody>
          <a:bodyPr wrap="square" lIns="0" tIns="0" rIns="0" bIns="0" rtlCol="0" anchor="t"/>
          <a:lstStyle/>
          <a:p>
            <a:pPr algn="l" indent="0" marL="0">
              <a:lnSpc>
                <a:spcPct val="100000"/>
              </a:lnSpc>
              <a:buNone/>
            </a:pPr>
            <a:r>
              <a:rPr lang="en-US" sz="1600" b="1" dirty="0">
                <a:solidFill>
                  <a:srgbClr val="1F3A70"/>
                </a:solidFill>
                <a:latin typeface="Calibri" pitchFamily="34" charset="0"/>
                <a:ea typeface="Calibri" pitchFamily="34" charset="-122"/>
                <a:cs typeface="Calibri" pitchFamily="34" charset="-120"/>
              </a:rPr>
              <a:t>Access</a:t>
            </a:r>
            <a:endParaRPr lang="en-US" sz="1600" dirty="0"/>
          </a:p>
        </p:txBody>
      </p:sp>
      <p:sp>
        <p:nvSpPr>
          <p:cNvPr id="15" name="Text 11"/>
          <p:cNvSpPr txBox="1"/>
          <p:nvPr/>
        </p:nvSpPr>
        <p:spPr>
          <a:xfrm>
            <a:off x="4557003" y="2410360"/>
            <a:ext cx="3446900"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Strict firewall closes path tricks; ownership checks answer 404</a:t>
            </a:r>
            <a:endParaRPr lang="en-US" sz="1200" dirty="0"/>
          </a:p>
        </p:txBody>
      </p:sp>
      <p:sp>
        <p:nvSpPr>
          <p:cNvPr id="16" name="Shape 12"/>
          <p:cNvSpPr/>
          <p:nvPr/>
        </p:nvSpPr>
        <p:spPr>
          <a:xfrm>
            <a:off x="7958435" y="1775376"/>
            <a:ext cx="3420481" cy="1233060"/>
          </a:xfrm>
          <a:prstGeom prst="roundRect">
            <a:avLst>
              <a:gd name="adj" fmla="val 8239"/>
            </a:avLst>
          </a:prstGeom>
          <a:solidFill>
            <a:srgbClr val="FCFDFF"/>
          </a:solidFill>
          <a:ln w="6350">
            <a:solidFill>
              <a:srgbClr val="D5DEEC"/>
            </a:solidFill>
            <a:prstDash val="solid"/>
          </a:ln>
        </p:spPr>
      </p:sp>
      <p:sp>
        <p:nvSpPr>
          <p:cNvPr id="17" name="Shape 13"/>
          <p:cNvSpPr/>
          <p:nvPr/>
        </p:nvSpPr>
        <p:spPr>
          <a:xfrm>
            <a:off x="7958435" y="1775376"/>
            <a:ext cx="3420481" cy="38099"/>
          </a:xfrm>
          <a:prstGeom prst="roundRect">
            <a:avLst>
              <a:gd name="adj" fmla="val 50000"/>
            </a:avLst>
          </a:prstGeom>
          <a:solidFill>
            <a:srgbClr val="B4530F"/>
          </a:solidFill>
          <a:ln/>
        </p:spPr>
      </p:sp>
      <p:sp>
        <p:nvSpPr>
          <p:cNvPr id="18" name="Shape 14"/>
          <p:cNvSpPr/>
          <p:nvPr/>
        </p:nvSpPr>
        <p:spPr>
          <a:xfrm>
            <a:off x="8129880" y="1978571"/>
            <a:ext cx="355591" cy="355591"/>
          </a:xfrm>
          <a:prstGeom prst="ellipse">
            <a:avLst/>
          </a:prstGeom>
          <a:solidFill>
            <a:srgbClr val="FCEBDD"/>
          </a:solidFill>
          <a:ln/>
        </p:spPr>
      </p:sp>
      <p:pic>
        <p:nvPicPr>
          <p:cNvPr id="19" name="Image 2" descr="preencoded.png">    </p:cNvPr>
          <p:cNvPicPr>
            <a:picLocks noChangeAspect="1"/>
          </p:cNvPicPr>
          <p:nvPr/>
        </p:nvPicPr>
        <p:blipFill>
          <a:blip r:embed="rId3"/>
          <a:stretch>
            <a:fillRect/>
          </a:stretch>
        </p:blipFill>
        <p:spPr>
          <a:xfrm>
            <a:off x="8212428" y="2061119"/>
            <a:ext cx="190495" cy="190495"/>
          </a:xfrm>
          <a:prstGeom prst="rect">
            <a:avLst/>
          </a:prstGeom>
        </p:spPr>
      </p:pic>
      <p:sp>
        <p:nvSpPr>
          <p:cNvPr id="20" name="Text 15"/>
          <p:cNvSpPr txBox="1"/>
          <p:nvPr/>
        </p:nvSpPr>
        <p:spPr>
          <a:xfrm>
            <a:off x="8574369" y="2034430"/>
            <a:ext cx="1014546" cy="243834"/>
          </a:xfrm>
          <a:prstGeom prst="rect">
            <a:avLst/>
          </a:prstGeom>
          <a:noFill/>
          <a:ln/>
        </p:spPr>
        <p:txBody>
          <a:bodyPr wrap="square" lIns="0" tIns="0" rIns="0" bIns="0" rtlCol="0" anchor="t"/>
          <a:lstStyle/>
          <a:p>
            <a:pPr algn="l" indent="0" marL="0">
              <a:lnSpc>
                <a:spcPct val="100000"/>
              </a:lnSpc>
              <a:buNone/>
            </a:pPr>
            <a:r>
              <a:rPr lang="en-US" sz="1600" b="1" dirty="0">
                <a:solidFill>
                  <a:srgbClr val="1F3A70"/>
                </a:solidFill>
                <a:latin typeface="Calibri" pitchFamily="34" charset="0"/>
                <a:ea typeface="Calibri" pitchFamily="34" charset="-122"/>
                <a:cs typeface="Calibri" pitchFamily="34" charset="-120"/>
              </a:rPr>
              <a:t>Payments</a:t>
            </a:r>
            <a:endParaRPr lang="en-US" sz="1600" dirty="0"/>
          </a:p>
        </p:txBody>
      </p:sp>
      <p:sp>
        <p:nvSpPr>
          <p:cNvPr id="21" name="Text 16"/>
          <p:cNvSpPr txBox="1"/>
          <p:nvPr/>
        </p:nvSpPr>
        <p:spPr>
          <a:xfrm>
            <a:off x="8129880" y="2410360"/>
            <a:ext cx="3446900"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Razorpay HMAC plus read-back, signed webhook, server-side amounts</a:t>
            </a:r>
            <a:endParaRPr lang="en-US" sz="1200" dirty="0"/>
          </a:p>
        </p:txBody>
      </p:sp>
      <p:sp>
        <p:nvSpPr>
          <p:cNvPr id="22" name="Shape 17"/>
          <p:cNvSpPr/>
          <p:nvPr/>
        </p:nvSpPr>
        <p:spPr>
          <a:xfrm>
            <a:off x="812780" y="3160832"/>
            <a:ext cx="3420382" cy="1233060"/>
          </a:xfrm>
          <a:prstGeom prst="roundRect">
            <a:avLst>
              <a:gd name="adj" fmla="val 8239"/>
            </a:avLst>
          </a:prstGeom>
          <a:solidFill>
            <a:srgbClr val="FCFDFF"/>
          </a:solidFill>
          <a:ln w="6350">
            <a:solidFill>
              <a:srgbClr val="D5DEEC"/>
            </a:solidFill>
            <a:prstDash val="solid"/>
          </a:ln>
        </p:spPr>
      </p:sp>
      <p:sp>
        <p:nvSpPr>
          <p:cNvPr id="23" name="Shape 18"/>
          <p:cNvSpPr/>
          <p:nvPr/>
        </p:nvSpPr>
        <p:spPr>
          <a:xfrm>
            <a:off x="812780" y="3160832"/>
            <a:ext cx="3420382" cy="38099"/>
          </a:xfrm>
          <a:prstGeom prst="roundRect">
            <a:avLst>
              <a:gd name="adj" fmla="val 50000"/>
            </a:avLst>
          </a:prstGeom>
          <a:solidFill>
            <a:srgbClr val="6A3FC0"/>
          </a:solidFill>
          <a:ln/>
        </p:spPr>
      </p:sp>
      <p:sp>
        <p:nvSpPr>
          <p:cNvPr id="24" name="Shape 19"/>
          <p:cNvSpPr/>
          <p:nvPr/>
        </p:nvSpPr>
        <p:spPr>
          <a:xfrm>
            <a:off x="984225" y="3364027"/>
            <a:ext cx="355591" cy="355591"/>
          </a:xfrm>
          <a:prstGeom prst="ellipse">
            <a:avLst/>
          </a:prstGeom>
          <a:solidFill>
            <a:srgbClr val="ECE5FA"/>
          </a:solidFill>
          <a:ln/>
        </p:spPr>
      </p:sp>
      <p:pic>
        <p:nvPicPr>
          <p:cNvPr id="25" name="Image 3" descr="preencoded.png">    </p:cNvPr>
          <p:cNvPicPr>
            <a:picLocks noChangeAspect="1"/>
          </p:cNvPicPr>
          <p:nvPr/>
        </p:nvPicPr>
        <p:blipFill>
          <a:blip r:embed="rId4"/>
          <a:stretch>
            <a:fillRect/>
          </a:stretch>
        </p:blipFill>
        <p:spPr>
          <a:xfrm>
            <a:off x="1066773" y="3446575"/>
            <a:ext cx="190495" cy="190495"/>
          </a:xfrm>
          <a:prstGeom prst="rect">
            <a:avLst/>
          </a:prstGeom>
        </p:spPr>
      </p:pic>
      <p:sp>
        <p:nvSpPr>
          <p:cNvPr id="26" name="Text 20"/>
          <p:cNvSpPr txBox="1"/>
          <p:nvPr/>
        </p:nvSpPr>
        <p:spPr>
          <a:xfrm>
            <a:off x="1428714" y="3419886"/>
            <a:ext cx="1333689" cy="243834"/>
          </a:xfrm>
          <a:prstGeom prst="rect">
            <a:avLst/>
          </a:prstGeom>
          <a:noFill/>
          <a:ln/>
        </p:spPr>
        <p:txBody>
          <a:bodyPr wrap="square" lIns="0" tIns="0" rIns="0" bIns="0" rtlCol="0" anchor="t"/>
          <a:lstStyle/>
          <a:p>
            <a:pPr algn="l" indent="0" marL="0">
              <a:lnSpc>
                <a:spcPct val="100000"/>
              </a:lnSpc>
              <a:buNone/>
            </a:pPr>
            <a:r>
              <a:rPr lang="en-US" sz="1600" b="1" dirty="0">
                <a:solidFill>
                  <a:srgbClr val="1F3A70"/>
                </a:solidFill>
                <a:latin typeface="Calibri" pitchFamily="34" charset="0"/>
                <a:ea typeface="Calibri" pitchFamily="34" charset="-122"/>
                <a:cs typeface="Calibri" pitchFamily="34" charset="-120"/>
              </a:rPr>
              <a:t>Internal APIs</a:t>
            </a:r>
            <a:endParaRPr lang="en-US" sz="1600" dirty="0"/>
          </a:p>
        </p:txBody>
      </p:sp>
      <p:sp>
        <p:nvSpPr>
          <p:cNvPr id="27" name="Text 21"/>
          <p:cNvSpPr txBox="1"/>
          <p:nvPr/>
        </p:nvSpPr>
        <p:spPr>
          <a:xfrm>
            <a:off x="984225" y="3795816"/>
            <a:ext cx="3446789"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Constant-time key check that fails closed; never routed at the edge</a:t>
            </a:r>
            <a:endParaRPr lang="en-US" sz="1200" dirty="0"/>
          </a:p>
        </p:txBody>
      </p:sp>
      <p:sp>
        <p:nvSpPr>
          <p:cNvPr id="28" name="Shape 22"/>
          <p:cNvSpPr/>
          <p:nvPr/>
        </p:nvSpPr>
        <p:spPr>
          <a:xfrm>
            <a:off x="4385558" y="3160832"/>
            <a:ext cx="3420481" cy="1233060"/>
          </a:xfrm>
          <a:prstGeom prst="roundRect">
            <a:avLst>
              <a:gd name="adj" fmla="val 8239"/>
            </a:avLst>
          </a:prstGeom>
          <a:solidFill>
            <a:srgbClr val="FCFDFF"/>
          </a:solidFill>
          <a:ln w="6350">
            <a:solidFill>
              <a:srgbClr val="D5DEEC"/>
            </a:solidFill>
            <a:prstDash val="solid"/>
          </a:ln>
        </p:spPr>
      </p:sp>
      <p:sp>
        <p:nvSpPr>
          <p:cNvPr id="29" name="Shape 23"/>
          <p:cNvSpPr/>
          <p:nvPr/>
        </p:nvSpPr>
        <p:spPr>
          <a:xfrm>
            <a:off x="4385558" y="3160832"/>
            <a:ext cx="3420481" cy="38099"/>
          </a:xfrm>
          <a:prstGeom prst="roundRect">
            <a:avLst>
              <a:gd name="adj" fmla="val 50000"/>
            </a:avLst>
          </a:prstGeom>
          <a:solidFill>
            <a:srgbClr val="2F5C9A"/>
          </a:solidFill>
          <a:ln/>
        </p:spPr>
      </p:sp>
      <p:sp>
        <p:nvSpPr>
          <p:cNvPr id="30" name="Shape 24"/>
          <p:cNvSpPr/>
          <p:nvPr/>
        </p:nvSpPr>
        <p:spPr>
          <a:xfrm>
            <a:off x="4557003" y="3364027"/>
            <a:ext cx="355591" cy="355591"/>
          </a:xfrm>
          <a:prstGeom prst="ellipse">
            <a:avLst/>
          </a:prstGeom>
          <a:solidFill>
            <a:srgbClr val="E2EAF6"/>
          </a:solidFill>
          <a:ln/>
        </p:spPr>
      </p:sp>
      <p:pic>
        <p:nvPicPr>
          <p:cNvPr id="31" name="Image 4" descr="preencoded.png">    </p:cNvPr>
          <p:cNvPicPr>
            <a:picLocks noChangeAspect="1"/>
          </p:cNvPicPr>
          <p:nvPr/>
        </p:nvPicPr>
        <p:blipFill>
          <a:blip r:embed="rId5"/>
          <a:stretch>
            <a:fillRect/>
          </a:stretch>
        </p:blipFill>
        <p:spPr>
          <a:xfrm>
            <a:off x="4639551" y="3446575"/>
            <a:ext cx="190495" cy="190495"/>
          </a:xfrm>
          <a:prstGeom prst="rect">
            <a:avLst/>
          </a:prstGeom>
        </p:spPr>
      </p:pic>
      <p:sp>
        <p:nvSpPr>
          <p:cNvPr id="32" name="Text 25"/>
          <p:cNvSpPr txBox="1"/>
          <p:nvPr/>
        </p:nvSpPr>
        <p:spPr>
          <a:xfrm>
            <a:off x="5001492" y="3419886"/>
            <a:ext cx="1243791" cy="243834"/>
          </a:xfrm>
          <a:prstGeom prst="rect">
            <a:avLst/>
          </a:prstGeom>
          <a:noFill/>
          <a:ln/>
        </p:spPr>
        <p:txBody>
          <a:bodyPr wrap="square" lIns="0" tIns="0" rIns="0" bIns="0" rtlCol="0" anchor="t"/>
          <a:lstStyle/>
          <a:p>
            <a:pPr algn="l" indent="0" marL="0">
              <a:lnSpc>
                <a:spcPct val="100000"/>
              </a:lnSpc>
              <a:buNone/>
            </a:pPr>
            <a:r>
              <a:rPr lang="en-US" sz="1600" b="1" dirty="0">
                <a:solidFill>
                  <a:srgbClr val="1F3A70"/>
                </a:solidFill>
                <a:latin typeface="Calibri" pitchFamily="34" charset="0"/>
                <a:ea typeface="Calibri" pitchFamily="34" charset="-122"/>
                <a:cs typeface="Calibri" pitchFamily="34" charset="-120"/>
              </a:rPr>
              <a:t>Data at rest</a:t>
            </a:r>
            <a:endParaRPr lang="en-US" sz="1600" dirty="0"/>
          </a:p>
        </p:txBody>
      </p:sp>
      <p:sp>
        <p:nvSpPr>
          <p:cNvPr id="33" name="Text 26"/>
          <p:cNvSpPr txBox="1"/>
          <p:nvPr/>
        </p:nvSpPr>
        <p:spPr>
          <a:xfrm>
            <a:off x="4557003" y="3795816"/>
            <a:ext cx="3446900"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Private KMS-encrypted RDS, TLS Redis and MSK, locked-down S3</a:t>
            </a:r>
            <a:endParaRPr lang="en-US" sz="1200" dirty="0"/>
          </a:p>
        </p:txBody>
      </p:sp>
      <p:sp>
        <p:nvSpPr>
          <p:cNvPr id="34" name="Shape 27"/>
          <p:cNvSpPr/>
          <p:nvPr/>
        </p:nvSpPr>
        <p:spPr>
          <a:xfrm>
            <a:off x="7958435" y="3160832"/>
            <a:ext cx="3420481" cy="1233060"/>
          </a:xfrm>
          <a:prstGeom prst="roundRect">
            <a:avLst>
              <a:gd name="adj" fmla="val 8239"/>
            </a:avLst>
          </a:prstGeom>
          <a:solidFill>
            <a:srgbClr val="FCFDFF"/>
          </a:solidFill>
          <a:ln w="6350">
            <a:solidFill>
              <a:srgbClr val="D5DEEC"/>
            </a:solidFill>
            <a:prstDash val="solid"/>
          </a:ln>
        </p:spPr>
      </p:sp>
      <p:sp>
        <p:nvSpPr>
          <p:cNvPr id="35" name="Shape 28"/>
          <p:cNvSpPr/>
          <p:nvPr/>
        </p:nvSpPr>
        <p:spPr>
          <a:xfrm>
            <a:off x="7958435" y="3160832"/>
            <a:ext cx="3420481" cy="38099"/>
          </a:xfrm>
          <a:prstGeom prst="roundRect">
            <a:avLst>
              <a:gd name="adj" fmla="val 50000"/>
            </a:avLst>
          </a:prstGeom>
          <a:solidFill>
            <a:srgbClr val="2E7D4F"/>
          </a:solidFill>
          <a:ln/>
        </p:spPr>
      </p:sp>
      <p:sp>
        <p:nvSpPr>
          <p:cNvPr id="36" name="Shape 29"/>
          <p:cNvSpPr/>
          <p:nvPr/>
        </p:nvSpPr>
        <p:spPr>
          <a:xfrm>
            <a:off x="8129880" y="3364027"/>
            <a:ext cx="355591" cy="355591"/>
          </a:xfrm>
          <a:prstGeom prst="ellipse">
            <a:avLst/>
          </a:prstGeom>
          <a:solidFill>
            <a:srgbClr val="E0F2E8"/>
          </a:solidFill>
          <a:ln/>
        </p:spPr>
      </p:sp>
      <p:pic>
        <p:nvPicPr>
          <p:cNvPr id="37" name="Image 5" descr="preencoded.png">    </p:cNvPr>
          <p:cNvPicPr>
            <a:picLocks noChangeAspect="1"/>
          </p:cNvPicPr>
          <p:nvPr/>
        </p:nvPicPr>
        <p:blipFill>
          <a:blip r:embed="rId6"/>
          <a:stretch>
            <a:fillRect/>
          </a:stretch>
        </p:blipFill>
        <p:spPr>
          <a:xfrm>
            <a:off x="8212428" y="3446575"/>
            <a:ext cx="190495" cy="190495"/>
          </a:xfrm>
          <a:prstGeom prst="rect">
            <a:avLst/>
          </a:prstGeom>
        </p:spPr>
      </p:pic>
      <p:sp>
        <p:nvSpPr>
          <p:cNvPr id="38" name="Text 30"/>
          <p:cNvSpPr txBox="1"/>
          <p:nvPr/>
        </p:nvSpPr>
        <p:spPr>
          <a:xfrm>
            <a:off x="8574369" y="3419886"/>
            <a:ext cx="881533" cy="243834"/>
          </a:xfrm>
          <a:prstGeom prst="rect">
            <a:avLst/>
          </a:prstGeom>
          <a:noFill/>
          <a:ln/>
        </p:spPr>
        <p:txBody>
          <a:bodyPr wrap="square" lIns="0" tIns="0" rIns="0" bIns="0" rtlCol="0" anchor="t"/>
          <a:lstStyle/>
          <a:p>
            <a:pPr algn="l" indent="0" marL="0">
              <a:lnSpc>
                <a:spcPct val="100000"/>
              </a:lnSpc>
              <a:buNone/>
            </a:pPr>
            <a:r>
              <a:rPr lang="en-US" sz="1600" b="1" dirty="0">
                <a:solidFill>
                  <a:srgbClr val="1F3A70"/>
                </a:solidFill>
                <a:latin typeface="Calibri" pitchFamily="34" charset="0"/>
                <a:ea typeface="Calibri" pitchFamily="34" charset="-122"/>
                <a:cs typeface="Calibri" pitchFamily="34" charset="-120"/>
              </a:rPr>
              <a:t>Delivery</a:t>
            </a:r>
            <a:endParaRPr lang="en-US" sz="1600" dirty="0"/>
          </a:p>
        </p:txBody>
      </p:sp>
      <p:sp>
        <p:nvSpPr>
          <p:cNvPr id="39" name="Text 31"/>
          <p:cNvSpPr txBox="1"/>
          <p:nvPr/>
        </p:nvSpPr>
        <p:spPr>
          <a:xfrm>
            <a:off x="8129880" y="3795816"/>
            <a:ext cx="3446900" cy="426630"/>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Non-root read-only pods, Trivy gate, OIDC to AWS, no secret defaults</a:t>
            </a:r>
            <a:endParaRPr lang="en-US" sz="1200" dirty="0"/>
          </a:p>
        </p:txBody>
      </p:sp>
      <p:sp>
        <p:nvSpPr>
          <p:cNvPr id="40" name="Text 32"/>
          <p:cNvSpPr txBox="1"/>
          <p:nvPr/>
        </p:nvSpPr>
        <p:spPr>
          <a:xfrm>
            <a:off x="812780" y="4647885"/>
            <a:ext cx="11834072"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Fixed since the last review: payment callback binding, location ownership, self-registration as ADMIN.</a:t>
            </a:r>
            <a:endParaRPr lang="en-US" sz="1200" dirty="0"/>
          </a:p>
        </p:txBody>
      </p:sp>
      <p:sp>
        <p:nvSpPr>
          <p:cNvPr id="41" name="Text 33"/>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Security</a:t>
            </a:r>
            <a:endParaRPr lang="en-US" sz="1200" dirty="0"/>
          </a:p>
        </p:txBody>
      </p:sp>
      <p:sp>
        <p:nvSpPr>
          <p:cNvPr id="42" name="Text 34"/>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27</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SECURITY FINDINGS · IDENTITY AND ACCESS</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One Critical and four High findings sit in identity</a:t>
            </a:r>
            <a:endParaRPr lang="en-US" sz="3000" dirty="0"/>
          </a:p>
        </p:txBody>
      </p:sp>
      <p:sp>
        <p:nvSpPr>
          <p:cNvPr id="4" name="Shape 2"/>
          <p:cNvSpPr/>
          <p:nvPr/>
        </p:nvSpPr>
        <p:spPr>
          <a:xfrm>
            <a:off x="812780" y="1775376"/>
            <a:ext cx="10566136" cy="287529"/>
          </a:xfrm>
          <a:prstGeom prst="rect">
            <a:avLst/>
          </a:prstGeom>
          <a:solidFill>
            <a:srgbClr val="2454C5"/>
          </a:solidFill>
          <a:ln/>
        </p:spPr>
      </p:sp>
      <p:sp>
        <p:nvSpPr>
          <p:cNvPr id="5" name="Shape 3"/>
          <p:cNvSpPr/>
          <p:nvPr/>
        </p:nvSpPr>
        <p:spPr>
          <a:xfrm>
            <a:off x="812780" y="2059730"/>
            <a:ext cx="1267885" cy="63"/>
          </a:xfrm>
          <a:prstGeom prst="line">
            <a:avLst/>
          </a:prstGeom>
          <a:noFill/>
          <a:ln w="6350">
            <a:solidFill>
              <a:srgbClr val="D5DEEC"/>
            </a:solidFill>
            <a:prstDash val="solid"/>
          </a:ln>
        </p:spPr>
      </p:sp>
      <p:sp>
        <p:nvSpPr>
          <p:cNvPr id="6" name="Text 4"/>
          <p:cNvSpPr txBox="1"/>
          <p:nvPr/>
        </p:nvSpPr>
        <p:spPr>
          <a:xfrm>
            <a:off x="904217" y="1828715"/>
            <a:ext cx="1215210"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Severity</a:t>
            </a:r>
            <a:endParaRPr lang="en-US" sz="1200" dirty="0"/>
          </a:p>
        </p:txBody>
      </p:sp>
      <p:sp>
        <p:nvSpPr>
          <p:cNvPr id="7" name="Shape 5"/>
          <p:cNvSpPr/>
          <p:nvPr/>
        </p:nvSpPr>
        <p:spPr>
          <a:xfrm>
            <a:off x="2080664" y="2059730"/>
            <a:ext cx="5494399" cy="63"/>
          </a:xfrm>
          <a:prstGeom prst="line">
            <a:avLst/>
          </a:prstGeom>
          <a:noFill/>
          <a:ln w="6350">
            <a:solidFill>
              <a:srgbClr val="D5DEEC"/>
            </a:solidFill>
            <a:prstDash val="solid"/>
          </a:ln>
        </p:spPr>
      </p:sp>
      <p:sp>
        <p:nvSpPr>
          <p:cNvPr id="8" name="Text 6"/>
          <p:cNvSpPr txBox="1"/>
          <p:nvPr/>
        </p:nvSpPr>
        <p:spPr>
          <a:xfrm>
            <a:off x="2172102" y="1828715"/>
            <a:ext cx="5948906"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Finding</a:t>
            </a:r>
            <a:endParaRPr lang="en-US" sz="1200" dirty="0"/>
          </a:p>
        </p:txBody>
      </p:sp>
      <p:sp>
        <p:nvSpPr>
          <p:cNvPr id="9" name="Shape 7"/>
          <p:cNvSpPr/>
          <p:nvPr/>
        </p:nvSpPr>
        <p:spPr>
          <a:xfrm>
            <a:off x="7575063" y="2059730"/>
            <a:ext cx="3803853" cy="63"/>
          </a:xfrm>
          <a:prstGeom prst="line">
            <a:avLst/>
          </a:prstGeom>
          <a:noFill/>
          <a:ln w="6350">
            <a:solidFill>
              <a:srgbClr val="D5DEEC"/>
            </a:solidFill>
            <a:prstDash val="solid"/>
          </a:ln>
        </p:spPr>
      </p:sp>
      <p:sp>
        <p:nvSpPr>
          <p:cNvPr id="10" name="Text 8"/>
          <p:cNvSpPr txBox="1"/>
          <p:nvPr/>
        </p:nvSpPr>
        <p:spPr>
          <a:xfrm>
            <a:off x="7666501" y="1828715"/>
            <a:ext cx="4055494"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Fix</a:t>
            </a:r>
            <a:endParaRPr lang="en-US" sz="1200" dirty="0"/>
          </a:p>
        </p:txBody>
      </p:sp>
      <p:sp>
        <p:nvSpPr>
          <p:cNvPr id="11" name="Shape 9"/>
          <p:cNvSpPr/>
          <p:nvPr/>
        </p:nvSpPr>
        <p:spPr>
          <a:xfrm>
            <a:off x="812780" y="2350433"/>
            <a:ext cx="1267885" cy="63"/>
          </a:xfrm>
          <a:prstGeom prst="line">
            <a:avLst/>
          </a:prstGeom>
          <a:noFill/>
          <a:ln w="6350">
            <a:solidFill>
              <a:srgbClr val="D5DEEC"/>
            </a:solidFill>
            <a:prstDash val="solid"/>
          </a:ln>
        </p:spPr>
      </p:sp>
      <p:sp>
        <p:nvSpPr>
          <p:cNvPr id="12" name="Text 10"/>
          <p:cNvSpPr txBox="1"/>
          <p:nvPr/>
        </p:nvSpPr>
        <p:spPr>
          <a:xfrm>
            <a:off x="904217" y="2116243"/>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C0352B"/>
                </a:solidFill>
                <a:latin typeface="Calibri" pitchFamily="34" charset="0"/>
                <a:ea typeface="Calibri" pitchFamily="34" charset="-122"/>
                <a:cs typeface="Calibri" pitchFamily="34" charset="-120"/>
              </a:rPr>
              <a:t>Critical</a:t>
            </a:r>
            <a:endParaRPr lang="en-US" sz="1200" dirty="0"/>
          </a:p>
        </p:txBody>
      </p:sp>
      <p:sp>
        <p:nvSpPr>
          <p:cNvPr id="13" name="Shape 11"/>
          <p:cNvSpPr/>
          <p:nvPr/>
        </p:nvSpPr>
        <p:spPr>
          <a:xfrm>
            <a:off x="2080664" y="2350433"/>
            <a:ext cx="5494399" cy="63"/>
          </a:xfrm>
          <a:prstGeom prst="line">
            <a:avLst/>
          </a:prstGeom>
          <a:noFill/>
          <a:ln w="6350">
            <a:solidFill>
              <a:srgbClr val="D5DEEC"/>
            </a:solidFill>
            <a:prstDash val="solid"/>
          </a:ln>
        </p:spPr>
      </p:sp>
      <p:sp>
        <p:nvSpPr>
          <p:cNvPr id="14" name="Text 12"/>
          <p:cNvSpPr txBox="1"/>
          <p:nvPr/>
        </p:nvSpPr>
        <p:spPr>
          <a:xfrm>
            <a:off x="2172102" y="2116243"/>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JWT secret from the leaked commit is still the default</a:t>
            </a:r>
            <a:endParaRPr lang="en-US" sz="1200" dirty="0"/>
          </a:p>
        </p:txBody>
      </p:sp>
      <p:sp>
        <p:nvSpPr>
          <p:cNvPr id="15" name="Shape 13"/>
          <p:cNvSpPr/>
          <p:nvPr/>
        </p:nvSpPr>
        <p:spPr>
          <a:xfrm>
            <a:off x="7575063" y="2350433"/>
            <a:ext cx="3803853" cy="63"/>
          </a:xfrm>
          <a:prstGeom prst="line">
            <a:avLst/>
          </a:prstGeom>
          <a:noFill/>
          <a:ln w="6350">
            <a:solidFill>
              <a:srgbClr val="D5DEEC"/>
            </a:solidFill>
            <a:prstDash val="solid"/>
          </a:ln>
        </p:spPr>
      </p:sp>
      <p:sp>
        <p:nvSpPr>
          <p:cNvPr id="16" name="Text 14"/>
          <p:cNvSpPr txBox="1"/>
          <p:nvPr/>
        </p:nvSpPr>
        <p:spPr>
          <a:xfrm>
            <a:off x="7666501" y="2116243"/>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Rotate per env; refuse dev values</a:t>
            </a:r>
            <a:endParaRPr lang="en-US" sz="1200" dirty="0"/>
          </a:p>
        </p:txBody>
      </p:sp>
      <p:sp>
        <p:nvSpPr>
          <p:cNvPr id="17" name="Shape 15"/>
          <p:cNvSpPr/>
          <p:nvPr/>
        </p:nvSpPr>
        <p:spPr>
          <a:xfrm>
            <a:off x="812780" y="2353608"/>
            <a:ext cx="10566136" cy="290704"/>
          </a:xfrm>
          <a:prstGeom prst="rect">
            <a:avLst/>
          </a:prstGeom>
          <a:solidFill>
            <a:srgbClr val="EEF2F9"/>
          </a:solidFill>
          <a:ln/>
        </p:spPr>
      </p:sp>
      <p:sp>
        <p:nvSpPr>
          <p:cNvPr id="18" name="Shape 16"/>
          <p:cNvSpPr/>
          <p:nvPr/>
        </p:nvSpPr>
        <p:spPr>
          <a:xfrm>
            <a:off x="812780" y="2641137"/>
            <a:ext cx="1267885" cy="63"/>
          </a:xfrm>
          <a:prstGeom prst="line">
            <a:avLst/>
          </a:prstGeom>
          <a:noFill/>
          <a:ln w="6350">
            <a:solidFill>
              <a:srgbClr val="D5DEEC"/>
            </a:solidFill>
            <a:prstDash val="solid"/>
          </a:ln>
        </p:spPr>
      </p:sp>
      <p:sp>
        <p:nvSpPr>
          <p:cNvPr id="19" name="Text 17"/>
          <p:cNvSpPr txBox="1"/>
          <p:nvPr/>
        </p:nvSpPr>
        <p:spPr>
          <a:xfrm>
            <a:off x="904217" y="2406947"/>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B4530F"/>
                </a:solidFill>
                <a:latin typeface="Calibri" pitchFamily="34" charset="0"/>
                <a:ea typeface="Calibri" pitchFamily="34" charset="-122"/>
                <a:cs typeface="Calibri" pitchFamily="34" charset="-120"/>
              </a:rPr>
              <a:t>High</a:t>
            </a:r>
            <a:endParaRPr lang="en-US" sz="1200" dirty="0"/>
          </a:p>
        </p:txBody>
      </p:sp>
      <p:sp>
        <p:nvSpPr>
          <p:cNvPr id="20" name="Shape 18"/>
          <p:cNvSpPr/>
          <p:nvPr/>
        </p:nvSpPr>
        <p:spPr>
          <a:xfrm>
            <a:off x="2080664" y="2641137"/>
            <a:ext cx="5494399" cy="63"/>
          </a:xfrm>
          <a:prstGeom prst="line">
            <a:avLst/>
          </a:prstGeom>
          <a:noFill/>
          <a:ln w="6350">
            <a:solidFill>
              <a:srgbClr val="D5DEEC"/>
            </a:solidFill>
            <a:prstDash val="solid"/>
          </a:ln>
        </p:spPr>
      </p:sp>
      <p:sp>
        <p:nvSpPr>
          <p:cNvPr id="21" name="Text 19"/>
          <p:cNvSpPr txBox="1"/>
          <p:nvPr/>
        </p:nvSpPr>
        <p:spPr>
          <a:xfrm>
            <a:off x="2172102" y="2406947"/>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One HMAC signing key is shared by all services</a:t>
            </a:r>
            <a:endParaRPr lang="en-US" sz="1200" dirty="0"/>
          </a:p>
        </p:txBody>
      </p:sp>
      <p:sp>
        <p:nvSpPr>
          <p:cNvPr id="22" name="Shape 20"/>
          <p:cNvSpPr/>
          <p:nvPr/>
        </p:nvSpPr>
        <p:spPr>
          <a:xfrm>
            <a:off x="7575063" y="2641137"/>
            <a:ext cx="3803853" cy="63"/>
          </a:xfrm>
          <a:prstGeom prst="line">
            <a:avLst/>
          </a:prstGeom>
          <a:noFill/>
          <a:ln w="6350">
            <a:solidFill>
              <a:srgbClr val="D5DEEC"/>
            </a:solidFill>
            <a:prstDash val="solid"/>
          </a:ln>
        </p:spPr>
      </p:sp>
      <p:sp>
        <p:nvSpPr>
          <p:cNvPr id="23" name="Text 21"/>
          <p:cNvSpPr txBox="1"/>
          <p:nvPr/>
        </p:nvSpPr>
        <p:spPr>
          <a:xfrm>
            <a:off x="7666501" y="2406947"/>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RS256 + JWKS; verify iss and aud</a:t>
            </a:r>
            <a:endParaRPr lang="en-US" sz="1200" dirty="0"/>
          </a:p>
        </p:txBody>
      </p:sp>
      <p:sp>
        <p:nvSpPr>
          <p:cNvPr id="24" name="Shape 22"/>
          <p:cNvSpPr/>
          <p:nvPr/>
        </p:nvSpPr>
        <p:spPr>
          <a:xfrm>
            <a:off x="812780" y="2931841"/>
            <a:ext cx="1267885" cy="63"/>
          </a:xfrm>
          <a:prstGeom prst="line">
            <a:avLst/>
          </a:prstGeom>
          <a:noFill/>
          <a:ln w="6350">
            <a:solidFill>
              <a:srgbClr val="D5DEEC"/>
            </a:solidFill>
            <a:prstDash val="solid"/>
          </a:ln>
        </p:spPr>
      </p:sp>
      <p:sp>
        <p:nvSpPr>
          <p:cNvPr id="25" name="Text 23"/>
          <p:cNvSpPr txBox="1"/>
          <p:nvPr/>
        </p:nvSpPr>
        <p:spPr>
          <a:xfrm>
            <a:off x="904217" y="2697651"/>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B4530F"/>
                </a:solidFill>
                <a:latin typeface="Calibri" pitchFamily="34" charset="0"/>
                <a:ea typeface="Calibri" pitchFamily="34" charset="-122"/>
                <a:cs typeface="Calibri" pitchFamily="34" charset="-120"/>
              </a:rPr>
              <a:t>High</a:t>
            </a:r>
            <a:endParaRPr lang="en-US" sz="1200" dirty="0"/>
          </a:p>
        </p:txBody>
      </p:sp>
      <p:sp>
        <p:nvSpPr>
          <p:cNvPr id="26" name="Shape 24"/>
          <p:cNvSpPr/>
          <p:nvPr/>
        </p:nvSpPr>
        <p:spPr>
          <a:xfrm>
            <a:off x="2080664" y="2931841"/>
            <a:ext cx="5494399" cy="63"/>
          </a:xfrm>
          <a:prstGeom prst="line">
            <a:avLst/>
          </a:prstGeom>
          <a:noFill/>
          <a:ln w="6350">
            <a:solidFill>
              <a:srgbClr val="D5DEEC"/>
            </a:solidFill>
            <a:prstDash val="solid"/>
          </a:ln>
        </p:spPr>
      </p:sp>
      <p:sp>
        <p:nvSpPr>
          <p:cNvPr id="27" name="Text 25"/>
          <p:cNvSpPr txBox="1"/>
          <p:nvPr/>
        </p:nvSpPr>
        <p:spPr>
          <a:xfrm>
            <a:off x="2172102" y="2697651"/>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Services skip revocation; ports reachable directly</a:t>
            </a:r>
            <a:endParaRPr lang="en-US" sz="1200" dirty="0"/>
          </a:p>
        </p:txBody>
      </p:sp>
      <p:sp>
        <p:nvSpPr>
          <p:cNvPr id="28" name="Shape 26"/>
          <p:cNvSpPr/>
          <p:nvPr/>
        </p:nvSpPr>
        <p:spPr>
          <a:xfrm>
            <a:off x="7575063" y="2931841"/>
            <a:ext cx="3803853" cy="63"/>
          </a:xfrm>
          <a:prstGeom prst="line">
            <a:avLst/>
          </a:prstGeom>
          <a:noFill/>
          <a:ln w="6350">
            <a:solidFill>
              <a:srgbClr val="D5DEEC"/>
            </a:solidFill>
            <a:prstDash val="solid"/>
          </a:ln>
        </p:spPr>
      </p:sp>
      <p:sp>
        <p:nvSpPr>
          <p:cNvPr id="29" name="Text 27"/>
          <p:cNvSpPr txBox="1"/>
          <p:nvPr/>
        </p:nvSpPr>
        <p:spPr>
          <a:xfrm>
            <a:off x="7666501" y="2697651"/>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Gateway-only network; deny-list</a:t>
            </a:r>
            <a:endParaRPr lang="en-US" sz="1200" dirty="0"/>
          </a:p>
        </p:txBody>
      </p:sp>
      <p:sp>
        <p:nvSpPr>
          <p:cNvPr id="30" name="Shape 28"/>
          <p:cNvSpPr/>
          <p:nvPr/>
        </p:nvSpPr>
        <p:spPr>
          <a:xfrm>
            <a:off x="812780" y="2935016"/>
            <a:ext cx="10566136" cy="290704"/>
          </a:xfrm>
          <a:prstGeom prst="rect">
            <a:avLst/>
          </a:prstGeom>
          <a:solidFill>
            <a:srgbClr val="EEF2F9"/>
          </a:solidFill>
          <a:ln/>
        </p:spPr>
      </p:sp>
      <p:sp>
        <p:nvSpPr>
          <p:cNvPr id="31" name="Shape 29"/>
          <p:cNvSpPr/>
          <p:nvPr/>
        </p:nvSpPr>
        <p:spPr>
          <a:xfrm>
            <a:off x="812780" y="3222544"/>
            <a:ext cx="1267885" cy="63"/>
          </a:xfrm>
          <a:prstGeom prst="line">
            <a:avLst/>
          </a:prstGeom>
          <a:noFill/>
          <a:ln w="6350">
            <a:solidFill>
              <a:srgbClr val="D5DEEC"/>
            </a:solidFill>
            <a:prstDash val="solid"/>
          </a:ln>
        </p:spPr>
      </p:sp>
      <p:sp>
        <p:nvSpPr>
          <p:cNvPr id="32" name="Text 30"/>
          <p:cNvSpPr txBox="1"/>
          <p:nvPr/>
        </p:nvSpPr>
        <p:spPr>
          <a:xfrm>
            <a:off x="904217" y="2988354"/>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B4530F"/>
                </a:solidFill>
                <a:latin typeface="Calibri" pitchFamily="34" charset="0"/>
                <a:ea typeface="Calibri" pitchFamily="34" charset="-122"/>
                <a:cs typeface="Calibri" pitchFamily="34" charset="-120"/>
              </a:rPr>
              <a:t>High</a:t>
            </a:r>
            <a:endParaRPr lang="en-US" sz="1200" dirty="0"/>
          </a:p>
        </p:txBody>
      </p:sp>
      <p:sp>
        <p:nvSpPr>
          <p:cNvPr id="33" name="Shape 31"/>
          <p:cNvSpPr/>
          <p:nvPr/>
        </p:nvSpPr>
        <p:spPr>
          <a:xfrm>
            <a:off x="2080664" y="3222544"/>
            <a:ext cx="5494399" cy="63"/>
          </a:xfrm>
          <a:prstGeom prst="line">
            <a:avLst/>
          </a:prstGeom>
          <a:noFill/>
          <a:ln w="6350">
            <a:solidFill>
              <a:srgbClr val="D5DEEC"/>
            </a:solidFill>
            <a:prstDash val="solid"/>
          </a:ln>
        </p:spPr>
      </p:sp>
      <p:sp>
        <p:nvSpPr>
          <p:cNvPr id="34" name="Text 32"/>
          <p:cNvSpPr txBox="1"/>
          <p:nvPr/>
        </p:nvSpPr>
        <p:spPr>
          <a:xfrm>
            <a:off x="2172102" y="2988354"/>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No per-IP limit on password login or OTP requests</a:t>
            </a:r>
            <a:endParaRPr lang="en-US" sz="1200" dirty="0"/>
          </a:p>
        </p:txBody>
      </p:sp>
      <p:sp>
        <p:nvSpPr>
          <p:cNvPr id="35" name="Shape 33"/>
          <p:cNvSpPr/>
          <p:nvPr/>
        </p:nvSpPr>
        <p:spPr>
          <a:xfrm>
            <a:off x="7575063" y="3222544"/>
            <a:ext cx="3803853" cy="63"/>
          </a:xfrm>
          <a:prstGeom prst="line">
            <a:avLst/>
          </a:prstGeom>
          <a:noFill/>
          <a:ln w="6350">
            <a:solidFill>
              <a:srgbClr val="D5DEEC"/>
            </a:solidFill>
            <a:prstDash val="solid"/>
          </a:ln>
        </p:spPr>
      </p:sp>
      <p:sp>
        <p:nvSpPr>
          <p:cNvPr id="36" name="Text 34"/>
          <p:cNvSpPr txBox="1"/>
          <p:nvPr/>
        </p:nvSpPr>
        <p:spPr>
          <a:xfrm>
            <a:off x="7666501" y="2988354"/>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WAF rate rule on /auth; CAPTCHA</a:t>
            </a:r>
            <a:endParaRPr lang="en-US" sz="1200" dirty="0"/>
          </a:p>
        </p:txBody>
      </p:sp>
      <p:sp>
        <p:nvSpPr>
          <p:cNvPr id="37" name="Shape 35"/>
          <p:cNvSpPr/>
          <p:nvPr/>
        </p:nvSpPr>
        <p:spPr>
          <a:xfrm>
            <a:off x="812780" y="3513248"/>
            <a:ext cx="1267885" cy="63"/>
          </a:xfrm>
          <a:prstGeom prst="line">
            <a:avLst/>
          </a:prstGeom>
          <a:noFill/>
          <a:ln w="6350">
            <a:solidFill>
              <a:srgbClr val="D5DEEC"/>
            </a:solidFill>
            <a:prstDash val="solid"/>
          </a:ln>
        </p:spPr>
      </p:sp>
      <p:sp>
        <p:nvSpPr>
          <p:cNvPr id="38" name="Text 36"/>
          <p:cNvSpPr txBox="1"/>
          <p:nvPr/>
        </p:nvSpPr>
        <p:spPr>
          <a:xfrm>
            <a:off x="904217" y="3279058"/>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B4530F"/>
                </a:solidFill>
                <a:latin typeface="Calibri" pitchFamily="34" charset="0"/>
                <a:ea typeface="Calibri" pitchFamily="34" charset="-122"/>
                <a:cs typeface="Calibri" pitchFamily="34" charset="-120"/>
              </a:rPr>
              <a:t>High</a:t>
            </a:r>
            <a:endParaRPr lang="en-US" sz="1200" dirty="0"/>
          </a:p>
        </p:txBody>
      </p:sp>
      <p:sp>
        <p:nvSpPr>
          <p:cNvPr id="39" name="Shape 37"/>
          <p:cNvSpPr/>
          <p:nvPr/>
        </p:nvSpPr>
        <p:spPr>
          <a:xfrm>
            <a:off x="2080664" y="3513248"/>
            <a:ext cx="5494399" cy="63"/>
          </a:xfrm>
          <a:prstGeom prst="line">
            <a:avLst/>
          </a:prstGeom>
          <a:noFill/>
          <a:ln w="6350">
            <a:solidFill>
              <a:srgbClr val="D5DEEC"/>
            </a:solidFill>
            <a:prstDash val="solid"/>
          </a:ln>
        </p:spPr>
      </p:sp>
      <p:sp>
        <p:nvSpPr>
          <p:cNvPr id="40" name="Text 38"/>
          <p:cNvSpPr txBox="1"/>
          <p:nvPr/>
        </p:nvSpPr>
        <p:spPr>
          <a:xfrm>
            <a:off x="2172102" y="3279058"/>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Spring Boot 3.2.5 and Cloud 2023.0 are unsupported</a:t>
            </a:r>
            <a:endParaRPr lang="en-US" sz="1200" dirty="0"/>
          </a:p>
        </p:txBody>
      </p:sp>
      <p:sp>
        <p:nvSpPr>
          <p:cNvPr id="41" name="Shape 39"/>
          <p:cNvSpPr/>
          <p:nvPr/>
        </p:nvSpPr>
        <p:spPr>
          <a:xfrm>
            <a:off x="7575063" y="3513248"/>
            <a:ext cx="3803853" cy="63"/>
          </a:xfrm>
          <a:prstGeom prst="line">
            <a:avLst/>
          </a:prstGeom>
          <a:noFill/>
          <a:ln w="6350">
            <a:solidFill>
              <a:srgbClr val="D5DEEC"/>
            </a:solidFill>
            <a:prstDash val="solid"/>
          </a:ln>
        </p:spPr>
      </p:sp>
      <p:sp>
        <p:nvSpPr>
          <p:cNvPr id="42" name="Text 40"/>
          <p:cNvSpPr txBox="1"/>
          <p:nvPr/>
        </p:nvSpPr>
        <p:spPr>
          <a:xfrm>
            <a:off x="7666501" y="3279058"/>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Upgrade to Boot 3.4 or 3.5</a:t>
            </a:r>
            <a:endParaRPr lang="en-US" sz="1200" dirty="0"/>
          </a:p>
        </p:txBody>
      </p:sp>
      <p:sp>
        <p:nvSpPr>
          <p:cNvPr id="43" name="Shape 41"/>
          <p:cNvSpPr/>
          <p:nvPr/>
        </p:nvSpPr>
        <p:spPr>
          <a:xfrm>
            <a:off x="812780" y="3516423"/>
            <a:ext cx="10566136" cy="290704"/>
          </a:xfrm>
          <a:prstGeom prst="rect">
            <a:avLst/>
          </a:prstGeom>
          <a:solidFill>
            <a:srgbClr val="EEF2F9"/>
          </a:solidFill>
          <a:ln/>
        </p:spPr>
      </p:sp>
      <p:sp>
        <p:nvSpPr>
          <p:cNvPr id="44" name="Shape 42"/>
          <p:cNvSpPr/>
          <p:nvPr/>
        </p:nvSpPr>
        <p:spPr>
          <a:xfrm>
            <a:off x="812780" y="3803952"/>
            <a:ext cx="1267885" cy="63"/>
          </a:xfrm>
          <a:prstGeom prst="line">
            <a:avLst/>
          </a:prstGeom>
          <a:noFill/>
          <a:ln w="6350">
            <a:solidFill>
              <a:srgbClr val="D5DEEC"/>
            </a:solidFill>
            <a:prstDash val="solid"/>
          </a:ln>
        </p:spPr>
      </p:sp>
      <p:sp>
        <p:nvSpPr>
          <p:cNvPr id="45" name="Text 43"/>
          <p:cNvSpPr txBox="1"/>
          <p:nvPr/>
        </p:nvSpPr>
        <p:spPr>
          <a:xfrm>
            <a:off x="904217" y="3569762"/>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46" name="Shape 44"/>
          <p:cNvSpPr/>
          <p:nvPr/>
        </p:nvSpPr>
        <p:spPr>
          <a:xfrm>
            <a:off x="2080664" y="3803952"/>
            <a:ext cx="5494399" cy="63"/>
          </a:xfrm>
          <a:prstGeom prst="line">
            <a:avLst/>
          </a:prstGeom>
          <a:noFill/>
          <a:ln w="6350">
            <a:solidFill>
              <a:srgbClr val="D5DEEC"/>
            </a:solidFill>
            <a:prstDash val="solid"/>
          </a:ln>
        </p:spPr>
      </p:sp>
      <p:sp>
        <p:nvSpPr>
          <p:cNvPr id="47" name="Text 45"/>
          <p:cNvSpPr txBox="1"/>
          <p:nvPr/>
        </p:nvSpPr>
        <p:spPr>
          <a:xfrm>
            <a:off x="2172102" y="3569762"/>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One INTERNAL_API_KEY opens every /internal API</a:t>
            </a:r>
            <a:endParaRPr lang="en-US" sz="1200" dirty="0"/>
          </a:p>
        </p:txBody>
      </p:sp>
      <p:sp>
        <p:nvSpPr>
          <p:cNvPr id="48" name="Shape 46"/>
          <p:cNvSpPr/>
          <p:nvPr/>
        </p:nvSpPr>
        <p:spPr>
          <a:xfrm>
            <a:off x="7575063" y="3803952"/>
            <a:ext cx="3803853" cy="63"/>
          </a:xfrm>
          <a:prstGeom prst="line">
            <a:avLst/>
          </a:prstGeom>
          <a:noFill/>
          <a:ln w="6350">
            <a:solidFill>
              <a:srgbClr val="D5DEEC"/>
            </a:solidFill>
            <a:prstDash val="solid"/>
          </a:ln>
        </p:spPr>
      </p:sp>
      <p:sp>
        <p:nvSpPr>
          <p:cNvPr id="49" name="Text 47"/>
          <p:cNvSpPr txBox="1"/>
          <p:nvPr/>
        </p:nvSpPr>
        <p:spPr>
          <a:xfrm>
            <a:off x="7666501" y="3569762"/>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Per-caller keys or mTLS</a:t>
            </a:r>
            <a:endParaRPr lang="en-US" sz="1200" dirty="0"/>
          </a:p>
        </p:txBody>
      </p:sp>
      <p:sp>
        <p:nvSpPr>
          <p:cNvPr id="50" name="Text 48"/>
          <p:cNvSpPr txBox="1"/>
          <p:nvPr/>
        </p:nvSpPr>
        <p:spPr>
          <a:xfrm>
            <a:off x="812780" y="4064295"/>
            <a:ext cx="11834072" cy="213355"/>
          </a:xfrm>
          <a:prstGeom prst="rect">
            <a:avLst/>
          </a:prstGeom>
          <a:noFill/>
          <a:ln/>
        </p:spPr>
        <p:txBody>
          <a:bodyPr wrap="square" lIns="0" tIns="0" rIns="0" bIns="0" rtlCol="0" anchor="t"/>
          <a:lstStyle/>
          <a:p>
            <a:pPr algn="l" indent="0" marL="0">
              <a:lnSpc>
                <a:spcPct val="116667"/>
              </a:lnSpc>
              <a:buNone/>
            </a:pPr>
            <a:r>
              <a:rPr lang="en-US" sz="1200" dirty="0">
                <a:solidFill>
                  <a:srgbClr val="4A5878"/>
                </a:solidFill>
                <a:latin typeface="Calibri" pitchFamily="34" charset="0"/>
                <a:ea typeface="Calibri" pitchFamily="34" charset="-122"/>
                <a:cs typeface="Calibri" pitchFamily="34" charset="-120"/>
              </a:rPr>
              <a:t>Together, the top three mean a leak from any one service, pod or log gives platform-wide SUPER_ADMIN.</a:t>
            </a:r>
            <a:endParaRPr lang="en-US" sz="1200" dirty="0"/>
          </a:p>
        </p:txBody>
      </p:sp>
      <p:sp>
        <p:nvSpPr>
          <p:cNvPr id="51" name="Text 49"/>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Security</a:t>
            </a:r>
            <a:endParaRPr lang="en-US" sz="1200" dirty="0"/>
          </a:p>
        </p:txBody>
      </p:sp>
      <p:sp>
        <p:nvSpPr>
          <p:cNvPr id="52" name="Text 50"/>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28</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SECURITY FINDINGS · MONEY AND OWNERSHIP</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Razorpay is sound; the logic around it leaks money</a:t>
            </a:r>
            <a:endParaRPr lang="en-US" sz="3000" dirty="0"/>
          </a:p>
        </p:txBody>
      </p:sp>
      <p:sp>
        <p:nvSpPr>
          <p:cNvPr id="4" name="Shape 2"/>
          <p:cNvSpPr/>
          <p:nvPr/>
        </p:nvSpPr>
        <p:spPr>
          <a:xfrm>
            <a:off x="812780" y="1775376"/>
            <a:ext cx="10566136" cy="287529"/>
          </a:xfrm>
          <a:prstGeom prst="rect">
            <a:avLst/>
          </a:prstGeom>
          <a:solidFill>
            <a:srgbClr val="2454C5"/>
          </a:solidFill>
          <a:ln/>
        </p:spPr>
      </p:sp>
      <p:sp>
        <p:nvSpPr>
          <p:cNvPr id="5" name="Shape 3"/>
          <p:cNvSpPr/>
          <p:nvPr/>
        </p:nvSpPr>
        <p:spPr>
          <a:xfrm>
            <a:off x="812780" y="2059730"/>
            <a:ext cx="1267885" cy="63"/>
          </a:xfrm>
          <a:prstGeom prst="line">
            <a:avLst/>
          </a:prstGeom>
          <a:noFill/>
          <a:ln w="6350">
            <a:solidFill>
              <a:srgbClr val="D5DEEC"/>
            </a:solidFill>
            <a:prstDash val="solid"/>
          </a:ln>
        </p:spPr>
      </p:sp>
      <p:sp>
        <p:nvSpPr>
          <p:cNvPr id="6" name="Text 4"/>
          <p:cNvSpPr txBox="1"/>
          <p:nvPr/>
        </p:nvSpPr>
        <p:spPr>
          <a:xfrm>
            <a:off x="904217" y="1828715"/>
            <a:ext cx="1215210"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Severity</a:t>
            </a:r>
            <a:endParaRPr lang="en-US" sz="1200" dirty="0"/>
          </a:p>
        </p:txBody>
      </p:sp>
      <p:sp>
        <p:nvSpPr>
          <p:cNvPr id="7" name="Shape 5"/>
          <p:cNvSpPr/>
          <p:nvPr/>
        </p:nvSpPr>
        <p:spPr>
          <a:xfrm>
            <a:off x="2080664" y="2059730"/>
            <a:ext cx="5494399" cy="63"/>
          </a:xfrm>
          <a:prstGeom prst="line">
            <a:avLst/>
          </a:prstGeom>
          <a:noFill/>
          <a:ln w="6350">
            <a:solidFill>
              <a:srgbClr val="D5DEEC"/>
            </a:solidFill>
            <a:prstDash val="solid"/>
          </a:ln>
        </p:spPr>
      </p:sp>
      <p:sp>
        <p:nvSpPr>
          <p:cNvPr id="8" name="Text 6"/>
          <p:cNvSpPr txBox="1"/>
          <p:nvPr/>
        </p:nvSpPr>
        <p:spPr>
          <a:xfrm>
            <a:off x="2172102" y="1828715"/>
            <a:ext cx="5948906"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Finding</a:t>
            </a:r>
            <a:endParaRPr lang="en-US" sz="1200" dirty="0"/>
          </a:p>
        </p:txBody>
      </p:sp>
      <p:sp>
        <p:nvSpPr>
          <p:cNvPr id="9" name="Shape 7"/>
          <p:cNvSpPr/>
          <p:nvPr/>
        </p:nvSpPr>
        <p:spPr>
          <a:xfrm>
            <a:off x="7575063" y="2059730"/>
            <a:ext cx="3803853" cy="63"/>
          </a:xfrm>
          <a:prstGeom prst="line">
            <a:avLst/>
          </a:prstGeom>
          <a:noFill/>
          <a:ln w="6350">
            <a:solidFill>
              <a:srgbClr val="D5DEEC"/>
            </a:solidFill>
            <a:prstDash val="solid"/>
          </a:ln>
        </p:spPr>
      </p:sp>
      <p:sp>
        <p:nvSpPr>
          <p:cNvPr id="10" name="Text 8"/>
          <p:cNvSpPr txBox="1"/>
          <p:nvPr/>
        </p:nvSpPr>
        <p:spPr>
          <a:xfrm>
            <a:off x="7666501" y="1828715"/>
            <a:ext cx="4055494"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Fix</a:t>
            </a:r>
            <a:endParaRPr lang="en-US" sz="1200" dirty="0"/>
          </a:p>
        </p:txBody>
      </p:sp>
      <p:sp>
        <p:nvSpPr>
          <p:cNvPr id="11" name="Shape 9"/>
          <p:cNvSpPr/>
          <p:nvPr/>
        </p:nvSpPr>
        <p:spPr>
          <a:xfrm>
            <a:off x="812780" y="2350433"/>
            <a:ext cx="1267885" cy="63"/>
          </a:xfrm>
          <a:prstGeom prst="line">
            <a:avLst/>
          </a:prstGeom>
          <a:noFill/>
          <a:ln w="6350">
            <a:solidFill>
              <a:srgbClr val="D5DEEC"/>
            </a:solidFill>
            <a:prstDash val="solid"/>
          </a:ln>
        </p:spPr>
      </p:sp>
      <p:sp>
        <p:nvSpPr>
          <p:cNvPr id="12" name="Text 10"/>
          <p:cNvSpPr txBox="1"/>
          <p:nvPr/>
        </p:nvSpPr>
        <p:spPr>
          <a:xfrm>
            <a:off x="904217" y="2116243"/>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B4530F"/>
                </a:solidFill>
                <a:latin typeface="Calibri" pitchFamily="34" charset="0"/>
                <a:ea typeface="Calibri" pitchFamily="34" charset="-122"/>
                <a:cs typeface="Calibri" pitchFamily="34" charset="-120"/>
              </a:rPr>
              <a:t>High</a:t>
            </a:r>
            <a:endParaRPr lang="en-US" sz="1200" dirty="0"/>
          </a:p>
        </p:txBody>
      </p:sp>
      <p:sp>
        <p:nvSpPr>
          <p:cNvPr id="13" name="Shape 11"/>
          <p:cNvSpPr/>
          <p:nvPr/>
        </p:nvSpPr>
        <p:spPr>
          <a:xfrm>
            <a:off x="2080664" y="2350433"/>
            <a:ext cx="5494399" cy="63"/>
          </a:xfrm>
          <a:prstGeom prst="line">
            <a:avLst/>
          </a:prstGeom>
          <a:noFill/>
          <a:ln w="6350">
            <a:solidFill>
              <a:srgbClr val="D5DEEC"/>
            </a:solidFill>
            <a:prstDash val="solid"/>
          </a:ln>
        </p:spPr>
      </p:sp>
      <p:sp>
        <p:nvSpPr>
          <p:cNvPr id="14" name="Text 12"/>
          <p:cNvSpPr txBox="1"/>
          <p:nvPr/>
        </p:nvSpPr>
        <p:spPr>
          <a:xfrm>
            <a:off x="2172102" y="2116243"/>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Coupon caps never enforced; customers reset counts</a:t>
            </a:r>
            <a:endParaRPr lang="en-US" sz="1200" dirty="0"/>
          </a:p>
        </p:txBody>
      </p:sp>
      <p:sp>
        <p:nvSpPr>
          <p:cNvPr id="15" name="Shape 13"/>
          <p:cNvSpPr/>
          <p:nvPr/>
        </p:nvSpPr>
        <p:spPr>
          <a:xfrm>
            <a:off x="7575063" y="2350433"/>
            <a:ext cx="3803853" cy="63"/>
          </a:xfrm>
          <a:prstGeom prst="line">
            <a:avLst/>
          </a:prstGeom>
          <a:noFill/>
          <a:ln w="6350">
            <a:solidFill>
              <a:srgbClr val="D5DEEC"/>
            </a:solidFill>
            <a:prstDash val="solid"/>
          </a:ln>
        </p:spPr>
      </p:sp>
      <p:sp>
        <p:nvSpPr>
          <p:cNvPr id="16" name="Text 14"/>
          <p:cNvSpPr txBox="1"/>
          <p:nvPr/>
        </p:nvSpPr>
        <p:spPr>
          <a:xfrm>
            <a:off x="7666501" y="2116243"/>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Redeem server-side per booking</a:t>
            </a:r>
            <a:endParaRPr lang="en-US" sz="1200" dirty="0"/>
          </a:p>
        </p:txBody>
      </p:sp>
      <p:sp>
        <p:nvSpPr>
          <p:cNvPr id="17" name="Shape 15"/>
          <p:cNvSpPr/>
          <p:nvPr/>
        </p:nvSpPr>
        <p:spPr>
          <a:xfrm>
            <a:off x="812780" y="2353608"/>
            <a:ext cx="10566136" cy="290704"/>
          </a:xfrm>
          <a:prstGeom prst="rect">
            <a:avLst/>
          </a:prstGeom>
          <a:solidFill>
            <a:srgbClr val="EEF2F9"/>
          </a:solidFill>
          <a:ln/>
        </p:spPr>
      </p:sp>
      <p:sp>
        <p:nvSpPr>
          <p:cNvPr id="18" name="Shape 16"/>
          <p:cNvSpPr/>
          <p:nvPr/>
        </p:nvSpPr>
        <p:spPr>
          <a:xfrm>
            <a:off x="812780" y="2641137"/>
            <a:ext cx="1267885" cy="63"/>
          </a:xfrm>
          <a:prstGeom prst="line">
            <a:avLst/>
          </a:prstGeom>
          <a:noFill/>
          <a:ln w="6350">
            <a:solidFill>
              <a:srgbClr val="D5DEEC"/>
            </a:solidFill>
            <a:prstDash val="solid"/>
          </a:ln>
        </p:spPr>
      </p:sp>
      <p:sp>
        <p:nvSpPr>
          <p:cNvPr id="19" name="Text 17"/>
          <p:cNvSpPr txBox="1"/>
          <p:nvPr/>
        </p:nvSpPr>
        <p:spPr>
          <a:xfrm>
            <a:off x="904217" y="2406947"/>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B4530F"/>
                </a:solidFill>
                <a:latin typeface="Calibri" pitchFamily="34" charset="0"/>
                <a:ea typeface="Calibri" pitchFamily="34" charset="-122"/>
                <a:cs typeface="Calibri" pitchFamily="34" charset="-120"/>
              </a:rPr>
              <a:t>High</a:t>
            </a:r>
            <a:endParaRPr lang="en-US" sz="1200" dirty="0"/>
          </a:p>
        </p:txBody>
      </p:sp>
      <p:sp>
        <p:nvSpPr>
          <p:cNvPr id="20" name="Shape 18"/>
          <p:cNvSpPr/>
          <p:nvPr/>
        </p:nvSpPr>
        <p:spPr>
          <a:xfrm>
            <a:off x="2080664" y="2641137"/>
            <a:ext cx="5494399" cy="63"/>
          </a:xfrm>
          <a:prstGeom prst="line">
            <a:avLst/>
          </a:prstGeom>
          <a:noFill/>
          <a:ln w="6350">
            <a:solidFill>
              <a:srgbClr val="D5DEEC"/>
            </a:solidFill>
            <a:prstDash val="solid"/>
          </a:ln>
        </p:spPr>
      </p:sp>
      <p:sp>
        <p:nvSpPr>
          <p:cNvPr id="21" name="Text 19"/>
          <p:cNvSpPr txBox="1"/>
          <p:nvPr/>
        </p:nvSpPr>
        <p:spPr>
          <a:xfrm>
            <a:off x="2172102" y="2406947"/>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Complaint refunds report success, move no money</a:t>
            </a:r>
            <a:endParaRPr lang="en-US" sz="1200" dirty="0"/>
          </a:p>
        </p:txBody>
      </p:sp>
      <p:sp>
        <p:nvSpPr>
          <p:cNvPr id="22" name="Shape 20"/>
          <p:cNvSpPr/>
          <p:nvPr/>
        </p:nvSpPr>
        <p:spPr>
          <a:xfrm>
            <a:off x="7575063" y="2641137"/>
            <a:ext cx="3803853" cy="63"/>
          </a:xfrm>
          <a:prstGeom prst="line">
            <a:avLst/>
          </a:prstGeom>
          <a:noFill/>
          <a:ln w="6350">
            <a:solidFill>
              <a:srgbClr val="D5DEEC"/>
            </a:solidFill>
            <a:prstDash val="solid"/>
          </a:ln>
        </p:spPr>
      </p:sp>
      <p:sp>
        <p:nvSpPr>
          <p:cNvPr id="23" name="Text 21"/>
          <p:cNvSpPr txBox="1"/>
          <p:nvPr/>
        </p:nvSpPr>
        <p:spPr>
          <a:xfrm>
            <a:off x="7666501" y="2406947"/>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Call payment refunds; finance only</a:t>
            </a:r>
            <a:endParaRPr lang="en-US" sz="1200" dirty="0"/>
          </a:p>
        </p:txBody>
      </p:sp>
      <p:sp>
        <p:nvSpPr>
          <p:cNvPr id="24" name="Shape 22"/>
          <p:cNvSpPr/>
          <p:nvPr/>
        </p:nvSpPr>
        <p:spPr>
          <a:xfrm>
            <a:off x="812780" y="2931841"/>
            <a:ext cx="1267885" cy="63"/>
          </a:xfrm>
          <a:prstGeom prst="line">
            <a:avLst/>
          </a:prstGeom>
          <a:noFill/>
          <a:ln w="6350">
            <a:solidFill>
              <a:srgbClr val="D5DEEC"/>
            </a:solidFill>
            <a:prstDash val="solid"/>
          </a:ln>
        </p:spPr>
      </p:sp>
      <p:sp>
        <p:nvSpPr>
          <p:cNvPr id="25" name="Text 23"/>
          <p:cNvSpPr txBox="1"/>
          <p:nvPr/>
        </p:nvSpPr>
        <p:spPr>
          <a:xfrm>
            <a:off x="904217" y="2697651"/>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26" name="Shape 24"/>
          <p:cNvSpPr/>
          <p:nvPr/>
        </p:nvSpPr>
        <p:spPr>
          <a:xfrm>
            <a:off x="2080664" y="2931841"/>
            <a:ext cx="5494399" cy="63"/>
          </a:xfrm>
          <a:prstGeom prst="line">
            <a:avLst/>
          </a:prstGeom>
          <a:noFill/>
          <a:ln w="6350">
            <a:solidFill>
              <a:srgbClr val="D5DEEC"/>
            </a:solidFill>
            <a:prstDash val="solid"/>
          </a:ln>
        </p:spPr>
      </p:sp>
      <p:sp>
        <p:nvSpPr>
          <p:cNvPr id="27" name="Text 25"/>
          <p:cNvSpPr txBox="1"/>
          <p:nvPr/>
        </p:nvSpPr>
        <p:spPr>
          <a:xfrm>
            <a:off x="2172102" y="2697651"/>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Stub "stripe" gateway is live and selectable</a:t>
            </a:r>
            <a:endParaRPr lang="en-US" sz="1200" dirty="0"/>
          </a:p>
        </p:txBody>
      </p:sp>
      <p:sp>
        <p:nvSpPr>
          <p:cNvPr id="28" name="Shape 26"/>
          <p:cNvSpPr/>
          <p:nvPr/>
        </p:nvSpPr>
        <p:spPr>
          <a:xfrm>
            <a:off x="7575063" y="2931841"/>
            <a:ext cx="3803853" cy="63"/>
          </a:xfrm>
          <a:prstGeom prst="line">
            <a:avLst/>
          </a:prstGeom>
          <a:noFill/>
          <a:ln w="6350">
            <a:solidFill>
              <a:srgbClr val="D5DEEC"/>
            </a:solidFill>
            <a:prstDash val="solid"/>
          </a:ln>
        </p:spPr>
      </p:sp>
      <p:sp>
        <p:nvSpPr>
          <p:cNvPr id="29" name="Text 27"/>
          <p:cNvSpPr txBox="1"/>
          <p:nvPr/>
        </p:nvSpPr>
        <p:spPr>
          <a:xfrm>
            <a:off x="7666501" y="2697651"/>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Remove it; allow-list razorpay</a:t>
            </a:r>
            <a:endParaRPr lang="en-US" sz="1200" dirty="0"/>
          </a:p>
        </p:txBody>
      </p:sp>
      <p:sp>
        <p:nvSpPr>
          <p:cNvPr id="30" name="Shape 28"/>
          <p:cNvSpPr/>
          <p:nvPr/>
        </p:nvSpPr>
        <p:spPr>
          <a:xfrm>
            <a:off x="812780" y="2935016"/>
            <a:ext cx="10566136" cy="290704"/>
          </a:xfrm>
          <a:prstGeom prst="rect">
            <a:avLst/>
          </a:prstGeom>
          <a:solidFill>
            <a:srgbClr val="EEF2F9"/>
          </a:solidFill>
          <a:ln/>
        </p:spPr>
      </p:sp>
      <p:sp>
        <p:nvSpPr>
          <p:cNvPr id="31" name="Shape 29"/>
          <p:cNvSpPr/>
          <p:nvPr/>
        </p:nvSpPr>
        <p:spPr>
          <a:xfrm>
            <a:off x="812780" y="3222544"/>
            <a:ext cx="1267885" cy="63"/>
          </a:xfrm>
          <a:prstGeom prst="line">
            <a:avLst/>
          </a:prstGeom>
          <a:noFill/>
          <a:ln w="6350">
            <a:solidFill>
              <a:srgbClr val="D5DEEC"/>
            </a:solidFill>
            <a:prstDash val="solid"/>
          </a:ln>
        </p:spPr>
      </p:sp>
      <p:sp>
        <p:nvSpPr>
          <p:cNvPr id="32" name="Text 30"/>
          <p:cNvSpPr txBox="1"/>
          <p:nvPr/>
        </p:nvSpPr>
        <p:spPr>
          <a:xfrm>
            <a:off x="904217" y="2988354"/>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33" name="Shape 31"/>
          <p:cNvSpPr/>
          <p:nvPr/>
        </p:nvSpPr>
        <p:spPr>
          <a:xfrm>
            <a:off x="2080664" y="3222544"/>
            <a:ext cx="5494399" cy="63"/>
          </a:xfrm>
          <a:prstGeom prst="line">
            <a:avLst/>
          </a:prstGeom>
          <a:noFill/>
          <a:ln w="6350">
            <a:solidFill>
              <a:srgbClr val="D5DEEC"/>
            </a:solidFill>
            <a:prstDash val="solid"/>
          </a:ln>
        </p:spPr>
      </p:sp>
      <p:sp>
        <p:nvSpPr>
          <p:cNvPr id="34" name="Text 32"/>
          <p:cNvSpPr txBox="1"/>
          <p:nvPr/>
        </p:nvSpPr>
        <p:spPr>
          <a:xfrm>
            <a:off x="2172102" y="2988354"/>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Payouts simulated, any amount, no idempotency</a:t>
            </a:r>
            <a:endParaRPr lang="en-US" sz="1200" dirty="0"/>
          </a:p>
        </p:txBody>
      </p:sp>
      <p:sp>
        <p:nvSpPr>
          <p:cNvPr id="35" name="Shape 33"/>
          <p:cNvSpPr/>
          <p:nvPr/>
        </p:nvSpPr>
        <p:spPr>
          <a:xfrm>
            <a:off x="7575063" y="3222544"/>
            <a:ext cx="3803853" cy="63"/>
          </a:xfrm>
          <a:prstGeom prst="line">
            <a:avLst/>
          </a:prstGeom>
          <a:noFill/>
          <a:ln w="6350">
            <a:solidFill>
              <a:srgbClr val="D5DEEC"/>
            </a:solidFill>
            <a:prstDash val="solid"/>
          </a:ln>
        </p:spPr>
      </p:sp>
      <p:sp>
        <p:nvSpPr>
          <p:cNvPr id="36" name="Text 34"/>
          <p:cNvSpPr txBox="1"/>
          <p:nvPr/>
        </p:nvSpPr>
        <p:spPr>
          <a:xfrm>
            <a:off x="7666501" y="2988354"/>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RazorpayX; amount from the wallet</a:t>
            </a:r>
            <a:endParaRPr lang="en-US" sz="1200" dirty="0"/>
          </a:p>
        </p:txBody>
      </p:sp>
      <p:sp>
        <p:nvSpPr>
          <p:cNvPr id="37" name="Shape 35"/>
          <p:cNvSpPr/>
          <p:nvPr/>
        </p:nvSpPr>
        <p:spPr>
          <a:xfrm>
            <a:off x="812780" y="3513248"/>
            <a:ext cx="1267885" cy="63"/>
          </a:xfrm>
          <a:prstGeom prst="line">
            <a:avLst/>
          </a:prstGeom>
          <a:noFill/>
          <a:ln w="6350">
            <a:solidFill>
              <a:srgbClr val="D5DEEC"/>
            </a:solidFill>
            <a:prstDash val="solid"/>
          </a:ln>
        </p:spPr>
      </p:sp>
      <p:sp>
        <p:nvSpPr>
          <p:cNvPr id="38" name="Text 36"/>
          <p:cNvSpPr txBox="1"/>
          <p:nvPr/>
        </p:nvSpPr>
        <p:spPr>
          <a:xfrm>
            <a:off x="904217" y="3279058"/>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39" name="Shape 37"/>
          <p:cNvSpPr/>
          <p:nvPr/>
        </p:nvSpPr>
        <p:spPr>
          <a:xfrm>
            <a:off x="2080664" y="3513248"/>
            <a:ext cx="5494399" cy="63"/>
          </a:xfrm>
          <a:prstGeom prst="line">
            <a:avLst/>
          </a:prstGeom>
          <a:noFill/>
          <a:ln w="6350">
            <a:solidFill>
              <a:srgbClr val="D5DEEC"/>
            </a:solidFill>
            <a:prstDash val="solid"/>
          </a:ln>
        </p:spPr>
      </p:sp>
      <p:sp>
        <p:nvSpPr>
          <p:cNvPr id="40" name="Text 38"/>
          <p:cNvSpPr txBox="1"/>
          <p:nvPr/>
        </p:nvSpPr>
        <p:spPr>
          <a:xfrm>
            <a:off x="2172102" y="3279058"/>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Refunds leave the provider's earning in place</a:t>
            </a:r>
            <a:endParaRPr lang="en-US" sz="1200" dirty="0"/>
          </a:p>
        </p:txBody>
      </p:sp>
      <p:sp>
        <p:nvSpPr>
          <p:cNvPr id="41" name="Shape 39"/>
          <p:cNvSpPr/>
          <p:nvPr/>
        </p:nvSpPr>
        <p:spPr>
          <a:xfrm>
            <a:off x="7575063" y="3513248"/>
            <a:ext cx="3803853" cy="63"/>
          </a:xfrm>
          <a:prstGeom prst="line">
            <a:avLst/>
          </a:prstGeom>
          <a:noFill/>
          <a:ln w="6350">
            <a:solidFill>
              <a:srgbClr val="D5DEEC"/>
            </a:solidFill>
            <a:prstDash val="solid"/>
          </a:ln>
        </p:spPr>
      </p:sp>
      <p:sp>
        <p:nvSpPr>
          <p:cNvPr id="42" name="Text 40"/>
          <p:cNvSpPr txBox="1"/>
          <p:nvPr/>
        </p:nvSpPr>
        <p:spPr>
          <a:xfrm>
            <a:off x="7666501" y="3279058"/>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Debit the wallet on refund</a:t>
            </a:r>
            <a:endParaRPr lang="en-US" sz="1200" dirty="0"/>
          </a:p>
        </p:txBody>
      </p:sp>
      <p:sp>
        <p:nvSpPr>
          <p:cNvPr id="43" name="Shape 41"/>
          <p:cNvSpPr/>
          <p:nvPr/>
        </p:nvSpPr>
        <p:spPr>
          <a:xfrm>
            <a:off x="812780" y="3516423"/>
            <a:ext cx="10566136" cy="290704"/>
          </a:xfrm>
          <a:prstGeom prst="rect">
            <a:avLst/>
          </a:prstGeom>
          <a:solidFill>
            <a:srgbClr val="EEF2F9"/>
          </a:solidFill>
          <a:ln/>
        </p:spPr>
      </p:sp>
      <p:sp>
        <p:nvSpPr>
          <p:cNvPr id="44" name="Shape 42"/>
          <p:cNvSpPr/>
          <p:nvPr/>
        </p:nvSpPr>
        <p:spPr>
          <a:xfrm>
            <a:off x="812780" y="3803952"/>
            <a:ext cx="1267885" cy="63"/>
          </a:xfrm>
          <a:prstGeom prst="line">
            <a:avLst/>
          </a:prstGeom>
          <a:noFill/>
          <a:ln w="6350">
            <a:solidFill>
              <a:srgbClr val="D5DEEC"/>
            </a:solidFill>
            <a:prstDash val="solid"/>
          </a:ln>
        </p:spPr>
      </p:sp>
      <p:sp>
        <p:nvSpPr>
          <p:cNvPr id="45" name="Text 43"/>
          <p:cNvSpPr txBox="1"/>
          <p:nvPr/>
        </p:nvSpPr>
        <p:spPr>
          <a:xfrm>
            <a:off x="904217" y="3569762"/>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46" name="Shape 44"/>
          <p:cNvSpPr/>
          <p:nvPr/>
        </p:nvSpPr>
        <p:spPr>
          <a:xfrm>
            <a:off x="2080664" y="3803952"/>
            <a:ext cx="5494399" cy="63"/>
          </a:xfrm>
          <a:prstGeom prst="line">
            <a:avLst/>
          </a:prstGeom>
          <a:noFill/>
          <a:ln w="6350">
            <a:solidFill>
              <a:srgbClr val="D5DEEC"/>
            </a:solidFill>
            <a:prstDash val="solid"/>
          </a:ln>
        </p:spPr>
      </p:sp>
      <p:sp>
        <p:nvSpPr>
          <p:cNvPr id="47" name="Text 45"/>
          <p:cNvSpPr txBox="1"/>
          <p:nvPr/>
        </p:nvSpPr>
        <p:spPr>
          <a:xfrm>
            <a:off x="2172102" y="3569762"/>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Complaints accept any bookingId and providerId</a:t>
            </a:r>
            <a:endParaRPr lang="en-US" sz="1200" dirty="0"/>
          </a:p>
        </p:txBody>
      </p:sp>
      <p:sp>
        <p:nvSpPr>
          <p:cNvPr id="48" name="Shape 46"/>
          <p:cNvSpPr/>
          <p:nvPr/>
        </p:nvSpPr>
        <p:spPr>
          <a:xfrm>
            <a:off x="7575063" y="3803952"/>
            <a:ext cx="3803853" cy="63"/>
          </a:xfrm>
          <a:prstGeom prst="line">
            <a:avLst/>
          </a:prstGeom>
          <a:noFill/>
          <a:ln w="6350">
            <a:solidFill>
              <a:srgbClr val="D5DEEC"/>
            </a:solidFill>
            <a:prstDash val="solid"/>
          </a:ln>
        </p:spPr>
      </p:sp>
      <p:sp>
        <p:nvSpPr>
          <p:cNvPr id="49" name="Text 47"/>
          <p:cNvSpPr txBox="1"/>
          <p:nvPr/>
        </p:nvSpPr>
        <p:spPr>
          <a:xfrm>
            <a:off x="7666501" y="3569762"/>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Check the booking's participants</a:t>
            </a:r>
            <a:endParaRPr lang="en-US" sz="1200" dirty="0"/>
          </a:p>
        </p:txBody>
      </p:sp>
      <p:sp>
        <p:nvSpPr>
          <p:cNvPr id="50" name="Shape 48"/>
          <p:cNvSpPr/>
          <p:nvPr/>
        </p:nvSpPr>
        <p:spPr>
          <a:xfrm>
            <a:off x="812780" y="4094655"/>
            <a:ext cx="1267885" cy="63"/>
          </a:xfrm>
          <a:prstGeom prst="line">
            <a:avLst/>
          </a:prstGeom>
          <a:noFill/>
          <a:ln w="6350">
            <a:solidFill>
              <a:srgbClr val="D5DEEC"/>
            </a:solidFill>
            <a:prstDash val="solid"/>
          </a:ln>
        </p:spPr>
      </p:sp>
      <p:sp>
        <p:nvSpPr>
          <p:cNvPr id="51" name="Text 49"/>
          <p:cNvSpPr txBox="1"/>
          <p:nvPr/>
        </p:nvSpPr>
        <p:spPr>
          <a:xfrm>
            <a:off x="904217" y="3860465"/>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52" name="Shape 50"/>
          <p:cNvSpPr/>
          <p:nvPr/>
        </p:nvSpPr>
        <p:spPr>
          <a:xfrm>
            <a:off x="2080664" y="4094655"/>
            <a:ext cx="5494399" cy="63"/>
          </a:xfrm>
          <a:prstGeom prst="line">
            <a:avLst/>
          </a:prstGeom>
          <a:noFill/>
          <a:ln w="6350">
            <a:solidFill>
              <a:srgbClr val="D5DEEC"/>
            </a:solidFill>
            <a:prstDash val="solid"/>
          </a:ln>
        </p:spPr>
      </p:sp>
      <p:sp>
        <p:nvSpPr>
          <p:cNvPr id="53" name="Text 51"/>
          <p:cNvSpPr txBox="1"/>
          <p:nvPr/>
        </p:nvSpPr>
        <p:spPr>
          <a:xfrm>
            <a:off x="2172102" y="3860465"/>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Booking accepts another customer's addressId</a:t>
            </a:r>
            <a:endParaRPr lang="en-US" sz="1200" dirty="0"/>
          </a:p>
        </p:txBody>
      </p:sp>
      <p:sp>
        <p:nvSpPr>
          <p:cNvPr id="54" name="Shape 52"/>
          <p:cNvSpPr/>
          <p:nvPr/>
        </p:nvSpPr>
        <p:spPr>
          <a:xfrm>
            <a:off x="7575063" y="4094655"/>
            <a:ext cx="3803853" cy="63"/>
          </a:xfrm>
          <a:prstGeom prst="line">
            <a:avLst/>
          </a:prstGeom>
          <a:noFill/>
          <a:ln w="6350">
            <a:solidFill>
              <a:srgbClr val="D5DEEC"/>
            </a:solidFill>
            <a:prstDash val="solid"/>
          </a:ln>
        </p:spPr>
      </p:sp>
      <p:sp>
        <p:nvSpPr>
          <p:cNvPr id="55" name="Text 53"/>
          <p:cNvSpPr txBox="1"/>
          <p:nvPr/>
        </p:nvSpPr>
        <p:spPr>
          <a:xfrm>
            <a:off x="7666501" y="3860465"/>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Verify the address owner</a:t>
            </a:r>
            <a:endParaRPr lang="en-US" sz="1200" dirty="0"/>
          </a:p>
        </p:txBody>
      </p:sp>
      <p:sp>
        <p:nvSpPr>
          <p:cNvPr id="56" name="Shape 54"/>
          <p:cNvSpPr/>
          <p:nvPr/>
        </p:nvSpPr>
        <p:spPr>
          <a:xfrm>
            <a:off x="812780" y="4097830"/>
            <a:ext cx="10566136" cy="290704"/>
          </a:xfrm>
          <a:prstGeom prst="rect">
            <a:avLst/>
          </a:prstGeom>
          <a:solidFill>
            <a:srgbClr val="EEF2F9"/>
          </a:solidFill>
          <a:ln/>
        </p:spPr>
      </p:sp>
      <p:sp>
        <p:nvSpPr>
          <p:cNvPr id="57" name="Shape 55"/>
          <p:cNvSpPr/>
          <p:nvPr/>
        </p:nvSpPr>
        <p:spPr>
          <a:xfrm>
            <a:off x="812780" y="4385359"/>
            <a:ext cx="1267885" cy="63"/>
          </a:xfrm>
          <a:prstGeom prst="line">
            <a:avLst/>
          </a:prstGeom>
          <a:noFill/>
          <a:ln w="6350">
            <a:solidFill>
              <a:srgbClr val="D5DEEC"/>
            </a:solidFill>
            <a:prstDash val="solid"/>
          </a:ln>
        </p:spPr>
      </p:sp>
      <p:sp>
        <p:nvSpPr>
          <p:cNvPr id="58" name="Text 56"/>
          <p:cNvSpPr txBox="1"/>
          <p:nvPr/>
        </p:nvSpPr>
        <p:spPr>
          <a:xfrm>
            <a:off x="904217" y="4151169"/>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59" name="Shape 57"/>
          <p:cNvSpPr/>
          <p:nvPr/>
        </p:nvSpPr>
        <p:spPr>
          <a:xfrm>
            <a:off x="2080664" y="4385359"/>
            <a:ext cx="5494399" cy="63"/>
          </a:xfrm>
          <a:prstGeom prst="line">
            <a:avLst/>
          </a:prstGeom>
          <a:noFill/>
          <a:ln w="6350">
            <a:solidFill>
              <a:srgbClr val="D5DEEC"/>
            </a:solidFill>
            <a:prstDash val="solid"/>
          </a:ln>
        </p:spPr>
      </p:sp>
      <p:sp>
        <p:nvSpPr>
          <p:cNvPr id="60" name="Text 58"/>
          <p:cNvSpPr txBox="1"/>
          <p:nvPr/>
        </p:nvSpPr>
        <p:spPr>
          <a:xfrm>
            <a:off x="2172102" y="4151169"/>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Agency admin can enlist any provider by mobile</a:t>
            </a:r>
            <a:endParaRPr lang="en-US" sz="1200" dirty="0"/>
          </a:p>
        </p:txBody>
      </p:sp>
      <p:sp>
        <p:nvSpPr>
          <p:cNvPr id="61" name="Shape 59"/>
          <p:cNvSpPr/>
          <p:nvPr/>
        </p:nvSpPr>
        <p:spPr>
          <a:xfrm>
            <a:off x="7575063" y="4385359"/>
            <a:ext cx="3803853" cy="63"/>
          </a:xfrm>
          <a:prstGeom prst="line">
            <a:avLst/>
          </a:prstGeom>
          <a:noFill/>
          <a:ln w="6350">
            <a:solidFill>
              <a:srgbClr val="D5DEEC"/>
            </a:solidFill>
            <a:prstDash val="solid"/>
          </a:ln>
        </p:spPr>
      </p:sp>
      <p:sp>
        <p:nvSpPr>
          <p:cNvPr id="62" name="Text 60"/>
          <p:cNvSpPr txBox="1"/>
          <p:nvPr/>
        </p:nvSpPr>
        <p:spPr>
          <a:xfrm>
            <a:off x="7666501" y="4151169"/>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Provider accepts an invitation</a:t>
            </a:r>
            <a:endParaRPr lang="en-US" sz="1200" dirty="0"/>
          </a:p>
        </p:txBody>
      </p:sp>
      <p:sp>
        <p:nvSpPr>
          <p:cNvPr id="63" name="Text 61"/>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Security</a:t>
            </a:r>
            <a:endParaRPr lang="en-US" sz="1200" dirty="0"/>
          </a:p>
        </p:txBody>
      </p:sp>
      <p:sp>
        <p:nvSpPr>
          <p:cNvPr id="64" name="Text 62"/>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SECURITY FINDINGS · INFRASTRUCTURE</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Infrastructure is too open in three places</a:t>
            </a:r>
            <a:endParaRPr lang="en-US" sz="3000" dirty="0"/>
          </a:p>
        </p:txBody>
      </p:sp>
      <p:sp>
        <p:nvSpPr>
          <p:cNvPr id="4" name="Shape 2"/>
          <p:cNvSpPr/>
          <p:nvPr/>
        </p:nvSpPr>
        <p:spPr>
          <a:xfrm>
            <a:off x="812780" y="1775376"/>
            <a:ext cx="10566136" cy="287529"/>
          </a:xfrm>
          <a:prstGeom prst="rect">
            <a:avLst/>
          </a:prstGeom>
          <a:solidFill>
            <a:srgbClr val="2454C5"/>
          </a:solidFill>
          <a:ln/>
        </p:spPr>
      </p:sp>
      <p:sp>
        <p:nvSpPr>
          <p:cNvPr id="5" name="Shape 3"/>
          <p:cNvSpPr/>
          <p:nvPr/>
        </p:nvSpPr>
        <p:spPr>
          <a:xfrm>
            <a:off x="812780" y="2059730"/>
            <a:ext cx="1267885" cy="63"/>
          </a:xfrm>
          <a:prstGeom prst="line">
            <a:avLst/>
          </a:prstGeom>
          <a:noFill/>
          <a:ln w="6350">
            <a:solidFill>
              <a:srgbClr val="D5DEEC"/>
            </a:solidFill>
            <a:prstDash val="solid"/>
          </a:ln>
        </p:spPr>
      </p:sp>
      <p:sp>
        <p:nvSpPr>
          <p:cNvPr id="6" name="Text 4"/>
          <p:cNvSpPr txBox="1"/>
          <p:nvPr/>
        </p:nvSpPr>
        <p:spPr>
          <a:xfrm>
            <a:off x="904217" y="1828715"/>
            <a:ext cx="1215210"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Severity</a:t>
            </a:r>
            <a:endParaRPr lang="en-US" sz="1200" dirty="0"/>
          </a:p>
        </p:txBody>
      </p:sp>
      <p:sp>
        <p:nvSpPr>
          <p:cNvPr id="7" name="Shape 5"/>
          <p:cNvSpPr/>
          <p:nvPr/>
        </p:nvSpPr>
        <p:spPr>
          <a:xfrm>
            <a:off x="2080664" y="2059730"/>
            <a:ext cx="5494399" cy="63"/>
          </a:xfrm>
          <a:prstGeom prst="line">
            <a:avLst/>
          </a:prstGeom>
          <a:noFill/>
          <a:ln w="6350">
            <a:solidFill>
              <a:srgbClr val="D5DEEC"/>
            </a:solidFill>
            <a:prstDash val="solid"/>
          </a:ln>
        </p:spPr>
      </p:sp>
      <p:sp>
        <p:nvSpPr>
          <p:cNvPr id="8" name="Text 6"/>
          <p:cNvSpPr txBox="1"/>
          <p:nvPr/>
        </p:nvSpPr>
        <p:spPr>
          <a:xfrm>
            <a:off x="2172102" y="1828715"/>
            <a:ext cx="5948906"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Finding</a:t>
            </a:r>
            <a:endParaRPr lang="en-US" sz="1200" dirty="0"/>
          </a:p>
        </p:txBody>
      </p:sp>
      <p:sp>
        <p:nvSpPr>
          <p:cNvPr id="9" name="Shape 7"/>
          <p:cNvSpPr/>
          <p:nvPr/>
        </p:nvSpPr>
        <p:spPr>
          <a:xfrm>
            <a:off x="7575063" y="2059730"/>
            <a:ext cx="3803853" cy="63"/>
          </a:xfrm>
          <a:prstGeom prst="line">
            <a:avLst/>
          </a:prstGeom>
          <a:noFill/>
          <a:ln w="6350">
            <a:solidFill>
              <a:srgbClr val="D5DEEC"/>
            </a:solidFill>
            <a:prstDash val="solid"/>
          </a:ln>
        </p:spPr>
      </p:sp>
      <p:sp>
        <p:nvSpPr>
          <p:cNvPr id="10" name="Text 8"/>
          <p:cNvSpPr txBox="1"/>
          <p:nvPr/>
        </p:nvSpPr>
        <p:spPr>
          <a:xfrm>
            <a:off x="7666501" y="1828715"/>
            <a:ext cx="4055494"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Fix</a:t>
            </a:r>
            <a:endParaRPr lang="en-US" sz="1200" dirty="0"/>
          </a:p>
        </p:txBody>
      </p:sp>
      <p:sp>
        <p:nvSpPr>
          <p:cNvPr id="11" name="Shape 9"/>
          <p:cNvSpPr/>
          <p:nvPr/>
        </p:nvSpPr>
        <p:spPr>
          <a:xfrm>
            <a:off x="812780" y="2350433"/>
            <a:ext cx="1267885" cy="63"/>
          </a:xfrm>
          <a:prstGeom prst="line">
            <a:avLst/>
          </a:prstGeom>
          <a:noFill/>
          <a:ln w="6350">
            <a:solidFill>
              <a:srgbClr val="D5DEEC"/>
            </a:solidFill>
            <a:prstDash val="solid"/>
          </a:ln>
        </p:spPr>
      </p:sp>
      <p:sp>
        <p:nvSpPr>
          <p:cNvPr id="12" name="Text 10"/>
          <p:cNvSpPr txBox="1"/>
          <p:nvPr/>
        </p:nvSpPr>
        <p:spPr>
          <a:xfrm>
            <a:off x="904217" y="2116243"/>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B4530F"/>
                </a:solidFill>
                <a:latin typeface="Calibri" pitchFamily="34" charset="0"/>
                <a:ea typeface="Calibri" pitchFamily="34" charset="-122"/>
                <a:cs typeface="Calibri" pitchFamily="34" charset="-120"/>
              </a:rPr>
              <a:t>High</a:t>
            </a:r>
            <a:endParaRPr lang="en-US" sz="1200" dirty="0"/>
          </a:p>
        </p:txBody>
      </p:sp>
      <p:sp>
        <p:nvSpPr>
          <p:cNvPr id="13" name="Shape 11"/>
          <p:cNvSpPr/>
          <p:nvPr/>
        </p:nvSpPr>
        <p:spPr>
          <a:xfrm>
            <a:off x="2080664" y="2350433"/>
            <a:ext cx="5494399" cy="63"/>
          </a:xfrm>
          <a:prstGeom prst="line">
            <a:avLst/>
          </a:prstGeom>
          <a:noFill/>
          <a:ln w="6350">
            <a:solidFill>
              <a:srgbClr val="D5DEEC"/>
            </a:solidFill>
            <a:prstDash val="solid"/>
          </a:ln>
        </p:spPr>
      </p:sp>
      <p:sp>
        <p:nvSpPr>
          <p:cNvPr id="14" name="Text 12"/>
          <p:cNvSpPr txBox="1"/>
          <p:nvPr/>
        </p:nvSpPr>
        <p:spPr>
          <a:xfrm>
            <a:off x="2172102" y="2116243"/>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EKS API endpoint is open to 0.0.0.0/0</a:t>
            </a:r>
            <a:endParaRPr lang="en-US" sz="1200" dirty="0"/>
          </a:p>
        </p:txBody>
      </p:sp>
      <p:sp>
        <p:nvSpPr>
          <p:cNvPr id="15" name="Shape 13"/>
          <p:cNvSpPr/>
          <p:nvPr/>
        </p:nvSpPr>
        <p:spPr>
          <a:xfrm>
            <a:off x="7575063" y="2350433"/>
            <a:ext cx="3803853" cy="63"/>
          </a:xfrm>
          <a:prstGeom prst="line">
            <a:avLst/>
          </a:prstGeom>
          <a:noFill/>
          <a:ln w="6350">
            <a:solidFill>
              <a:srgbClr val="D5DEEC"/>
            </a:solidFill>
            <a:prstDash val="solid"/>
          </a:ln>
        </p:spPr>
      </p:sp>
      <p:sp>
        <p:nvSpPr>
          <p:cNvPr id="16" name="Text 14"/>
          <p:cNvSpPr txBox="1"/>
          <p:nvPr/>
        </p:nvSpPr>
        <p:spPr>
          <a:xfrm>
            <a:off x="7666501" y="2116243"/>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Private, or VPN and CI ranges</a:t>
            </a:r>
            <a:endParaRPr lang="en-US" sz="1200" dirty="0"/>
          </a:p>
        </p:txBody>
      </p:sp>
      <p:sp>
        <p:nvSpPr>
          <p:cNvPr id="17" name="Shape 15"/>
          <p:cNvSpPr/>
          <p:nvPr/>
        </p:nvSpPr>
        <p:spPr>
          <a:xfrm>
            <a:off x="812780" y="2353608"/>
            <a:ext cx="10566136" cy="290704"/>
          </a:xfrm>
          <a:prstGeom prst="rect">
            <a:avLst/>
          </a:prstGeom>
          <a:solidFill>
            <a:srgbClr val="EEF2F9"/>
          </a:solidFill>
          <a:ln/>
        </p:spPr>
      </p:sp>
      <p:sp>
        <p:nvSpPr>
          <p:cNvPr id="18" name="Shape 16"/>
          <p:cNvSpPr/>
          <p:nvPr/>
        </p:nvSpPr>
        <p:spPr>
          <a:xfrm>
            <a:off x="812780" y="2641137"/>
            <a:ext cx="1267885" cy="63"/>
          </a:xfrm>
          <a:prstGeom prst="line">
            <a:avLst/>
          </a:prstGeom>
          <a:noFill/>
          <a:ln w="6350">
            <a:solidFill>
              <a:srgbClr val="D5DEEC"/>
            </a:solidFill>
            <a:prstDash val="solid"/>
          </a:ln>
        </p:spPr>
      </p:sp>
      <p:sp>
        <p:nvSpPr>
          <p:cNvPr id="19" name="Text 17"/>
          <p:cNvSpPr txBox="1"/>
          <p:nvPr/>
        </p:nvSpPr>
        <p:spPr>
          <a:xfrm>
            <a:off x="904217" y="2406947"/>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B4530F"/>
                </a:solidFill>
                <a:latin typeface="Calibri" pitchFamily="34" charset="0"/>
                <a:ea typeface="Calibri" pitchFamily="34" charset="-122"/>
                <a:cs typeface="Calibri" pitchFamily="34" charset="-120"/>
              </a:rPr>
              <a:t>High</a:t>
            </a:r>
            <a:endParaRPr lang="en-US" sz="1200" dirty="0"/>
          </a:p>
        </p:txBody>
      </p:sp>
      <p:sp>
        <p:nvSpPr>
          <p:cNvPr id="20" name="Shape 18"/>
          <p:cNvSpPr/>
          <p:nvPr/>
        </p:nvSpPr>
        <p:spPr>
          <a:xfrm>
            <a:off x="2080664" y="2641137"/>
            <a:ext cx="5494399" cy="63"/>
          </a:xfrm>
          <a:prstGeom prst="line">
            <a:avLst/>
          </a:prstGeom>
          <a:noFill/>
          <a:ln w="6350">
            <a:solidFill>
              <a:srgbClr val="D5DEEC"/>
            </a:solidFill>
            <a:prstDash val="solid"/>
          </a:ln>
        </p:spPr>
      </p:sp>
      <p:sp>
        <p:nvSpPr>
          <p:cNvPr id="21" name="Text 19"/>
          <p:cNvSpPr txBox="1"/>
          <p:nvPr/>
        </p:nvSpPr>
        <p:spPr>
          <a:xfrm>
            <a:off x="2172102" y="2406947"/>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Every pod can read every secret, even the RDS master</a:t>
            </a:r>
            <a:endParaRPr lang="en-US" sz="1200" dirty="0"/>
          </a:p>
        </p:txBody>
      </p:sp>
      <p:sp>
        <p:nvSpPr>
          <p:cNvPr id="22" name="Shape 20"/>
          <p:cNvSpPr/>
          <p:nvPr/>
        </p:nvSpPr>
        <p:spPr>
          <a:xfrm>
            <a:off x="7575063" y="2641137"/>
            <a:ext cx="3803853" cy="63"/>
          </a:xfrm>
          <a:prstGeom prst="line">
            <a:avLst/>
          </a:prstGeom>
          <a:noFill/>
          <a:ln w="6350">
            <a:solidFill>
              <a:srgbClr val="D5DEEC"/>
            </a:solidFill>
            <a:prstDash val="solid"/>
          </a:ln>
        </p:spPr>
      </p:sp>
      <p:sp>
        <p:nvSpPr>
          <p:cNvPr id="23" name="Text 21"/>
          <p:cNvSpPr txBox="1"/>
          <p:nvPr/>
        </p:nvSpPr>
        <p:spPr>
          <a:xfrm>
            <a:off x="7666501" y="2406947"/>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One secret policy per service</a:t>
            </a:r>
            <a:endParaRPr lang="en-US" sz="1200" dirty="0"/>
          </a:p>
        </p:txBody>
      </p:sp>
      <p:sp>
        <p:nvSpPr>
          <p:cNvPr id="24" name="Shape 22"/>
          <p:cNvSpPr/>
          <p:nvPr/>
        </p:nvSpPr>
        <p:spPr>
          <a:xfrm>
            <a:off x="812780" y="2931841"/>
            <a:ext cx="1267885" cy="63"/>
          </a:xfrm>
          <a:prstGeom prst="line">
            <a:avLst/>
          </a:prstGeom>
          <a:noFill/>
          <a:ln w="6350">
            <a:solidFill>
              <a:srgbClr val="D5DEEC"/>
            </a:solidFill>
            <a:prstDash val="solid"/>
          </a:ln>
        </p:spPr>
      </p:sp>
      <p:sp>
        <p:nvSpPr>
          <p:cNvPr id="25" name="Text 23"/>
          <p:cNvSpPr txBox="1"/>
          <p:nvPr/>
        </p:nvSpPr>
        <p:spPr>
          <a:xfrm>
            <a:off x="904217" y="2697651"/>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B4530F"/>
                </a:solidFill>
                <a:latin typeface="Calibri" pitchFamily="34" charset="0"/>
                <a:ea typeface="Calibri" pitchFamily="34" charset="-122"/>
                <a:cs typeface="Calibri" pitchFamily="34" charset="-120"/>
              </a:rPr>
              <a:t>High</a:t>
            </a:r>
            <a:endParaRPr lang="en-US" sz="1200" dirty="0"/>
          </a:p>
        </p:txBody>
      </p:sp>
      <p:sp>
        <p:nvSpPr>
          <p:cNvPr id="26" name="Shape 24"/>
          <p:cNvSpPr/>
          <p:nvPr/>
        </p:nvSpPr>
        <p:spPr>
          <a:xfrm>
            <a:off x="2080664" y="2931841"/>
            <a:ext cx="5494399" cy="63"/>
          </a:xfrm>
          <a:prstGeom prst="line">
            <a:avLst/>
          </a:prstGeom>
          <a:noFill/>
          <a:ln w="6350">
            <a:solidFill>
              <a:srgbClr val="D5DEEC"/>
            </a:solidFill>
            <a:prstDash val="solid"/>
          </a:ln>
        </p:spPr>
      </p:sp>
      <p:sp>
        <p:nvSpPr>
          <p:cNvPr id="27" name="Text 25"/>
          <p:cNvSpPr txBox="1"/>
          <p:nvPr/>
        </p:nvSpPr>
        <p:spPr>
          <a:xfrm>
            <a:off x="2172102" y="2697651"/>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Local stack on 0.0.0.0; Redis has no password</a:t>
            </a:r>
            <a:endParaRPr lang="en-US" sz="1200" dirty="0"/>
          </a:p>
        </p:txBody>
      </p:sp>
      <p:sp>
        <p:nvSpPr>
          <p:cNvPr id="28" name="Shape 26"/>
          <p:cNvSpPr/>
          <p:nvPr/>
        </p:nvSpPr>
        <p:spPr>
          <a:xfrm>
            <a:off x="7575063" y="2931841"/>
            <a:ext cx="3803853" cy="63"/>
          </a:xfrm>
          <a:prstGeom prst="line">
            <a:avLst/>
          </a:prstGeom>
          <a:noFill/>
          <a:ln w="6350">
            <a:solidFill>
              <a:srgbClr val="D5DEEC"/>
            </a:solidFill>
            <a:prstDash val="solid"/>
          </a:ln>
        </p:spPr>
      </p:sp>
      <p:sp>
        <p:nvSpPr>
          <p:cNvPr id="29" name="Text 27"/>
          <p:cNvSpPr txBox="1"/>
          <p:nvPr/>
        </p:nvSpPr>
        <p:spPr>
          <a:xfrm>
            <a:off x="7666501" y="2697651"/>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Bind 127.0.0.1; set a password</a:t>
            </a:r>
            <a:endParaRPr lang="en-US" sz="1200" dirty="0"/>
          </a:p>
        </p:txBody>
      </p:sp>
      <p:sp>
        <p:nvSpPr>
          <p:cNvPr id="30" name="Shape 28"/>
          <p:cNvSpPr/>
          <p:nvPr/>
        </p:nvSpPr>
        <p:spPr>
          <a:xfrm>
            <a:off x="812780" y="2935016"/>
            <a:ext cx="10566136" cy="290704"/>
          </a:xfrm>
          <a:prstGeom prst="rect">
            <a:avLst/>
          </a:prstGeom>
          <a:solidFill>
            <a:srgbClr val="EEF2F9"/>
          </a:solidFill>
          <a:ln/>
        </p:spPr>
      </p:sp>
      <p:sp>
        <p:nvSpPr>
          <p:cNvPr id="31" name="Shape 29"/>
          <p:cNvSpPr/>
          <p:nvPr/>
        </p:nvSpPr>
        <p:spPr>
          <a:xfrm>
            <a:off x="812780" y="3222544"/>
            <a:ext cx="1267885" cy="63"/>
          </a:xfrm>
          <a:prstGeom prst="line">
            <a:avLst/>
          </a:prstGeom>
          <a:noFill/>
          <a:ln w="6350">
            <a:solidFill>
              <a:srgbClr val="D5DEEC"/>
            </a:solidFill>
            <a:prstDash val="solid"/>
          </a:ln>
        </p:spPr>
      </p:sp>
      <p:sp>
        <p:nvSpPr>
          <p:cNvPr id="32" name="Text 30"/>
          <p:cNvSpPr txBox="1"/>
          <p:nvPr/>
        </p:nvSpPr>
        <p:spPr>
          <a:xfrm>
            <a:off x="904217" y="2988354"/>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33" name="Shape 31"/>
          <p:cNvSpPr/>
          <p:nvPr/>
        </p:nvSpPr>
        <p:spPr>
          <a:xfrm>
            <a:off x="2080664" y="3222544"/>
            <a:ext cx="5494399" cy="63"/>
          </a:xfrm>
          <a:prstGeom prst="line">
            <a:avLst/>
          </a:prstGeom>
          <a:noFill/>
          <a:ln w="6350">
            <a:solidFill>
              <a:srgbClr val="D5DEEC"/>
            </a:solidFill>
            <a:prstDash val="solid"/>
          </a:ln>
        </p:spPr>
      </p:sp>
      <p:sp>
        <p:nvSpPr>
          <p:cNvPr id="34" name="Text 32"/>
          <p:cNvSpPr txBox="1"/>
          <p:nvPr/>
        </p:nvSpPr>
        <p:spPr>
          <a:xfrm>
            <a:off x="2172102" y="2988354"/>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RDS does not force TLS connections</a:t>
            </a:r>
            <a:endParaRPr lang="en-US" sz="1200" dirty="0"/>
          </a:p>
        </p:txBody>
      </p:sp>
      <p:sp>
        <p:nvSpPr>
          <p:cNvPr id="35" name="Shape 33"/>
          <p:cNvSpPr/>
          <p:nvPr/>
        </p:nvSpPr>
        <p:spPr>
          <a:xfrm>
            <a:off x="7575063" y="3222544"/>
            <a:ext cx="3803853" cy="63"/>
          </a:xfrm>
          <a:prstGeom prst="line">
            <a:avLst/>
          </a:prstGeom>
          <a:noFill/>
          <a:ln w="6350">
            <a:solidFill>
              <a:srgbClr val="D5DEEC"/>
            </a:solidFill>
            <a:prstDash val="solid"/>
          </a:ln>
        </p:spPr>
      </p:sp>
      <p:sp>
        <p:nvSpPr>
          <p:cNvPr id="36" name="Text 34"/>
          <p:cNvSpPr txBox="1"/>
          <p:nvPr/>
        </p:nvSpPr>
        <p:spPr>
          <a:xfrm>
            <a:off x="7666501" y="2988354"/>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rds.force_ssl = 1</a:t>
            </a:r>
            <a:endParaRPr lang="en-US" sz="1200" dirty="0"/>
          </a:p>
        </p:txBody>
      </p:sp>
      <p:sp>
        <p:nvSpPr>
          <p:cNvPr id="37" name="Shape 35"/>
          <p:cNvSpPr/>
          <p:nvPr/>
        </p:nvSpPr>
        <p:spPr>
          <a:xfrm>
            <a:off x="812780" y="3513248"/>
            <a:ext cx="1267885" cy="63"/>
          </a:xfrm>
          <a:prstGeom prst="line">
            <a:avLst/>
          </a:prstGeom>
          <a:noFill/>
          <a:ln w="6350">
            <a:solidFill>
              <a:srgbClr val="D5DEEC"/>
            </a:solidFill>
            <a:prstDash val="solid"/>
          </a:ln>
        </p:spPr>
      </p:sp>
      <p:sp>
        <p:nvSpPr>
          <p:cNvPr id="38" name="Text 36"/>
          <p:cNvSpPr txBox="1"/>
          <p:nvPr/>
        </p:nvSpPr>
        <p:spPr>
          <a:xfrm>
            <a:off x="904217" y="3279058"/>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39" name="Shape 37"/>
          <p:cNvSpPr/>
          <p:nvPr/>
        </p:nvSpPr>
        <p:spPr>
          <a:xfrm>
            <a:off x="2080664" y="3513248"/>
            <a:ext cx="5494399" cy="63"/>
          </a:xfrm>
          <a:prstGeom prst="line">
            <a:avLst/>
          </a:prstGeom>
          <a:noFill/>
          <a:ln w="6350">
            <a:solidFill>
              <a:srgbClr val="D5DEEC"/>
            </a:solidFill>
            <a:prstDash val="solid"/>
          </a:ln>
        </p:spPr>
      </p:sp>
      <p:sp>
        <p:nvSpPr>
          <p:cNvPr id="40" name="Text 38"/>
          <p:cNvSpPr txBox="1"/>
          <p:nvPr/>
        </p:nvSpPr>
        <p:spPr>
          <a:xfrm>
            <a:off x="2172102" y="3279058"/>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Nodes lack IMDSv2 and explicit EBS encryption</a:t>
            </a:r>
            <a:endParaRPr lang="en-US" sz="1200" dirty="0"/>
          </a:p>
        </p:txBody>
      </p:sp>
      <p:sp>
        <p:nvSpPr>
          <p:cNvPr id="41" name="Shape 39"/>
          <p:cNvSpPr/>
          <p:nvPr/>
        </p:nvSpPr>
        <p:spPr>
          <a:xfrm>
            <a:off x="7575063" y="3513248"/>
            <a:ext cx="3803853" cy="63"/>
          </a:xfrm>
          <a:prstGeom prst="line">
            <a:avLst/>
          </a:prstGeom>
          <a:noFill/>
          <a:ln w="6350">
            <a:solidFill>
              <a:srgbClr val="D5DEEC"/>
            </a:solidFill>
            <a:prstDash val="solid"/>
          </a:ln>
        </p:spPr>
      </p:sp>
      <p:sp>
        <p:nvSpPr>
          <p:cNvPr id="42" name="Text 40"/>
          <p:cNvSpPr txBox="1"/>
          <p:nvPr/>
        </p:nvSpPr>
        <p:spPr>
          <a:xfrm>
            <a:off x="7666501" y="3279058"/>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Launch template with both</a:t>
            </a:r>
            <a:endParaRPr lang="en-US" sz="1200" dirty="0"/>
          </a:p>
        </p:txBody>
      </p:sp>
      <p:sp>
        <p:nvSpPr>
          <p:cNvPr id="43" name="Shape 41"/>
          <p:cNvSpPr/>
          <p:nvPr/>
        </p:nvSpPr>
        <p:spPr>
          <a:xfrm>
            <a:off x="812780" y="3516423"/>
            <a:ext cx="10566136" cy="290704"/>
          </a:xfrm>
          <a:prstGeom prst="rect">
            <a:avLst/>
          </a:prstGeom>
          <a:solidFill>
            <a:srgbClr val="EEF2F9"/>
          </a:solidFill>
          <a:ln/>
        </p:spPr>
      </p:sp>
      <p:sp>
        <p:nvSpPr>
          <p:cNvPr id="44" name="Shape 42"/>
          <p:cNvSpPr/>
          <p:nvPr/>
        </p:nvSpPr>
        <p:spPr>
          <a:xfrm>
            <a:off x="812780" y="3803952"/>
            <a:ext cx="1267885" cy="63"/>
          </a:xfrm>
          <a:prstGeom prst="line">
            <a:avLst/>
          </a:prstGeom>
          <a:noFill/>
          <a:ln w="6350">
            <a:solidFill>
              <a:srgbClr val="D5DEEC"/>
            </a:solidFill>
            <a:prstDash val="solid"/>
          </a:ln>
        </p:spPr>
      </p:sp>
      <p:sp>
        <p:nvSpPr>
          <p:cNvPr id="45" name="Text 43"/>
          <p:cNvSpPr txBox="1"/>
          <p:nvPr/>
        </p:nvSpPr>
        <p:spPr>
          <a:xfrm>
            <a:off x="904217" y="3569762"/>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46" name="Shape 44"/>
          <p:cNvSpPr/>
          <p:nvPr/>
        </p:nvSpPr>
        <p:spPr>
          <a:xfrm>
            <a:off x="2080664" y="3803952"/>
            <a:ext cx="5494399" cy="63"/>
          </a:xfrm>
          <a:prstGeom prst="line">
            <a:avLst/>
          </a:prstGeom>
          <a:noFill/>
          <a:ln w="6350">
            <a:solidFill>
              <a:srgbClr val="D5DEEC"/>
            </a:solidFill>
            <a:prstDash val="solid"/>
          </a:ln>
        </p:spPr>
      </p:sp>
      <p:sp>
        <p:nvSpPr>
          <p:cNvPr id="47" name="Text 45"/>
          <p:cNvSpPr txBox="1"/>
          <p:nvPr/>
        </p:nvSpPr>
        <p:spPr>
          <a:xfrm>
            <a:off x="2172102" y="3569762"/>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Terraform state will hold DB passwords in clear</a:t>
            </a:r>
            <a:endParaRPr lang="en-US" sz="1200" dirty="0"/>
          </a:p>
        </p:txBody>
      </p:sp>
      <p:sp>
        <p:nvSpPr>
          <p:cNvPr id="48" name="Shape 46"/>
          <p:cNvSpPr/>
          <p:nvPr/>
        </p:nvSpPr>
        <p:spPr>
          <a:xfrm>
            <a:off x="7575063" y="3803952"/>
            <a:ext cx="3803853" cy="63"/>
          </a:xfrm>
          <a:prstGeom prst="line">
            <a:avLst/>
          </a:prstGeom>
          <a:noFill/>
          <a:ln w="6350">
            <a:solidFill>
              <a:srgbClr val="D5DEEC"/>
            </a:solidFill>
            <a:prstDash val="solid"/>
          </a:ln>
        </p:spPr>
      </p:sp>
      <p:sp>
        <p:nvSpPr>
          <p:cNvPr id="49" name="Text 47"/>
          <p:cNvSpPr txBox="1"/>
          <p:nvPr/>
        </p:nvSpPr>
        <p:spPr>
          <a:xfrm>
            <a:off x="7666501" y="3569762"/>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KMS state bucket; ignore *.tfstate</a:t>
            </a:r>
            <a:endParaRPr lang="en-US" sz="1200" dirty="0"/>
          </a:p>
        </p:txBody>
      </p:sp>
      <p:sp>
        <p:nvSpPr>
          <p:cNvPr id="50" name="Shape 48"/>
          <p:cNvSpPr/>
          <p:nvPr/>
        </p:nvSpPr>
        <p:spPr>
          <a:xfrm>
            <a:off x="812780" y="4094655"/>
            <a:ext cx="1267885" cy="63"/>
          </a:xfrm>
          <a:prstGeom prst="line">
            <a:avLst/>
          </a:prstGeom>
          <a:noFill/>
          <a:ln w="6350">
            <a:solidFill>
              <a:srgbClr val="D5DEEC"/>
            </a:solidFill>
            <a:prstDash val="solid"/>
          </a:ln>
        </p:spPr>
      </p:sp>
      <p:sp>
        <p:nvSpPr>
          <p:cNvPr id="51" name="Text 49"/>
          <p:cNvSpPr txBox="1"/>
          <p:nvPr/>
        </p:nvSpPr>
        <p:spPr>
          <a:xfrm>
            <a:off x="904217" y="3860465"/>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52" name="Shape 50"/>
          <p:cNvSpPr/>
          <p:nvPr/>
        </p:nvSpPr>
        <p:spPr>
          <a:xfrm>
            <a:off x="2080664" y="4094655"/>
            <a:ext cx="5494399" cy="63"/>
          </a:xfrm>
          <a:prstGeom prst="line">
            <a:avLst/>
          </a:prstGeom>
          <a:noFill/>
          <a:ln w="6350">
            <a:solidFill>
              <a:srgbClr val="D5DEEC"/>
            </a:solidFill>
            <a:prstDash val="solid"/>
          </a:ln>
        </p:spPr>
      </p:sp>
      <p:sp>
        <p:nvSpPr>
          <p:cNvPr id="53" name="Text 51"/>
          <p:cNvSpPr txBox="1"/>
          <p:nvPr/>
        </p:nvSpPr>
        <p:spPr>
          <a:xfrm>
            <a:off x="2172102" y="3860465"/>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Grafana default password and embedding allowed</a:t>
            </a:r>
            <a:endParaRPr lang="en-US" sz="1200" dirty="0"/>
          </a:p>
        </p:txBody>
      </p:sp>
      <p:sp>
        <p:nvSpPr>
          <p:cNvPr id="54" name="Shape 52"/>
          <p:cNvSpPr/>
          <p:nvPr/>
        </p:nvSpPr>
        <p:spPr>
          <a:xfrm>
            <a:off x="7575063" y="4094655"/>
            <a:ext cx="3803853" cy="63"/>
          </a:xfrm>
          <a:prstGeom prst="line">
            <a:avLst/>
          </a:prstGeom>
          <a:noFill/>
          <a:ln w="6350">
            <a:solidFill>
              <a:srgbClr val="D5DEEC"/>
            </a:solidFill>
            <a:prstDash val="solid"/>
          </a:ln>
        </p:spPr>
      </p:sp>
      <p:sp>
        <p:nvSpPr>
          <p:cNvPr id="55" name="Text 53"/>
          <p:cNvSpPr txBox="1"/>
          <p:nvPr/>
        </p:nvSpPr>
        <p:spPr>
          <a:xfrm>
            <a:off x="7666501" y="3860465"/>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existingSecret; embedding off</a:t>
            </a:r>
            <a:endParaRPr lang="en-US" sz="1200" dirty="0"/>
          </a:p>
        </p:txBody>
      </p:sp>
      <p:sp>
        <p:nvSpPr>
          <p:cNvPr id="56" name="Shape 54"/>
          <p:cNvSpPr/>
          <p:nvPr/>
        </p:nvSpPr>
        <p:spPr>
          <a:xfrm>
            <a:off x="812780" y="4097830"/>
            <a:ext cx="10566136" cy="290704"/>
          </a:xfrm>
          <a:prstGeom prst="rect">
            <a:avLst/>
          </a:prstGeom>
          <a:solidFill>
            <a:srgbClr val="EEF2F9"/>
          </a:solidFill>
          <a:ln/>
        </p:spPr>
      </p:sp>
      <p:sp>
        <p:nvSpPr>
          <p:cNvPr id="57" name="Shape 55"/>
          <p:cNvSpPr/>
          <p:nvPr/>
        </p:nvSpPr>
        <p:spPr>
          <a:xfrm>
            <a:off x="812780" y="4385359"/>
            <a:ext cx="1267885" cy="63"/>
          </a:xfrm>
          <a:prstGeom prst="line">
            <a:avLst/>
          </a:prstGeom>
          <a:noFill/>
          <a:ln w="6350">
            <a:solidFill>
              <a:srgbClr val="D5DEEC"/>
            </a:solidFill>
            <a:prstDash val="solid"/>
          </a:ln>
        </p:spPr>
      </p:sp>
      <p:sp>
        <p:nvSpPr>
          <p:cNvPr id="58" name="Text 56"/>
          <p:cNvSpPr txBox="1"/>
          <p:nvPr/>
        </p:nvSpPr>
        <p:spPr>
          <a:xfrm>
            <a:off x="904217" y="4151169"/>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5C6B8A"/>
                </a:solidFill>
                <a:latin typeface="Calibri" pitchFamily="34" charset="0"/>
                <a:ea typeface="Calibri" pitchFamily="34" charset="-122"/>
                <a:cs typeface="Calibri" pitchFamily="34" charset="-120"/>
              </a:rPr>
              <a:t>Low</a:t>
            </a:r>
            <a:endParaRPr lang="en-US" sz="1200" dirty="0"/>
          </a:p>
        </p:txBody>
      </p:sp>
      <p:sp>
        <p:nvSpPr>
          <p:cNvPr id="59" name="Shape 57"/>
          <p:cNvSpPr/>
          <p:nvPr/>
        </p:nvSpPr>
        <p:spPr>
          <a:xfrm>
            <a:off x="2080664" y="4385359"/>
            <a:ext cx="5494399" cy="63"/>
          </a:xfrm>
          <a:prstGeom prst="line">
            <a:avLst/>
          </a:prstGeom>
          <a:noFill/>
          <a:ln w="6350">
            <a:solidFill>
              <a:srgbClr val="D5DEEC"/>
            </a:solidFill>
            <a:prstDash val="solid"/>
          </a:ln>
        </p:spPr>
      </p:sp>
      <p:sp>
        <p:nvSpPr>
          <p:cNvPr id="60" name="Text 58"/>
          <p:cNvSpPr txBox="1"/>
          <p:nvPr/>
        </p:nvSpPr>
        <p:spPr>
          <a:xfrm>
            <a:off x="2172102" y="4151169"/>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Tag-pinned actions and images; EKS 1.29, node 20</a:t>
            </a:r>
            <a:endParaRPr lang="en-US" sz="1200" dirty="0"/>
          </a:p>
        </p:txBody>
      </p:sp>
      <p:sp>
        <p:nvSpPr>
          <p:cNvPr id="61" name="Shape 59"/>
          <p:cNvSpPr/>
          <p:nvPr/>
        </p:nvSpPr>
        <p:spPr>
          <a:xfrm>
            <a:off x="7575063" y="4385359"/>
            <a:ext cx="3803853" cy="63"/>
          </a:xfrm>
          <a:prstGeom prst="line">
            <a:avLst/>
          </a:prstGeom>
          <a:noFill/>
          <a:ln w="6350">
            <a:solidFill>
              <a:srgbClr val="D5DEEC"/>
            </a:solidFill>
            <a:prstDash val="solid"/>
          </a:ln>
        </p:spPr>
      </p:sp>
      <p:sp>
        <p:nvSpPr>
          <p:cNvPr id="62" name="Text 60"/>
          <p:cNvSpPr txBox="1"/>
          <p:nvPr/>
        </p:nvSpPr>
        <p:spPr>
          <a:xfrm>
            <a:off x="7666501" y="4151169"/>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Pin by SHA or digest; upgrade</a:t>
            </a:r>
            <a:endParaRPr lang="en-US" sz="1200" dirty="0"/>
          </a:p>
        </p:txBody>
      </p:sp>
      <p:sp>
        <p:nvSpPr>
          <p:cNvPr id="63" name="Text 61"/>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Security</a:t>
            </a:r>
            <a:endParaRPr lang="en-US" sz="1200" dirty="0"/>
          </a:p>
        </p:txBody>
      </p:sp>
      <p:sp>
        <p:nvSpPr>
          <p:cNvPr id="64" name="Text 62"/>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30</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SECURITY FINDINGS · WEB, APPS AND HYGIENE</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The browser side needs defence in depth</a:t>
            </a:r>
            <a:endParaRPr lang="en-US" sz="3000" dirty="0"/>
          </a:p>
        </p:txBody>
      </p:sp>
      <p:sp>
        <p:nvSpPr>
          <p:cNvPr id="4" name="Shape 2"/>
          <p:cNvSpPr/>
          <p:nvPr/>
        </p:nvSpPr>
        <p:spPr>
          <a:xfrm>
            <a:off x="812780" y="1775376"/>
            <a:ext cx="10566136" cy="287529"/>
          </a:xfrm>
          <a:prstGeom prst="rect">
            <a:avLst/>
          </a:prstGeom>
          <a:solidFill>
            <a:srgbClr val="2454C5"/>
          </a:solidFill>
          <a:ln/>
        </p:spPr>
      </p:sp>
      <p:sp>
        <p:nvSpPr>
          <p:cNvPr id="5" name="Shape 3"/>
          <p:cNvSpPr/>
          <p:nvPr/>
        </p:nvSpPr>
        <p:spPr>
          <a:xfrm>
            <a:off x="812780" y="2059730"/>
            <a:ext cx="1267885" cy="63"/>
          </a:xfrm>
          <a:prstGeom prst="line">
            <a:avLst/>
          </a:prstGeom>
          <a:noFill/>
          <a:ln w="6350">
            <a:solidFill>
              <a:srgbClr val="D5DEEC"/>
            </a:solidFill>
            <a:prstDash val="solid"/>
          </a:ln>
        </p:spPr>
      </p:sp>
      <p:sp>
        <p:nvSpPr>
          <p:cNvPr id="6" name="Text 4"/>
          <p:cNvSpPr txBox="1"/>
          <p:nvPr/>
        </p:nvSpPr>
        <p:spPr>
          <a:xfrm>
            <a:off x="904217" y="1828715"/>
            <a:ext cx="1215210"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Severity</a:t>
            </a:r>
            <a:endParaRPr lang="en-US" sz="1200" dirty="0"/>
          </a:p>
        </p:txBody>
      </p:sp>
      <p:sp>
        <p:nvSpPr>
          <p:cNvPr id="7" name="Shape 5"/>
          <p:cNvSpPr/>
          <p:nvPr/>
        </p:nvSpPr>
        <p:spPr>
          <a:xfrm>
            <a:off x="2080664" y="2059730"/>
            <a:ext cx="5494399" cy="63"/>
          </a:xfrm>
          <a:prstGeom prst="line">
            <a:avLst/>
          </a:prstGeom>
          <a:noFill/>
          <a:ln w="6350">
            <a:solidFill>
              <a:srgbClr val="D5DEEC"/>
            </a:solidFill>
            <a:prstDash val="solid"/>
          </a:ln>
        </p:spPr>
      </p:sp>
      <p:sp>
        <p:nvSpPr>
          <p:cNvPr id="8" name="Text 6"/>
          <p:cNvSpPr txBox="1"/>
          <p:nvPr/>
        </p:nvSpPr>
        <p:spPr>
          <a:xfrm>
            <a:off x="2172102" y="1828715"/>
            <a:ext cx="5948906"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Finding</a:t>
            </a:r>
            <a:endParaRPr lang="en-US" sz="1200" dirty="0"/>
          </a:p>
        </p:txBody>
      </p:sp>
      <p:sp>
        <p:nvSpPr>
          <p:cNvPr id="9" name="Shape 7"/>
          <p:cNvSpPr/>
          <p:nvPr/>
        </p:nvSpPr>
        <p:spPr>
          <a:xfrm>
            <a:off x="7575063" y="2059730"/>
            <a:ext cx="3803853" cy="63"/>
          </a:xfrm>
          <a:prstGeom prst="line">
            <a:avLst/>
          </a:prstGeom>
          <a:noFill/>
          <a:ln w="6350">
            <a:solidFill>
              <a:srgbClr val="D5DEEC"/>
            </a:solidFill>
            <a:prstDash val="solid"/>
          </a:ln>
        </p:spPr>
      </p:sp>
      <p:sp>
        <p:nvSpPr>
          <p:cNvPr id="10" name="Text 8"/>
          <p:cNvSpPr txBox="1"/>
          <p:nvPr/>
        </p:nvSpPr>
        <p:spPr>
          <a:xfrm>
            <a:off x="7666501" y="1828715"/>
            <a:ext cx="4055494" cy="182875"/>
          </a:xfrm>
          <a:prstGeom prst="rect">
            <a:avLst/>
          </a:prstGeom>
          <a:noFill/>
          <a:ln/>
        </p:spPr>
        <p:txBody>
          <a:bodyPr wrap="square" lIns="0" tIns="0" rIns="0" bIns="0" rtlCol="0" anchor="t"/>
          <a:lstStyle/>
          <a:p>
            <a:pPr algn="l" indent="0" marL="0">
              <a:lnSpc>
                <a:spcPct val="100000"/>
              </a:lnSpc>
              <a:buNone/>
            </a:pPr>
            <a:r>
              <a:rPr lang="en-US" sz="1200" b="1" dirty="0">
                <a:solidFill>
                  <a:srgbClr val="F8FAFF"/>
                </a:solidFill>
                <a:latin typeface="Calibri" pitchFamily="34" charset="0"/>
                <a:ea typeface="Calibri" pitchFamily="34" charset="-122"/>
                <a:cs typeface="Calibri" pitchFamily="34" charset="-120"/>
              </a:rPr>
              <a:t>Fix</a:t>
            </a:r>
            <a:endParaRPr lang="en-US" sz="1200" dirty="0"/>
          </a:p>
        </p:txBody>
      </p:sp>
      <p:sp>
        <p:nvSpPr>
          <p:cNvPr id="11" name="Shape 9"/>
          <p:cNvSpPr/>
          <p:nvPr/>
        </p:nvSpPr>
        <p:spPr>
          <a:xfrm>
            <a:off x="812780" y="2350433"/>
            <a:ext cx="1267885" cy="63"/>
          </a:xfrm>
          <a:prstGeom prst="line">
            <a:avLst/>
          </a:prstGeom>
          <a:noFill/>
          <a:ln w="6350">
            <a:solidFill>
              <a:srgbClr val="D5DEEC"/>
            </a:solidFill>
            <a:prstDash val="solid"/>
          </a:ln>
        </p:spPr>
      </p:sp>
      <p:sp>
        <p:nvSpPr>
          <p:cNvPr id="12" name="Text 10"/>
          <p:cNvSpPr txBox="1"/>
          <p:nvPr/>
        </p:nvSpPr>
        <p:spPr>
          <a:xfrm>
            <a:off x="904217" y="2116243"/>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13" name="Shape 11"/>
          <p:cNvSpPr/>
          <p:nvPr/>
        </p:nvSpPr>
        <p:spPr>
          <a:xfrm>
            <a:off x="2080664" y="2350433"/>
            <a:ext cx="5494399" cy="63"/>
          </a:xfrm>
          <a:prstGeom prst="line">
            <a:avLst/>
          </a:prstGeom>
          <a:noFill/>
          <a:ln w="6350">
            <a:solidFill>
              <a:srgbClr val="D5DEEC"/>
            </a:solidFill>
            <a:prstDash val="solid"/>
          </a:ln>
        </p:spPr>
      </p:sp>
      <p:sp>
        <p:nvSpPr>
          <p:cNvPr id="14" name="Text 12"/>
          <p:cNvSpPr txBox="1"/>
          <p:nvPr/>
        </p:nvSpPr>
        <p:spPr>
          <a:xfrm>
            <a:off x="2172102" y="2116243"/>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30-day refresh token kept in localStorage</a:t>
            </a:r>
            <a:endParaRPr lang="en-US" sz="1200" dirty="0"/>
          </a:p>
        </p:txBody>
      </p:sp>
      <p:sp>
        <p:nvSpPr>
          <p:cNvPr id="15" name="Shape 13"/>
          <p:cNvSpPr/>
          <p:nvPr/>
        </p:nvSpPr>
        <p:spPr>
          <a:xfrm>
            <a:off x="7575063" y="2350433"/>
            <a:ext cx="3803853" cy="63"/>
          </a:xfrm>
          <a:prstGeom prst="line">
            <a:avLst/>
          </a:prstGeom>
          <a:noFill/>
          <a:ln w="6350">
            <a:solidFill>
              <a:srgbClr val="D5DEEC"/>
            </a:solidFill>
            <a:prstDash val="solid"/>
          </a:ln>
        </p:spPr>
      </p:sp>
      <p:sp>
        <p:nvSpPr>
          <p:cNvPr id="16" name="Text 14"/>
          <p:cNvSpPr txBox="1"/>
          <p:nvPr/>
        </p:nvSpPr>
        <p:spPr>
          <a:xfrm>
            <a:off x="7666501" y="2116243"/>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HttpOnly SameSite cookie</a:t>
            </a:r>
            <a:endParaRPr lang="en-US" sz="1200" dirty="0"/>
          </a:p>
        </p:txBody>
      </p:sp>
      <p:sp>
        <p:nvSpPr>
          <p:cNvPr id="17" name="Shape 15"/>
          <p:cNvSpPr/>
          <p:nvPr/>
        </p:nvSpPr>
        <p:spPr>
          <a:xfrm>
            <a:off x="812780" y="2353608"/>
            <a:ext cx="10566136" cy="290704"/>
          </a:xfrm>
          <a:prstGeom prst="rect">
            <a:avLst/>
          </a:prstGeom>
          <a:solidFill>
            <a:srgbClr val="EEF2F9"/>
          </a:solidFill>
          <a:ln/>
        </p:spPr>
      </p:sp>
      <p:sp>
        <p:nvSpPr>
          <p:cNvPr id="18" name="Shape 16"/>
          <p:cNvSpPr/>
          <p:nvPr/>
        </p:nvSpPr>
        <p:spPr>
          <a:xfrm>
            <a:off x="812780" y="2641137"/>
            <a:ext cx="1267885" cy="63"/>
          </a:xfrm>
          <a:prstGeom prst="line">
            <a:avLst/>
          </a:prstGeom>
          <a:noFill/>
          <a:ln w="6350">
            <a:solidFill>
              <a:srgbClr val="D5DEEC"/>
            </a:solidFill>
            <a:prstDash val="solid"/>
          </a:ln>
        </p:spPr>
      </p:sp>
      <p:sp>
        <p:nvSpPr>
          <p:cNvPr id="19" name="Text 17"/>
          <p:cNvSpPr txBox="1"/>
          <p:nvPr/>
        </p:nvSpPr>
        <p:spPr>
          <a:xfrm>
            <a:off x="904217" y="2406947"/>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20" name="Shape 18"/>
          <p:cNvSpPr/>
          <p:nvPr/>
        </p:nvSpPr>
        <p:spPr>
          <a:xfrm>
            <a:off x="2080664" y="2641137"/>
            <a:ext cx="5494399" cy="63"/>
          </a:xfrm>
          <a:prstGeom prst="line">
            <a:avLst/>
          </a:prstGeom>
          <a:noFill/>
          <a:ln w="6350">
            <a:solidFill>
              <a:srgbClr val="D5DEEC"/>
            </a:solidFill>
            <a:prstDash val="solid"/>
          </a:ln>
        </p:spPr>
      </p:sp>
      <p:sp>
        <p:nvSpPr>
          <p:cNvPr id="21" name="Text 19"/>
          <p:cNvSpPr txBox="1"/>
          <p:nvPr/>
        </p:nvSpPr>
        <p:spPr>
          <a:xfrm>
            <a:off x="2172102" y="2406947"/>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No CSP or HSTS; nginx containers run as root</a:t>
            </a:r>
            <a:endParaRPr lang="en-US" sz="1200" dirty="0"/>
          </a:p>
        </p:txBody>
      </p:sp>
      <p:sp>
        <p:nvSpPr>
          <p:cNvPr id="22" name="Shape 20"/>
          <p:cNvSpPr/>
          <p:nvPr/>
        </p:nvSpPr>
        <p:spPr>
          <a:xfrm>
            <a:off x="7575063" y="2641137"/>
            <a:ext cx="3803853" cy="63"/>
          </a:xfrm>
          <a:prstGeom prst="line">
            <a:avLst/>
          </a:prstGeom>
          <a:noFill/>
          <a:ln w="6350">
            <a:solidFill>
              <a:srgbClr val="D5DEEC"/>
            </a:solidFill>
            <a:prstDash val="solid"/>
          </a:ln>
        </p:spPr>
      </p:sp>
      <p:sp>
        <p:nvSpPr>
          <p:cNvPr id="23" name="Text 21"/>
          <p:cNvSpPr txBox="1"/>
          <p:nvPr/>
        </p:nvSpPr>
        <p:spPr>
          <a:xfrm>
            <a:off x="7666501" y="2406947"/>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Add headers; nginx-unprivileged</a:t>
            </a:r>
            <a:endParaRPr lang="en-US" sz="1200" dirty="0"/>
          </a:p>
        </p:txBody>
      </p:sp>
      <p:sp>
        <p:nvSpPr>
          <p:cNvPr id="24" name="Shape 22"/>
          <p:cNvSpPr/>
          <p:nvPr/>
        </p:nvSpPr>
        <p:spPr>
          <a:xfrm>
            <a:off x="812780" y="2931841"/>
            <a:ext cx="1267885" cy="63"/>
          </a:xfrm>
          <a:prstGeom prst="line">
            <a:avLst/>
          </a:prstGeom>
          <a:noFill/>
          <a:ln w="6350">
            <a:solidFill>
              <a:srgbClr val="D5DEEC"/>
            </a:solidFill>
            <a:prstDash val="solid"/>
          </a:ln>
        </p:spPr>
      </p:sp>
      <p:sp>
        <p:nvSpPr>
          <p:cNvPr id="25" name="Text 23"/>
          <p:cNvSpPr txBox="1"/>
          <p:nvPr/>
        </p:nvSpPr>
        <p:spPr>
          <a:xfrm>
            <a:off x="904217" y="2697651"/>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26" name="Shape 24"/>
          <p:cNvSpPr/>
          <p:nvPr/>
        </p:nvSpPr>
        <p:spPr>
          <a:xfrm>
            <a:off x="2080664" y="2931841"/>
            <a:ext cx="5494399" cy="63"/>
          </a:xfrm>
          <a:prstGeom prst="line">
            <a:avLst/>
          </a:prstGeom>
          <a:noFill/>
          <a:ln w="6350">
            <a:solidFill>
              <a:srgbClr val="D5DEEC"/>
            </a:solidFill>
            <a:prstDash val="solid"/>
          </a:ln>
        </p:spPr>
      </p:sp>
      <p:sp>
        <p:nvSpPr>
          <p:cNvPr id="27" name="Text 25"/>
          <p:cNvSpPr txBox="1"/>
          <p:nvPr/>
        </p:nvSpPr>
        <p:spPr>
          <a:xfrm>
            <a:off x="2172102" y="2697651"/>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/metrics and /prometheus are public</a:t>
            </a:r>
            <a:endParaRPr lang="en-US" sz="1200" dirty="0"/>
          </a:p>
        </p:txBody>
      </p:sp>
      <p:sp>
        <p:nvSpPr>
          <p:cNvPr id="28" name="Shape 26"/>
          <p:cNvSpPr/>
          <p:nvPr/>
        </p:nvSpPr>
        <p:spPr>
          <a:xfrm>
            <a:off x="7575063" y="2931841"/>
            <a:ext cx="3803853" cy="63"/>
          </a:xfrm>
          <a:prstGeom prst="line">
            <a:avLst/>
          </a:prstGeom>
          <a:noFill/>
          <a:ln w="6350">
            <a:solidFill>
              <a:srgbClr val="D5DEEC"/>
            </a:solidFill>
            <a:prstDash val="solid"/>
          </a:ln>
        </p:spPr>
      </p:sp>
      <p:sp>
        <p:nvSpPr>
          <p:cNvPr id="29" name="Text 27"/>
          <p:cNvSpPr txBox="1"/>
          <p:nvPr/>
        </p:nvSpPr>
        <p:spPr>
          <a:xfrm>
            <a:off x="7666501" y="2697651"/>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Separate management port</a:t>
            </a:r>
            <a:endParaRPr lang="en-US" sz="1200" dirty="0"/>
          </a:p>
        </p:txBody>
      </p:sp>
      <p:sp>
        <p:nvSpPr>
          <p:cNvPr id="30" name="Shape 28"/>
          <p:cNvSpPr/>
          <p:nvPr/>
        </p:nvSpPr>
        <p:spPr>
          <a:xfrm>
            <a:off x="812780" y="2935016"/>
            <a:ext cx="10566136" cy="290704"/>
          </a:xfrm>
          <a:prstGeom prst="rect">
            <a:avLst/>
          </a:prstGeom>
          <a:solidFill>
            <a:srgbClr val="EEF2F9"/>
          </a:solidFill>
          <a:ln/>
        </p:spPr>
      </p:sp>
      <p:sp>
        <p:nvSpPr>
          <p:cNvPr id="31" name="Shape 29"/>
          <p:cNvSpPr/>
          <p:nvPr/>
        </p:nvSpPr>
        <p:spPr>
          <a:xfrm>
            <a:off x="812780" y="3222544"/>
            <a:ext cx="1267885" cy="63"/>
          </a:xfrm>
          <a:prstGeom prst="line">
            <a:avLst/>
          </a:prstGeom>
          <a:noFill/>
          <a:ln w="6350">
            <a:solidFill>
              <a:srgbClr val="D5DEEC"/>
            </a:solidFill>
            <a:prstDash val="solid"/>
          </a:ln>
        </p:spPr>
      </p:sp>
      <p:sp>
        <p:nvSpPr>
          <p:cNvPr id="32" name="Text 30"/>
          <p:cNvSpPr txBox="1"/>
          <p:nvPr/>
        </p:nvSpPr>
        <p:spPr>
          <a:xfrm>
            <a:off x="904217" y="2988354"/>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33" name="Shape 31"/>
          <p:cNvSpPr/>
          <p:nvPr/>
        </p:nvSpPr>
        <p:spPr>
          <a:xfrm>
            <a:off x="2080664" y="3222544"/>
            <a:ext cx="5494399" cy="63"/>
          </a:xfrm>
          <a:prstGeom prst="line">
            <a:avLst/>
          </a:prstGeom>
          <a:noFill/>
          <a:ln w="6350">
            <a:solidFill>
              <a:srgbClr val="D5DEEC"/>
            </a:solidFill>
            <a:prstDash val="solid"/>
          </a:ln>
        </p:spPr>
      </p:sp>
      <p:sp>
        <p:nvSpPr>
          <p:cNvPr id="34" name="Text 32"/>
          <p:cNvSpPr txBox="1"/>
          <p:nvPr/>
        </p:nvSpPr>
        <p:spPr>
          <a:xfrm>
            <a:off x="2172102" y="2988354"/>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Uploads trust the client's content type</a:t>
            </a:r>
            <a:endParaRPr lang="en-US" sz="1200" dirty="0"/>
          </a:p>
        </p:txBody>
      </p:sp>
      <p:sp>
        <p:nvSpPr>
          <p:cNvPr id="35" name="Shape 33"/>
          <p:cNvSpPr/>
          <p:nvPr/>
        </p:nvSpPr>
        <p:spPr>
          <a:xfrm>
            <a:off x="7575063" y="3222544"/>
            <a:ext cx="3803853" cy="63"/>
          </a:xfrm>
          <a:prstGeom prst="line">
            <a:avLst/>
          </a:prstGeom>
          <a:noFill/>
          <a:ln w="6350">
            <a:solidFill>
              <a:srgbClr val="D5DEEC"/>
            </a:solidFill>
            <a:prstDash val="solid"/>
          </a:ln>
        </p:spPr>
      </p:sp>
      <p:sp>
        <p:nvSpPr>
          <p:cNvPr id="36" name="Text 34"/>
          <p:cNvSpPr txBox="1"/>
          <p:nvPr/>
        </p:nvSpPr>
        <p:spPr>
          <a:xfrm>
            <a:off x="7666501" y="2988354"/>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Magic-byte allow-list</a:t>
            </a:r>
            <a:endParaRPr lang="en-US" sz="1200" dirty="0"/>
          </a:p>
        </p:txBody>
      </p:sp>
      <p:sp>
        <p:nvSpPr>
          <p:cNvPr id="37" name="Shape 35"/>
          <p:cNvSpPr/>
          <p:nvPr/>
        </p:nvSpPr>
        <p:spPr>
          <a:xfrm>
            <a:off x="812780" y="3513248"/>
            <a:ext cx="1267885" cy="63"/>
          </a:xfrm>
          <a:prstGeom prst="line">
            <a:avLst/>
          </a:prstGeom>
          <a:noFill/>
          <a:ln w="6350">
            <a:solidFill>
              <a:srgbClr val="D5DEEC"/>
            </a:solidFill>
            <a:prstDash val="solid"/>
          </a:ln>
        </p:spPr>
      </p:sp>
      <p:sp>
        <p:nvSpPr>
          <p:cNvPr id="38" name="Text 36"/>
          <p:cNvSpPr txBox="1"/>
          <p:nvPr/>
        </p:nvSpPr>
        <p:spPr>
          <a:xfrm>
            <a:off x="904217" y="3279058"/>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2454C5"/>
                </a:solidFill>
                <a:latin typeface="Calibri" pitchFamily="34" charset="0"/>
                <a:ea typeface="Calibri" pitchFamily="34" charset="-122"/>
                <a:cs typeface="Calibri" pitchFamily="34" charset="-120"/>
              </a:rPr>
              <a:t>Medium</a:t>
            </a:r>
            <a:endParaRPr lang="en-US" sz="1200" dirty="0"/>
          </a:p>
        </p:txBody>
      </p:sp>
      <p:sp>
        <p:nvSpPr>
          <p:cNvPr id="39" name="Shape 37"/>
          <p:cNvSpPr/>
          <p:nvPr/>
        </p:nvSpPr>
        <p:spPr>
          <a:xfrm>
            <a:off x="2080664" y="3513248"/>
            <a:ext cx="5494399" cy="63"/>
          </a:xfrm>
          <a:prstGeom prst="line">
            <a:avLst/>
          </a:prstGeom>
          <a:noFill/>
          <a:ln w="6350">
            <a:solidFill>
              <a:srgbClr val="D5DEEC"/>
            </a:solidFill>
            <a:prstDash val="solid"/>
          </a:ln>
        </p:spPr>
      </p:sp>
      <p:sp>
        <p:nvSpPr>
          <p:cNvPr id="40" name="Text 38"/>
          <p:cNvSpPr txBox="1"/>
          <p:nvPr/>
        </p:nvSpPr>
        <p:spPr>
          <a:xfrm>
            <a:off x="2172102" y="3279058"/>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OTP codes hashed with SHA-256, salted by phone</a:t>
            </a:r>
            <a:endParaRPr lang="en-US" sz="1200" dirty="0"/>
          </a:p>
        </p:txBody>
      </p:sp>
      <p:sp>
        <p:nvSpPr>
          <p:cNvPr id="41" name="Shape 39"/>
          <p:cNvSpPr/>
          <p:nvPr/>
        </p:nvSpPr>
        <p:spPr>
          <a:xfrm>
            <a:off x="7575063" y="3513248"/>
            <a:ext cx="3803853" cy="63"/>
          </a:xfrm>
          <a:prstGeom prst="line">
            <a:avLst/>
          </a:prstGeom>
          <a:noFill/>
          <a:ln w="6350">
            <a:solidFill>
              <a:srgbClr val="D5DEEC"/>
            </a:solidFill>
            <a:prstDash val="solid"/>
          </a:ln>
        </p:spPr>
      </p:sp>
      <p:sp>
        <p:nvSpPr>
          <p:cNvPr id="42" name="Text 40"/>
          <p:cNvSpPr txBox="1"/>
          <p:nvPr/>
        </p:nvSpPr>
        <p:spPr>
          <a:xfrm>
            <a:off x="7666501" y="3279058"/>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HMAC with a server key</a:t>
            </a:r>
            <a:endParaRPr lang="en-US" sz="1200" dirty="0"/>
          </a:p>
        </p:txBody>
      </p:sp>
      <p:sp>
        <p:nvSpPr>
          <p:cNvPr id="43" name="Shape 41"/>
          <p:cNvSpPr/>
          <p:nvPr/>
        </p:nvSpPr>
        <p:spPr>
          <a:xfrm>
            <a:off x="812780" y="3516423"/>
            <a:ext cx="10566136" cy="290704"/>
          </a:xfrm>
          <a:prstGeom prst="rect">
            <a:avLst/>
          </a:prstGeom>
          <a:solidFill>
            <a:srgbClr val="EEF2F9"/>
          </a:solidFill>
          <a:ln/>
        </p:spPr>
      </p:sp>
      <p:sp>
        <p:nvSpPr>
          <p:cNvPr id="44" name="Shape 42"/>
          <p:cNvSpPr/>
          <p:nvPr/>
        </p:nvSpPr>
        <p:spPr>
          <a:xfrm>
            <a:off x="812780" y="3803952"/>
            <a:ext cx="1267885" cy="63"/>
          </a:xfrm>
          <a:prstGeom prst="line">
            <a:avLst/>
          </a:prstGeom>
          <a:noFill/>
          <a:ln w="6350">
            <a:solidFill>
              <a:srgbClr val="D5DEEC"/>
            </a:solidFill>
            <a:prstDash val="solid"/>
          </a:ln>
        </p:spPr>
      </p:sp>
      <p:sp>
        <p:nvSpPr>
          <p:cNvPr id="45" name="Text 43"/>
          <p:cNvSpPr txBox="1"/>
          <p:nvPr/>
        </p:nvSpPr>
        <p:spPr>
          <a:xfrm>
            <a:off x="904217" y="3569762"/>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5C6B8A"/>
                </a:solidFill>
                <a:latin typeface="Calibri" pitchFamily="34" charset="0"/>
                <a:ea typeface="Calibri" pitchFamily="34" charset="-122"/>
                <a:cs typeface="Calibri" pitchFamily="34" charset="-120"/>
              </a:rPr>
              <a:t>Low</a:t>
            </a:r>
            <a:endParaRPr lang="en-US" sz="1200" dirty="0"/>
          </a:p>
        </p:txBody>
      </p:sp>
      <p:sp>
        <p:nvSpPr>
          <p:cNvPr id="46" name="Shape 44"/>
          <p:cNvSpPr/>
          <p:nvPr/>
        </p:nvSpPr>
        <p:spPr>
          <a:xfrm>
            <a:off x="2080664" y="3803952"/>
            <a:ext cx="5494399" cy="63"/>
          </a:xfrm>
          <a:prstGeom prst="line">
            <a:avLst/>
          </a:prstGeom>
          <a:noFill/>
          <a:ln w="6350">
            <a:solidFill>
              <a:srgbClr val="D5DEEC"/>
            </a:solidFill>
            <a:prstDash val="solid"/>
          </a:ln>
        </p:spPr>
      </p:sp>
      <p:sp>
        <p:nvSpPr>
          <p:cNvPr id="47" name="Text 45"/>
          <p:cNvSpPr txBox="1"/>
          <p:nvPr/>
        </p:nvSpPr>
        <p:spPr>
          <a:xfrm>
            <a:off x="2172102" y="3569762"/>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Client IP parsed by hand from X-Forwarded-For</a:t>
            </a:r>
            <a:endParaRPr lang="en-US" sz="1200" dirty="0"/>
          </a:p>
        </p:txBody>
      </p:sp>
      <p:sp>
        <p:nvSpPr>
          <p:cNvPr id="48" name="Shape 46"/>
          <p:cNvSpPr/>
          <p:nvPr/>
        </p:nvSpPr>
        <p:spPr>
          <a:xfrm>
            <a:off x="7575063" y="3803952"/>
            <a:ext cx="3803853" cy="63"/>
          </a:xfrm>
          <a:prstGeom prst="line">
            <a:avLst/>
          </a:prstGeom>
          <a:noFill/>
          <a:ln w="6350">
            <a:solidFill>
              <a:srgbClr val="D5DEEC"/>
            </a:solidFill>
            <a:prstDash val="solid"/>
          </a:ln>
        </p:spPr>
      </p:sp>
      <p:sp>
        <p:nvSpPr>
          <p:cNvPr id="49" name="Text 47"/>
          <p:cNvSpPr txBox="1"/>
          <p:nvPr/>
        </p:nvSpPr>
        <p:spPr>
          <a:xfrm>
            <a:off x="7666501" y="3569762"/>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Trusted-proxy configuration</a:t>
            </a:r>
            <a:endParaRPr lang="en-US" sz="1200" dirty="0"/>
          </a:p>
        </p:txBody>
      </p:sp>
      <p:sp>
        <p:nvSpPr>
          <p:cNvPr id="50" name="Shape 48"/>
          <p:cNvSpPr/>
          <p:nvPr/>
        </p:nvSpPr>
        <p:spPr>
          <a:xfrm>
            <a:off x="812780" y="4094655"/>
            <a:ext cx="1267885" cy="63"/>
          </a:xfrm>
          <a:prstGeom prst="line">
            <a:avLst/>
          </a:prstGeom>
          <a:noFill/>
          <a:ln w="6350">
            <a:solidFill>
              <a:srgbClr val="D5DEEC"/>
            </a:solidFill>
            <a:prstDash val="solid"/>
          </a:ln>
        </p:spPr>
      </p:sp>
      <p:sp>
        <p:nvSpPr>
          <p:cNvPr id="51" name="Text 49"/>
          <p:cNvSpPr txBox="1"/>
          <p:nvPr/>
        </p:nvSpPr>
        <p:spPr>
          <a:xfrm>
            <a:off x="904217" y="3860465"/>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5C6B8A"/>
                </a:solidFill>
                <a:latin typeface="Calibri" pitchFamily="34" charset="0"/>
                <a:ea typeface="Calibri" pitchFamily="34" charset="-122"/>
                <a:cs typeface="Calibri" pitchFamily="34" charset="-120"/>
              </a:rPr>
              <a:t>Low</a:t>
            </a:r>
            <a:endParaRPr lang="en-US" sz="1200" dirty="0"/>
          </a:p>
        </p:txBody>
      </p:sp>
      <p:sp>
        <p:nvSpPr>
          <p:cNvPr id="52" name="Shape 50"/>
          <p:cNvSpPr/>
          <p:nvPr/>
        </p:nvSpPr>
        <p:spPr>
          <a:xfrm>
            <a:off x="2080664" y="4094655"/>
            <a:ext cx="5494399" cy="63"/>
          </a:xfrm>
          <a:prstGeom prst="line">
            <a:avLst/>
          </a:prstGeom>
          <a:noFill/>
          <a:ln w="6350">
            <a:solidFill>
              <a:srgbClr val="D5DEEC"/>
            </a:solidFill>
            <a:prstDash val="solid"/>
          </a:ln>
        </p:spPr>
      </p:sp>
      <p:sp>
        <p:nvSpPr>
          <p:cNvPr id="53" name="Text 51"/>
          <p:cNvSpPr txBox="1"/>
          <p:nvPr/>
        </p:nvSpPr>
        <p:spPr>
          <a:xfrm>
            <a:off x="2172102" y="3860465"/>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Any role can create bookings; unmatched paths open</a:t>
            </a:r>
            <a:endParaRPr lang="en-US" sz="1200" dirty="0"/>
          </a:p>
        </p:txBody>
      </p:sp>
      <p:sp>
        <p:nvSpPr>
          <p:cNvPr id="54" name="Shape 52"/>
          <p:cNvSpPr/>
          <p:nvPr/>
        </p:nvSpPr>
        <p:spPr>
          <a:xfrm>
            <a:off x="7575063" y="4094655"/>
            <a:ext cx="3803853" cy="63"/>
          </a:xfrm>
          <a:prstGeom prst="line">
            <a:avLst/>
          </a:prstGeom>
          <a:noFill/>
          <a:ln w="6350">
            <a:solidFill>
              <a:srgbClr val="D5DEEC"/>
            </a:solidFill>
            <a:prstDash val="solid"/>
          </a:ln>
        </p:spPr>
      </p:sp>
      <p:sp>
        <p:nvSpPr>
          <p:cNvPr id="55" name="Text 53"/>
          <p:cNvSpPr txBox="1"/>
          <p:nvPr/>
        </p:nvSpPr>
        <p:spPr>
          <a:xfrm>
            <a:off x="7666501" y="3860465"/>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CUSTOMER rule; fail closed</a:t>
            </a:r>
            <a:endParaRPr lang="en-US" sz="1200" dirty="0"/>
          </a:p>
        </p:txBody>
      </p:sp>
      <p:sp>
        <p:nvSpPr>
          <p:cNvPr id="56" name="Shape 54"/>
          <p:cNvSpPr/>
          <p:nvPr/>
        </p:nvSpPr>
        <p:spPr>
          <a:xfrm>
            <a:off x="812780" y="4097830"/>
            <a:ext cx="10566136" cy="290704"/>
          </a:xfrm>
          <a:prstGeom prst="rect">
            <a:avLst/>
          </a:prstGeom>
          <a:solidFill>
            <a:srgbClr val="EEF2F9"/>
          </a:solidFill>
          <a:ln/>
        </p:spPr>
      </p:sp>
      <p:sp>
        <p:nvSpPr>
          <p:cNvPr id="57" name="Shape 55"/>
          <p:cNvSpPr/>
          <p:nvPr/>
        </p:nvSpPr>
        <p:spPr>
          <a:xfrm>
            <a:off x="812780" y="4385359"/>
            <a:ext cx="1267885" cy="63"/>
          </a:xfrm>
          <a:prstGeom prst="line">
            <a:avLst/>
          </a:prstGeom>
          <a:noFill/>
          <a:ln w="6350">
            <a:solidFill>
              <a:srgbClr val="D5DEEC"/>
            </a:solidFill>
            <a:prstDash val="solid"/>
          </a:ln>
        </p:spPr>
      </p:sp>
      <p:sp>
        <p:nvSpPr>
          <p:cNvPr id="58" name="Text 56"/>
          <p:cNvSpPr txBox="1"/>
          <p:nvPr/>
        </p:nvSpPr>
        <p:spPr>
          <a:xfrm>
            <a:off x="904217" y="4151169"/>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5C6B8A"/>
                </a:solidFill>
                <a:latin typeface="Calibri" pitchFamily="34" charset="0"/>
                <a:ea typeface="Calibri" pitchFamily="34" charset="-122"/>
                <a:cs typeface="Calibri" pitchFamily="34" charset="-120"/>
              </a:rPr>
              <a:t>Low</a:t>
            </a:r>
            <a:endParaRPr lang="en-US" sz="1200" dirty="0"/>
          </a:p>
        </p:txBody>
      </p:sp>
      <p:sp>
        <p:nvSpPr>
          <p:cNvPr id="59" name="Shape 57"/>
          <p:cNvSpPr/>
          <p:nvPr/>
        </p:nvSpPr>
        <p:spPr>
          <a:xfrm>
            <a:off x="2080664" y="4385359"/>
            <a:ext cx="5494399" cy="63"/>
          </a:xfrm>
          <a:prstGeom prst="line">
            <a:avLst/>
          </a:prstGeom>
          <a:noFill/>
          <a:ln w="6350">
            <a:solidFill>
              <a:srgbClr val="D5DEEC"/>
            </a:solidFill>
            <a:prstDash val="solid"/>
          </a:ln>
        </p:spPr>
      </p:sp>
      <p:sp>
        <p:nvSpPr>
          <p:cNvPr id="60" name="Text 58"/>
          <p:cNvSpPr txBox="1"/>
          <p:nvPr/>
        </p:nvSpPr>
        <p:spPr>
          <a:xfrm>
            <a:off x="2172102" y="4151169"/>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Tracked bin/, crash logs and scratch files</a:t>
            </a:r>
            <a:endParaRPr lang="en-US" sz="1200" dirty="0"/>
          </a:p>
        </p:txBody>
      </p:sp>
      <p:sp>
        <p:nvSpPr>
          <p:cNvPr id="61" name="Shape 59"/>
          <p:cNvSpPr/>
          <p:nvPr/>
        </p:nvSpPr>
        <p:spPr>
          <a:xfrm>
            <a:off x="7575063" y="4385359"/>
            <a:ext cx="3803853" cy="63"/>
          </a:xfrm>
          <a:prstGeom prst="line">
            <a:avLst/>
          </a:prstGeom>
          <a:noFill/>
          <a:ln w="6350">
            <a:solidFill>
              <a:srgbClr val="D5DEEC"/>
            </a:solidFill>
            <a:prstDash val="solid"/>
          </a:ln>
        </p:spPr>
      </p:sp>
      <p:sp>
        <p:nvSpPr>
          <p:cNvPr id="62" name="Text 60"/>
          <p:cNvSpPr txBox="1"/>
          <p:nvPr/>
        </p:nvSpPr>
        <p:spPr>
          <a:xfrm>
            <a:off x="7666501" y="4151169"/>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git rm; extend .gitignore</a:t>
            </a:r>
            <a:endParaRPr lang="en-US" sz="1200" dirty="0"/>
          </a:p>
        </p:txBody>
      </p:sp>
      <p:sp>
        <p:nvSpPr>
          <p:cNvPr id="63" name="Shape 61"/>
          <p:cNvSpPr/>
          <p:nvPr/>
        </p:nvSpPr>
        <p:spPr>
          <a:xfrm>
            <a:off x="812780" y="4676063"/>
            <a:ext cx="1267885" cy="63"/>
          </a:xfrm>
          <a:prstGeom prst="line">
            <a:avLst/>
          </a:prstGeom>
          <a:noFill/>
          <a:ln w="6350">
            <a:solidFill>
              <a:srgbClr val="D5DEEC"/>
            </a:solidFill>
            <a:prstDash val="solid"/>
          </a:ln>
        </p:spPr>
      </p:sp>
      <p:sp>
        <p:nvSpPr>
          <p:cNvPr id="64" name="Text 62"/>
          <p:cNvSpPr txBox="1"/>
          <p:nvPr/>
        </p:nvSpPr>
        <p:spPr>
          <a:xfrm>
            <a:off x="904217" y="4441873"/>
            <a:ext cx="1215210" cy="182875"/>
          </a:xfrm>
          <a:prstGeom prst="rect">
            <a:avLst/>
          </a:prstGeom>
          <a:noFill/>
          <a:ln/>
        </p:spPr>
        <p:txBody>
          <a:bodyPr wrap="square" lIns="0" tIns="0" rIns="0" bIns="0" rtlCol="0" anchor="t"/>
          <a:lstStyle/>
          <a:p>
            <a:pPr algn="l" indent="0" marL="0">
              <a:lnSpc>
                <a:spcPct val="100000"/>
              </a:lnSpc>
              <a:buNone/>
            </a:pPr>
            <a:r>
              <a:rPr lang="en-US" sz="1200" dirty="0">
                <a:solidFill>
                  <a:srgbClr val="5C6B8A"/>
                </a:solidFill>
                <a:latin typeface="Calibri" pitchFamily="34" charset="0"/>
                <a:ea typeface="Calibri" pitchFamily="34" charset="-122"/>
                <a:cs typeface="Calibri" pitchFamily="34" charset="-120"/>
              </a:rPr>
              <a:t>Low</a:t>
            </a:r>
            <a:endParaRPr lang="en-US" sz="1200" dirty="0"/>
          </a:p>
        </p:txBody>
      </p:sp>
      <p:sp>
        <p:nvSpPr>
          <p:cNvPr id="65" name="Shape 63"/>
          <p:cNvSpPr/>
          <p:nvPr/>
        </p:nvSpPr>
        <p:spPr>
          <a:xfrm>
            <a:off x="2080664" y="4676063"/>
            <a:ext cx="5494399" cy="63"/>
          </a:xfrm>
          <a:prstGeom prst="line">
            <a:avLst/>
          </a:prstGeom>
          <a:noFill/>
          <a:ln w="6350">
            <a:solidFill>
              <a:srgbClr val="D5DEEC"/>
            </a:solidFill>
            <a:prstDash val="solid"/>
          </a:ln>
        </p:spPr>
      </p:sp>
      <p:sp>
        <p:nvSpPr>
          <p:cNvPr id="66" name="Text 64"/>
          <p:cNvSpPr txBox="1"/>
          <p:nvPr/>
        </p:nvSpPr>
        <p:spPr>
          <a:xfrm>
            <a:off x="2172102" y="4441873"/>
            <a:ext cx="5948906" cy="182875"/>
          </a:xfrm>
          <a:prstGeom prst="rect">
            <a:avLst/>
          </a:prstGeom>
          <a:noFill/>
          <a:ln/>
        </p:spPr>
        <p:txBody>
          <a:bodyPr wrap="square" lIns="0" tIns="0" rIns="0" bIns="0" rtlCol="0" anchor="t"/>
          <a:lstStyle/>
          <a:p>
            <a:pPr algn="l" indent="0" marL="0">
              <a:lnSpc>
                <a:spcPct val="100000"/>
              </a:lnSpc>
              <a:buNone/>
            </a:pPr>
            <a:r>
              <a:rPr lang="en-US" sz="1200" dirty="0">
                <a:solidFill>
                  <a:srgbClr val="1F3A70"/>
                </a:solidFill>
                <a:latin typeface="Calibri" pitchFamily="34" charset="0"/>
                <a:ea typeface="Calibri" pitchFamily="34" charset="-122"/>
                <a:cs typeface="Calibri" pitchFamily="34" charset="-120"/>
              </a:rPr>
              <a:t>Android allowBackup on, minify off</a:t>
            </a:r>
            <a:endParaRPr lang="en-US" sz="1200" dirty="0"/>
          </a:p>
        </p:txBody>
      </p:sp>
      <p:sp>
        <p:nvSpPr>
          <p:cNvPr id="67" name="Shape 65"/>
          <p:cNvSpPr/>
          <p:nvPr/>
        </p:nvSpPr>
        <p:spPr>
          <a:xfrm>
            <a:off x="7575063" y="4676063"/>
            <a:ext cx="3803853" cy="63"/>
          </a:xfrm>
          <a:prstGeom prst="line">
            <a:avLst/>
          </a:prstGeom>
          <a:noFill/>
          <a:ln w="6350">
            <a:solidFill>
              <a:srgbClr val="D5DEEC"/>
            </a:solidFill>
            <a:prstDash val="solid"/>
          </a:ln>
        </p:spPr>
      </p:sp>
      <p:sp>
        <p:nvSpPr>
          <p:cNvPr id="68" name="Text 66"/>
          <p:cNvSpPr txBox="1"/>
          <p:nvPr/>
        </p:nvSpPr>
        <p:spPr>
          <a:xfrm>
            <a:off x="7666501" y="4441873"/>
            <a:ext cx="4055494" cy="182875"/>
          </a:xfrm>
          <a:prstGeom prst="rect">
            <a:avLst/>
          </a:prstGeom>
          <a:noFill/>
          <a:ln/>
        </p:spPr>
        <p:txBody>
          <a:bodyPr wrap="square" lIns="0" tIns="0" rIns="0" bIns="0" rtlCol="0" anchor="t"/>
          <a:lstStyle/>
          <a:p>
            <a:pPr algn="l" indent="0" marL="0">
              <a:lnSpc>
                <a:spcPct val="100000"/>
              </a:lnSpc>
              <a:buNone/>
            </a:pPr>
            <a:r>
              <a:rPr lang="en-US" sz="1200" dirty="0">
                <a:solidFill>
                  <a:srgbClr val="4A5878"/>
                </a:solidFill>
                <a:latin typeface="Calibri" pitchFamily="34" charset="0"/>
                <a:ea typeface="Calibri" pitchFamily="34" charset="-122"/>
                <a:cs typeface="Calibri" pitchFamily="34" charset="-120"/>
              </a:rPr>
              <a:t>Disable backup; enable R8</a:t>
            </a:r>
            <a:endParaRPr lang="en-US" sz="1200" dirty="0"/>
          </a:p>
        </p:txBody>
      </p:sp>
      <p:sp>
        <p:nvSpPr>
          <p:cNvPr id="69" name="Text 67"/>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Security</a:t>
            </a:r>
            <a:endParaRPr lang="en-US" sz="1200" dirty="0"/>
          </a:p>
        </p:txBody>
      </p:sp>
      <p:sp>
        <p:nvSpPr>
          <p:cNvPr id="70" name="Text 68"/>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31</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B"/>
        </a:solidFill>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2454C5"/>
                </a:solidFill>
                <a:latin typeface="Courier New" pitchFamily="34" charset="0"/>
                <a:ea typeface="Courier New" pitchFamily="34" charset="-122"/>
                <a:cs typeface="Courier New" pitchFamily="34" charset="-120"/>
              </a:rPr>
              <a:t>SECURITY HARDENING · STEP BY STEP</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1F3A70"/>
                </a:solidFill>
                <a:latin typeface="Calibri" pitchFamily="34" charset="0"/>
                <a:ea typeface="Calibri" pitchFamily="34" charset="-122"/>
                <a:cs typeface="Calibri" pitchFamily="34" charset="-120"/>
              </a:rPr>
              <a:t>Eight steps to a launch-ready security posture</a:t>
            </a:r>
            <a:endParaRPr lang="en-US" sz="3000" dirty="0"/>
          </a:p>
        </p:txBody>
      </p:sp>
      <p:sp>
        <p:nvSpPr>
          <p:cNvPr id="4" name="Shape 2"/>
          <p:cNvSpPr/>
          <p:nvPr/>
        </p:nvSpPr>
        <p:spPr>
          <a:xfrm>
            <a:off x="812780" y="1775376"/>
            <a:ext cx="2536762" cy="1601251"/>
          </a:xfrm>
          <a:prstGeom prst="roundRect">
            <a:avLst>
              <a:gd name="adj" fmla="val 6345"/>
            </a:avLst>
          </a:prstGeom>
          <a:solidFill>
            <a:srgbClr val="FCFDFF"/>
          </a:solidFill>
          <a:ln w="6350">
            <a:solidFill>
              <a:srgbClr val="D5DEEC"/>
            </a:solidFill>
            <a:prstDash val="solid"/>
          </a:ln>
        </p:spPr>
      </p:sp>
      <p:sp>
        <p:nvSpPr>
          <p:cNvPr id="5" name="Shape 3"/>
          <p:cNvSpPr/>
          <p:nvPr/>
        </p:nvSpPr>
        <p:spPr>
          <a:xfrm>
            <a:off x="812780" y="1775376"/>
            <a:ext cx="2536762" cy="38099"/>
          </a:xfrm>
          <a:prstGeom prst="roundRect">
            <a:avLst>
              <a:gd name="adj" fmla="val 50000"/>
            </a:avLst>
          </a:prstGeom>
          <a:solidFill>
            <a:srgbClr val="C0352B"/>
          </a:solidFill>
          <a:ln/>
        </p:spPr>
      </p:sp>
      <p:sp>
        <p:nvSpPr>
          <p:cNvPr id="6" name="Shape 4"/>
          <p:cNvSpPr/>
          <p:nvPr/>
        </p:nvSpPr>
        <p:spPr>
          <a:xfrm>
            <a:off x="958826" y="1953171"/>
            <a:ext cx="304792" cy="304792"/>
          </a:xfrm>
          <a:prstGeom prst="ellipse">
            <a:avLst/>
          </a:prstGeom>
          <a:solidFill>
            <a:srgbClr val="FBE4E2"/>
          </a:solidFill>
          <a:ln/>
        </p:spPr>
      </p:sp>
      <p:pic>
        <p:nvPicPr>
          <p:cNvPr id="7" name="Image 0" descr="preencoded.png">    </p:cNvPr>
          <p:cNvPicPr>
            <a:picLocks noChangeAspect="1"/>
          </p:cNvPicPr>
          <p:nvPr/>
        </p:nvPicPr>
        <p:blipFill>
          <a:blip r:embed="rId1"/>
          <a:stretch>
            <a:fillRect/>
          </a:stretch>
        </p:blipFill>
        <p:spPr>
          <a:xfrm>
            <a:off x="1028674" y="2023020"/>
            <a:ext cx="165096" cy="165096"/>
          </a:xfrm>
          <a:prstGeom prst="rect">
            <a:avLst/>
          </a:prstGeom>
        </p:spPr>
      </p:pic>
      <p:sp>
        <p:nvSpPr>
          <p:cNvPr id="8" name="Text 5"/>
          <p:cNvSpPr txBox="1"/>
          <p:nvPr/>
        </p:nvSpPr>
        <p:spPr>
          <a:xfrm>
            <a:off x="1339817" y="1998910"/>
            <a:ext cx="1024325" cy="213355"/>
          </a:xfrm>
          <a:prstGeom prst="rect">
            <a:avLst/>
          </a:prstGeom>
          <a:noFill/>
          <a:ln/>
        </p:spPr>
        <p:txBody>
          <a:bodyPr wrap="square" lIns="0" tIns="0" rIns="0" bIns="0" rtlCol="0" anchor="t"/>
          <a:lstStyle/>
          <a:p>
            <a:pPr algn="l" indent="0" marL="0">
              <a:lnSpc>
                <a:spcPct val="116667"/>
              </a:lnSpc>
              <a:buNone/>
            </a:pPr>
            <a:r>
              <a:rPr lang="en-US" sz="1200" dirty="0">
                <a:solidFill>
                  <a:srgbClr val="C0352B"/>
                </a:solidFill>
                <a:latin typeface="Courier New" pitchFamily="34" charset="0"/>
                <a:ea typeface="Courier New" pitchFamily="34" charset="-122"/>
                <a:cs typeface="Courier New" pitchFamily="34" charset="-120"/>
              </a:rPr>
              <a:t>01 · today</a:t>
            </a:r>
            <a:endParaRPr lang="en-US" sz="1200" dirty="0"/>
          </a:p>
        </p:txBody>
      </p:sp>
      <p:sp>
        <p:nvSpPr>
          <p:cNvPr id="9" name="Text 6"/>
          <p:cNvSpPr txBox="1"/>
          <p:nvPr/>
        </p:nvSpPr>
        <p:spPr>
          <a:xfrm>
            <a:off x="958826" y="2321462"/>
            <a:ext cx="2514029"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Rotate</a:t>
            </a:r>
            <a:endParaRPr lang="en-US" sz="1500" dirty="0"/>
          </a:p>
        </p:txBody>
      </p:sp>
      <p:sp>
        <p:nvSpPr>
          <p:cNvPr id="10" name="Text 7"/>
          <p:cNvSpPr txBox="1"/>
          <p:nvPr/>
        </p:nvSpPr>
        <p:spPr>
          <a:xfrm>
            <a:off x="958826" y="2613555"/>
            <a:ext cx="2514029" cy="617026"/>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New JWT, internal, KMS and webhook secrets; purge 1b5656d</a:t>
            </a:r>
            <a:endParaRPr lang="en-US" sz="1200" dirty="0"/>
          </a:p>
        </p:txBody>
      </p:sp>
      <p:sp>
        <p:nvSpPr>
          <p:cNvPr id="11" name="Shape 8"/>
          <p:cNvSpPr/>
          <p:nvPr/>
        </p:nvSpPr>
        <p:spPr>
          <a:xfrm>
            <a:off x="3489238" y="1775376"/>
            <a:ext cx="2536762" cy="1601251"/>
          </a:xfrm>
          <a:prstGeom prst="roundRect">
            <a:avLst>
              <a:gd name="adj" fmla="val 6345"/>
            </a:avLst>
          </a:prstGeom>
          <a:solidFill>
            <a:srgbClr val="FCFDFF"/>
          </a:solidFill>
          <a:ln w="6350">
            <a:solidFill>
              <a:srgbClr val="D5DEEC"/>
            </a:solidFill>
            <a:prstDash val="solid"/>
          </a:ln>
        </p:spPr>
      </p:sp>
      <p:sp>
        <p:nvSpPr>
          <p:cNvPr id="12" name="Shape 9"/>
          <p:cNvSpPr/>
          <p:nvPr/>
        </p:nvSpPr>
        <p:spPr>
          <a:xfrm>
            <a:off x="3489238" y="1775376"/>
            <a:ext cx="2536762" cy="38099"/>
          </a:xfrm>
          <a:prstGeom prst="roundRect">
            <a:avLst>
              <a:gd name="adj" fmla="val 50000"/>
            </a:avLst>
          </a:prstGeom>
          <a:solidFill>
            <a:srgbClr val="B4530F"/>
          </a:solidFill>
          <a:ln/>
        </p:spPr>
      </p:sp>
      <p:sp>
        <p:nvSpPr>
          <p:cNvPr id="13" name="Shape 10"/>
          <p:cNvSpPr/>
          <p:nvPr/>
        </p:nvSpPr>
        <p:spPr>
          <a:xfrm>
            <a:off x="3635284" y="1953171"/>
            <a:ext cx="304792" cy="304792"/>
          </a:xfrm>
          <a:prstGeom prst="ellipse">
            <a:avLst/>
          </a:prstGeom>
          <a:solidFill>
            <a:srgbClr val="FCEBDD"/>
          </a:solidFill>
          <a:ln/>
        </p:spPr>
      </p:sp>
      <p:pic>
        <p:nvPicPr>
          <p:cNvPr id="14" name="Image 1" descr="preencoded.png">    </p:cNvPr>
          <p:cNvPicPr>
            <a:picLocks noChangeAspect="1"/>
          </p:cNvPicPr>
          <p:nvPr/>
        </p:nvPicPr>
        <p:blipFill>
          <a:blip r:embed="rId2"/>
          <a:stretch>
            <a:fillRect/>
          </a:stretch>
        </p:blipFill>
        <p:spPr>
          <a:xfrm>
            <a:off x="3705132" y="2023020"/>
            <a:ext cx="165096" cy="165096"/>
          </a:xfrm>
          <a:prstGeom prst="rect">
            <a:avLst/>
          </a:prstGeom>
        </p:spPr>
      </p:pic>
      <p:sp>
        <p:nvSpPr>
          <p:cNvPr id="15" name="Text 11"/>
          <p:cNvSpPr txBox="1"/>
          <p:nvPr/>
        </p:nvSpPr>
        <p:spPr>
          <a:xfrm>
            <a:off x="4016275" y="1998910"/>
            <a:ext cx="259153" cy="213355"/>
          </a:xfrm>
          <a:prstGeom prst="rect">
            <a:avLst/>
          </a:prstGeom>
          <a:noFill/>
          <a:ln/>
        </p:spPr>
        <p:txBody>
          <a:bodyPr wrap="square" lIns="0" tIns="0" rIns="0" bIns="0" rtlCol="0" anchor="t"/>
          <a:lstStyle/>
          <a:p>
            <a:pPr algn="l" indent="0" marL="0">
              <a:lnSpc>
                <a:spcPct val="116667"/>
              </a:lnSpc>
              <a:buNone/>
            </a:pPr>
            <a:r>
              <a:rPr lang="en-US" sz="1200" dirty="0">
                <a:solidFill>
                  <a:srgbClr val="B4530F"/>
                </a:solidFill>
                <a:latin typeface="Courier New" pitchFamily="34" charset="0"/>
                <a:ea typeface="Courier New" pitchFamily="34" charset="-122"/>
                <a:cs typeface="Courier New" pitchFamily="34" charset="-120"/>
              </a:rPr>
              <a:t>02</a:t>
            </a:r>
            <a:endParaRPr lang="en-US" sz="1200" dirty="0"/>
          </a:p>
        </p:txBody>
      </p:sp>
      <p:sp>
        <p:nvSpPr>
          <p:cNvPr id="16" name="Text 12"/>
          <p:cNvSpPr txBox="1"/>
          <p:nvPr/>
        </p:nvSpPr>
        <p:spPr>
          <a:xfrm>
            <a:off x="3635284" y="2321462"/>
            <a:ext cx="2514029"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Identity</a:t>
            </a:r>
            <a:endParaRPr lang="en-US" sz="1500" dirty="0"/>
          </a:p>
        </p:txBody>
      </p:sp>
      <p:sp>
        <p:nvSpPr>
          <p:cNvPr id="17" name="Text 13"/>
          <p:cNvSpPr txBox="1"/>
          <p:nvPr/>
        </p:nvSpPr>
        <p:spPr>
          <a:xfrm>
            <a:off x="3635284" y="2613555"/>
            <a:ext cx="2514029"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RS256 with JWKS, iss and aud, refresh cookie, per-IP limits</a:t>
            </a:r>
            <a:endParaRPr lang="en-US" sz="1200" dirty="0"/>
          </a:p>
        </p:txBody>
      </p:sp>
      <p:sp>
        <p:nvSpPr>
          <p:cNvPr id="18" name="Shape 14"/>
          <p:cNvSpPr/>
          <p:nvPr/>
        </p:nvSpPr>
        <p:spPr>
          <a:xfrm>
            <a:off x="6165696" y="1775376"/>
            <a:ext cx="2536762" cy="1601251"/>
          </a:xfrm>
          <a:prstGeom prst="roundRect">
            <a:avLst>
              <a:gd name="adj" fmla="val 6345"/>
            </a:avLst>
          </a:prstGeom>
          <a:solidFill>
            <a:srgbClr val="FCFDFF"/>
          </a:solidFill>
          <a:ln w="6350">
            <a:solidFill>
              <a:srgbClr val="D5DEEC"/>
            </a:solidFill>
            <a:prstDash val="solid"/>
          </a:ln>
        </p:spPr>
      </p:sp>
      <p:sp>
        <p:nvSpPr>
          <p:cNvPr id="19" name="Shape 15"/>
          <p:cNvSpPr/>
          <p:nvPr/>
        </p:nvSpPr>
        <p:spPr>
          <a:xfrm>
            <a:off x="6165696" y="1775376"/>
            <a:ext cx="2536762" cy="38099"/>
          </a:xfrm>
          <a:prstGeom prst="roundRect">
            <a:avLst>
              <a:gd name="adj" fmla="val 50000"/>
            </a:avLst>
          </a:prstGeom>
          <a:solidFill>
            <a:srgbClr val="B4530F"/>
          </a:solidFill>
          <a:ln/>
        </p:spPr>
      </p:sp>
      <p:sp>
        <p:nvSpPr>
          <p:cNvPr id="20" name="Shape 16"/>
          <p:cNvSpPr/>
          <p:nvPr/>
        </p:nvSpPr>
        <p:spPr>
          <a:xfrm>
            <a:off x="6311742" y="1953171"/>
            <a:ext cx="304792" cy="304792"/>
          </a:xfrm>
          <a:prstGeom prst="ellipse">
            <a:avLst/>
          </a:prstGeom>
          <a:solidFill>
            <a:srgbClr val="FCEBDD"/>
          </a:solidFill>
          <a:ln/>
        </p:spPr>
      </p:sp>
      <p:pic>
        <p:nvPicPr>
          <p:cNvPr id="21" name="Image 2" descr="preencoded.png">    </p:cNvPr>
          <p:cNvPicPr>
            <a:picLocks noChangeAspect="1"/>
          </p:cNvPicPr>
          <p:nvPr/>
        </p:nvPicPr>
        <p:blipFill>
          <a:blip r:embed="rId3"/>
          <a:stretch>
            <a:fillRect/>
          </a:stretch>
        </p:blipFill>
        <p:spPr>
          <a:xfrm>
            <a:off x="6381590" y="2023020"/>
            <a:ext cx="165096" cy="165096"/>
          </a:xfrm>
          <a:prstGeom prst="rect">
            <a:avLst/>
          </a:prstGeom>
        </p:spPr>
      </p:pic>
      <p:sp>
        <p:nvSpPr>
          <p:cNvPr id="22" name="Text 17"/>
          <p:cNvSpPr txBox="1"/>
          <p:nvPr/>
        </p:nvSpPr>
        <p:spPr>
          <a:xfrm>
            <a:off x="6692733" y="1998910"/>
            <a:ext cx="259153" cy="213355"/>
          </a:xfrm>
          <a:prstGeom prst="rect">
            <a:avLst/>
          </a:prstGeom>
          <a:noFill/>
          <a:ln/>
        </p:spPr>
        <p:txBody>
          <a:bodyPr wrap="square" lIns="0" tIns="0" rIns="0" bIns="0" rtlCol="0" anchor="t"/>
          <a:lstStyle/>
          <a:p>
            <a:pPr algn="l" indent="0" marL="0">
              <a:lnSpc>
                <a:spcPct val="116667"/>
              </a:lnSpc>
              <a:buNone/>
            </a:pPr>
            <a:r>
              <a:rPr lang="en-US" sz="1200" dirty="0">
                <a:solidFill>
                  <a:srgbClr val="B4530F"/>
                </a:solidFill>
                <a:latin typeface="Courier New" pitchFamily="34" charset="0"/>
                <a:ea typeface="Courier New" pitchFamily="34" charset="-122"/>
                <a:cs typeface="Courier New" pitchFamily="34" charset="-120"/>
              </a:rPr>
              <a:t>03</a:t>
            </a:r>
            <a:endParaRPr lang="en-US" sz="1200" dirty="0"/>
          </a:p>
        </p:txBody>
      </p:sp>
      <p:sp>
        <p:nvSpPr>
          <p:cNvPr id="23" name="Text 18"/>
          <p:cNvSpPr txBox="1"/>
          <p:nvPr/>
        </p:nvSpPr>
        <p:spPr>
          <a:xfrm>
            <a:off x="6311742" y="2321462"/>
            <a:ext cx="2514029"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Edge</a:t>
            </a:r>
            <a:endParaRPr lang="en-US" sz="1500" dirty="0"/>
          </a:p>
        </p:txBody>
      </p:sp>
      <p:sp>
        <p:nvSpPr>
          <p:cNvPr id="24" name="Text 19"/>
          <p:cNvSpPr txBox="1"/>
          <p:nvPr/>
        </p:nvSpPr>
        <p:spPr>
          <a:xfrm>
            <a:off x="6311742" y="2613555"/>
            <a:ext cx="2514029"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WAF on the ALB, CSP and HSTS, CORS to app origins</a:t>
            </a:r>
            <a:endParaRPr lang="en-US" sz="1200" dirty="0"/>
          </a:p>
        </p:txBody>
      </p:sp>
      <p:sp>
        <p:nvSpPr>
          <p:cNvPr id="25" name="Shape 20"/>
          <p:cNvSpPr/>
          <p:nvPr/>
        </p:nvSpPr>
        <p:spPr>
          <a:xfrm>
            <a:off x="8842154" y="1775376"/>
            <a:ext cx="2536762" cy="1601251"/>
          </a:xfrm>
          <a:prstGeom prst="roundRect">
            <a:avLst>
              <a:gd name="adj" fmla="val 6345"/>
            </a:avLst>
          </a:prstGeom>
          <a:solidFill>
            <a:srgbClr val="FCFDFF"/>
          </a:solidFill>
          <a:ln w="6350">
            <a:solidFill>
              <a:srgbClr val="D5DEEC"/>
            </a:solidFill>
            <a:prstDash val="solid"/>
          </a:ln>
        </p:spPr>
      </p:sp>
      <p:sp>
        <p:nvSpPr>
          <p:cNvPr id="26" name="Shape 21"/>
          <p:cNvSpPr/>
          <p:nvPr/>
        </p:nvSpPr>
        <p:spPr>
          <a:xfrm>
            <a:off x="8842154" y="1775376"/>
            <a:ext cx="2536762" cy="38099"/>
          </a:xfrm>
          <a:prstGeom prst="roundRect">
            <a:avLst>
              <a:gd name="adj" fmla="val 50000"/>
            </a:avLst>
          </a:prstGeom>
          <a:solidFill>
            <a:srgbClr val="B4530F"/>
          </a:solidFill>
          <a:ln/>
        </p:spPr>
      </p:sp>
      <p:sp>
        <p:nvSpPr>
          <p:cNvPr id="27" name="Shape 22"/>
          <p:cNvSpPr/>
          <p:nvPr/>
        </p:nvSpPr>
        <p:spPr>
          <a:xfrm>
            <a:off x="8988200" y="1953171"/>
            <a:ext cx="304792" cy="304792"/>
          </a:xfrm>
          <a:prstGeom prst="ellipse">
            <a:avLst/>
          </a:prstGeom>
          <a:solidFill>
            <a:srgbClr val="FCEBDD"/>
          </a:solidFill>
          <a:ln/>
        </p:spPr>
      </p:sp>
      <p:pic>
        <p:nvPicPr>
          <p:cNvPr id="28" name="Image 3" descr="preencoded.png">    </p:cNvPr>
          <p:cNvPicPr>
            <a:picLocks noChangeAspect="1"/>
          </p:cNvPicPr>
          <p:nvPr/>
        </p:nvPicPr>
        <p:blipFill>
          <a:blip r:embed="rId4"/>
          <a:stretch>
            <a:fillRect/>
          </a:stretch>
        </p:blipFill>
        <p:spPr>
          <a:xfrm>
            <a:off x="9058049" y="2023020"/>
            <a:ext cx="165096" cy="165096"/>
          </a:xfrm>
          <a:prstGeom prst="rect">
            <a:avLst/>
          </a:prstGeom>
        </p:spPr>
      </p:pic>
      <p:sp>
        <p:nvSpPr>
          <p:cNvPr id="29" name="Text 23"/>
          <p:cNvSpPr txBox="1"/>
          <p:nvPr/>
        </p:nvSpPr>
        <p:spPr>
          <a:xfrm>
            <a:off x="9369191" y="1998910"/>
            <a:ext cx="259153" cy="213355"/>
          </a:xfrm>
          <a:prstGeom prst="rect">
            <a:avLst/>
          </a:prstGeom>
          <a:noFill/>
          <a:ln/>
        </p:spPr>
        <p:txBody>
          <a:bodyPr wrap="square" lIns="0" tIns="0" rIns="0" bIns="0" rtlCol="0" anchor="t"/>
          <a:lstStyle/>
          <a:p>
            <a:pPr algn="l" indent="0" marL="0">
              <a:lnSpc>
                <a:spcPct val="116667"/>
              </a:lnSpc>
              <a:buNone/>
            </a:pPr>
            <a:r>
              <a:rPr lang="en-US" sz="1200" dirty="0">
                <a:solidFill>
                  <a:srgbClr val="B4530F"/>
                </a:solidFill>
                <a:latin typeface="Courier New" pitchFamily="34" charset="0"/>
                <a:ea typeface="Courier New" pitchFamily="34" charset="-122"/>
                <a:cs typeface="Courier New" pitchFamily="34" charset="-120"/>
              </a:rPr>
              <a:t>04</a:t>
            </a:r>
            <a:endParaRPr lang="en-US" sz="1200" dirty="0"/>
          </a:p>
        </p:txBody>
      </p:sp>
      <p:sp>
        <p:nvSpPr>
          <p:cNvPr id="30" name="Text 24"/>
          <p:cNvSpPr txBox="1"/>
          <p:nvPr/>
        </p:nvSpPr>
        <p:spPr>
          <a:xfrm>
            <a:off x="8988200" y="2321462"/>
            <a:ext cx="2514029"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Network</a:t>
            </a:r>
            <a:endParaRPr lang="en-US" sz="1500" dirty="0"/>
          </a:p>
        </p:txBody>
      </p:sp>
      <p:sp>
        <p:nvSpPr>
          <p:cNvPr id="31" name="Text 25"/>
          <p:cNvSpPr txBox="1"/>
          <p:nvPr/>
        </p:nvSpPr>
        <p:spPr>
          <a:xfrm>
            <a:off x="8988200" y="2613555"/>
            <a:ext cx="2514029"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Private EKS endpoint, enforced policies, RDS TLS</a:t>
            </a:r>
            <a:endParaRPr lang="en-US" sz="1200" dirty="0"/>
          </a:p>
        </p:txBody>
      </p:sp>
      <p:sp>
        <p:nvSpPr>
          <p:cNvPr id="32" name="Shape 26"/>
          <p:cNvSpPr/>
          <p:nvPr/>
        </p:nvSpPr>
        <p:spPr>
          <a:xfrm>
            <a:off x="812780" y="3516324"/>
            <a:ext cx="2536762" cy="1395576"/>
          </a:xfrm>
          <a:prstGeom prst="roundRect">
            <a:avLst>
              <a:gd name="adj" fmla="val 7280"/>
            </a:avLst>
          </a:prstGeom>
          <a:solidFill>
            <a:srgbClr val="FCFDFF"/>
          </a:solidFill>
          <a:ln w="6350">
            <a:solidFill>
              <a:srgbClr val="D5DEEC"/>
            </a:solidFill>
            <a:prstDash val="solid"/>
          </a:ln>
        </p:spPr>
      </p:sp>
      <p:sp>
        <p:nvSpPr>
          <p:cNvPr id="33" name="Shape 27"/>
          <p:cNvSpPr/>
          <p:nvPr/>
        </p:nvSpPr>
        <p:spPr>
          <a:xfrm>
            <a:off x="812780" y="3516324"/>
            <a:ext cx="2536762" cy="38099"/>
          </a:xfrm>
          <a:prstGeom prst="roundRect">
            <a:avLst>
              <a:gd name="adj" fmla="val 50000"/>
            </a:avLst>
          </a:prstGeom>
          <a:solidFill>
            <a:srgbClr val="2454C5"/>
          </a:solidFill>
          <a:ln/>
        </p:spPr>
      </p:sp>
      <p:sp>
        <p:nvSpPr>
          <p:cNvPr id="34" name="Shape 28"/>
          <p:cNvSpPr/>
          <p:nvPr/>
        </p:nvSpPr>
        <p:spPr>
          <a:xfrm>
            <a:off x="958826" y="3694119"/>
            <a:ext cx="304792" cy="304792"/>
          </a:xfrm>
          <a:prstGeom prst="ellipse">
            <a:avLst/>
          </a:prstGeom>
          <a:solidFill>
            <a:srgbClr val="E3EBFA"/>
          </a:solidFill>
          <a:ln/>
        </p:spPr>
      </p:sp>
      <p:pic>
        <p:nvPicPr>
          <p:cNvPr id="35" name="Image 4" descr="preencoded.png">    </p:cNvPr>
          <p:cNvPicPr>
            <a:picLocks noChangeAspect="1"/>
          </p:cNvPicPr>
          <p:nvPr/>
        </p:nvPicPr>
        <p:blipFill>
          <a:blip r:embed="rId5"/>
          <a:stretch>
            <a:fillRect/>
          </a:stretch>
        </p:blipFill>
        <p:spPr>
          <a:xfrm>
            <a:off x="1028674" y="3763968"/>
            <a:ext cx="165096" cy="165096"/>
          </a:xfrm>
          <a:prstGeom prst="rect">
            <a:avLst/>
          </a:prstGeom>
        </p:spPr>
      </p:pic>
      <p:sp>
        <p:nvSpPr>
          <p:cNvPr id="36" name="Text 29"/>
          <p:cNvSpPr txBox="1"/>
          <p:nvPr/>
        </p:nvSpPr>
        <p:spPr>
          <a:xfrm>
            <a:off x="1339817" y="3739858"/>
            <a:ext cx="259153" cy="213355"/>
          </a:xfrm>
          <a:prstGeom prst="rect">
            <a:avLst/>
          </a:prstGeom>
          <a:noFill/>
          <a:ln/>
        </p:spPr>
        <p:txBody>
          <a:bodyPr wrap="square" lIns="0" tIns="0" rIns="0" bIns="0" rtlCol="0" anchor="t"/>
          <a:lstStyle/>
          <a:p>
            <a:pPr algn="l" indent="0" marL="0">
              <a:lnSpc>
                <a:spcPct val="116667"/>
              </a:lnSpc>
              <a:buNone/>
            </a:pPr>
            <a:r>
              <a:rPr lang="en-US" sz="1200" dirty="0">
                <a:solidFill>
                  <a:srgbClr val="2454C5"/>
                </a:solidFill>
                <a:latin typeface="Courier New" pitchFamily="34" charset="0"/>
                <a:ea typeface="Courier New" pitchFamily="34" charset="-122"/>
                <a:cs typeface="Courier New" pitchFamily="34" charset="-120"/>
              </a:rPr>
              <a:t>05</a:t>
            </a:r>
            <a:endParaRPr lang="en-US" sz="1200" dirty="0"/>
          </a:p>
        </p:txBody>
      </p:sp>
      <p:sp>
        <p:nvSpPr>
          <p:cNvPr id="37" name="Text 30"/>
          <p:cNvSpPr txBox="1"/>
          <p:nvPr/>
        </p:nvSpPr>
        <p:spPr>
          <a:xfrm>
            <a:off x="958826" y="4062410"/>
            <a:ext cx="2514029"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Privilege</a:t>
            </a:r>
            <a:endParaRPr lang="en-US" sz="1500" dirty="0"/>
          </a:p>
        </p:txBody>
      </p:sp>
      <p:sp>
        <p:nvSpPr>
          <p:cNvPr id="38" name="Text 31"/>
          <p:cNvSpPr txBox="1"/>
          <p:nvPr/>
        </p:nvSpPr>
        <p:spPr>
          <a:xfrm>
            <a:off x="958826" y="4354503"/>
            <a:ext cx="2514029"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Per-service secret policies and keys; IMDSv2</a:t>
            </a:r>
            <a:endParaRPr lang="en-US" sz="1200" dirty="0"/>
          </a:p>
        </p:txBody>
      </p:sp>
      <p:sp>
        <p:nvSpPr>
          <p:cNvPr id="39" name="Shape 32"/>
          <p:cNvSpPr/>
          <p:nvPr/>
        </p:nvSpPr>
        <p:spPr>
          <a:xfrm>
            <a:off x="3489238" y="3516324"/>
            <a:ext cx="2536762" cy="1395576"/>
          </a:xfrm>
          <a:prstGeom prst="roundRect">
            <a:avLst>
              <a:gd name="adj" fmla="val 7280"/>
            </a:avLst>
          </a:prstGeom>
          <a:solidFill>
            <a:srgbClr val="FCFDFF"/>
          </a:solidFill>
          <a:ln w="6350">
            <a:solidFill>
              <a:srgbClr val="D5DEEC"/>
            </a:solidFill>
            <a:prstDash val="solid"/>
          </a:ln>
        </p:spPr>
      </p:sp>
      <p:sp>
        <p:nvSpPr>
          <p:cNvPr id="40" name="Shape 33"/>
          <p:cNvSpPr/>
          <p:nvPr/>
        </p:nvSpPr>
        <p:spPr>
          <a:xfrm>
            <a:off x="3489238" y="3516324"/>
            <a:ext cx="2536762" cy="38099"/>
          </a:xfrm>
          <a:prstGeom prst="roundRect">
            <a:avLst>
              <a:gd name="adj" fmla="val 50000"/>
            </a:avLst>
          </a:prstGeom>
          <a:solidFill>
            <a:srgbClr val="2454C5"/>
          </a:solidFill>
          <a:ln/>
        </p:spPr>
      </p:sp>
      <p:sp>
        <p:nvSpPr>
          <p:cNvPr id="41" name="Shape 34"/>
          <p:cNvSpPr/>
          <p:nvPr/>
        </p:nvSpPr>
        <p:spPr>
          <a:xfrm>
            <a:off x="3635284" y="3694119"/>
            <a:ext cx="304792" cy="304792"/>
          </a:xfrm>
          <a:prstGeom prst="ellipse">
            <a:avLst/>
          </a:prstGeom>
          <a:solidFill>
            <a:srgbClr val="E3EBFA"/>
          </a:solidFill>
          <a:ln/>
        </p:spPr>
      </p:sp>
      <p:pic>
        <p:nvPicPr>
          <p:cNvPr id="42" name="Image 5" descr="preencoded.png">    </p:cNvPr>
          <p:cNvPicPr>
            <a:picLocks noChangeAspect="1"/>
          </p:cNvPicPr>
          <p:nvPr/>
        </p:nvPicPr>
        <p:blipFill>
          <a:blip r:embed="rId6"/>
          <a:stretch>
            <a:fillRect/>
          </a:stretch>
        </p:blipFill>
        <p:spPr>
          <a:xfrm>
            <a:off x="3705132" y="3763968"/>
            <a:ext cx="165096" cy="165096"/>
          </a:xfrm>
          <a:prstGeom prst="rect">
            <a:avLst/>
          </a:prstGeom>
        </p:spPr>
      </p:pic>
      <p:sp>
        <p:nvSpPr>
          <p:cNvPr id="43" name="Text 35"/>
          <p:cNvSpPr txBox="1"/>
          <p:nvPr/>
        </p:nvSpPr>
        <p:spPr>
          <a:xfrm>
            <a:off x="4016275" y="3739858"/>
            <a:ext cx="259153" cy="213355"/>
          </a:xfrm>
          <a:prstGeom prst="rect">
            <a:avLst/>
          </a:prstGeom>
          <a:noFill/>
          <a:ln/>
        </p:spPr>
        <p:txBody>
          <a:bodyPr wrap="square" lIns="0" tIns="0" rIns="0" bIns="0" rtlCol="0" anchor="t"/>
          <a:lstStyle/>
          <a:p>
            <a:pPr algn="l" indent="0" marL="0">
              <a:lnSpc>
                <a:spcPct val="116667"/>
              </a:lnSpc>
              <a:buNone/>
            </a:pPr>
            <a:r>
              <a:rPr lang="en-US" sz="1200" dirty="0">
                <a:solidFill>
                  <a:srgbClr val="2454C5"/>
                </a:solidFill>
                <a:latin typeface="Courier New" pitchFamily="34" charset="0"/>
                <a:ea typeface="Courier New" pitchFamily="34" charset="-122"/>
                <a:cs typeface="Courier New" pitchFamily="34" charset="-120"/>
              </a:rPr>
              <a:t>06</a:t>
            </a:r>
            <a:endParaRPr lang="en-US" sz="1200" dirty="0"/>
          </a:p>
        </p:txBody>
      </p:sp>
      <p:sp>
        <p:nvSpPr>
          <p:cNvPr id="44" name="Text 36"/>
          <p:cNvSpPr txBox="1"/>
          <p:nvPr/>
        </p:nvSpPr>
        <p:spPr>
          <a:xfrm>
            <a:off x="3635284" y="4062410"/>
            <a:ext cx="2514029"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Money</a:t>
            </a:r>
            <a:endParaRPr lang="en-US" sz="1500" dirty="0"/>
          </a:p>
        </p:txBody>
      </p:sp>
      <p:sp>
        <p:nvSpPr>
          <p:cNvPr id="45" name="Text 37"/>
          <p:cNvSpPr txBox="1"/>
          <p:nvPr/>
        </p:nvSpPr>
        <p:spPr>
          <a:xfrm>
            <a:off x="3635284" y="4354503"/>
            <a:ext cx="2514029"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Coupons, refunds, payouts, stub gateway, ID ownership</a:t>
            </a:r>
            <a:endParaRPr lang="en-US" sz="1200" dirty="0"/>
          </a:p>
        </p:txBody>
      </p:sp>
      <p:sp>
        <p:nvSpPr>
          <p:cNvPr id="46" name="Shape 38"/>
          <p:cNvSpPr/>
          <p:nvPr/>
        </p:nvSpPr>
        <p:spPr>
          <a:xfrm>
            <a:off x="6165696" y="3516324"/>
            <a:ext cx="2536762" cy="1395576"/>
          </a:xfrm>
          <a:prstGeom prst="roundRect">
            <a:avLst>
              <a:gd name="adj" fmla="val 7280"/>
            </a:avLst>
          </a:prstGeom>
          <a:solidFill>
            <a:srgbClr val="FCFDFF"/>
          </a:solidFill>
          <a:ln w="6350">
            <a:solidFill>
              <a:srgbClr val="D5DEEC"/>
            </a:solidFill>
            <a:prstDash val="solid"/>
          </a:ln>
        </p:spPr>
      </p:sp>
      <p:sp>
        <p:nvSpPr>
          <p:cNvPr id="47" name="Shape 39"/>
          <p:cNvSpPr/>
          <p:nvPr/>
        </p:nvSpPr>
        <p:spPr>
          <a:xfrm>
            <a:off x="6165696" y="3516324"/>
            <a:ext cx="2536762" cy="38099"/>
          </a:xfrm>
          <a:prstGeom prst="roundRect">
            <a:avLst>
              <a:gd name="adj" fmla="val 50000"/>
            </a:avLst>
          </a:prstGeom>
          <a:solidFill>
            <a:srgbClr val="2454C5"/>
          </a:solidFill>
          <a:ln/>
        </p:spPr>
      </p:sp>
      <p:sp>
        <p:nvSpPr>
          <p:cNvPr id="48" name="Shape 40"/>
          <p:cNvSpPr/>
          <p:nvPr/>
        </p:nvSpPr>
        <p:spPr>
          <a:xfrm>
            <a:off x="6311742" y="3694119"/>
            <a:ext cx="304792" cy="304792"/>
          </a:xfrm>
          <a:prstGeom prst="ellipse">
            <a:avLst/>
          </a:prstGeom>
          <a:solidFill>
            <a:srgbClr val="E3EBFA"/>
          </a:solidFill>
          <a:ln/>
        </p:spPr>
      </p:sp>
      <p:pic>
        <p:nvPicPr>
          <p:cNvPr id="49" name="Image 6" descr="preencoded.png">    </p:cNvPr>
          <p:cNvPicPr>
            <a:picLocks noChangeAspect="1"/>
          </p:cNvPicPr>
          <p:nvPr/>
        </p:nvPicPr>
        <p:blipFill>
          <a:blip r:embed="rId7"/>
          <a:stretch>
            <a:fillRect/>
          </a:stretch>
        </p:blipFill>
        <p:spPr>
          <a:xfrm>
            <a:off x="6381590" y="3763968"/>
            <a:ext cx="165096" cy="165096"/>
          </a:xfrm>
          <a:prstGeom prst="rect">
            <a:avLst/>
          </a:prstGeom>
        </p:spPr>
      </p:pic>
      <p:sp>
        <p:nvSpPr>
          <p:cNvPr id="50" name="Text 41"/>
          <p:cNvSpPr txBox="1"/>
          <p:nvPr/>
        </p:nvSpPr>
        <p:spPr>
          <a:xfrm>
            <a:off x="6692733" y="3739858"/>
            <a:ext cx="259153" cy="213355"/>
          </a:xfrm>
          <a:prstGeom prst="rect">
            <a:avLst/>
          </a:prstGeom>
          <a:noFill/>
          <a:ln/>
        </p:spPr>
        <p:txBody>
          <a:bodyPr wrap="square" lIns="0" tIns="0" rIns="0" bIns="0" rtlCol="0" anchor="t"/>
          <a:lstStyle/>
          <a:p>
            <a:pPr algn="l" indent="0" marL="0">
              <a:lnSpc>
                <a:spcPct val="116667"/>
              </a:lnSpc>
              <a:buNone/>
            </a:pPr>
            <a:r>
              <a:rPr lang="en-US" sz="1200" dirty="0">
                <a:solidFill>
                  <a:srgbClr val="2454C5"/>
                </a:solidFill>
                <a:latin typeface="Courier New" pitchFamily="34" charset="0"/>
                <a:ea typeface="Courier New" pitchFamily="34" charset="-122"/>
                <a:cs typeface="Courier New" pitchFamily="34" charset="-120"/>
              </a:rPr>
              <a:t>07</a:t>
            </a:r>
            <a:endParaRPr lang="en-US" sz="1200" dirty="0"/>
          </a:p>
        </p:txBody>
      </p:sp>
      <p:sp>
        <p:nvSpPr>
          <p:cNvPr id="51" name="Text 42"/>
          <p:cNvSpPr txBox="1"/>
          <p:nvPr/>
        </p:nvSpPr>
        <p:spPr>
          <a:xfrm>
            <a:off x="6311742" y="4062410"/>
            <a:ext cx="2514029"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Pipeline</a:t>
            </a:r>
            <a:endParaRPr lang="en-US" sz="1500" dirty="0"/>
          </a:p>
        </p:txBody>
      </p:sp>
      <p:sp>
        <p:nvSpPr>
          <p:cNvPr id="52" name="Text 43"/>
          <p:cNvSpPr txBox="1"/>
          <p:nvPr/>
        </p:nvSpPr>
        <p:spPr>
          <a:xfrm>
            <a:off x="6311742" y="4354503"/>
            <a:ext cx="2514029"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Boot upgrade, SHA-pinned actions, IaC and npm scans</a:t>
            </a:r>
            <a:endParaRPr lang="en-US" sz="1200" dirty="0"/>
          </a:p>
        </p:txBody>
      </p:sp>
      <p:sp>
        <p:nvSpPr>
          <p:cNvPr id="53" name="Shape 44"/>
          <p:cNvSpPr/>
          <p:nvPr/>
        </p:nvSpPr>
        <p:spPr>
          <a:xfrm>
            <a:off x="8842154" y="3516324"/>
            <a:ext cx="2536762" cy="1395576"/>
          </a:xfrm>
          <a:prstGeom prst="roundRect">
            <a:avLst>
              <a:gd name="adj" fmla="val 7280"/>
            </a:avLst>
          </a:prstGeom>
          <a:solidFill>
            <a:srgbClr val="FCFDFF"/>
          </a:solidFill>
          <a:ln w="6350">
            <a:solidFill>
              <a:srgbClr val="D5DEEC"/>
            </a:solidFill>
            <a:prstDash val="solid"/>
          </a:ln>
        </p:spPr>
      </p:sp>
      <p:sp>
        <p:nvSpPr>
          <p:cNvPr id="54" name="Shape 45"/>
          <p:cNvSpPr/>
          <p:nvPr/>
        </p:nvSpPr>
        <p:spPr>
          <a:xfrm>
            <a:off x="8842154" y="3516324"/>
            <a:ext cx="2536762" cy="38099"/>
          </a:xfrm>
          <a:prstGeom prst="roundRect">
            <a:avLst>
              <a:gd name="adj" fmla="val 50000"/>
            </a:avLst>
          </a:prstGeom>
          <a:solidFill>
            <a:srgbClr val="2E7D4F"/>
          </a:solidFill>
          <a:ln/>
        </p:spPr>
      </p:sp>
      <p:sp>
        <p:nvSpPr>
          <p:cNvPr id="55" name="Shape 46"/>
          <p:cNvSpPr/>
          <p:nvPr/>
        </p:nvSpPr>
        <p:spPr>
          <a:xfrm>
            <a:off x="8988200" y="3694119"/>
            <a:ext cx="304792" cy="304792"/>
          </a:xfrm>
          <a:prstGeom prst="ellipse">
            <a:avLst/>
          </a:prstGeom>
          <a:solidFill>
            <a:srgbClr val="E0F2E8"/>
          </a:solidFill>
          <a:ln/>
        </p:spPr>
      </p:sp>
      <p:pic>
        <p:nvPicPr>
          <p:cNvPr id="56" name="Image 7" descr="preencoded.png">    </p:cNvPr>
          <p:cNvPicPr>
            <a:picLocks noChangeAspect="1"/>
          </p:cNvPicPr>
          <p:nvPr/>
        </p:nvPicPr>
        <p:blipFill>
          <a:blip r:embed="rId8"/>
          <a:stretch>
            <a:fillRect/>
          </a:stretch>
        </p:blipFill>
        <p:spPr>
          <a:xfrm>
            <a:off x="9058049" y="3763968"/>
            <a:ext cx="165096" cy="165096"/>
          </a:xfrm>
          <a:prstGeom prst="rect">
            <a:avLst/>
          </a:prstGeom>
        </p:spPr>
      </p:pic>
      <p:sp>
        <p:nvSpPr>
          <p:cNvPr id="57" name="Text 47"/>
          <p:cNvSpPr txBox="1"/>
          <p:nvPr/>
        </p:nvSpPr>
        <p:spPr>
          <a:xfrm>
            <a:off x="9369191" y="3739858"/>
            <a:ext cx="921870" cy="213355"/>
          </a:xfrm>
          <a:prstGeom prst="rect">
            <a:avLst/>
          </a:prstGeom>
          <a:noFill/>
          <a:ln/>
        </p:spPr>
        <p:txBody>
          <a:bodyPr wrap="square" lIns="0" tIns="0" rIns="0" bIns="0" rtlCol="0" anchor="t"/>
          <a:lstStyle/>
          <a:p>
            <a:pPr algn="l" indent="0" marL="0">
              <a:lnSpc>
                <a:spcPct val="116667"/>
              </a:lnSpc>
              <a:buNone/>
            </a:pPr>
            <a:r>
              <a:rPr lang="en-US" sz="1200" dirty="0">
                <a:solidFill>
                  <a:srgbClr val="2E7D4F"/>
                </a:solidFill>
                <a:latin typeface="Courier New" pitchFamily="34" charset="0"/>
                <a:ea typeface="Courier New" pitchFamily="34" charset="-122"/>
                <a:cs typeface="Courier New" pitchFamily="34" charset="-120"/>
              </a:rPr>
              <a:t>08 · gate</a:t>
            </a:r>
            <a:endParaRPr lang="en-US" sz="1200" dirty="0"/>
          </a:p>
        </p:txBody>
      </p:sp>
      <p:sp>
        <p:nvSpPr>
          <p:cNvPr id="58" name="Text 48"/>
          <p:cNvSpPr txBox="1"/>
          <p:nvPr/>
        </p:nvSpPr>
        <p:spPr>
          <a:xfrm>
            <a:off x="8988200" y="4062410"/>
            <a:ext cx="2514029" cy="228594"/>
          </a:xfrm>
          <a:prstGeom prst="rect">
            <a:avLst/>
          </a:prstGeom>
          <a:noFill/>
          <a:ln/>
        </p:spPr>
        <p:txBody>
          <a:bodyPr wrap="square" lIns="0" tIns="0" rIns="0" bIns="0" rtlCol="0" anchor="t"/>
          <a:lstStyle/>
          <a:p>
            <a:pPr algn="l" indent="0" marL="0">
              <a:lnSpc>
                <a:spcPct val="100000"/>
              </a:lnSpc>
              <a:buNone/>
            </a:pPr>
            <a:r>
              <a:rPr lang="en-US" sz="1500" b="1" dirty="0">
                <a:solidFill>
                  <a:srgbClr val="1F3A70"/>
                </a:solidFill>
                <a:latin typeface="Calibri" pitchFamily="34" charset="0"/>
                <a:ea typeface="Calibri" pitchFamily="34" charset="-122"/>
                <a:cs typeface="Calibri" pitchFamily="34" charset="-120"/>
              </a:rPr>
              <a:t>Verify</a:t>
            </a:r>
            <a:endParaRPr lang="en-US" sz="1500" dirty="0"/>
          </a:p>
        </p:txBody>
      </p:sp>
      <p:sp>
        <p:nvSpPr>
          <p:cNvPr id="59" name="Text 49"/>
          <p:cNvSpPr txBox="1"/>
          <p:nvPr/>
        </p:nvSpPr>
        <p:spPr>
          <a:xfrm>
            <a:off x="8988200" y="4354503"/>
            <a:ext cx="2514029" cy="411351"/>
          </a:xfrm>
          <a:prstGeom prst="rect">
            <a:avLst/>
          </a:prstGeom>
          <a:noFill/>
          <a:ln/>
        </p:spPr>
        <p:txBody>
          <a:bodyPr wrap="square" lIns="0" tIns="0" rIns="0" bIns="0" rtlCol="0" anchor="t"/>
          <a:lstStyle/>
          <a:p>
            <a:pPr algn="l" indent="0" marL="0">
              <a:lnSpc>
                <a:spcPct val="112500"/>
              </a:lnSpc>
              <a:buNone/>
            </a:pPr>
            <a:r>
              <a:rPr lang="en-US" sz="1200" dirty="0">
                <a:solidFill>
                  <a:srgbClr val="4A5878"/>
                </a:solidFill>
                <a:latin typeface="Calibri" pitchFamily="34" charset="0"/>
                <a:ea typeface="Calibri" pitchFamily="34" charset="-122"/>
                <a:cs typeface="Calibri" pitchFamily="34" charset="-120"/>
              </a:rPr>
              <a:t>Pen-test staging before the first real payment</a:t>
            </a:r>
            <a:endParaRPr lang="en-US" sz="1200" dirty="0"/>
          </a:p>
        </p:txBody>
      </p:sp>
      <p:sp>
        <p:nvSpPr>
          <p:cNvPr id="60" name="Text 50"/>
          <p:cNvSpPr txBox="1"/>
          <p:nvPr/>
        </p:nvSpPr>
        <p:spPr>
          <a:xfrm>
            <a:off x="812780" y="6238124"/>
            <a:ext cx="8534187" cy="213355"/>
          </a:xfrm>
          <a:prstGeom prst="rect">
            <a:avLst/>
          </a:prstGeom>
          <a:noFill/>
          <a:ln/>
        </p:spPr>
        <p:txBody>
          <a:bodyPr wrap="square" lIns="0" tIns="0" rIns="0" bIns="0" rtlCol="0" anchor="t"/>
          <a:lstStyle/>
          <a:p>
            <a:pPr algn="l" indent="0" marL="0">
              <a:lnSpc>
                <a:spcPct val="116667"/>
              </a:lnSpc>
              <a:buNone/>
            </a:pPr>
            <a:r>
              <a:rPr lang="en-US" sz="1200" dirty="0">
                <a:solidFill>
                  <a:srgbClr val="5C6B8A"/>
                </a:solidFill>
                <a:latin typeface="Calibri" pitchFamily="34" charset="0"/>
                <a:ea typeface="Calibri" pitchFamily="34" charset="-122"/>
                <a:cs typeface="Calibri" pitchFamily="34" charset="-120"/>
              </a:rPr>
              <a:t>HomeFix platform review · Security</a:t>
            </a:r>
            <a:endParaRPr lang="en-US" sz="1200" dirty="0"/>
          </a:p>
        </p:txBody>
      </p:sp>
      <p:sp>
        <p:nvSpPr>
          <p:cNvPr id="61" name="Text 51"/>
          <p:cNvSpPr txBox="1"/>
          <p:nvPr/>
        </p:nvSpPr>
        <p:spPr>
          <a:xfrm>
            <a:off x="9956551" y="6238124"/>
            <a:ext cx="1422364" cy="213355"/>
          </a:xfrm>
          <a:prstGeom prst="rect">
            <a:avLst/>
          </a:prstGeom>
          <a:noFill/>
          <a:ln/>
        </p:spPr>
        <p:txBody>
          <a:bodyPr wrap="square" lIns="0" tIns="0" rIns="0" bIns="0" rtlCol="0" anchor="t"/>
          <a:lstStyle/>
          <a:p>
            <a:pPr algn="r" indent="0" marL="0">
              <a:lnSpc>
                <a:spcPct val="116667"/>
              </a:lnSpc>
              <a:buNone/>
            </a:pPr>
            <a:r>
              <a:rPr lang="en-US" sz="1200" dirty="0">
                <a:solidFill>
                  <a:srgbClr val="5C6B8A"/>
                </a:solidFill>
                <a:latin typeface="Calibri" pitchFamily="34" charset="0"/>
                <a:ea typeface="Calibri" pitchFamily="34" charset="-122"/>
                <a:cs typeface="Calibri" pitchFamily="34" charset="-120"/>
              </a:rPr>
              <a:t>32</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12780" y="812780"/>
            <a:ext cx="11834072" cy="213355"/>
          </a:xfrm>
          <a:prstGeom prst="rect">
            <a:avLst/>
          </a:prstGeom>
          <a:noFill/>
          <a:ln/>
        </p:spPr>
        <p:txBody>
          <a:bodyPr wrap="square" lIns="0" tIns="0" rIns="0" bIns="0" rtlCol="0" anchor="t"/>
          <a:lstStyle/>
          <a:p>
            <a:pPr algn="l" indent="0" marL="0">
              <a:lnSpc>
                <a:spcPct val="116667"/>
              </a:lnSpc>
              <a:buNone/>
            </a:pPr>
            <a:r>
              <a:rPr lang="en-US" sz="1200" spc="100" kern="0" dirty="0">
                <a:solidFill>
                  <a:srgbClr val="F8FAFF"/>
                </a:solidFill>
                <a:latin typeface="Courier New" pitchFamily="34" charset="0"/>
                <a:ea typeface="Courier New" pitchFamily="34" charset="-122"/>
                <a:cs typeface="Courier New" pitchFamily="34" charset="-120"/>
              </a:rPr>
              <a:t>NEXT STEPS</a:t>
            </a:r>
            <a:endParaRPr lang="en-US" sz="1200" dirty="0"/>
          </a:p>
        </p:txBody>
      </p:sp>
      <p:sp>
        <p:nvSpPr>
          <p:cNvPr id="3" name="Text 1"/>
          <p:cNvSpPr txBox="1"/>
          <p:nvPr/>
        </p:nvSpPr>
        <p:spPr>
          <a:xfrm>
            <a:off x="812780" y="1102293"/>
            <a:ext cx="11834072" cy="419090"/>
          </a:xfrm>
          <a:prstGeom prst="rect">
            <a:avLst/>
          </a:prstGeom>
          <a:noFill/>
          <a:ln/>
        </p:spPr>
        <p:txBody>
          <a:bodyPr wrap="square" lIns="0" tIns="0" rIns="0" bIns="0" rtlCol="0" anchor="t"/>
          <a:lstStyle/>
          <a:p>
            <a:pPr algn="l" indent="0" marL="0">
              <a:lnSpc>
                <a:spcPct val="91667"/>
              </a:lnSpc>
              <a:buNone/>
            </a:pPr>
            <a:r>
              <a:rPr lang="en-US" sz="3000" b="1" dirty="0">
                <a:solidFill>
                  <a:srgbClr val="F8FAFF"/>
                </a:solidFill>
                <a:latin typeface="Calibri" pitchFamily="34" charset="0"/>
                <a:ea typeface="Calibri" pitchFamily="34" charset="-122"/>
                <a:cs typeface="Calibri" pitchFamily="34" charset="-120"/>
              </a:rPr>
              <a:t>Fix the secret this week, the edge before launch</a:t>
            </a:r>
            <a:endParaRPr lang="en-US" sz="3000" dirty="0"/>
          </a:p>
        </p:txBody>
      </p:sp>
      <p:sp>
        <p:nvSpPr>
          <p:cNvPr id="4" name="Shape 2"/>
          <p:cNvSpPr/>
          <p:nvPr/>
        </p:nvSpPr>
        <p:spPr>
          <a:xfrm>
            <a:off x="812780" y="1876973"/>
            <a:ext cx="3403515" cy="2125609"/>
          </a:xfrm>
          <a:prstGeom prst="roundRect">
            <a:avLst>
              <a:gd name="adj" fmla="val 5975"/>
            </a:avLst>
          </a:prstGeom>
          <a:solidFill>
            <a:srgbClr val="FFFFFF">
              <a:alpha val="12000"/>
            </a:srgbClr>
          </a:solidFill>
          <a:ln/>
        </p:spPr>
      </p:sp>
      <p:pic>
        <p:nvPicPr>
          <p:cNvPr id="5" name="Image 0" descr="preencoded.png">    </p:cNvPr>
          <p:cNvPicPr>
            <a:picLocks noChangeAspect="1"/>
          </p:cNvPicPr>
          <p:nvPr/>
        </p:nvPicPr>
        <p:blipFill>
          <a:blip r:embed="rId2"/>
          <a:stretch>
            <a:fillRect/>
          </a:stretch>
        </p:blipFill>
        <p:spPr>
          <a:xfrm>
            <a:off x="990575" y="2057249"/>
            <a:ext cx="253994" cy="253994"/>
          </a:xfrm>
          <a:prstGeom prst="rect">
            <a:avLst/>
          </a:prstGeom>
        </p:spPr>
      </p:pic>
      <p:sp>
        <p:nvSpPr>
          <p:cNvPr id="6" name="Text 3"/>
          <p:cNvSpPr txBox="1"/>
          <p:nvPr/>
        </p:nvSpPr>
        <p:spPr>
          <a:xfrm>
            <a:off x="1333467" y="2054769"/>
            <a:ext cx="1140336" cy="259074"/>
          </a:xfrm>
          <a:prstGeom prst="rect">
            <a:avLst/>
          </a:prstGeom>
          <a:noFill/>
          <a:ln/>
        </p:spPr>
        <p:txBody>
          <a:bodyPr wrap="square" lIns="0" tIns="0" rIns="0" bIns="0" rtlCol="0" anchor="t"/>
          <a:lstStyle/>
          <a:p>
            <a:pPr algn="l" indent="0" marL="0">
              <a:lnSpc>
                <a:spcPct val="100000"/>
              </a:lnSpc>
              <a:buNone/>
            </a:pPr>
            <a:r>
              <a:rPr lang="en-US" sz="1700" b="1" dirty="0">
                <a:solidFill>
                  <a:srgbClr val="F8FAFF"/>
                </a:solidFill>
                <a:latin typeface="Calibri" pitchFamily="34" charset="0"/>
                <a:ea typeface="Calibri" pitchFamily="34" charset="-122"/>
                <a:cs typeface="Calibri" pitchFamily="34" charset="-120"/>
              </a:rPr>
              <a:t>This week</a:t>
            </a:r>
            <a:endParaRPr lang="en-US" sz="1700" dirty="0"/>
          </a:p>
        </p:txBody>
      </p:sp>
      <p:sp>
        <p:nvSpPr>
          <p:cNvPr id="7" name="Text 4"/>
          <p:cNvSpPr txBox="1"/>
          <p:nvPr/>
        </p:nvSpPr>
        <p:spPr>
          <a:xfrm>
            <a:off x="1014685" y="2415420"/>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Revert the api_gateway edit</a:t>
            </a:r>
            <a:endParaRPr lang="en-US" sz="1300" dirty="0"/>
          </a:p>
        </p:txBody>
      </p:sp>
      <p:sp>
        <p:nvSpPr>
          <p:cNvPr id="8" name="Text 5"/>
          <p:cNvSpPr txBox="1"/>
          <p:nvPr/>
        </p:nvSpPr>
        <p:spPr>
          <a:xfrm>
            <a:off x="1014685" y="2709993"/>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Rotate secrets; purge 1b5656d</a:t>
            </a:r>
            <a:endParaRPr lang="en-US" sz="1300" dirty="0"/>
          </a:p>
        </p:txBody>
      </p:sp>
      <p:sp>
        <p:nvSpPr>
          <p:cNvPr id="9" name="Text 6"/>
          <p:cNvSpPr txBox="1"/>
          <p:nvPr/>
        </p:nvSpPr>
        <p:spPr>
          <a:xfrm>
            <a:off x="1014685" y="3004566"/>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Bind local ports to 127.0.0.1</a:t>
            </a:r>
            <a:endParaRPr lang="en-US" sz="1300" dirty="0"/>
          </a:p>
        </p:txBody>
      </p:sp>
      <p:sp>
        <p:nvSpPr>
          <p:cNvPr id="10" name="Text 7"/>
          <p:cNvSpPr txBox="1"/>
          <p:nvPr/>
        </p:nvSpPr>
        <p:spPr>
          <a:xfrm>
            <a:off x="1014685" y="3299139"/>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Start the Spring Boot upgrade</a:t>
            </a:r>
            <a:endParaRPr lang="en-US" sz="1300" dirty="0"/>
          </a:p>
        </p:txBody>
      </p:sp>
      <p:sp>
        <p:nvSpPr>
          <p:cNvPr id="11" name="Shape 8"/>
          <p:cNvSpPr/>
          <p:nvPr/>
        </p:nvSpPr>
        <p:spPr>
          <a:xfrm>
            <a:off x="4394090" y="1876973"/>
            <a:ext cx="3403515" cy="2125609"/>
          </a:xfrm>
          <a:prstGeom prst="roundRect">
            <a:avLst>
              <a:gd name="adj" fmla="val 5975"/>
            </a:avLst>
          </a:prstGeom>
          <a:solidFill>
            <a:srgbClr val="FFFFFF">
              <a:alpha val="12000"/>
            </a:srgbClr>
          </a:solidFill>
          <a:ln/>
        </p:spPr>
      </p:sp>
      <p:pic>
        <p:nvPicPr>
          <p:cNvPr id="12" name="Image 1" descr="preencoded.png">    </p:cNvPr>
          <p:cNvPicPr>
            <a:picLocks noChangeAspect="1"/>
          </p:cNvPicPr>
          <p:nvPr/>
        </p:nvPicPr>
        <p:blipFill>
          <a:blip r:embed="rId3"/>
          <a:stretch>
            <a:fillRect/>
          </a:stretch>
        </p:blipFill>
        <p:spPr>
          <a:xfrm>
            <a:off x="4571886" y="2057249"/>
            <a:ext cx="253994" cy="253994"/>
          </a:xfrm>
          <a:prstGeom prst="rect">
            <a:avLst/>
          </a:prstGeom>
        </p:spPr>
      </p:pic>
      <p:sp>
        <p:nvSpPr>
          <p:cNvPr id="13" name="Text 9"/>
          <p:cNvSpPr txBox="1"/>
          <p:nvPr/>
        </p:nvSpPr>
        <p:spPr>
          <a:xfrm>
            <a:off x="4914777" y="2054769"/>
            <a:ext cx="1577047" cy="259074"/>
          </a:xfrm>
          <a:prstGeom prst="rect">
            <a:avLst/>
          </a:prstGeom>
          <a:noFill/>
          <a:ln/>
        </p:spPr>
        <p:txBody>
          <a:bodyPr wrap="square" lIns="0" tIns="0" rIns="0" bIns="0" rtlCol="0" anchor="t"/>
          <a:lstStyle/>
          <a:p>
            <a:pPr algn="l" indent="0" marL="0">
              <a:lnSpc>
                <a:spcPct val="100000"/>
              </a:lnSpc>
              <a:buNone/>
            </a:pPr>
            <a:r>
              <a:rPr lang="en-US" sz="1700" b="1" dirty="0">
                <a:solidFill>
                  <a:srgbClr val="F8FAFF"/>
                </a:solidFill>
                <a:latin typeface="Calibri" pitchFamily="34" charset="0"/>
                <a:ea typeface="Calibri" pitchFamily="34" charset="-122"/>
                <a:cs typeface="Calibri" pitchFamily="34" charset="-120"/>
              </a:rPr>
              <a:t>Before launch</a:t>
            </a:r>
            <a:endParaRPr lang="en-US" sz="1700" dirty="0"/>
          </a:p>
        </p:txBody>
      </p:sp>
      <p:sp>
        <p:nvSpPr>
          <p:cNvPr id="14" name="Text 10"/>
          <p:cNvSpPr txBox="1"/>
          <p:nvPr/>
        </p:nvSpPr>
        <p:spPr>
          <a:xfrm>
            <a:off x="4595995" y="2415420"/>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Ingress, ECR, OIDC, state</a:t>
            </a:r>
            <a:endParaRPr lang="en-US" sz="1300" dirty="0"/>
          </a:p>
        </p:txBody>
      </p:sp>
      <p:sp>
        <p:nvSpPr>
          <p:cNvPr id="15" name="Text 11"/>
          <p:cNvSpPr txBox="1"/>
          <p:nvPr/>
        </p:nvSpPr>
        <p:spPr>
          <a:xfrm>
            <a:off x="4595995" y="2709993"/>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Secret sync, Kafka/Redis TLS</a:t>
            </a:r>
            <a:endParaRPr lang="en-US" sz="1300" dirty="0"/>
          </a:p>
        </p:txBody>
      </p:sp>
      <p:sp>
        <p:nvSpPr>
          <p:cNvPr id="16" name="Text 12"/>
          <p:cNvSpPr txBox="1"/>
          <p:nvPr/>
        </p:nvSpPr>
        <p:spPr>
          <a:xfrm>
            <a:off x="4595995" y="3004566"/>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RS256, per-IP auth limits</a:t>
            </a:r>
            <a:endParaRPr lang="en-US" sz="1300" dirty="0"/>
          </a:p>
        </p:txBody>
      </p:sp>
      <p:sp>
        <p:nvSpPr>
          <p:cNvPr id="17" name="Text 13"/>
          <p:cNvSpPr txBox="1"/>
          <p:nvPr/>
        </p:nvSpPr>
        <p:spPr>
          <a:xfrm>
            <a:off x="4595995" y="3299139"/>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Coupon, refund, payout fixes</a:t>
            </a:r>
            <a:endParaRPr lang="en-US" sz="1300" dirty="0"/>
          </a:p>
        </p:txBody>
      </p:sp>
      <p:sp>
        <p:nvSpPr>
          <p:cNvPr id="18" name="Text 14"/>
          <p:cNvSpPr txBox="1"/>
          <p:nvPr/>
        </p:nvSpPr>
        <p:spPr>
          <a:xfrm>
            <a:off x="4595995" y="3593712"/>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Migration Job, web hosting</a:t>
            </a:r>
            <a:endParaRPr lang="en-US" sz="1300" dirty="0"/>
          </a:p>
        </p:txBody>
      </p:sp>
      <p:sp>
        <p:nvSpPr>
          <p:cNvPr id="19" name="Shape 15"/>
          <p:cNvSpPr/>
          <p:nvPr/>
        </p:nvSpPr>
        <p:spPr>
          <a:xfrm>
            <a:off x="7975401" y="1876973"/>
            <a:ext cx="3403515" cy="2125609"/>
          </a:xfrm>
          <a:prstGeom prst="roundRect">
            <a:avLst>
              <a:gd name="adj" fmla="val 5975"/>
            </a:avLst>
          </a:prstGeom>
          <a:solidFill>
            <a:srgbClr val="FFFFFF">
              <a:alpha val="12000"/>
            </a:srgbClr>
          </a:solidFill>
          <a:ln/>
        </p:spPr>
      </p:sp>
      <p:pic>
        <p:nvPicPr>
          <p:cNvPr id="20" name="Image 2" descr="preencoded.png">    </p:cNvPr>
          <p:cNvPicPr>
            <a:picLocks noChangeAspect="1"/>
          </p:cNvPicPr>
          <p:nvPr/>
        </p:nvPicPr>
        <p:blipFill>
          <a:blip r:embed="rId4"/>
          <a:stretch>
            <a:fillRect/>
          </a:stretch>
        </p:blipFill>
        <p:spPr>
          <a:xfrm>
            <a:off x="8153196" y="2057249"/>
            <a:ext cx="253994" cy="253994"/>
          </a:xfrm>
          <a:prstGeom prst="rect">
            <a:avLst/>
          </a:prstGeom>
        </p:spPr>
      </p:pic>
      <p:sp>
        <p:nvSpPr>
          <p:cNvPr id="21" name="Text 16"/>
          <p:cNvSpPr txBox="1"/>
          <p:nvPr/>
        </p:nvSpPr>
        <p:spPr>
          <a:xfrm>
            <a:off x="8496088" y="2054769"/>
            <a:ext cx="1406363" cy="259074"/>
          </a:xfrm>
          <a:prstGeom prst="rect">
            <a:avLst/>
          </a:prstGeom>
          <a:noFill/>
          <a:ln/>
        </p:spPr>
        <p:txBody>
          <a:bodyPr wrap="square" lIns="0" tIns="0" rIns="0" bIns="0" rtlCol="0" anchor="t"/>
          <a:lstStyle/>
          <a:p>
            <a:pPr algn="l" indent="0" marL="0">
              <a:lnSpc>
                <a:spcPct val="100000"/>
              </a:lnSpc>
              <a:buNone/>
            </a:pPr>
            <a:r>
              <a:rPr lang="en-US" sz="1700" b="1" dirty="0">
                <a:solidFill>
                  <a:srgbClr val="F8FAFF"/>
                </a:solidFill>
                <a:latin typeface="Calibri" pitchFamily="34" charset="0"/>
                <a:ea typeface="Calibri" pitchFamily="34" charset="-122"/>
                <a:cs typeface="Calibri" pitchFamily="34" charset="-120"/>
              </a:rPr>
              <a:t>After launch</a:t>
            </a:r>
            <a:endParaRPr lang="en-US" sz="1700" dirty="0"/>
          </a:p>
        </p:txBody>
      </p:sp>
      <p:sp>
        <p:nvSpPr>
          <p:cNvPr id="22" name="Text 17"/>
          <p:cNvSpPr txBox="1"/>
          <p:nvPr/>
        </p:nvSpPr>
        <p:spPr>
          <a:xfrm>
            <a:off x="8177306" y="2415420"/>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Real SMS, email, S3, KYC</a:t>
            </a:r>
            <a:endParaRPr lang="en-US" sz="1300" dirty="0"/>
          </a:p>
        </p:txBody>
      </p:sp>
      <p:sp>
        <p:nvSpPr>
          <p:cNvPr id="23" name="Text 18"/>
          <p:cNvSpPr txBox="1"/>
          <p:nvPr/>
        </p:nvSpPr>
        <p:spPr>
          <a:xfrm>
            <a:off x="8177306" y="2709993"/>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Chat route, ratings, sweeper</a:t>
            </a:r>
            <a:endParaRPr lang="en-US" sz="1300" dirty="0"/>
          </a:p>
        </p:txBody>
      </p:sp>
      <p:sp>
        <p:nvSpPr>
          <p:cNvPr id="24" name="Text 19"/>
          <p:cNvSpPr txBox="1"/>
          <p:nvPr/>
        </p:nvSpPr>
        <p:spPr>
          <a:xfrm>
            <a:off x="8177306" y="3004566"/>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Terraform in CI with scans</a:t>
            </a:r>
            <a:endParaRPr lang="en-US" sz="1300" dirty="0"/>
          </a:p>
        </p:txBody>
      </p:sp>
      <p:sp>
        <p:nvSpPr>
          <p:cNvPr id="25" name="Text 20"/>
          <p:cNvSpPr txBox="1"/>
          <p:nvPr/>
        </p:nvSpPr>
        <p:spPr>
          <a:xfrm>
            <a:off x="8177306" y="3299139"/>
            <a:ext cx="3363813" cy="231134"/>
          </a:xfrm>
          <a:prstGeom prst="rect">
            <a:avLst/>
          </a:prstGeom>
          <a:noFill/>
          <a:ln/>
        </p:spPr>
        <p:txBody>
          <a:bodyPr wrap="square" lIns="0" tIns="0" rIns="0" bIns="0" rtlCol="0" anchor="t"/>
          <a:lstStyle/>
          <a:p>
            <a:pPr algn="l" marL="190500" indent="-190500">
              <a:lnSpc>
                <a:spcPct val="116667"/>
              </a:lnSpc>
              <a:buSzPct val="100000"/>
              <a:buChar char="•"/>
            </a:pPr>
            <a:r>
              <a:rPr lang="en-US" sz="1300" dirty="0">
                <a:solidFill>
                  <a:srgbClr val="F8FAFF"/>
                </a:solidFill>
                <a:latin typeface="Calibri" pitchFamily="34" charset="0"/>
                <a:ea typeface="Calibri" pitchFamily="34" charset="-122"/>
                <a:cs typeface="Calibri" pitchFamily="34" charset="-120"/>
              </a:rPr>
              <a:t>Observability applied by CI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HomeFix Design Deck</dc:title>
  <dc:subject>Architecture, data, deployment and security review</dc:subject>
  <dc:creator>PptxGenJS</dc:creator>
  <cp:lastModifiedBy>PptxGenJS</cp:lastModifiedBy>
  <cp:revision>1</cp:revision>
  <dcterms:created xsi:type="dcterms:W3CDTF">2026-10-11T11:45:37Z</dcterms:created>
  <dcterms:modified xsi:type="dcterms:W3CDTF">2026-10-11T11:45:37Z</dcterms:modified>
</cp:coreProperties>
</file>